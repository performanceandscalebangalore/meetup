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64" r:id="rId2"/>
    <p:sldId id="272" r:id="rId3"/>
    <p:sldId id="265" r:id="rId4"/>
    <p:sldId id="263" r:id="rId5"/>
    <p:sldId id="257" r:id="rId6"/>
    <p:sldId id="262" r:id="rId7"/>
    <p:sldId id="256" r:id="rId8"/>
    <p:sldId id="261" r:id="rId9"/>
    <p:sldId id="271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5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60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3968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8181B-0C62-37BF-E793-D160DB1B7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545F1C-97B1-DA87-2A1F-B6FB5237D5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3BC1D1-463A-299B-1372-E5BF632DE2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94E2B0-F00A-2205-8A9E-BCB6B685C2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9321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_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11480" y="274320"/>
            <a:ext cx="1133856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411480" y="896112"/>
            <a:ext cx="1133856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35608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0" y="20320"/>
            <a:ext cx="12192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 sz="1500" dirty="0"/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9890D8C6-3D37-6D24-FF90-F5415E27BA4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579360" y="6503035"/>
            <a:ext cx="4602480" cy="365125"/>
          </a:xfrm>
          <a:prstGeom prst="rect">
            <a:avLst/>
          </a:prstGeom>
        </p:spPr>
        <p:txBody>
          <a:bodyPr/>
          <a:lstStyle>
            <a:lvl1pPr>
              <a:defRPr sz="1667"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Bangalore Performance and Scale Meetup - 2025</a:t>
            </a:r>
          </a:p>
        </p:txBody>
      </p:sp>
    </p:spTree>
    <p:extLst>
      <p:ext uri="{BB962C8B-B14F-4D97-AF65-F5344CB8AC3E}">
        <p14:creationId xmlns:p14="http://schemas.microsoft.com/office/powerpoint/2010/main" val="1285341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20" name="TopAccent"/>
          <p:cNvSpPr/>
          <p:nvPr/>
        </p:nvSpPr>
        <p:spPr>
          <a:xfrm>
            <a:off x="0" y="0"/>
            <a:ext cx="12193200" cy="72000"/>
          </a:xfrm>
          <a:prstGeom prst="rect">
            <a:avLst/>
          </a:prstGeom>
          <a:solidFill>
            <a:srgbClr val="0B30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121" name="MainTitle"/>
          <p:cNvSpPr txBox="1"/>
          <p:nvPr/>
        </p:nvSpPr>
        <p:spPr>
          <a:xfrm>
            <a:off x="432000" y="648000"/>
            <a:ext cx="11340000" cy="1008000"/>
          </a:xfrm>
          <a:prstGeom prst="rect">
            <a:avLst/>
          </a:prstGeom>
        </p:spPr>
        <p:txBody>
          <a:bodyPr/>
          <a:lstStyle/>
          <a:p>
            <a:r>
              <a:rPr lang="en-US" sz="3600" b="1" dirty="0">
                <a:solidFill>
                  <a:srgbClr val="0070C0"/>
                </a:solidFill>
                <a:latin typeface="Aptos"/>
                <a:ea typeface="Aptos"/>
              </a:rPr>
              <a:t>Performance Engineering for Red Hat OpenShift Enterprise Workloads: From Architecture to Continuous Optimization</a:t>
            </a:r>
          </a:p>
        </p:txBody>
      </p:sp>
      <p:sp>
        <p:nvSpPr>
          <p:cNvPr id="100145" name="Speaker1"/>
          <p:cNvSpPr txBox="1"/>
          <p:nvPr/>
        </p:nvSpPr>
        <p:spPr>
          <a:xfrm>
            <a:off x="432000" y="5040000"/>
            <a:ext cx="7200000" cy="576000"/>
          </a:xfrm>
          <a:prstGeom prst="rect">
            <a:avLst/>
          </a:prstGeom>
        </p:spPr>
        <p:txBody>
          <a:bodyPr/>
          <a:lstStyle/>
          <a:p>
            <a:r>
              <a:rPr lang="en-US" sz="1400" b="1" dirty="0">
                <a:solidFill>
                  <a:srgbClr val="0070C0"/>
                </a:solidFill>
                <a:latin typeface="Aptos"/>
              </a:rPr>
              <a:t>Rani Bharti, Performance Analyst (</a:t>
            </a:r>
            <a:r>
              <a:rPr lang="en-US" sz="1400" b="1" dirty="0" err="1">
                <a:solidFill>
                  <a:srgbClr val="0070C0"/>
                </a:solidFill>
                <a:latin typeface="Aptos"/>
              </a:rPr>
              <a:t>ranis.bharti@in.ibm.com</a:t>
            </a:r>
            <a:r>
              <a:rPr lang="en-US" sz="1400" b="1" dirty="0">
                <a:solidFill>
                  <a:srgbClr val="0070C0"/>
                </a:solidFill>
                <a:latin typeface="Aptos"/>
              </a:rPr>
              <a:t>), IBM,</a:t>
            </a:r>
          </a:p>
          <a:p>
            <a:r>
              <a:rPr lang="en-US" sz="1400" b="1" dirty="0">
                <a:solidFill>
                  <a:srgbClr val="0070C0"/>
                </a:solidFill>
                <a:latin typeface="Aptos"/>
              </a:rPr>
              <a:t>Infrastructure, Bengaluru</a:t>
            </a:r>
          </a:p>
        </p:txBody>
      </p:sp>
      <p:sp>
        <p:nvSpPr>
          <p:cNvPr id="100146" name="Speaker2"/>
          <p:cNvSpPr txBox="1"/>
          <p:nvPr/>
        </p:nvSpPr>
        <p:spPr>
          <a:xfrm>
            <a:off x="432000" y="5554681"/>
            <a:ext cx="7200000" cy="432000"/>
          </a:xfrm>
          <a:prstGeom prst="rect">
            <a:avLst/>
          </a:prstGeom>
        </p:spPr>
        <p:txBody>
          <a:bodyPr/>
          <a:lstStyle/>
          <a:p>
            <a:r>
              <a:rPr lang="en-US" sz="1400" b="1" dirty="0">
                <a:solidFill>
                  <a:srgbClr val="0070C0"/>
                </a:solidFill>
                <a:latin typeface="Aptos"/>
                <a:ea typeface="Aptos"/>
              </a:rPr>
              <a:t>Vivek Koul, OpenShift SME (</a:t>
            </a:r>
            <a:r>
              <a:rPr lang="en-US" sz="1400" b="1" dirty="0" err="1">
                <a:solidFill>
                  <a:srgbClr val="0070C0"/>
                </a:solidFill>
                <a:latin typeface="Aptos"/>
                <a:ea typeface="Aptos"/>
              </a:rPr>
              <a:t>vkoul@redhat.com</a:t>
            </a:r>
            <a:r>
              <a:rPr lang="en-US" sz="1400" b="1" dirty="0">
                <a:solidFill>
                  <a:srgbClr val="0070C0"/>
                </a:solidFill>
                <a:latin typeface="Aptos"/>
                <a:ea typeface="Aptos"/>
              </a:rPr>
              <a:t>), RedHat, Mumbai</a:t>
            </a:r>
          </a:p>
        </p:txBody>
      </p:sp>
      <p:sp>
        <p:nvSpPr>
          <p:cNvPr id="100147" name="EventFooter"/>
          <p:cNvSpPr txBox="1"/>
          <p:nvPr/>
        </p:nvSpPr>
        <p:spPr>
          <a:xfrm>
            <a:off x="7210800" y="6498000"/>
            <a:ext cx="4561200" cy="360000"/>
          </a:xfrm>
          <a:prstGeom prst="rect">
            <a:avLst/>
          </a:prstGeom>
        </p:spPr>
        <p:txBody>
          <a:bodyPr/>
          <a:lstStyle/>
          <a:p>
            <a:r>
              <a:rPr lang="en-US" sz="1400" b="1" dirty="0">
                <a:solidFill>
                  <a:srgbClr val="2E7D32"/>
                </a:solidFill>
                <a:latin typeface="Aptos"/>
                <a:ea typeface="Aptos"/>
              </a:rPr>
              <a:t>Bangalore Performance and Scale Meetup - 2026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5D4B4-E3F9-5386-F08B-645CD37A6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20" name="TopAccent">
            <a:extLst>
              <a:ext uri="{FF2B5EF4-FFF2-40B4-BE49-F238E27FC236}">
                <a16:creationId xmlns:a16="http://schemas.microsoft.com/office/drawing/2014/main" id="{A35C396C-7ABE-63AB-8B72-FA5064410CD7}"/>
              </a:ext>
            </a:extLst>
          </p:cNvPr>
          <p:cNvSpPr/>
          <p:nvPr/>
        </p:nvSpPr>
        <p:spPr>
          <a:xfrm>
            <a:off x="0" y="0"/>
            <a:ext cx="12193200" cy="72000"/>
          </a:xfrm>
          <a:prstGeom prst="rect">
            <a:avLst/>
          </a:prstGeom>
          <a:solidFill>
            <a:srgbClr val="0B30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121" name="MainTitle">
            <a:extLst>
              <a:ext uri="{FF2B5EF4-FFF2-40B4-BE49-F238E27FC236}">
                <a16:creationId xmlns:a16="http://schemas.microsoft.com/office/drawing/2014/main" id="{66895628-426C-05BE-8C8F-DA7DACB04FF2}"/>
              </a:ext>
            </a:extLst>
          </p:cNvPr>
          <p:cNvSpPr txBox="1"/>
          <p:nvPr/>
        </p:nvSpPr>
        <p:spPr>
          <a:xfrm>
            <a:off x="432000" y="648000"/>
            <a:ext cx="11340000" cy="5778000"/>
          </a:xfrm>
          <a:prstGeom prst="rect">
            <a:avLst/>
          </a:prstGeom>
        </p:spPr>
        <p:txBody>
          <a:bodyPr/>
          <a:lstStyle/>
          <a:p>
            <a:r>
              <a:rPr lang="en-US" sz="2400" b="1" dirty="0">
                <a:solidFill>
                  <a:srgbClr val="0070C0"/>
                </a:solidFill>
                <a:latin typeface="Aptos"/>
              </a:rPr>
              <a:t>Topics</a:t>
            </a:r>
          </a:p>
          <a:p>
            <a:endParaRPr lang="en-US" sz="2400" b="1" dirty="0">
              <a:solidFill>
                <a:srgbClr val="0070C0"/>
              </a:solidFill>
              <a:latin typeface="Aptos"/>
            </a:endParaRPr>
          </a:p>
          <a:p>
            <a:pPr indent="-742950">
              <a:buAutoNum type="arabicPeriod"/>
            </a:pPr>
            <a:r>
              <a:rPr lang="en-US" sz="2400" b="1" dirty="0">
                <a:solidFill>
                  <a:srgbClr val="0070C0"/>
                </a:solidFill>
                <a:latin typeface="Aptos"/>
              </a:rPr>
              <a:t>End-to-End System Architecture Stack: OpenShift on IBM Z</a:t>
            </a:r>
          </a:p>
          <a:p>
            <a:pPr indent="-742950">
              <a:buAutoNum type="arabicPeriod"/>
            </a:pPr>
            <a:r>
              <a:rPr lang="en-US" sz="2400" b="1" dirty="0">
                <a:solidFill>
                  <a:srgbClr val="0070C0"/>
                </a:solidFill>
                <a:latin typeface="Aptos"/>
              </a:rPr>
              <a:t>Red Hat OpenShift on IBM Z &amp; </a:t>
            </a:r>
            <a:r>
              <a:rPr lang="en-US" sz="2400" b="1" dirty="0" err="1">
                <a:solidFill>
                  <a:srgbClr val="0070C0"/>
                </a:solidFill>
                <a:latin typeface="Aptos"/>
              </a:rPr>
              <a:t>LinuxONE</a:t>
            </a:r>
            <a:r>
              <a:rPr lang="en-US" sz="2400" b="1" dirty="0">
                <a:solidFill>
                  <a:srgbClr val="0070C0"/>
                </a:solidFill>
                <a:latin typeface="Aptos"/>
              </a:rPr>
              <a:t>: Why OpenShift</a:t>
            </a:r>
          </a:p>
          <a:p>
            <a:pPr indent="-742950">
              <a:buFontTx/>
              <a:buAutoNum type="arabicPeriod"/>
            </a:pPr>
            <a:r>
              <a:rPr lang="en-US" sz="2400" b="1" dirty="0">
                <a:solidFill>
                  <a:srgbClr val="0070C0"/>
                </a:solidFill>
                <a:latin typeface="Aptos"/>
              </a:rPr>
              <a:t>Client Case Study – Performance Engineering &amp; IFL Optimization</a:t>
            </a:r>
          </a:p>
          <a:p>
            <a:pPr indent="-742950">
              <a:buFontTx/>
              <a:buAutoNum type="arabicPeriod"/>
            </a:pPr>
            <a:r>
              <a:rPr lang="en-US" sz="2400" b="1" dirty="0">
                <a:solidFill>
                  <a:srgbClr val="0070C0"/>
                </a:solidFill>
                <a:latin typeface="Aptos"/>
              </a:rPr>
              <a:t>Target Recommendations &amp; Performance Optimization</a:t>
            </a:r>
          </a:p>
          <a:p>
            <a:pPr indent="-742950">
              <a:buAutoNum type="arabicPeriod"/>
            </a:pPr>
            <a:r>
              <a:rPr lang="en-US" sz="2400" b="1" dirty="0">
                <a:solidFill>
                  <a:srgbClr val="0070C0"/>
                </a:solidFill>
                <a:latin typeface="Aptos"/>
              </a:rPr>
              <a:t>XY3 Prod OpenShift — LPAR Isolation Redesign</a:t>
            </a:r>
          </a:p>
          <a:p>
            <a:pPr indent="-742950">
              <a:buFontTx/>
              <a:buAutoNum type="arabicPeriod"/>
            </a:pPr>
            <a:r>
              <a:rPr lang="en-US" sz="2400" b="1" dirty="0">
                <a:solidFill>
                  <a:srgbClr val="0070C0"/>
                </a:solidFill>
                <a:latin typeface="Aptos"/>
              </a:rPr>
              <a:t>Why Restructuring &amp; Isolation is Recommended</a:t>
            </a:r>
          </a:p>
          <a:p>
            <a:pPr marL="742950" indent="-742950">
              <a:buAutoNum type="arabicPeriod"/>
            </a:pPr>
            <a:endParaRPr lang="en-US" sz="3600" b="1" dirty="0">
              <a:solidFill>
                <a:srgbClr val="0B305C"/>
              </a:solidFill>
              <a:latin typeface="Aptos"/>
              <a:ea typeface="Aptos"/>
            </a:endParaRPr>
          </a:p>
          <a:p>
            <a:endParaRPr lang="en-US" sz="3600" b="1" dirty="0">
              <a:solidFill>
                <a:srgbClr val="0070C0"/>
              </a:solidFill>
              <a:latin typeface="Aptos"/>
              <a:ea typeface="Aptos"/>
            </a:endParaRPr>
          </a:p>
        </p:txBody>
      </p:sp>
      <p:sp>
        <p:nvSpPr>
          <p:cNvPr id="100147" name="EventFooter">
            <a:extLst>
              <a:ext uri="{FF2B5EF4-FFF2-40B4-BE49-F238E27FC236}">
                <a16:creationId xmlns:a16="http://schemas.microsoft.com/office/drawing/2014/main" id="{B6EA9AC3-18B4-E50F-42EB-4174499D6DBF}"/>
              </a:ext>
            </a:extLst>
          </p:cNvPr>
          <p:cNvSpPr txBox="1"/>
          <p:nvPr/>
        </p:nvSpPr>
        <p:spPr>
          <a:xfrm>
            <a:off x="7210800" y="6498000"/>
            <a:ext cx="4561200" cy="360000"/>
          </a:xfrm>
          <a:prstGeom prst="rect">
            <a:avLst/>
          </a:prstGeom>
        </p:spPr>
        <p:txBody>
          <a:bodyPr/>
          <a:lstStyle/>
          <a:p>
            <a:r>
              <a:rPr lang="en-US" sz="1400" b="1" dirty="0">
                <a:solidFill>
                  <a:srgbClr val="2E7D32"/>
                </a:solidFill>
                <a:latin typeface="Aptos"/>
                <a:ea typeface="Aptos"/>
              </a:rPr>
              <a:t>Bangalore Performance and Scale Meetup - 2026</a:t>
            </a:r>
          </a:p>
        </p:txBody>
      </p:sp>
    </p:spTree>
    <p:extLst>
      <p:ext uri="{BB962C8B-B14F-4D97-AF65-F5344CB8AC3E}">
        <p14:creationId xmlns:p14="http://schemas.microsoft.com/office/powerpoint/2010/main" val="1556968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48" name="TopAccent"/>
          <p:cNvSpPr/>
          <p:nvPr/>
        </p:nvSpPr>
        <p:spPr>
          <a:xfrm>
            <a:off x="0" y="0"/>
            <a:ext cx="12193200" cy="72000"/>
          </a:xfrm>
          <a:prstGeom prst="rect">
            <a:avLst/>
          </a:prstGeom>
          <a:solidFill>
            <a:srgbClr val="0B30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149" name="CategoryPill"/>
          <p:cNvSpPr txBox="1"/>
          <p:nvPr/>
        </p:nvSpPr>
        <p:spPr>
          <a:xfrm>
            <a:off x="324000" y="180000"/>
            <a:ext cx="6480000" cy="216000"/>
          </a:xfrm>
          <a:prstGeom prst="rect">
            <a:avLst/>
          </a:prstGeom>
        </p:spPr>
        <p:txBody>
          <a:bodyPr/>
          <a:lstStyle/>
          <a:p>
            <a:r>
              <a:rPr lang="en-US" sz="1000" b="1">
                <a:solidFill>
                  <a:srgbClr val="6839A6"/>
                </a:solidFill>
                <a:latin typeface="Aptos"/>
                <a:ea typeface="Aptos"/>
              </a:rPr>
              <a:t>FOUNDATION &amp; SYSTEM ARCHITECTURE</a:t>
            </a:r>
          </a:p>
        </p:txBody>
      </p:sp>
      <p:sp>
        <p:nvSpPr>
          <p:cNvPr id="100150" name="MainTitle"/>
          <p:cNvSpPr txBox="1"/>
          <p:nvPr/>
        </p:nvSpPr>
        <p:spPr>
          <a:xfrm>
            <a:off x="324000" y="396000"/>
            <a:ext cx="11520000" cy="360000"/>
          </a:xfrm>
          <a:prstGeom prst="rect">
            <a:avLst/>
          </a:prstGeom>
        </p:spPr>
        <p:txBody>
          <a:bodyPr/>
          <a:lstStyle/>
          <a:p>
            <a:r>
              <a:rPr lang="en-US" sz="2200" b="1" dirty="0">
                <a:solidFill>
                  <a:srgbClr val="0B305C"/>
                </a:solidFill>
                <a:latin typeface="Aptos"/>
                <a:ea typeface="Aptos"/>
              </a:rPr>
              <a:t>End-to-End System Architecture Stack: OpenShift on IBM Z</a:t>
            </a:r>
          </a:p>
        </p:txBody>
      </p:sp>
      <p:sp>
        <p:nvSpPr>
          <p:cNvPr id="100152" name="Diag_Bg"/>
          <p:cNvSpPr/>
          <p:nvPr/>
        </p:nvSpPr>
        <p:spPr>
          <a:xfrm>
            <a:off x="324000" y="1008000"/>
            <a:ext cx="11545200" cy="424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DBE2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0153" name="L1_Bg"/>
          <p:cNvSpPr/>
          <p:nvPr/>
        </p:nvSpPr>
        <p:spPr>
          <a:xfrm>
            <a:off x="468000" y="1116000"/>
            <a:ext cx="11257200" cy="68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DE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0154" name="L1_Accent"/>
          <p:cNvSpPr/>
          <p:nvPr/>
        </p:nvSpPr>
        <p:spPr>
          <a:xfrm>
            <a:off x="468000" y="1116000"/>
            <a:ext cx="90000" cy="684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155" name="L1_Pill"/>
          <p:cNvSpPr txBox="1"/>
          <p:nvPr/>
        </p:nvSpPr>
        <p:spPr>
          <a:xfrm>
            <a:off x="648000" y="1188000"/>
            <a:ext cx="1872000" cy="23400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/>
          <a:lstStyle/>
          <a:p>
            <a:r>
              <a:rPr lang="en-US" sz="950" b="1">
                <a:solidFill>
                  <a:srgbClr val="0070C0"/>
                </a:solidFill>
                <a:latin typeface="Aptos"/>
                <a:ea typeface="Aptos"/>
              </a:rPr>
              <a:t>APPLICATION LAYER</a:t>
            </a:r>
          </a:p>
        </p:txBody>
      </p:sp>
      <p:sp>
        <p:nvSpPr>
          <p:cNvPr id="100156" name="L1_Title"/>
          <p:cNvSpPr txBox="1"/>
          <p:nvPr/>
        </p:nvSpPr>
        <p:spPr>
          <a:xfrm>
            <a:off x="2628000" y="1188000"/>
            <a:ext cx="5400000" cy="234000"/>
          </a:xfrm>
          <a:prstGeom prst="rect">
            <a:avLst/>
          </a:prstGeom>
        </p:spPr>
        <p:txBody>
          <a:bodyPr/>
          <a:lstStyle/>
          <a:p>
            <a:r>
              <a:rPr lang="en-US" sz="1300" b="1" dirty="0">
                <a:solidFill>
                  <a:srgbClr val="0B305C"/>
                </a:solidFill>
                <a:latin typeface="Aptos"/>
                <a:ea typeface="Aptos"/>
              </a:rPr>
              <a:t>Containerized Enterprise Workloads</a:t>
            </a:r>
          </a:p>
        </p:txBody>
      </p:sp>
      <p:sp>
        <p:nvSpPr>
          <p:cNvPr id="100157" name="L1_Desc"/>
          <p:cNvSpPr txBox="1"/>
          <p:nvPr/>
        </p:nvSpPr>
        <p:spPr>
          <a:xfrm>
            <a:off x="648000" y="1458000"/>
            <a:ext cx="10908000" cy="270000"/>
          </a:xfrm>
          <a:prstGeom prst="rect">
            <a:avLst/>
          </a:prstGeom>
        </p:spPr>
        <p:txBody>
          <a:bodyPr/>
          <a:lstStyle/>
          <a:p>
            <a:r>
              <a:rPr lang="en-US" sz="1050" dirty="0">
                <a:solidFill>
                  <a:srgbClr val="444444"/>
                </a:solidFill>
                <a:latin typeface="Aptos"/>
                <a:ea typeface="Aptos"/>
              </a:rPr>
              <a:t>• Core Microservices (Payments, Accounts, Risk)  • Cloud-Native Ingress &amp; Service Mesh  • High-Density Pod Packing</a:t>
            </a:r>
          </a:p>
        </p:txBody>
      </p:sp>
      <p:sp>
        <p:nvSpPr>
          <p:cNvPr id="100158" name="L2_Bg"/>
          <p:cNvSpPr/>
          <p:nvPr/>
        </p:nvSpPr>
        <p:spPr>
          <a:xfrm>
            <a:off x="468000" y="1890000"/>
            <a:ext cx="11257200" cy="68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B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0159" name="L2_Accent"/>
          <p:cNvSpPr/>
          <p:nvPr/>
        </p:nvSpPr>
        <p:spPr>
          <a:xfrm>
            <a:off x="468000" y="1890000"/>
            <a:ext cx="90000" cy="684000"/>
          </a:xfrm>
          <a:prstGeom prst="rect">
            <a:avLst/>
          </a:prstGeom>
          <a:solidFill>
            <a:srgbClr val="6839A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160" name="L2_Pill"/>
          <p:cNvSpPr txBox="1"/>
          <p:nvPr/>
        </p:nvSpPr>
        <p:spPr>
          <a:xfrm>
            <a:off x="648000" y="1962000"/>
            <a:ext cx="1872000" cy="234000"/>
          </a:xfrm>
          <a:prstGeom prst="rect">
            <a:avLst/>
          </a:prstGeom>
          <a:solidFill>
            <a:srgbClr val="F2EDF9"/>
          </a:solidFill>
          <a:ln>
            <a:noFill/>
          </a:ln>
        </p:spPr>
        <p:txBody>
          <a:bodyPr/>
          <a:lstStyle/>
          <a:p>
            <a:r>
              <a:rPr lang="en-US" sz="950" b="1">
                <a:solidFill>
                  <a:srgbClr val="6839A6"/>
                </a:solidFill>
                <a:latin typeface="Aptos"/>
                <a:ea typeface="Aptos"/>
              </a:rPr>
              <a:t>PLATFORM &amp; STORAGE</a:t>
            </a:r>
          </a:p>
        </p:txBody>
      </p:sp>
      <p:sp>
        <p:nvSpPr>
          <p:cNvPr id="100161" name="L2_Title"/>
          <p:cNvSpPr txBox="1"/>
          <p:nvPr/>
        </p:nvSpPr>
        <p:spPr>
          <a:xfrm>
            <a:off x="2628000" y="1962000"/>
            <a:ext cx="5760000" cy="234000"/>
          </a:xfrm>
          <a:prstGeom prst="rect">
            <a:avLst/>
          </a:prstGeom>
        </p:spPr>
        <p:txBody>
          <a:bodyPr/>
          <a:lstStyle/>
          <a:p>
            <a:r>
              <a:rPr lang="en-US" sz="1300" b="1">
                <a:solidFill>
                  <a:srgbClr val="0B305C"/>
                </a:solidFill>
                <a:latin typeface="Aptos"/>
                <a:ea typeface="Aptos"/>
              </a:rPr>
              <a:t>Red Hat OpenShift Container Platform &amp; ODF Storage</a:t>
            </a:r>
          </a:p>
        </p:txBody>
      </p:sp>
      <p:sp>
        <p:nvSpPr>
          <p:cNvPr id="100162" name="L2_Desc"/>
          <p:cNvSpPr txBox="1"/>
          <p:nvPr/>
        </p:nvSpPr>
        <p:spPr>
          <a:xfrm>
            <a:off x="648000" y="2232000"/>
            <a:ext cx="10908000" cy="270000"/>
          </a:xfrm>
          <a:prstGeom prst="rect">
            <a:avLst/>
          </a:prstGeom>
        </p:spPr>
        <p:txBody>
          <a:bodyPr/>
          <a:lstStyle/>
          <a:p>
            <a:r>
              <a:rPr lang="en-US" sz="1050" dirty="0">
                <a:solidFill>
                  <a:srgbClr val="444444"/>
                </a:solidFill>
                <a:latin typeface="Aptos"/>
                <a:ea typeface="Aptos"/>
              </a:rPr>
              <a:t>• Dedicated Cluster Pools (Primary &amp; Secondary clusters)  • ODF Storage Isolation  • Tuned Prometheus (Minimal Profile &amp; 3d Retention)</a:t>
            </a:r>
          </a:p>
        </p:txBody>
      </p:sp>
      <p:sp>
        <p:nvSpPr>
          <p:cNvPr id="100163" name="L3_Bg"/>
          <p:cNvSpPr/>
          <p:nvPr/>
        </p:nvSpPr>
        <p:spPr>
          <a:xfrm>
            <a:off x="468000" y="2664000"/>
            <a:ext cx="11257200" cy="68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DE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0164" name="L3_Accent"/>
          <p:cNvSpPr/>
          <p:nvPr/>
        </p:nvSpPr>
        <p:spPr>
          <a:xfrm>
            <a:off x="468000" y="2664000"/>
            <a:ext cx="90000" cy="684000"/>
          </a:xfrm>
          <a:prstGeom prst="rect">
            <a:avLst/>
          </a:prstGeom>
          <a:solidFill>
            <a:srgbClr val="0F969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165" name="L3_Pill"/>
          <p:cNvSpPr txBox="1"/>
          <p:nvPr/>
        </p:nvSpPr>
        <p:spPr>
          <a:xfrm>
            <a:off x="648000" y="2736000"/>
            <a:ext cx="1872000" cy="234000"/>
          </a:xfrm>
          <a:prstGeom prst="rect">
            <a:avLst/>
          </a:prstGeom>
          <a:solidFill>
            <a:srgbClr val="E6F6F6"/>
          </a:solidFill>
          <a:ln>
            <a:noFill/>
          </a:ln>
        </p:spPr>
        <p:txBody>
          <a:bodyPr/>
          <a:lstStyle/>
          <a:p>
            <a:r>
              <a:rPr lang="en-US" sz="950" b="1">
                <a:solidFill>
                  <a:srgbClr val="0F9699"/>
                </a:solidFill>
                <a:latin typeface="Aptos"/>
                <a:ea typeface="Aptos"/>
              </a:rPr>
              <a:t>OPERATING SYSTEM</a:t>
            </a:r>
          </a:p>
        </p:txBody>
      </p:sp>
      <p:sp>
        <p:nvSpPr>
          <p:cNvPr id="100166" name="L3_Title"/>
          <p:cNvSpPr txBox="1"/>
          <p:nvPr/>
        </p:nvSpPr>
        <p:spPr>
          <a:xfrm>
            <a:off x="2628000" y="2736000"/>
            <a:ext cx="5760000" cy="234000"/>
          </a:xfrm>
          <a:prstGeom prst="rect">
            <a:avLst/>
          </a:prstGeom>
        </p:spPr>
        <p:txBody>
          <a:bodyPr/>
          <a:lstStyle/>
          <a:p>
            <a:r>
              <a:rPr lang="en-US" sz="1300" b="1" dirty="0">
                <a:solidFill>
                  <a:srgbClr val="0B305C"/>
                </a:solidFill>
                <a:latin typeface="Aptos"/>
                <a:ea typeface="Aptos"/>
              </a:rPr>
              <a:t>Red Hat Enterprise Linux (RHEL CoreOS on IBM Z)</a:t>
            </a:r>
          </a:p>
        </p:txBody>
      </p:sp>
      <p:sp>
        <p:nvSpPr>
          <p:cNvPr id="100167" name="L3_Desc"/>
          <p:cNvSpPr txBox="1"/>
          <p:nvPr/>
        </p:nvSpPr>
        <p:spPr>
          <a:xfrm>
            <a:off x="648000" y="3006000"/>
            <a:ext cx="10908000" cy="270000"/>
          </a:xfrm>
          <a:prstGeom prst="rect">
            <a:avLst/>
          </a:prstGeom>
        </p:spPr>
        <p:txBody>
          <a:bodyPr/>
          <a:lstStyle/>
          <a:p>
            <a:r>
              <a:rPr lang="en-US" sz="1050">
                <a:solidFill>
                  <a:srgbClr val="444444"/>
                </a:solidFill>
                <a:latin typeface="Aptos"/>
                <a:ea typeface="Aptos"/>
              </a:rPr>
              <a:t>• Enterprise Linux Guests  • vCPU-to-IFL Scheduling &amp; Topology  • Ultra-Fast HiperSockets Colocation with Core Banking</a:t>
            </a:r>
          </a:p>
        </p:txBody>
      </p:sp>
      <p:sp>
        <p:nvSpPr>
          <p:cNvPr id="100168" name="L4_Bg"/>
          <p:cNvSpPr/>
          <p:nvPr/>
        </p:nvSpPr>
        <p:spPr>
          <a:xfrm>
            <a:off x="468000" y="3438000"/>
            <a:ext cx="11257200" cy="68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BD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0169" name="L4_Accent"/>
          <p:cNvSpPr/>
          <p:nvPr/>
        </p:nvSpPr>
        <p:spPr>
          <a:xfrm>
            <a:off x="468000" y="3438000"/>
            <a:ext cx="90000" cy="684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170" name="L4_Pill"/>
          <p:cNvSpPr txBox="1"/>
          <p:nvPr/>
        </p:nvSpPr>
        <p:spPr>
          <a:xfrm>
            <a:off x="558000" y="3510000"/>
            <a:ext cx="2175152" cy="270000"/>
          </a:xfrm>
          <a:prstGeom prst="rect">
            <a:avLst/>
          </a:prstGeom>
          <a:solidFill>
            <a:srgbClr val="EBF5EB"/>
          </a:solidFill>
          <a:ln>
            <a:noFill/>
          </a:ln>
        </p:spPr>
        <p:txBody>
          <a:bodyPr/>
          <a:lstStyle/>
          <a:p>
            <a:r>
              <a:rPr lang="en-US" sz="950" b="1" dirty="0">
                <a:solidFill>
                  <a:srgbClr val="2E7D32"/>
                </a:solidFill>
                <a:latin typeface="Aptos"/>
                <a:ea typeface="Aptos"/>
              </a:rPr>
              <a:t>HARDWARE, LPAR &amp; HYPERVISOR </a:t>
            </a:r>
          </a:p>
        </p:txBody>
      </p:sp>
      <p:sp>
        <p:nvSpPr>
          <p:cNvPr id="100171" name="L4_Title"/>
          <p:cNvSpPr txBox="1"/>
          <p:nvPr/>
        </p:nvSpPr>
        <p:spPr>
          <a:xfrm>
            <a:off x="2628000" y="3510000"/>
            <a:ext cx="6480000" cy="234000"/>
          </a:xfrm>
          <a:prstGeom prst="rect">
            <a:avLst/>
          </a:prstGeom>
        </p:spPr>
        <p:txBody>
          <a:bodyPr/>
          <a:lstStyle/>
          <a:p>
            <a:r>
              <a:rPr lang="en-US" sz="1300" b="1">
                <a:solidFill>
                  <a:srgbClr val="0B305C"/>
                </a:solidFill>
                <a:latin typeface="Aptos"/>
                <a:ea typeface="Aptos"/>
              </a:rPr>
              <a:t>IBM z/VM Hypervisor &amp; IBM zSystems / LinuxONE Hardware</a:t>
            </a:r>
          </a:p>
        </p:txBody>
      </p:sp>
      <p:sp>
        <p:nvSpPr>
          <p:cNvPr id="100172" name="L4_Desc"/>
          <p:cNvSpPr txBox="1"/>
          <p:nvPr/>
        </p:nvSpPr>
        <p:spPr>
          <a:xfrm>
            <a:off x="648000" y="3780000"/>
            <a:ext cx="10908000" cy="270000"/>
          </a:xfrm>
          <a:prstGeom prst="rect">
            <a:avLst/>
          </a:prstGeom>
        </p:spPr>
        <p:txBody>
          <a:bodyPr/>
          <a:lstStyle/>
          <a:p>
            <a:r>
              <a:rPr lang="en-US" sz="1050" dirty="0">
                <a:solidFill>
                  <a:srgbClr val="444444"/>
                </a:solidFill>
                <a:latin typeface="Aptos"/>
                <a:ea typeface="Aptos"/>
              </a:rPr>
              <a:t>• Dedicated Hardware LPAR Pools  • Physical IFL Core Allocation  • Full-Stack Telemetry (</a:t>
            </a:r>
            <a:r>
              <a:rPr lang="en-US" sz="1050" dirty="0" err="1">
                <a:solidFill>
                  <a:srgbClr val="444444"/>
                </a:solidFill>
                <a:latin typeface="Aptos"/>
                <a:ea typeface="Aptos"/>
              </a:rPr>
              <a:t>PerfKit</a:t>
            </a:r>
            <a:r>
              <a:rPr lang="en-US" sz="1050" dirty="0">
                <a:solidFill>
                  <a:srgbClr val="444444"/>
                </a:solidFill>
                <a:latin typeface="Aptos"/>
                <a:ea typeface="Aptos"/>
              </a:rPr>
              <a:t> • SAR • MONWRITE • </a:t>
            </a:r>
            <a:r>
              <a:rPr lang="en-US" sz="1050" dirty="0" err="1">
                <a:solidFill>
                  <a:srgbClr val="444444"/>
                </a:solidFill>
                <a:latin typeface="Aptos"/>
                <a:ea typeface="Aptos"/>
              </a:rPr>
              <a:t>hyptop</a:t>
            </a:r>
            <a:r>
              <a:rPr lang="en-US" sz="1050" dirty="0">
                <a:solidFill>
                  <a:srgbClr val="444444"/>
                </a:solidFill>
                <a:latin typeface="Aptos"/>
                <a:ea typeface="Aptos"/>
              </a:rPr>
              <a:t>)</a:t>
            </a:r>
          </a:p>
        </p:txBody>
      </p:sp>
      <p:sp>
        <p:nvSpPr>
          <p:cNvPr id="100173" name="CrossLayer_Banner"/>
          <p:cNvSpPr/>
          <p:nvPr/>
        </p:nvSpPr>
        <p:spPr>
          <a:xfrm>
            <a:off x="468000" y="4248000"/>
            <a:ext cx="11257200" cy="864000"/>
          </a:xfrm>
          <a:prstGeom prst="rect">
            <a:avLst/>
          </a:prstGeom>
          <a:solidFill>
            <a:srgbClr val="0B30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174" name="CrossLayer_Text"/>
          <p:cNvSpPr txBox="1"/>
          <p:nvPr/>
        </p:nvSpPr>
        <p:spPr>
          <a:xfrm>
            <a:off x="576000" y="4320000"/>
            <a:ext cx="11041200" cy="720000"/>
          </a:xfrm>
          <a:prstGeom prst="rect">
            <a:avLst/>
          </a:prstGeom>
        </p:spPr>
        <p:txBody>
          <a:bodyPr/>
          <a:lstStyle/>
          <a:p>
            <a:r>
              <a:rPr lang="en-US" sz="1150" b="1">
                <a:solidFill>
                  <a:srgbClr val="FFFFFF"/>
                </a:solidFill>
                <a:latin typeface="Aptos"/>
                <a:ea typeface="Aptos"/>
              </a:rPr>
              <a:t>🔍 End-to-End Performance Engineering Methodology:</a:t>
            </a:r>
          </a:p>
          <a:p>
            <a:r>
              <a:rPr lang="en-US" sz="1150" b="1">
                <a:solidFill>
                  <a:srgbClr val="FFFFFF"/>
                </a:solidFill>
                <a:latin typeface="Aptos"/>
                <a:ea typeface="Aptos"/>
              </a:rPr>
              <a:t>Correlating metrics across Kubernetes Pods ⟷ Linux OS ⟷ z/VM Hypervisor ⟷ IBM Z Hardware to isolate infrastructure overhead, eliminate CPU steal time, and enable predictable IFL capacity planning for enterprise banking systems.</a:t>
            </a:r>
          </a:p>
        </p:txBody>
      </p:sp>
      <p:sp>
        <p:nvSpPr>
          <p:cNvPr id="100175" name="BottomBanner_Bg"/>
          <p:cNvSpPr/>
          <p:nvPr/>
        </p:nvSpPr>
        <p:spPr>
          <a:xfrm>
            <a:off x="324000" y="5436000"/>
            <a:ext cx="11545200" cy="90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DBE2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0176" name="BottomBanner_Accent"/>
          <p:cNvSpPr/>
          <p:nvPr/>
        </p:nvSpPr>
        <p:spPr>
          <a:xfrm>
            <a:off x="324000" y="5436000"/>
            <a:ext cx="90000" cy="900000"/>
          </a:xfrm>
          <a:prstGeom prst="rect">
            <a:avLst/>
          </a:prstGeom>
          <a:solidFill>
            <a:srgbClr val="1870B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177" name="BottomBanner_Text"/>
          <p:cNvSpPr txBox="1"/>
          <p:nvPr/>
        </p:nvSpPr>
        <p:spPr>
          <a:xfrm>
            <a:off x="504000" y="5544000"/>
            <a:ext cx="11232000" cy="684000"/>
          </a:xfrm>
          <a:prstGeom prst="rect">
            <a:avLst/>
          </a:prstGeom>
        </p:spPr>
        <p:txBody>
          <a:bodyPr/>
          <a:lstStyle/>
          <a:p>
            <a:r>
              <a:rPr lang="en-US" sz="1100">
                <a:solidFill>
                  <a:srgbClr val="0B305C"/>
                </a:solidFill>
                <a:latin typeface="Aptos"/>
                <a:ea typeface="Aptos"/>
              </a:rPr>
              <a:t>💡 Architectural Foundation: Each layer in the OpenShift-on-IBM Z stack introduces unique scheduling and virtualization telemetry. Performance engineering ensures that hardware-level IFL efficiency is maintained across all virtualized guests and microservices tiers.</a:t>
            </a:r>
          </a:p>
        </p:txBody>
      </p:sp>
      <p:sp>
        <p:nvSpPr>
          <p:cNvPr id="2" name="EventFooter">
            <a:extLst>
              <a:ext uri="{FF2B5EF4-FFF2-40B4-BE49-F238E27FC236}">
                <a16:creationId xmlns:a16="http://schemas.microsoft.com/office/drawing/2014/main" id="{B44FAE18-A269-9A70-94D7-37052B54F1EE}"/>
              </a:ext>
            </a:extLst>
          </p:cNvPr>
          <p:cNvSpPr txBox="1"/>
          <p:nvPr/>
        </p:nvSpPr>
        <p:spPr>
          <a:xfrm>
            <a:off x="7210800" y="6498000"/>
            <a:ext cx="4561200" cy="360000"/>
          </a:xfrm>
          <a:prstGeom prst="rect">
            <a:avLst/>
          </a:prstGeom>
        </p:spPr>
        <p:txBody>
          <a:bodyPr/>
          <a:lstStyle/>
          <a:p>
            <a:r>
              <a:rPr lang="en-US" sz="1400" b="1" dirty="0">
                <a:solidFill>
                  <a:srgbClr val="2E7D32"/>
                </a:solidFill>
                <a:latin typeface="Aptos"/>
                <a:ea typeface="Aptos"/>
              </a:rPr>
              <a:t>Bangalore Performance and Scale Meetup - 2026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51" name="TopAccent"/>
          <p:cNvSpPr/>
          <p:nvPr/>
        </p:nvSpPr>
        <p:spPr>
          <a:xfrm>
            <a:off x="0" y="0"/>
            <a:ext cx="12193200" cy="72000"/>
          </a:xfrm>
          <a:prstGeom prst="rect">
            <a:avLst/>
          </a:prstGeom>
          <a:solidFill>
            <a:srgbClr val="0B30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052" name="CategoryPill"/>
          <p:cNvSpPr txBox="1"/>
          <p:nvPr/>
        </p:nvSpPr>
        <p:spPr>
          <a:xfrm>
            <a:off x="324000" y="180000"/>
            <a:ext cx="5040000" cy="216000"/>
          </a:xfrm>
          <a:prstGeom prst="rect">
            <a:avLst/>
          </a:prstGeom>
        </p:spPr>
        <p:txBody>
          <a:bodyPr/>
          <a:lstStyle/>
          <a:p>
            <a:r>
              <a:rPr lang="en-US" sz="1000" b="1">
                <a:solidFill>
                  <a:srgbClr val="6839A6"/>
                </a:solidFill>
                <a:latin typeface="Aptos"/>
                <a:ea typeface="Aptos"/>
              </a:rPr>
              <a:t>FOUNDATION &amp; PLATFORM VALUE</a:t>
            </a:r>
          </a:p>
        </p:txBody>
      </p:sp>
      <p:sp>
        <p:nvSpPr>
          <p:cNvPr id="100053" name="MainTitle"/>
          <p:cNvSpPr txBox="1"/>
          <p:nvPr/>
        </p:nvSpPr>
        <p:spPr>
          <a:xfrm>
            <a:off x="324000" y="396000"/>
            <a:ext cx="10800000" cy="360000"/>
          </a:xfrm>
          <a:prstGeom prst="rect">
            <a:avLst/>
          </a:prstGeom>
        </p:spPr>
        <p:txBody>
          <a:bodyPr/>
          <a:lstStyle/>
          <a:p>
            <a:r>
              <a:rPr lang="en-US" sz="2200" b="1" dirty="0">
                <a:solidFill>
                  <a:srgbClr val="0B305C"/>
                </a:solidFill>
                <a:latin typeface="Aptos"/>
                <a:ea typeface="Aptos"/>
              </a:rPr>
              <a:t>Red Hat OpenShift on IBM Z &amp; </a:t>
            </a:r>
            <a:r>
              <a:rPr lang="en-US" sz="2200" b="1" dirty="0" err="1">
                <a:solidFill>
                  <a:srgbClr val="0B305C"/>
                </a:solidFill>
                <a:latin typeface="Aptos"/>
                <a:ea typeface="Aptos"/>
              </a:rPr>
              <a:t>LinuxONE</a:t>
            </a:r>
            <a:r>
              <a:rPr lang="en-US" sz="2200" b="1" dirty="0">
                <a:solidFill>
                  <a:srgbClr val="0B305C"/>
                </a:solidFill>
                <a:latin typeface="Aptos"/>
                <a:ea typeface="Aptos"/>
              </a:rPr>
              <a:t>: Why OpenShift?</a:t>
            </a:r>
          </a:p>
        </p:txBody>
      </p:sp>
      <p:sp>
        <p:nvSpPr>
          <p:cNvPr id="100054" name="SubTitle"/>
          <p:cNvSpPr txBox="1"/>
          <p:nvPr/>
        </p:nvSpPr>
        <p:spPr>
          <a:xfrm>
            <a:off x="324000" y="720000"/>
            <a:ext cx="10800000" cy="216000"/>
          </a:xfrm>
          <a:prstGeom prst="rect">
            <a:avLst/>
          </a:prstGeom>
        </p:spPr>
        <p:txBody>
          <a:bodyPr/>
          <a:lstStyle/>
          <a:p>
            <a:r>
              <a:rPr lang="en-US" sz="1400" dirty="0">
                <a:solidFill>
                  <a:srgbClr val="555555"/>
                </a:solidFill>
                <a:latin typeface="Aptos"/>
                <a:ea typeface="Aptos"/>
              </a:rPr>
              <a:t>Empowering enterprise workloads with cloud-native agility, premier security, and mainframe-grade efficiency</a:t>
            </a:r>
          </a:p>
        </p:txBody>
      </p:sp>
      <p:sp>
        <p:nvSpPr>
          <p:cNvPr id="100055" name="Card1_Bg"/>
          <p:cNvSpPr/>
          <p:nvPr/>
        </p:nvSpPr>
        <p:spPr>
          <a:xfrm>
            <a:off x="324000" y="1008000"/>
            <a:ext cx="2736000" cy="388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0056" name="Card1_Accent"/>
          <p:cNvSpPr/>
          <p:nvPr/>
        </p:nvSpPr>
        <p:spPr>
          <a:xfrm>
            <a:off x="324000" y="1008000"/>
            <a:ext cx="72000" cy="3888000"/>
          </a:xfrm>
          <a:prstGeom prst="rect">
            <a:avLst/>
          </a:prstGeom>
          <a:solidFill>
            <a:srgbClr val="1870B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057" name="Card1_Badge"/>
          <p:cNvSpPr/>
          <p:nvPr/>
        </p:nvSpPr>
        <p:spPr>
          <a:xfrm>
            <a:off x="468000" y="1116000"/>
            <a:ext cx="2016000" cy="252000"/>
          </a:xfrm>
          <a:prstGeom prst="roundRect">
            <a:avLst/>
          </a:prstGeom>
          <a:solidFill>
            <a:srgbClr val="EBF3FB"/>
          </a:solidFill>
          <a:ln>
            <a:noFill/>
          </a:ln>
        </p:spPr>
        <p:txBody>
          <a:bodyPr/>
          <a:lstStyle/>
          <a:p>
            <a:r>
              <a:rPr lang="en-US" sz="1100" b="1">
                <a:solidFill>
                  <a:srgbClr val="1870BE"/>
                </a:solidFill>
              </a:rPr>
              <a:t>CLOUD-NATIVE AGILITY</a:t>
            </a:r>
          </a:p>
        </p:txBody>
      </p:sp>
      <p:sp>
        <p:nvSpPr>
          <p:cNvPr id="100058" name="Card1_Header"/>
          <p:cNvSpPr txBox="1"/>
          <p:nvPr/>
        </p:nvSpPr>
        <p:spPr>
          <a:xfrm>
            <a:off x="468000" y="1404000"/>
            <a:ext cx="2448000" cy="288000"/>
          </a:xfrm>
          <a:prstGeom prst="rect">
            <a:avLst/>
          </a:prstGeom>
        </p:spPr>
        <p:txBody>
          <a:bodyPr/>
          <a:lstStyle/>
          <a:p>
            <a:r>
              <a:rPr lang="en-US" sz="1350" b="1">
                <a:solidFill>
                  <a:srgbClr val="0B305C"/>
                </a:solidFill>
              </a:rPr>
              <a:t>Modernize at Scale</a:t>
            </a:r>
          </a:p>
        </p:txBody>
      </p:sp>
      <p:sp>
        <p:nvSpPr>
          <p:cNvPr id="100059" name="Card1_Body"/>
          <p:cNvSpPr txBox="1"/>
          <p:nvPr/>
        </p:nvSpPr>
        <p:spPr>
          <a:xfrm>
            <a:off x="468000" y="1728000"/>
            <a:ext cx="2448000" cy="3024000"/>
          </a:xfrm>
          <a:prstGeom prst="rect">
            <a:avLst/>
          </a:prstGeom>
        </p:spPr>
        <p:txBody>
          <a:bodyPr/>
          <a:lstStyle/>
          <a:p>
            <a:r>
              <a:rPr lang="en-US" sz="1100" dirty="0">
                <a:solidFill>
                  <a:srgbClr val="333333"/>
                </a:solidFill>
              </a:rPr>
              <a:t>• Declarative Operations:</a:t>
            </a:r>
          </a:p>
          <a:p>
            <a:r>
              <a:rPr lang="en-US" sz="1100" dirty="0">
                <a:solidFill>
                  <a:srgbClr val="333333"/>
                </a:solidFill>
              </a:rPr>
              <a:t>  Full-stack Kubernetes automation with built-in Operators &amp; </a:t>
            </a:r>
            <a:r>
              <a:rPr lang="en-US" sz="1100" dirty="0" err="1">
                <a:solidFill>
                  <a:srgbClr val="333333"/>
                </a:solidFill>
              </a:rPr>
              <a:t>GitOps</a:t>
            </a:r>
            <a:r>
              <a:rPr lang="en-US" sz="1100" dirty="0">
                <a:solidFill>
                  <a:srgbClr val="333333"/>
                </a:solidFill>
              </a:rPr>
              <a:t>.</a:t>
            </a:r>
          </a:p>
          <a:p>
            <a:endParaRPr lang="en-US" sz="1100" dirty="0">
              <a:solidFill>
                <a:srgbClr val="333333"/>
              </a:solidFill>
            </a:endParaRPr>
          </a:p>
          <a:p>
            <a:r>
              <a:rPr lang="en-US" sz="1100" dirty="0">
                <a:solidFill>
                  <a:srgbClr val="333333"/>
                </a:solidFill>
              </a:rPr>
              <a:t>• Microservices Architecture:</a:t>
            </a:r>
          </a:p>
          <a:p>
            <a:r>
              <a:rPr lang="en-US" sz="1100" dirty="0">
                <a:solidFill>
                  <a:srgbClr val="333333"/>
                </a:solidFill>
              </a:rPr>
              <a:t>  Modernize monolithic  application into agile, scalable container services.</a:t>
            </a:r>
          </a:p>
          <a:p>
            <a:endParaRPr lang="en-US" sz="1100" dirty="0">
              <a:solidFill>
                <a:srgbClr val="333333"/>
              </a:solidFill>
            </a:endParaRPr>
          </a:p>
          <a:p>
            <a:r>
              <a:rPr lang="en-US" sz="1100" dirty="0">
                <a:solidFill>
                  <a:srgbClr val="333333"/>
                </a:solidFill>
              </a:rPr>
              <a:t>• Developer Experience:</a:t>
            </a:r>
          </a:p>
          <a:p>
            <a:r>
              <a:rPr lang="en-US" sz="1100" dirty="0">
                <a:solidFill>
                  <a:srgbClr val="333333"/>
                </a:solidFill>
              </a:rPr>
              <a:t>  Consistent self-service developer workflows across hybrid cloud tiers.</a:t>
            </a:r>
          </a:p>
        </p:txBody>
      </p:sp>
      <p:sp>
        <p:nvSpPr>
          <p:cNvPr id="100060" name="Card2_Bg"/>
          <p:cNvSpPr/>
          <p:nvPr/>
        </p:nvSpPr>
        <p:spPr>
          <a:xfrm>
            <a:off x="3204000" y="1008000"/>
            <a:ext cx="2736000" cy="388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0061" name="Card2_Accent"/>
          <p:cNvSpPr/>
          <p:nvPr/>
        </p:nvSpPr>
        <p:spPr>
          <a:xfrm>
            <a:off x="3204000" y="1008000"/>
            <a:ext cx="72000" cy="3888000"/>
          </a:xfrm>
          <a:prstGeom prst="rect">
            <a:avLst/>
          </a:prstGeom>
          <a:solidFill>
            <a:srgbClr val="0F969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062" name="Card2_Badge"/>
          <p:cNvSpPr/>
          <p:nvPr/>
        </p:nvSpPr>
        <p:spPr>
          <a:xfrm>
            <a:off x="3348000" y="1116000"/>
            <a:ext cx="2016000" cy="252000"/>
          </a:xfrm>
          <a:prstGeom prst="roundRect">
            <a:avLst/>
          </a:prstGeom>
          <a:solidFill>
            <a:srgbClr val="E6F6F6"/>
          </a:solidFill>
          <a:ln>
            <a:noFill/>
          </a:ln>
        </p:spPr>
        <p:txBody>
          <a:bodyPr/>
          <a:lstStyle/>
          <a:p>
            <a:r>
              <a:rPr lang="en-US" sz="1100" b="1">
                <a:solidFill>
                  <a:srgbClr val="0F9699"/>
                </a:solidFill>
              </a:rPr>
              <a:t>COMPUTE DENSITY</a:t>
            </a:r>
          </a:p>
        </p:txBody>
      </p:sp>
      <p:sp>
        <p:nvSpPr>
          <p:cNvPr id="100063" name="Card2_Header"/>
          <p:cNvSpPr txBox="1"/>
          <p:nvPr/>
        </p:nvSpPr>
        <p:spPr>
          <a:xfrm>
            <a:off x="3348000" y="1404000"/>
            <a:ext cx="2448000" cy="288000"/>
          </a:xfrm>
          <a:prstGeom prst="rect">
            <a:avLst/>
          </a:prstGeom>
        </p:spPr>
        <p:txBody>
          <a:bodyPr/>
          <a:lstStyle/>
          <a:p>
            <a:r>
              <a:rPr lang="en-US" sz="1350" b="1">
                <a:solidFill>
                  <a:srgbClr val="0B305C"/>
                </a:solidFill>
              </a:rPr>
              <a:t>Extreme IFL Consolidation</a:t>
            </a:r>
          </a:p>
        </p:txBody>
      </p:sp>
      <p:sp>
        <p:nvSpPr>
          <p:cNvPr id="100064" name="Card2_Body"/>
          <p:cNvSpPr txBox="1"/>
          <p:nvPr/>
        </p:nvSpPr>
        <p:spPr>
          <a:xfrm>
            <a:off x="3348000" y="1728000"/>
            <a:ext cx="2448000" cy="3024000"/>
          </a:xfrm>
          <a:prstGeom prst="rect">
            <a:avLst/>
          </a:prstGeom>
        </p:spPr>
        <p:txBody>
          <a:bodyPr/>
          <a:lstStyle/>
          <a:p>
            <a:r>
              <a:rPr lang="en-US" sz="1100">
                <a:solidFill>
                  <a:srgbClr val="333333"/>
                </a:solidFill>
              </a:rPr>
              <a:t>• High-Density Packing:</a:t>
            </a:r>
          </a:p>
          <a:p>
            <a:r>
              <a:rPr lang="en-US" sz="1100">
                <a:solidFill>
                  <a:srgbClr val="333333"/>
                </a:solidFill>
              </a:rPr>
              <a:t>  Run thousands of enterprise pods on dense IFL cores with massive RAM.</a:t>
            </a:r>
          </a:p>
          <a:p>
            <a:endParaRPr lang="en-US" sz="1100">
              <a:solidFill>
                <a:srgbClr val="333333"/>
              </a:solidFill>
            </a:endParaRPr>
          </a:p>
          <a:p>
            <a:r>
              <a:rPr lang="en-US" sz="1100">
                <a:solidFill>
                  <a:srgbClr val="333333"/>
                </a:solidFill>
              </a:rPr>
              <a:t>• Hypervisor Flexibility:</a:t>
            </a:r>
          </a:p>
          <a:p>
            <a:r>
              <a:rPr lang="en-US" sz="1100">
                <a:solidFill>
                  <a:srgbClr val="333333"/>
                </a:solidFill>
              </a:rPr>
              <a:t>  Flexible deployments across IBM z/VM or RHEL KVM micro-partitions.</a:t>
            </a:r>
          </a:p>
          <a:p>
            <a:endParaRPr lang="en-US" sz="1100">
              <a:solidFill>
                <a:srgbClr val="333333"/>
              </a:solidFill>
            </a:endParaRPr>
          </a:p>
          <a:p>
            <a:r>
              <a:rPr lang="en-US" sz="1100">
                <a:solidFill>
                  <a:srgbClr val="333333"/>
                </a:solidFill>
              </a:rPr>
              <a:t>• Optimal TCO:</a:t>
            </a:r>
          </a:p>
          <a:p>
            <a:r>
              <a:rPr lang="en-US" sz="1100">
                <a:solidFill>
                  <a:srgbClr val="333333"/>
                </a:solidFill>
              </a:rPr>
              <a:t>  Substantially reduces data center footprint, cabling, power, and software licensing.</a:t>
            </a:r>
          </a:p>
        </p:txBody>
      </p:sp>
      <p:sp>
        <p:nvSpPr>
          <p:cNvPr id="100065" name="Card3_Bg"/>
          <p:cNvSpPr/>
          <p:nvPr/>
        </p:nvSpPr>
        <p:spPr>
          <a:xfrm>
            <a:off x="6084000" y="1008000"/>
            <a:ext cx="2736000" cy="388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0066" name="Card3_Accent"/>
          <p:cNvSpPr/>
          <p:nvPr/>
        </p:nvSpPr>
        <p:spPr>
          <a:xfrm>
            <a:off x="6084000" y="1008000"/>
            <a:ext cx="72000" cy="3888000"/>
          </a:xfrm>
          <a:prstGeom prst="rect">
            <a:avLst/>
          </a:prstGeom>
          <a:solidFill>
            <a:srgbClr val="6839A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067" name="Card3_Badge"/>
          <p:cNvSpPr/>
          <p:nvPr/>
        </p:nvSpPr>
        <p:spPr>
          <a:xfrm>
            <a:off x="6228000" y="1116000"/>
            <a:ext cx="2376000" cy="252000"/>
          </a:xfrm>
          <a:prstGeom prst="roundRect">
            <a:avLst/>
          </a:prstGeom>
          <a:solidFill>
            <a:srgbClr val="F2EDF9"/>
          </a:solidFill>
          <a:ln>
            <a:noFill/>
          </a:ln>
        </p:spPr>
        <p:txBody>
          <a:bodyPr/>
          <a:lstStyle/>
          <a:p>
            <a:r>
              <a:rPr lang="en-US" sz="1100" b="1">
                <a:solidFill>
                  <a:srgbClr val="6839A6"/>
                </a:solidFill>
              </a:rPr>
              <a:t>ENTERPRISE SECURITY &amp; RESILIENCE</a:t>
            </a:r>
          </a:p>
        </p:txBody>
      </p:sp>
      <p:sp>
        <p:nvSpPr>
          <p:cNvPr id="100068" name="Card3_Header"/>
          <p:cNvSpPr txBox="1"/>
          <p:nvPr/>
        </p:nvSpPr>
        <p:spPr>
          <a:xfrm>
            <a:off x="6228000" y="1404000"/>
            <a:ext cx="2448000" cy="288000"/>
          </a:xfrm>
          <a:prstGeom prst="rect">
            <a:avLst/>
          </a:prstGeom>
        </p:spPr>
        <p:txBody>
          <a:bodyPr/>
          <a:lstStyle/>
          <a:p>
            <a:r>
              <a:rPr lang="en-US" sz="1350" b="1">
                <a:solidFill>
                  <a:srgbClr val="0B305C"/>
                </a:solidFill>
              </a:rPr>
              <a:t>Mission-Critical Trust</a:t>
            </a:r>
          </a:p>
        </p:txBody>
      </p:sp>
      <p:sp>
        <p:nvSpPr>
          <p:cNvPr id="100069" name="Card3_Body"/>
          <p:cNvSpPr txBox="1"/>
          <p:nvPr/>
        </p:nvSpPr>
        <p:spPr>
          <a:xfrm>
            <a:off x="6228000" y="1728000"/>
            <a:ext cx="2448000" cy="3024000"/>
          </a:xfrm>
          <a:prstGeom prst="rect">
            <a:avLst/>
          </a:prstGeom>
        </p:spPr>
        <p:txBody>
          <a:bodyPr/>
          <a:lstStyle/>
          <a:p>
            <a:r>
              <a:rPr lang="en-US" sz="1100">
                <a:solidFill>
                  <a:srgbClr val="333333"/>
                </a:solidFill>
              </a:rPr>
              <a:t>• Pervasive Encryption:</a:t>
            </a:r>
          </a:p>
          <a:p>
            <a:r>
              <a:rPr lang="en-US" sz="1100">
                <a:solidFill>
                  <a:srgbClr val="333333"/>
                </a:solidFill>
              </a:rPr>
              <a:t>  Hardware-accelerated cryptographic protection on-chip (CPACF &amp; Crypto Express).</a:t>
            </a:r>
          </a:p>
          <a:p>
            <a:endParaRPr lang="en-US" sz="1100">
              <a:solidFill>
                <a:srgbClr val="333333"/>
              </a:solidFill>
            </a:endParaRPr>
          </a:p>
          <a:p>
            <a:r>
              <a:rPr lang="en-US" sz="1100">
                <a:solidFill>
                  <a:srgbClr val="333333"/>
                </a:solidFill>
              </a:rPr>
              <a:t>• Five-Nines Availability:</a:t>
            </a:r>
          </a:p>
          <a:p>
            <a:r>
              <a:rPr lang="en-US" sz="1100">
                <a:solidFill>
                  <a:srgbClr val="333333"/>
                </a:solidFill>
              </a:rPr>
              <a:t>  Unmatched fault tolerance, high-availability control plane, &amp; DR (Primary / Secondary Cluster).</a:t>
            </a:r>
          </a:p>
          <a:p>
            <a:endParaRPr lang="en-US" sz="1100">
              <a:solidFill>
                <a:srgbClr val="333333"/>
              </a:solidFill>
            </a:endParaRPr>
          </a:p>
          <a:p>
            <a:r>
              <a:rPr lang="en-US" sz="1100">
                <a:solidFill>
                  <a:srgbClr val="333333"/>
                </a:solidFill>
              </a:rPr>
              <a:t>• Multi-Tenant Isolation:</a:t>
            </a:r>
          </a:p>
          <a:p>
            <a:r>
              <a:rPr lang="en-US" sz="1100">
                <a:solidFill>
                  <a:srgbClr val="333333"/>
                </a:solidFill>
              </a:rPr>
              <a:t>  Robust hardware-enforced LPAR boundaries and security controls.</a:t>
            </a:r>
          </a:p>
        </p:txBody>
      </p:sp>
      <p:sp>
        <p:nvSpPr>
          <p:cNvPr id="100070" name="Card4_Bg"/>
          <p:cNvSpPr/>
          <p:nvPr/>
        </p:nvSpPr>
        <p:spPr>
          <a:xfrm>
            <a:off x="8964000" y="1008000"/>
            <a:ext cx="2880000" cy="388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0071" name="Card4_Accent"/>
          <p:cNvSpPr/>
          <p:nvPr/>
        </p:nvSpPr>
        <p:spPr>
          <a:xfrm>
            <a:off x="8964000" y="1008000"/>
            <a:ext cx="72000" cy="38880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072" name="Card4_Badge"/>
          <p:cNvSpPr/>
          <p:nvPr/>
        </p:nvSpPr>
        <p:spPr>
          <a:xfrm>
            <a:off x="9108000" y="1116000"/>
            <a:ext cx="2448000" cy="252000"/>
          </a:xfrm>
          <a:prstGeom prst="roundRect">
            <a:avLst/>
          </a:prstGeom>
          <a:solidFill>
            <a:srgbClr val="FDF3E8"/>
          </a:solidFill>
          <a:ln>
            <a:noFill/>
          </a:ln>
        </p:spPr>
        <p:txBody>
          <a:bodyPr/>
          <a:lstStyle/>
          <a:p>
            <a:r>
              <a:rPr lang="en-US" sz="1100" b="1">
                <a:solidFill>
                  <a:srgbClr val="E65100"/>
                </a:solidFill>
              </a:rPr>
              <a:t>SUB-MILLISECOND LATENCY</a:t>
            </a:r>
          </a:p>
        </p:txBody>
      </p:sp>
      <p:sp>
        <p:nvSpPr>
          <p:cNvPr id="100073" name="Card4_Header"/>
          <p:cNvSpPr txBox="1"/>
          <p:nvPr/>
        </p:nvSpPr>
        <p:spPr>
          <a:xfrm>
            <a:off x="9108000" y="1404000"/>
            <a:ext cx="2592000" cy="288000"/>
          </a:xfrm>
          <a:prstGeom prst="rect">
            <a:avLst/>
          </a:prstGeom>
        </p:spPr>
        <p:txBody>
          <a:bodyPr/>
          <a:lstStyle/>
          <a:p>
            <a:r>
              <a:rPr lang="en-US" sz="1350" b="1">
                <a:solidFill>
                  <a:srgbClr val="0B305C"/>
                </a:solidFill>
              </a:rPr>
              <a:t>Core Banking Colocation</a:t>
            </a:r>
          </a:p>
        </p:txBody>
      </p:sp>
      <p:sp>
        <p:nvSpPr>
          <p:cNvPr id="100074" name="Card4_Body"/>
          <p:cNvSpPr txBox="1"/>
          <p:nvPr/>
        </p:nvSpPr>
        <p:spPr>
          <a:xfrm>
            <a:off x="9108000" y="1728000"/>
            <a:ext cx="2592000" cy="3024000"/>
          </a:xfrm>
          <a:prstGeom prst="rect">
            <a:avLst/>
          </a:prstGeom>
        </p:spPr>
        <p:txBody>
          <a:bodyPr/>
          <a:lstStyle/>
          <a:p>
            <a:r>
              <a:rPr lang="en-US" sz="1100">
                <a:solidFill>
                  <a:srgbClr val="333333"/>
                </a:solidFill>
              </a:rPr>
              <a:t>• Transactional Proximity:</a:t>
            </a:r>
          </a:p>
          <a:p>
            <a:r>
              <a:rPr lang="en-US" sz="1100">
                <a:solidFill>
                  <a:srgbClr val="333333"/>
                </a:solidFill>
              </a:rPr>
              <a:t>  Co-locate containerized microservices directly with core banking (z/OS, CICS, Db2).</a:t>
            </a:r>
          </a:p>
          <a:p>
            <a:endParaRPr lang="en-US" sz="1100">
              <a:solidFill>
                <a:srgbClr val="333333"/>
              </a:solidFill>
            </a:endParaRPr>
          </a:p>
          <a:p>
            <a:r>
              <a:rPr lang="en-US" sz="1100">
                <a:solidFill>
                  <a:srgbClr val="333333"/>
                </a:solidFill>
              </a:rPr>
              <a:t>• Ultra-Fast HiperSockets:</a:t>
            </a:r>
          </a:p>
          <a:p>
            <a:r>
              <a:rPr lang="en-US" sz="1100">
                <a:solidFill>
                  <a:srgbClr val="333333"/>
                </a:solidFill>
              </a:rPr>
              <a:t>  Direct memory communication across LPARs without external network switches.</a:t>
            </a:r>
          </a:p>
          <a:p>
            <a:endParaRPr lang="en-US" sz="1100">
              <a:solidFill>
                <a:srgbClr val="333333"/>
              </a:solidFill>
            </a:endParaRPr>
          </a:p>
          <a:p>
            <a:r>
              <a:rPr lang="en-US" sz="1100">
                <a:solidFill>
                  <a:srgbClr val="333333"/>
                </a:solidFill>
              </a:rPr>
              <a:t>• Real-Time Processing:</a:t>
            </a:r>
          </a:p>
          <a:p>
            <a:r>
              <a:rPr lang="en-US" sz="1100">
                <a:solidFill>
                  <a:srgbClr val="333333"/>
                </a:solidFill>
              </a:rPr>
              <a:t>  Accelerate high-frequency payments and real-time core banking transactions.</a:t>
            </a:r>
          </a:p>
        </p:txBody>
      </p:sp>
      <p:sp>
        <p:nvSpPr>
          <p:cNvPr id="100075" name="BottomBanner_Bg"/>
          <p:cNvSpPr/>
          <p:nvPr/>
        </p:nvSpPr>
        <p:spPr>
          <a:xfrm>
            <a:off x="324000" y="5040000"/>
            <a:ext cx="11520000" cy="1368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BE2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0076" name="BottomBanner_Accent"/>
          <p:cNvSpPr/>
          <p:nvPr/>
        </p:nvSpPr>
        <p:spPr>
          <a:xfrm>
            <a:off x="324000" y="5040000"/>
            <a:ext cx="72000" cy="1368000"/>
          </a:xfrm>
          <a:prstGeom prst="rect">
            <a:avLst/>
          </a:prstGeom>
          <a:solidFill>
            <a:srgbClr val="0B30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077" name="BottomBanner_Title"/>
          <p:cNvSpPr txBox="1"/>
          <p:nvPr/>
        </p:nvSpPr>
        <p:spPr>
          <a:xfrm>
            <a:off x="468000" y="5148000"/>
            <a:ext cx="5760000" cy="252000"/>
          </a:xfrm>
          <a:prstGeom prst="rect">
            <a:avLst/>
          </a:prstGeom>
        </p:spPr>
        <p:txBody>
          <a:bodyPr/>
          <a:lstStyle/>
          <a:p>
            <a:r>
              <a:rPr lang="en-US" sz="1250" b="1">
                <a:solidFill>
                  <a:srgbClr val="0B305C"/>
                </a:solidFill>
              </a:rPr>
              <a:t>Why Performance Engineering on OpenShift on IBM Z Matters</a:t>
            </a:r>
          </a:p>
        </p:txBody>
      </p:sp>
      <p:sp>
        <p:nvSpPr>
          <p:cNvPr id="100078" name="BottomBanner_Text"/>
          <p:cNvSpPr txBox="1"/>
          <p:nvPr/>
        </p:nvSpPr>
        <p:spPr>
          <a:xfrm>
            <a:off x="468000" y="5400000"/>
            <a:ext cx="11160000" cy="900000"/>
          </a:xfrm>
          <a:prstGeom prst="rect">
            <a:avLst/>
          </a:prstGeom>
        </p:spPr>
        <p:txBody>
          <a:bodyPr/>
          <a:lstStyle/>
          <a:p>
            <a:r>
              <a:rPr lang="en-US" sz="1050" b="0" dirty="0">
                <a:solidFill>
                  <a:srgbClr val="333333"/>
                </a:solidFill>
              </a:rPr>
              <a:t>• Multi-Layer Reality: Applications run atop OpenShift Pods ⟷ Linux Guests ⟷ Hypervisor (</a:t>
            </a:r>
            <a:r>
              <a:rPr lang="en-US" sz="1000" b="0" dirty="0" err="1">
                <a:solidFill>
                  <a:srgbClr val="333333"/>
                </a:solidFill>
              </a:rPr>
              <a:t>z</a:t>
            </a:r>
            <a:r>
              <a:rPr lang="en-US" sz="1000" dirty="0" err="1">
                <a:solidFill>
                  <a:srgbClr val="333333"/>
                </a:solidFill>
              </a:rPr>
              <a:t>vm</a:t>
            </a:r>
            <a:r>
              <a:rPr lang="en-US" sz="1000" dirty="0">
                <a:solidFill>
                  <a:srgbClr val="333333"/>
                </a:solidFill>
              </a:rPr>
              <a:t>/</a:t>
            </a:r>
            <a:r>
              <a:rPr lang="en-US" sz="1000">
                <a:solidFill>
                  <a:srgbClr val="333333"/>
                </a:solidFill>
              </a:rPr>
              <a:t>kvm</a:t>
            </a:r>
            <a:r>
              <a:rPr lang="en-US" sz="1000" b="0">
                <a:solidFill>
                  <a:srgbClr val="333333"/>
                </a:solidFill>
              </a:rPr>
              <a:t>) ⟷ Physical IFL Hardware.</a:t>
            </a:r>
          </a:p>
          <a:p>
            <a:r>
              <a:rPr lang="en-US" sz="1000" b="0" dirty="0">
                <a:solidFill>
                  <a:srgbClr val="333333"/>
                </a:solidFill>
              </a:rPr>
              <a:t>• The Need: Without cross-layer telemetry, platform overhead (storage, monitoring, steal time) can mask as high IFL usage.</a:t>
            </a:r>
          </a:p>
          <a:p>
            <a:r>
              <a:rPr lang="en-US" sz="1000" b="0" dirty="0">
                <a:solidFill>
                  <a:srgbClr val="333333"/>
                </a:solidFill>
              </a:rPr>
              <a:t>• The Solution: This study establishes an end-to-end performance methodology to unlock maximum density and peak enterprise efficiency.</a:t>
            </a:r>
          </a:p>
        </p:txBody>
      </p:sp>
      <p:sp>
        <p:nvSpPr>
          <p:cNvPr id="2" name="EventFooter">
            <a:extLst>
              <a:ext uri="{FF2B5EF4-FFF2-40B4-BE49-F238E27FC236}">
                <a16:creationId xmlns:a16="http://schemas.microsoft.com/office/drawing/2014/main" id="{F7643496-A6BB-2C0B-FF4C-F7277D45FF34}"/>
              </a:ext>
            </a:extLst>
          </p:cNvPr>
          <p:cNvSpPr txBox="1"/>
          <p:nvPr/>
        </p:nvSpPr>
        <p:spPr>
          <a:xfrm>
            <a:off x="7210800" y="6498000"/>
            <a:ext cx="4561200" cy="360000"/>
          </a:xfrm>
          <a:prstGeom prst="rect">
            <a:avLst/>
          </a:prstGeom>
        </p:spPr>
        <p:txBody>
          <a:bodyPr/>
          <a:lstStyle/>
          <a:p>
            <a:r>
              <a:rPr lang="en-US" sz="1400" b="1" dirty="0">
                <a:solidFill>
                  <a:srgbClr val="2E7D32"/>
                </a:solidFill>
                <a:latin typeface="Aptos"/>
                <a:ea typeface="Aptos"/>
              </a:rPr>
              <a:t>Bangalore Performance and Scale Meetup - 2026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D5C31-E0C5-60A4-7F48-928EA505C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3BAB4F1-41FA-14D7-D4F4-B796D4F596EA}"/>
              </a:ext>
            </a:extLst>
          </p:cNvPr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0B3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FED37AD-1579-974A-6C14-43CEA49AE2AB}"/>
              </a:ext>
            </a:extLst>
          </p:cNvPr>
          <p:cNvSpPr/>
          <p:nvPr/>
        </p:nvSpPr>
        <p:spPr>
          <a:xfrm>
            <a:off x="320040" y="866750"/>
            <a:ext cx="3657600" cy="190775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7482497-BDFB-B018-B010-AB977B3386B6}"/>
              </a:ext>
            </a:extLst>
          </p:cNvPr>
          <p:cNvSpPr/>
          <p:nvPr/>
        </p:nvSpPr>
        <p:spPr>
          <a:xfrm>
            <a:off x="318116" y="1046123"/>
            <a:ext cx="54864" cy="1481328"/>
          </a:xfrm>
          <a:prstGeom prst="rect">
            <a:avLst/>
          </a:prstGeom>
          <a:solidFill>
            <a:srgbClr val="18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C0C4FD-06D4-35B8-57B1-02C9FF503068}"/>
              </a:ext>
            </a:extLst>
          </p:cNvPr>
          <p:cNvSpPr txBox="1"/>
          <p:nvPr/>
        </p:nvSpPr>
        <p:spPr>
          <a:xfrm>
            <a:off x="532261" y="915060"/>
            <a:ext cx="336499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dirty="0">
                <a:solidFill>
                  <a:srgbClr val="0B305C"/>
                </a:solidFill>
                <a:latin typeface="Aptos"/>
              </a:rPr>
              <a:t>BUSINESS CHALLENGE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E6F336-5E8E-C769-EFDA-A07C9629B827}"/>
              </a:ext>
            </a:extLst>
          </p:cNvPr>
          <p:cNvSpPr txBox="1"/>
          <p:nvPr/>
        </p:nvSpPr>
        <p:spPr>
          <a:xfrm>
            <a:off x="482706" y="1224365"/>
            <a:ext cx="3464103" cy="154657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50" dirty="0"/>
              <a:t>High IFL utilization despite low OpenShift workload, creating an IFL utilization mismatch.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50" dirty="0"/>
              <a:t>High IFL-to-</a:t>
            </a:r>
            <a:r>
              <a:rPr lang="en-IN" sz="1050" dirty="0" err="1"/>
              <a:t>vcpu</a:t>
            </a:r>
            <a:r>
              <a:rPr lang="en-IN" sz="1050" dirty="0"/>
              <a:t> ratio and IFL contention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50" dirty="0"/>
              <a:t>CPU steal time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50" dirty="0"/>
              <a:t>High platform, storage, and monitoring overhead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50" dirty="0"/>
              <a:t>Shared LPARs across production clusters (Primary &amp; Secondary Cluster)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50" dirty="0"/>
              <a:t>Unexplained IFL consumption increased capacity pressure, infrastructure cost, and sizing uncertainty.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FC6E571-A98B-F536-3756-8DEED8EFFA02}"/>
              </a:ext>
            </a:extLst>
          </p:cNvPr>
          <p:cNvSpPr/>
          <p:nvPr/>
        </p:nvSpPr>
        <p:spPr>
          <a:xfrm>
            <a:off x="4131163" y="866749"/>
            <a:ext cx="3890058" cy="206086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C122830-256A-B1F3-B62E-F69A97518817}"/>
              </a:ext>
            </a:extLst>
          </p:cNvPr>
          <p:cNvSpPr/>
          <p:nvPr/>
        </p:nvSpPr>
        <p:spPr>
          <a:xfrm>
            <a:off x="4133087" y="1307592"/>
            <a:ext cx="54864" cy="1481328"/>
          </a:xfrm>
          <a:prstGeom prst="rect">
            <a:avLst/>
          </a:prstGeom>
          <a:solidFill>
            <a:srgbClr val="0F9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6FFE31-1437-F53E-129F-18818C0EE1E0}"/>
              </a:ext>
            </a:extLst>
          </p:cNvPr>
          <p:cNvSpPr txBox="1"/>
          <p:nvPr/>
        </p:nvSpPr>
        <p:spPr>
          <a:xfrm>
            <a:off x="4286614" y="924014"/>
            <a:ext cx="336499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dirty="0">
                <a:solidFill>
                  <a:srgbClr val="0B305C"/>
                </a:solidFill>
                <a:latin typeface="Aptos"/>
              </a:rPr>
              <a:t>SOLUTION OVERVIEW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396B50C-7F7F-9BEB-8037-612E6003AD1A}"/>
              </a:ext>
            </a:extLst>
          </p:cNvPr>
          <p:cNvSpPr txBox="1"/>
          <p:nvPr/>
        </p:nvSpPr>
        <p:spPr>
          <a:xfrm>
            <a:off x="4266517" y="1164987"/>
            <a:ext cx="3549678" cy="17851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Cross-layer analysis of LPAR, </a:t>
            </a:r>
            <a:r>
              <a:rPr lang="en-IN" sz="1100" b="1" dirty="0"/>
              <a:t>OpenShift, and z/VM</a:t>
            </a:r>
            <a:r>
              <a:rPr lang="en-IN" sz="1100" dirty="0"/>
              <a:t> metrics to pinpoint IFL consumption.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Correlated workload and infrastructure utilization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Identified major IFL consumers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Quantified IFL usage and optimized sizing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Delivered architecture and configuration recommendations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b="1" dirty="0"/>
              <a:t>Technologies / logs:</a:t>
            </a:r>
            <a:br>
              <a:rPr lang="en-IN" sz="950" dirty="0"/>
            </a:br>
            <a:r>
              <a:rPr lang="en-IN" sz="1100" b="1" dirty="0"/>
              <a:t>OpenShift • z/VM • Monwrite/Perfkit (z/VM) • SAR • hyptop • Prometheus</a:t>
            </a:r>
            <a:endParaRPr sz="950" b="0" dirty="0">
              <a:solidFill>
                <a:srgbClr val="637381"/>
              </a:solidFill>
              <a:latin typeface="Aptos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1984CD2B-F124-3CCC-D3A6-A4303E2FAC4F}"/>
              </a:ext>
            </a:extLst>
          </p:cNvPr>
          <p:cNvSpPr/>
          <p:nvPr/>
        </p:nvSpPr>
        <p:spPr>
          <a:xfrm>
            <a:off x="8255234" y="846768"/>
            <a:ext cx="3712464" cy="203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9B4B317-7FC5-2C93-BBDE-BA15D08A47E9}"/>
              </a:ext>
            </a:extLst>
          </p:cNvPr>
          <p:cNvSpPr/>
          <p:nvPr/>
        </p:nvSpPr>
        <p:spPr>
          <a:xfrm>
            <a:off x="7946136" y="1307592"/>
            <a:ext cx="54864" cy="1481328"/>
          </a:xfrm>
          <a:prstGeom prst="rect">
            <a:avLst/>
          </a:prstGeom>
          <a:solidFill>
            <a:srgbClr val="683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15E18E3-7F39-6D2C-EED9-852FF0ADE7F7}"/>
              </a:ext>
            </a:extLst>
          </p:cNvPr>
          <p:cNvSpPr txBox="1"/>
          <p:nvPr/>
        </p:nvSpPr>
        <p:spPr>
          <a:xfrm>
            <a:off x="8426493" y="899840"/>
            <a:ext cx="3364992" cy="2769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dirty="0">
                <a:solidFill>
                  <a:srgbClr val="0B305C"/>
                </a:solidFill>
                <a:latin typeface="Aptos"/>
              </a:rPr>
              <a:t>INNOVATION HIGHLIGHTS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1C724CF-3AFE-C8F0-9AE9-6E97648E795D}"/>
              </a:ext>
            </a:extLst>
          </p:cNvPr>
          <p:cNvSpPr txBox="1"/>
          <p:nvPr/>
        </p:nvSpPr>
        <p:spPr>
          <a:xfrm>
            <a:off x="8363488" y="1190754"/>
            <a:ext cx="3399183" cy="154657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50" dirty="0"/>
              <a:t>Differentiator:</a:t>
            </a:r>
            <a:br>
              <a:rPr lang="en-IN" sz="950" dirty="0"/>
            </a:br>
            <a:r>
              <a:rPr lang="en-IN" sz="1050" dirty="0"/>
              <a:t>Cross-layer correlation revealed the hidden causes of high IFL utilization.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50" dirty="0"/>
              <a:t>Novel Approach:</a:t>
            </a:r>
            <a:br>
              <a:rPr lang="en-IN" sz="950" dirty="0"/>
            </a:br>
            <a:r>
              <a:rPr lang="en-IN" sz="1050" dirty="0"/>
              <a:t>Combined LPAR + OpenShift + z/VM telemetry to isolate infrastructure overhead.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50" dirty="0"/>
              <a:t>Standout Value:</a:t>
            </a:r>
            <a:br>
              <a:rPr lang="en-IN" sz="950" dirty="0"/>
            </a:br>
            <a:r>
              <a:rPr lang="en-IN" sz="1050" dirty="0"/>
              <a:t>Turned “high IFL, low OpenShift CPU” into clear root causes and actionable recommendations.</a:t>
            </a:r>
            <a:endParaRPr sz="950" dirty="0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708A4438-CFBC-49C8-07BB-FE997EF64735}"/>
              </a:ext>
            </a:extLst>
          </p:cNvPr>
          <p:cNvSpPr/>
          <p:nvPr/>
        </p:nvSpPr>
        <p:spPr>
          <a:xfrm>
            <a:off x="320040" y="2942747"/>
            <a:ext cx="5596128" cy="286952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1D98771-026D-31C9-8273-C62803A40FB4}"/>
              </a:ext>
            </a:extLst>
          </p:cNvPr>
          <p:cNvSpPr/>
          <p:nvPr/>
        </p:nvSpPr>
        <p:spPr>
          <a:xfrm>
            <a:off x="320040" y="2944368"/>
            <a:ext cx="54864" cy="2249424"/>
          </a:xfrm>
          <a:prstGeom prst="rect">
            <a:avLst/>
          </a:prstGeom>
          <a:solidFill>
            <a:srgbClr val="48A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EFC4E16-06EC-57D7-A703-8F62963B6599}"/>
              </a:ext>
            </a:extLst>
          </p:cNvPr>
          <p:cNvSpPr txBox="1"/>
          <p:nvPr/>
        </p:nvSpPr>
        <p:spPr>
          <a:xfrm>
            <a:off x="484632" y="2945130"/>
            <a:ext cx="52120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dirty="0">
                <a:solidFill>
                  <a:srgbClr val="0B305C"/>
                </a:solidFill>
                <a:latin typeface="Aptos"/>
              </a:rPr>
              <a:t>BUSINESS IMPACT &amp; METRICS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A98FC7F-4FB3-237A-FF22-6D07B0608AE8}"/>
              </a:ext>
            </a:extLst>
          </p:cNvPr>
          <p:cNvSpPr txBox="1"/>
          <p:nvPr/>
        </p:nvSpPr>
        <p:spPr>
          <a:xfrm>
            <a:off x="493776" y="3201162"/>
            <a:ext cx="2091816" cy="263492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000" b="0" dirty="0">
                <a:solidFill>
                  <a:srgbClr val="637381"/>
                </a:solidFill>
                <a:latin typeface="Aptos"/>
              </a:rPr>
              <a:t>KEY KPIs</a:t>
            </a:r>
            <a:endParaRPr lang="en-US" sz="950" b="0" dirty="0">
              <a:solidFill>
                <a:srgbClr val="637381"/>
              </a:solidFill>
              <a:latin typeface="Apto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dirty="0"/>
              <a:t>Faster root-cause identification through unified cross-layer analysis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dirty="0"/>
              <a:t>Enables right-sizing and reduces unnecessary IFL/capacity consumption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dirty="0"/>
              <a:t>Reduces CPU contention, steal time, and infrastructure bottlenecks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dirty="0"/>
              <a:t>Clear optimization roadmap for improved OpenShift performance and capacity planning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b="1" dirty="0"/>
              <a:t>Key measured finding:</a:t>
            </a:r>
            <a:br>
              <a:rPr lang="en-IN" sz="950" dirty="0"/>
            </a:br>
            <a:r>
              <a:rPr lang="en-IN" sz="1000" b="1" dirty="0"/>
              <a:t>Worker processor utilization was 5 times lower than cluster level utilization (e.g Worker ~2IFLs while Cluster ~11IFLs)</a:t>
            </a:r>
            <a:r>
              <a:rPr lang="en-IN" sz="1000" dirty="0"/>
              <a:t>, revealing significant platform/infrastructure overhead.</a:t>
            </a:r>
            <a:endParaRPr sz="950" b="0" dirty="0">
              <a:solidFill>
                <a:srgbClr val="637381"/>
              </a:solidFill>
              <a:latin typeface="Aptos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F65B5348-3329-540D-7B79-8B3435C6B135}"/>
              </a:ext>
            </a:extLst>
          </p:cNvPr>
          <p:cNvSpPr/>
          <p:nvPr/>
        </p:nvSpPr>
        <p:spPr>
          <a:xfrm>
            <a:off x="2679192" y="3410712"/>
            <a:ext cx="2971800" cy="1155458"/>
          </a:xfrm>
          <a:prstGeom prst="roundRect">
            <a:avLst>
              <a:gd name="adj" fmla="val 8000"/>
            </a:avLst>
          </a:prstGeom>
          <a:solidFill>
            <a:srgbClr val="F1F9F0"/>
          </a:solidFill>
          <a:ln w="10160">
            <a:solidFill>
              <a:srgbClr val="DBE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AE75B07-8C96-35CA-CFA8-A9BA58529DCC}"/>
              </a:ext>
            </a:extLst>
          </p:cNvPr>
          <p:cNvSpPr txBox="1"/>
          <p:nvPr/>
        </p:nvSpPr>
        <p:spPr>
          <a:xfrm>
            <a:off x="2833937" y="2973873"/>
            <a:ext cx="2697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50" b="1" dirty="0">
                <a:solidFill>
                  <a:srgbClr val="48A84A"/>
                </a:solidFill>
                <a:latin typeface="Aptos"/>
              </a:rPr>
              <a:t>BEFORE → AFTER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3D56222-5411-B6F6-39ED-718C24B27467}"/>
              </a:ext>
            </a:extLst>
          </p:cNvPr>
          <p:cNvSpPr txBox="1"/>
          <p:nvPr/>
        </p:nvSpPr>
        <p:spPr>
          <a:xfrm>
            <a:off x="2792412" y="3481810"/>
            <a:ext cx="2697480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lang="en-IN" sz="1100" b="1" dirty="0"/>
              <a:t>BEFORE: Shared LPARs • High IFL usage • CPU contention • Sizing uncertainty</a:t>
            </a:r>
          </a:p>
          <a:p>
            <a:r>
              <a:rPr lang="en-IN" sz="1100" b="1" dirty="0"/>
              <a:t>AFTER: Dedicated LPAR Pools • Root causes identified • IFL usage quantified • Optimized sizing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904CF294-A999-078D-747A-AB51FBC06D57}"/>
              </a:ext>
            </a:extLst>
          </p:cNvPr>
          <p:cNvSpPr/>
          <p:nvPr/>
        </p:nvSpPr>
        <p:spPr>
          <a:xfrm>
            <a:off x="2647187" y="4599533"/>
            <a:ext cx="2971800" cy="1026431"/>
          </a:xfrm>
          <a:prstGeom prst="roundRect">
            <a:avLst>
              <a:gd name="adj" fmla="val 8000"/>
            </a:avLst>
          </a:prstGeom>
          <a:solidFill>
            <a:srgbClr val="F6F1FB"/>
          </a:solidFill>
          <a:ln w="10160">
            <a:solidFill>
              <a:srgbClr val="E6D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91CB625-8E22-EC32-1BCF-87CADEF1DD65}"/>
              </a:ext>
            </a:extLst>
          </p:cNvPr>
          <p:cNvSpPr txBox="1"/>
          <p:nvPr/>
        </p:nvSpPr>
        <p:spPr>
          <a:xfrm>
            <a:off x="2759328" y="4742002"/>
            <a:ext cx="26974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50" b="1" dirty="0">
                <a:solidFill>
                  <a:srgbClr val="6839A6"/>
                </a:solidFill>
                <a:latin typeface="Aptos"/>
              </a:rPr>
              <a:t>REUSABILITY / SCALE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BDF4FE4-B32A-90F8-B730-537E0A3B7E32}"/>
              </a:ext>
            </a:extLst>
          </p:cNvPr>
          <p:cNvSpPr txBox="1"/>
          <p:nvPr/>
        </p:nvSpPr>
        <p:spPr>
          <a:xfrm>
            <a:off x="2736502" y="4943970"/>
            <a:ext cx="269748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lang="en-IN" sz="1000" dirty="0"/>
              <a:t>Applicable across </a:t>
            </a:r>
            <a:r>
              <a:rPr lang="en-IN" sz="1000" b="1" dirty="0"/>
              <a:t>OpenShift-on-z/VM</a:t>
            </a:r>
            <a:r>
              <a:rPr lang="en-IN" sz="1000" dirty="0"/>
              <a:t> environments for standardized sizing and optimization.</a:t>
            </a:r>
            <a:endParaRPr sz="750" b="0" dirty="0">
              <a:solidFill>
                <a:srgbClr val="637381"/>
              </a:solidFill>
              <a:latin typeface="Aptos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89F94EE7-FB27-0107-BF5B-1B1BD5D6E14D}"/>
              </a:ext>
            </a:extLst>
          </p:cNvPr>
          <p:cNvSpPr/>
          <p:nvPr/>
        </p:nvSpPr>
        <p:spPr>
          <a:xfrm>
            <a:off x="6080400" y="3026731"/>
            <a:ext cx="5522400" cy="22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BC670B3-D6A1-8C96-27F8-69CC153B2F3D}"/>
              </a:ext>
            </a:extLst>
          </p:cNvPr>
          <p:cNvSpPr/>
          <p:nvPr/>
        </p:nvSpPr>
        <p:spPr>
          <a:xfrm>
            <a:off x="6080760" y="2944368"/>
            <a:ext cx="54864" cy="2249424"/>
          </a:xfrm>
          <a:prstGeom prst="rect">
            <a:avLst/>
          </a:prstGeom>
          <a:solidFill>
            <a:srgbClr val="18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A3F5DC9-79C4-D1BA-035E-C917DB797983}"/>
              </a:ext>
            </a:extLst>
          </p:cNvPr>
          <p:cNvSpPr txBox="1"/>
          <p:nvPr/>
        </p:nvSpPr>
        <p:spPr>
          <a:xfrm>
            <a:off x="6192616" y="2945777"/>
            <a:ext cx="5166360" cy="2616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1200" b="1" dirty="0">
                <a:solidFill>
                  <a:srgbClr val="0B305C"/>
                </a:solidFill>
                <a:latin typeface="Aptos"/>
              </a:rPr>
              <a:t>BASELINE SHARED ARCHITECTURE TOPOLOGY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E9B74D35-4E37-F333-9028-1091546E0E02}"/>
              </a:ext>
            </a:extLst>
          </p:cNvPr>
          <p:cNvSpPr/>
          <p:nvPr/>
        </p:nvSpPr>
        <p:spPr>
          <a:xfrm>
            <a:off x="6174000" y="3222000"/>
            <a:ext cx="5335200" cy="1908000"/>
          </a:xfrm>
          <a:prstGeom prst="roundRect">
            <a:avLst>
              <a:gd name="adj" fmla="val 8000"/>
            </a:avLst>
          </a:prstGeom>
          <a:solidFill>
            <a:srgbClr val="EDF5FC"/>
          </a:solidFill>
          <a:ln w="10160">
            <a:solidFill>
              <a:srgbClr val="CAD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16B617A5-E34A-CC2D-FEF9-2E79EE43EF2D}"/>
              </a:ext>
            </a:extLst>
          </p:cNvPr>
          <p:cNvSpPr/>
          <p:nvPr/>
        </p:nvSpPr>
        <p:spPr>
          <a:xfrm>
            <a:off x="1637355" y="5980514"/>
            <a:ext cx="7638906" cy="87748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8C5ED66-DB75-A84E-E8E9-4F510AF1DC54}"/>
              </a:ext>
            </a:extLst>
          </p:cNvPr>
          <p:cNvSpPr/>
          <p:nvPr/>
        </p:nvSpPr>
        <p:spPr>
          <a:xfrm>
            <a:off x="4206240" y="5532120"/>
            <a:ext cx="10972" cy="749808"/>
          </a:xfrm>
          <a:prstGeom prst="rect">
            <a:avLst/>
          </a:prstGeom>
          <a:solidFill>
            <a:srgbClr val="DB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6863B89-145D-3B4C-8229-EBCA5566EEE3}"/>
              </a:ext>
            </a:extLst>
          </p:cNvPr>
          <p:cNvSpPr/>
          <p:nvPr/>
        </p:nvSpPr>
        <p:spPr>
          <a:xfrm>
            <a:off x="7882127" y="5532120"/>
            <a:ext cx="10972" cy="749808"/>
          </a:xfrm>
          <a:prstGeom prst="rect">
            <a:avLst/>
          </a:prstGeom>
          <a:solidFill>
            <a:srgbClr val="DB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7978D6A-D56B-6302-A163-607B98696ACB}"/>
              </a:ext>
            </a:extLst>
          </p:cNvPr>
          <p:cNvSpPr txBox="1"/>
          <p:nvPr/>
        </p:nvSpPr>
        <p:spPr>
          <a:xfrm>
            <a:off x="3369237" y="5987037"/>
            <a:ext cx="3246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50" b="1" dirty="0">
                <a:solidFill>
                  <a:srgbClr val="0B305C"/>
                </a:solidFill>
                <a:latin typeface="Aptos"/>
              </a:rPr>
              <a:t>FUTURE ROADMAP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36202ED-7A1E-E4BA-C777-19E72D01D86E}"/>
              </a:ext>
            </a:extLst>
          </p:cNvPr>
          <p:cNvSpPr txBox="1"/>
          <p:nvPr/>
        </p:nvSpPr>
        <p:spPr>
          <a:xfrm>
            <a:off x="3186357" y="6221568"/>
            <a:ext cx="3246120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dirty="0"/>
              <a:t>Automate continuous cross-layer monitoring and anomaly detection.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dirty="0"/>
              <a:t>Enable predictive capacity planning and proactive resource optimization.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466686BC-D8C6-776D-2119-4A624F8233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4000" y="3259247"/>
            <a:ext cx="5263200" cy="1854000"/>
          </a:xfrm>
          <a:prstGeom prst="rect">
            <a:avLst/>
          </a:prstGeom>
        </p:spPr>
      </p:pic>
      <p:sp>
        <p:nvSpPr>
          <p:cNvPr id="100117" name="CategoryPill"/>
          <p:cNvSpPr txBox="1"/>
          <p:nvPr/>
        </p:nvSpPr>
        <p:spPr>
          <a:xfrm>
            <a:off x="324000" y="180000"/>
            <a:ext cx="6480000" cy="216000"/>
          </a:xfrm>
          <a:prstGeom prst="rect">
            <a:avLst/>
          </a:prstGeom>
        </p:spPr>
        <p:txBody>
          <a:bodyPr/>
          <a:lstStyle/>
          <a:p>
            <a:r>
              <a:rPr lang="en-US" sz="1000" b="1">
                <a:solidFill>
                  <a:srgbClr val="6839A6"/>
                </a:solidFill>
                <a:latin typeface="Aptos"/>
                <a:ea typeface="Aptos"/>
              </a:rPr>
              <a:t>EXECUTIVE SUMMARY &amp; INNOVATION DASHBOARD</a:t>
            </a:r>
          </a:p>
        </p:txBody>
      </p:sp>
      <p:sp>
        <p:nvSpPr>
          <p:cNvPr id="100118" name="MainTitle"/>
          <p:cNvSpPr txBox="1"/>
          <p:nvPr/>
        </p:nvSpPr>
        <p:spPr>
          <a:xfrm>
            <a:off x="336000" y="402401"/>
            <a:ext cx="11520000" cy="360000"/>
          </a:xfrm>
          <a:prstGeom prst="rect">
            <a:avLst/>
          </a:prstGeom>
        </p:spPr>
        <p:txBody>
          <a:bodyPr/>
          <a:lstStyle/>
          <a:p>
            <a:r>
              <a:rPr lang="en-US" sz="2200" b="1" dirty="0">
                <a:solidFill>
                  <a:srgbClr val="0B305C"/>
                </a:solidFill>
                <a:latin typeface="Aptos"/>
                <a:ea typeface="Aptos"/>
              </a:rPr>
              <a:t>Client Case Study – Performance Engineering &amp; IFL Optimization</a:t>
            </a:r>
          </a:p>
        </p:txBody>
      </p:sp>
      <p:sp>
        <p:nvSpPr>
          <p:cNvPr id="3" name="EventFooter">
            <a:extLst>
              <a:ext uri="{FF2B5EF4-FFF2-40B4-BE49-F238E27FC236}">
                <a16:creationId xmlns:a16="http://schemas.microsoft.com/office/drawing/2014/main" id="{72943EA9-139F-B521-AD75-85FAA61C5D92}"/>
              </a:ext>
            </a:extLst>
          </p:cNvPr>
          <p:cNvSpPr txBox="1"/>
          <p:nvPr/>
        </p:nvSpPr>
        <p:spPr>
          <a:xfrm>
            <a:off x="7210800" y="6498000"/>
            <a:ext cx="4561200" cy="360000"/>
          </a:xfrm>
          <a:prstGeom prst="rect">
            <a:avLst/>
          </a:prstGeom>
        </p:spPr>
        <p:txBody>
          <a:bodyPr/>
          <a:lstStyle/>
          <a:p>
            <a:r>
              <a:rPr lang="en-US" sz="1400" b="1" dirty="0">
                <a:solidFill>
                  <a:srgbClr val="2E7D32"/>
                </a:solidFill>
                <a:latin typeface="Aptos"/>
                <a:ea typeface="Aptos"/>
              </a:rPr>
              <a:t>Bangalore Performance and Scale Meetup - 2026</a:t>
            </a:r>
          </a:p>
        </p:txBody>
      </p:sp>
    </p:spTree>
    <p:extLst>
      <p:ext uri="{BB962C8B-B14F-4D97-AF65-F5344CB8AC3E}">
        <p14:creationId xmlns:p14="http://schemas.microsoft.com/office/powerpoint/2010/main" val="710561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88" name="TopAccent"/>
          <p:cNvSpPr/>
          <p:nvPr/>
        </p:nvSpPr>
        <p:spPr>
          <a:xfrm>
            <a:off x="0" y="0"/>
            <a:ext cx="12193200" cy="72000"/>
          </a:xfrm>
          <a:prstGeom prst="rect">
            <a:avLst/>
          </a:prstGeom>
          <a:solidFill>
            <a:srgbClr val="0B30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089" name="CategoryPill"/>
          <p:cNvSpPr txBox="1"/>
          <p:nvPr/>
        </p:nvSpPr>
        <p:spPr>
          <a:xfrm>
            <a:off x="324000" y="180000"/>
            <a:ext cx="5040000" cy="216000"/>
          </a:xfrm>
          <a:prstGeom prst="rect">
            <a:avLst/>
          </a:prstGeom>
        </p:spPr>
        <p:txBody>
          <a:bodyPr/>
          <a:lstStyle/>
          <a:p>
            <a:r>
              <a:rPr lang="en-US" sz="1000" b="1">
                <a:solidFill>
                  <a:srgbClr val="6839A6"/>
                </a:solidFill>
                <a:latin typeface="Aptos"/>
                <a:ea typeface="Aptos"/>
              </a:rPr>
              <a:t>ARCHITECTURE &amp; CONTINUOUS OPTIMIZATION</a:t>
            </a:r>
          </a:p>
        </p:txBody>
      </p:sp>
      <p:sp>
        <p:nvSpPr>
          <p:cNvPr id="100090" name="MainTitle"/>
          <p:cNvSpPr txBox="1"/>
          <p:nvPr/>
        </p:nvSpPr>
        <p:spPr>
          <a:xfrm>
            <a:off x="324000" y="396000"/>
            <a:ext cx="9360000" cy="360000"/>
          </a:xfrm>
          <a:prstGeom prst="rect">
            <a:avLst/>
          </a:prstGeom>
        </p:spPr>
        <p:txBody>
          <a:bodyPr/>
          <a:lstStyle/>
          <a:p>
            <a:r>
              <a:rPr lang="en-US" sz="2200" b="1" dirty="0">
                <a:solidFill>
                  <a:srgbClr val="0B305C"/>
                </a:solidFill>
                <a:latin typeface="Aptos"/>
                <a:ea typeface="Aptos"/>
              </a:rPr>
              <a:t>Target Recommendations &amp; Performance Optimization</a:t>
            </a:r>
          </a:p>
        </p:txBody>
      </p:sp>
      <p:sp>
        <p:nvSpPr>
          <p:cNvPr id="100091" name="SubTitle"/>
          <p:cNvSpPr txBox="1"/>
          <p:nvPr/>
        </p:nvSpPr>
        <p:spPr>
          <a:xfrm>
            <a:off x="324000" y="720000"/>
            <a:ext cx="10080000" cy="216000"/>
          </a:xfrm>
          <a:prstGeom prst="rect">
            <a:avLst/>
          </a:prstGeom>
        </p:spPr>
        <p:txBody>
          <a:bodyPr/>
          <a:lstStyle/>
          <a:p>
            <a:r>
              <a:rPr lang="en-US" sz="1350">
                <a:solidFill>
                  <a:srgbClr val="555555"/>
                </a:solidFill>
                <a:latin typeface="Aptos"/>
                <a:ea typeface="Aptos"/>
              </a:rPr>
              <a:t>Key architectural restructuring, observability tuning, and runtime modernization for enterprise banking workloads</a:t>
            </a:r>
          </a:p>
        </p:txBody>
      </p:sp>
      <p:sp>
        <p:nvSpPr>
          <p:cNvPr id="100092" name="Card1_Bg"/>
          <p:cNvSpPr/>
          <p:nvPr/>
        </p:nvSpPr>
        <p:spPr>
          <a:xfrm>
            <a:off x="324000" y="1044000"/>
            <a:ext cx="3672000" cy="25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0093" name="Card1_Accent"/>
          <p:cNvSpPr/>
          <p:nvPr/>
        </p:nvSpPr>
        <p:spPr>
          <a:xfrm>
            <a:off x="324000" y="1044000"/>
            <a:ext cx="72000" cy="2520000"/>
          </a:xfrm>
          <a:prstGeom prst="rect">
            <a:avLst/>
          </a:prstGeom>
          <a:solidFill>
            <a:srgbClr val="1870B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094" name="Card1_Badge"/>
          <p:cNvSpPr/>
          <p:nvPr/>
        </p:nvSpPr>
        <p:spPr>
          <a:xfrm>
            <a:off x="468000" y="1152000"/>
            <a:ext cx="2160000" cy="288000"/>
          </a:xfrm>
          <a:prstGeom prst="roundRect">
            <a:avLst/>
          </a:prstGeom>
          <a:solidFill>
            <a:srgbClr val="EBF3FB"/>
          </a:solidFill>
          <a:ln>
            <a:noFill/>
          </a:ln>
        </p:spPr>
        <p:txBody>
          <a:bodyPr/>
          <a:lstStyle/>
          <a:p>
            <a:r>
              <a:rPr lang="en-US" sz="1150" b="1">
                <a:solidFill>
                  <a:srgbClr val="1870BE"/>
                </a:solidFill>
              </a:rPr>
              <a:t>1. CLUSTER ISOLATION</a:t>
            </a:r>
          </a:p>
        </p:txBody>
      </p:sp>
      <p:sp>
        <p:nvSpPr>
          <p:cNvPr id="100095" name="Card1_Header"/>
          <p:cNvSpPr txBox="1"/>
          <p:nvPr/>
        </p:nvSpPr>
        <p:spPr>
          <a:xfrm>
            <a:off x="468000" y="1476000"/>
            <a:ext cx="3384000" cy="288000"/>
          </a:xfrm>
          <a:prstGeom prst="rect">
            <a:avLst/>
          </a:prstGeom>
        </p:spPr>
        <p:txBody>
          <a:bodyPr/>
          <a:lstStyle/>
          <a:p>
            <a:r>
              <a:rPr lang="en-US" sz="1350" b="1">
                <a:solidFill>
                  <a:srgbClr val="0B305C"/>
                </a:solidFill>
              </a:rPr>
              <a:t>Separate Production LPAR Pools</a:t>
            </a:r>
          </a:p>
        </p:txBody>
      </p:sp>
      <p:sp>
        <p:nvSpPr>
          <p:cNvPr id="100096" name="Card1_Body"/>
          <p:cNvSpPr txBox="1"/>
          <p:nvPr/>
        </p:nvSpPr>
        <p:spPr>
          <a:xfrm>
            <a:off x="468000" y="1800000"/>
            <a:ext cx="3384000" cy="1656000"/>
          </a:xfrm>
          <a:prstGeom prst="rect">
            <a:avLst/>
          </a:prstGeom>
        </p:spPr>
        <p:txBody>
          <a:bodyPr/>
          <a:lstStyle/>
          <a:p>
            <a:r>
              <a:rPr lang="en-US" sz="1050">
                <a:solidFill>
                  <a:srgbClr val="333333"/>
                </a:solidFill>
              </a:rPr>
              <a:t>• Baseline Topology: Primary Cluster &amp; Secondary Cluster co-located on same LPARs.</a:t>
            </a:r>
          </a:p>
          <a:p>
            <a:r>
              <a:rPr lang="en-US" sz="1100">
                <a:solidFill>
                  <a:srgbClr val="333333"/>
                </a:solidFill>
              </a:rPr>
              <a:t>• Risk: Cross-cluster contention &amp; maintenance blast radius.</a:t>
            </a:r>
          </a:p>
          <a:p>
            <a:r>
              <a:rPr lang="en-US" sz="1100">
                <a:solidFill>
                  <a:srgbClr val="333333"/>
                </a:solidFill>
              </a:rPr>
              <a:t>• Recommendation: Deploy clusters on dedicated LPAR sets (e.g. XY3Z141–143 for Primary Cluster, XY3Z151–153 for Secondary Cluster).</a:t>
            </a:r>
          </a:p>
          <a:p>
            <a:r>
              <a:rPr lang="en-US" sz="1100">
                <a:solidFill>
                  <a:srgbClr val="333333"/>
                </a:solidFill>
              </a:rPr>
              <a:t>• Outcome: Complete workload isolation &amp; zero noisy-neighbor impact.</a:t>
            </a:r>
          </a:p>
        </p:txBody>
      </p:sp>
      <p:sp>
        <p:nvSpPr>
          <p:cNvPr id="100097" name="Card2_Bg"/>
          <p:cNvSpPr/>
          <p:nvPr/>
        </p:nvSpPr>
        <p:spPr>
          <a:xfrm>
            <a:off x="4248000" y="1044000"/>
            <a:ext cx="3672000" cy="25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0098" name="Card2_Accent"/>
          <p:cNvSpPr/>
          <p:nvPr/>
        </p:nvSpPr>
        <p:spPr>
          <a:xfrm>
            <a:off x="4248000" y="1044000"/>
            <a:ext cx="72000" cy="2520000"/>
          </a:xfrm>
          <a:prstGeom prst="rect">
            <a:avLst/>
          </a:prstGeom>
          <a:solidFill>
            <a:srgbClr val="0F969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099" name="Card2_Badge"/>
          <p:cNvSpPr/>
          <p:nvPr/>
        </p:nvSpPr>
        <p:spPr>
          <a:xfrm>
            <a:off x="4392000" y="1152000"/>
            <a:ext cx="2448000" cy="288000"/>
          </a:xfrm>
          <a:prstGeom prst="roundRect">
            <a:avLst/>
          </a:prstGeom>
          <a:solidFill>
            <a:srgbClr val="E6F6F6"/>
          </a:solidFill>
          <a:ln>
            <a:noFill/>
          </a:ln>
        </p:spPr>
        <p:txBody>
          <a:bodyPr/>
          <a:lstStyle/>
          <a:p>
            <a:r>
              <a:rPr lang="en-US" sz="1150" b="1">
                <a:solidFill>
                  <a:srgbClr val="0F9699"/>
                </a:solidFill>
              </a:rPr>
              <a:t>2. STORAGE (ODF) ISOLATION</a:t>
            </a:r>
          </a:p>
        </p:txBody>
      </p:sp>
      <p:sp>
        <p:nvSpPr>
          <p:cNvPr id="100100" name="Card2_Header"/>
          <p:cNvSpPr txBox="1"/>
          <p:nvPr/>
        </p:nvSpPr>
        <p:spPr>
          <a:xfrm>
            <a:off x="4392000" y="1476000"/>
            <a:ext cx="3384000" cy="288000"/>
          </a:xfrm>
          <a:prstGeom prst="rect">
            <a:avLst/>
          </a:prstGeom>
        </p:spPr>
        <p:txBody>
          <a:bodyPr/>
          <a:lstStyle/>
          <a:p>
            <a:r>
              <a:rPr lang="en-US" sz="1350" b="1">
                <a:solidFill>
                  <a:srgbClr val="0B305C"/>
                </a:solidFill>
              </a:rPr>
              <a:t>Dedicated LPARs for ODF Storage</a:t>
            </a:r>
          </a:p>
        </p:txBody>
      </p:sp>
      <p:sp>
        <p:nvSpPr>
          <p:cNvPr id="100101" name="Card2_Body"/>
          <p:cNvSpPr txBox="1"/>
          <p:nvPr/>
        </p:nvSpPr>
        <p:spPr>
          <a:xfrm>
            <a:off x="4392000" y="1800000"/>
            <a:ext cx="3384000" cy="1656000"/>
          </a:xfrm>
          <a:prstGeom prst="rect">
            <a:avLst/>
          </a:prstGeom>
        </p:spPr>
        <p:txBody>
          <a:bodyPr/>
          <a:lstStyle/>
          <a:p>
            <a:r>
              <a:rPr lang="en-US" sz="1050">
                <a:solidFill>
                  <a:srgbClr val="333333"/>
                </a:solidFill>
              </a:rPr>
              <a:t>• Baseline Topology: ODF storage co-located with compute/control nodes.</a:t>
            </a:r>
          </a:p>
          <a:p>
            <a:r>
              <a:rPr lang="en-US" sz="1100">
                <a:solidFill>
                  <a:srgbClr val="333333"/>
                </a:solidFill>
              </a:rPr>
              <a:t>• Risk: High I/O and storage CPU starve Master/Infra components.</a:t>
            </a:r>
          </a:p>
          <a:p>
            <a:r>
              <a:rPr lang="en-US" sz="1100">
                <a:solidFill>
                  <a:srgbClr val="333333"/>
                </a:solidFill>
              </a:rPr>
              <a:t>• Recommendation: Split Storage/ODF nodes onto dedicated LPAR pools (e.g. Dedicated Storage LPARs XY3Z147–149 / XY3Z157–159).</a:t>
            </a:r>
          </a:p>
          <a:p>
            <a:r>
              <a:rPr lang="en-US" sz="1100">
                <a:solidFill>
                  <a:srgbClr val="333333"/>
                </a:solidFill>
              </a:rPr>
              <a:t>• Outcome: Protects control-plane stability &amp; simplifies storage scaling.</a:t>
            </a:r>
          </a:p>
        </p:txBody>
      </p:sp>
      <p:sp>
        <p:nvSpPr>
          <p:cNvPr id="100102" name="Card3_Bg"/>
          <p:cNvSpPr/>
          <p:nvPr/>
        </p:nvSpPr>
        <p:spPr>
          <a:xfrm>
            <a:off x="8172000" y="1044000"/>
            <a:ext cx="3672000" cy="25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0103" name="Card3_Accent"/>
          <p:cNvSpPr/>
          <p:nvPr/>
        </p:nvSpPr>
        <p:spPr>
          <a:xfrm>
            <a:off x="8172000" y="1044000"/>
            <a:ext cx="72000" cy="2520000"/>
          </a:xfrm>
          <a:prstGeom prst="rect">
            <a:avLst/>
          </a:prstGeom>
          <a:solidFill>
            <a:srgbClr val="6839A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104" name="Card3_Badge"/>
          <p:cNvSpPr/>
          <p:nvPr/>
        </p:nvSpPr>
        <p:spPr>
          <a:xfrm>
            <a:off x="8316000" y="1152000"/>
            <a:ext cx="2160000" cy="288000"/>
          </a:xfrm>
          <a:prstGeom prst="roundRect">
            <a:avLst/>
          </a:prstGeom>
          <a:solidFill>
            <a:srgbClr val="F2EDF9"/>
          </a:solidFill>
          <a:ln>
            <a:noFill/>
          </a:ln>
        </p:spPr>
        <p:txBody>
          <a:bodyPr/>
          <a:lstStyle/>
          <a:p>
            <a:r>
              <a:rPr lang="en-US" sz="1150" b="1">
                <a:solidFill>
                  <a:srgbClr val="6839A6"/>
                </a:solidFill>
              </a:rPr>
              <a:t>3. PROMETHEUS TUNING</a:t>
            </a:r>
          </a:p>
        </p:txBody>
      </p:sp>
      <p:sp>
        <p:nvSpPr>
          <p:cNvPr id="100105" name="Card3_Header"/>
          <p:cNvSpPr txBox="1"/>
          <p:nvPr/>
        </p:nvSpPr>
        <p:spPr>
          <a:xfrm>
            <a:off x="8316000" y="1476000"/>
            <a:ext cx="3384000" cy="288000"/>
          </a:xfrm>
          <a:prstGeom prst="rect">
            <a:avLst/>
          </a:prstGeom>
        </p:spPr>
        <p:txBody>
          <a:bodyPr/>
          <a:lstStyle/>
          <a:p>
            <a:r>
              <a:rPr lang="en-US" sz="1350" b="1">
                <a:solidFill>
                  <a:srgbClr val="0B305C"/>
                </a:solidFill>
              </a:rPr>
              <a:t>Profile: Minimal &amp; 3d Retention</a:t>
            </a:r>
          </a:p>
        </p:txBody>
      </p:sp>
      <p:sp>
        <p:nvSpPr>
          <p:cNvPr id="100106" name="Card3_Body"/>
          <p:cNvSpPr txBox="1"/>
          <p:nvPr/>
        </p:nvSpPr>
        <p:spPr>
          <a:xfrm>
            <a:off x="8316000" y="1800000"/>
            <a:ext cx="3384000" cy="1656000"/>
          </a:xfrm>
          <a:prstGeom prst="rect">
            <a:avLst/>
          </a:prstGeom>
        </p:spPr>
        <p:txBody>
          <a:bodyPr/>
          <a:lstStyle/>
          <a:p>
            <a:r>
              <a:rPr lang="en-US" sz="1050">
                <a:solidFill>
                  <a:srgbClr val="333333"/>
                </a:solidFill>
              </a:rPr>
              <a:t>• Retention: Cut default 14-day retention down to 3 days.</a:t>
            </a:r>
          </a:p>
          <a:p>
            <a:r>
              <a:rPr lang="en-US" sz="1100">
                <a:solidFill>
                  <a:srgbClr val="333333"/>
                </a:solidFill>
              </a:rPr>
              <a:t>• Collection Profile: Set collectionProfiles: minimal in config map.</a:t>
            </a:r>
          </a:p>
          <a:p>
            <a:r>
              <a:rPr lang="en-US" sz="1100">
                <a:solidFill>
                  <a:srgbClr val="333333"/>
                </a:solidFill>
              </a:rPr>
              <a:t>• Impact: Prometheus captures only essential alert, telemetry &amp; dashboard metrics.</a:t>
            </a:r>
          </a:p>
          <a:p>
            <a:r>
              <a:rPr lang="en-US" sz="1100">
                <a:solidFill>
                  <a:srgbClr val="333333"/>
                </a:solidFill>
              </a:rPr>
              <a:t>• Outcome: Drastically reduces platform CPU &amp; storage IFL overhead.</a:t>
            </a:r>
          </a:p>
        </p:txBody>
      </p:sp>
      <p:sp>
        <p:nvSpPr>
          <p:cNvPr id="100107" name="Card4_Bg"/>
          <p:cNvSpPr/>
          <p:nvPr/>
        </p:nvSpPr>
        <p:spPr>
          <a:xfrm>
            <a:off x="324000" y="3744000"/>
            <a:ext cx="5616000" cy="259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0108" name="Card4_Accent"/>
          <p:cNvSpPr/>
          <p:nvPr/>
        </p:nvSpPr>
        <p:spPr>
          <a:xfrm>
            <a:off x="324000" y="3744000"/>
            <a:ext cx="72000" cy="25920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109" name="Card4_Badge"/>
          <p:cNvSpPr/>
          <p:nvPr/>
        </p:nvSpPr>
        <p:spPr>
          <a:xfrm>
            <a:off x="468000" y="3852000"/>
            <a:ext cx="2592000" cy="288000"/>
          </a:xfrm>
          <a:prstGeom prst="roundRect">
            <a:avLst/>
          </a:prstGeom>
          <a:solidFill>
            <a:srgbClr val="FDF3E8"/>
          </a:solidFill>
          <a:ln>
            <a:noFill/>
          </a:ln>
        </p:spPr>
        <p:txBody>
          <a:bodyPr/>
          <a:lstStyle/>
          <a:p>
            <a:r>
              <a:rPr lang="en-US" sz="1150" b="1">
                <a:solidFill>
                  <a:srgbClr val="E65100"/>
                </a:solidFill>
              </a:rPr>
              <a:t>4. PLATFORM MODERNIZATION</a:t>
            </a:r>
          </a:p>
        </p:txBody>
      </p:sp>
      <p:sp>
        <p:nvSpPr>
          <p:cNvPr id="100110" name="Card4_Header"/>
          <p:cNvSpPr txBox="1"/>
          <p:nvPr/>
        </p:nvSpPr>
        <p:spPr>
          <a:xfrm>
            <a:off x="468000" y="4176000"/>
            <a:ext cx="5328000" cy="288000"/>
          </a:xfrm>
          <a:prstGeom prst="rect">
            <a:avLst/>
          </a:prstGeom>
        </p:spPr>
        <p:txBody>
          <a:bodyPr/>
          <a:lstStyle/>
          <a:p>
            <a:r>
              <a:rPr lang="en-US" sz="1350" b="1">
                <a:solidFill>
                  <a:srgbClr val="0B305C"/>
                </a:solidFill>
              </a:rPr>
              <a:t>Upgrade OpenShift from 4.16.x</a:t>
            </a:r>
          </a:p>
        </p:txBody>
      </p:sp>
      <p:sp>
        <p:nvSpPr>
          <p:cNvPr id="100111" name="Card4_Body"/>
          <p:cNvSpPr txBox="1"/>
          <p:nvPr/>
        </p:nvSpPr>
        <p:spPr>
          <a:xfrm>
            <a:off x="468000" y="4500000"/>
            <a:ext cx="5328000" cy="1728000"/>
          </a:xfrm>
          <a:prstGeom prst="rect">
            <a:avLst/>
          </a:prstGeom>
        </p:spPr>
        <p:txBody>
          <a:bodyPr/>
          <a:lstStyle/>
          <a:p>
            <a:r>
              <a:rPr lang="en-US" sz="1050">
                <a:solidFill>
                  <a:srgbClr val="333333"/>
                </a:solidFill>
              </a:rPr>
              <a:t>• Current Version: OpenShift Container Platform 4.16.x.</a:t>
            </a:r>
          </a:p>
          <a:p>
            <a:r>
              <a:rPr lang="en-US" sz="1100">
                <a:solidFill>
                  <a:srgbClr val="333333"/>
                </a:solidFill>
              </a:rPr>
              <a:t>• Recommendation: Upgrade to latest supported OpenShift release (4.18+ / 4.22).</a:t>
            </a:r>
          </a:p>
          <a:p>
            <a:r>
              <a:rPr lang="en-US" sz="1100">
                <a:solidFill>
                  <a:srgbClr val="333333"/>
                </a:solidFill>
              </a:rPr>
              <a:t>• Benefits: Improved kernel efficiency on IBM Z, streamlined control-plane footprint, and native performance enhancements.</a:t>
            </a:r>
          </a:p>
        </p:txBody>
      </p:sp>
      <p:sp>
        <p:nvSpPr>
          <p:cNvPr id="100112" name="Card5_Bg"/>
          <p:cNvSpPr/>
          <p:nvPr/>
        </p:nvSpPr>
        <p:spPr>
          <a:xfrm>
            <a:off x="6228000" y="3744000"/>
            <a:ext cx="5616000" cy="259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0113" name="Card5_Accent"/>
          <p:cNvSpPr/>
          <p:nvPr/>
        </p:nvSpPr>
        <p:spPr>
          <a:xfrm>
            <a:off x="6228000" y="3744000"/>
            <a:ext cx="72000" cy="2592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114" name="Card5_Badge"/>
          <p:cNvSpPr/>
          <p:nvPr/>
        </p:nvSpPr>
        <p:spPr>
          <a:xfrm>
            <a:off x="6372000" y="3852000"/>
            <a:ext cx="2592000" cy="288000"/>
          </a:xfrm>
          <a:prstGeom prst="roundRect">
            <a:avLst/>
          </a:prstGeom>
          <a:solidFill>
            <a:srgbClr val="EBF5EB"/>
          </a:solidFill>
          <a:ln>
            <a:noFill/>
          </a:ln>
        </p:spPr>
        <p:txBody>
          <a:bodyPr/>
          <a:lstStyle/>
          <a:p>
            <a:r>
              <a:rPr lang="en-US" sz="1150" b="1">
                <a:solidFill>
                  <a:srgbClr val="2E7D32"/>
                </a:solidFill>
              </a:rPr>
              <a:t>5. CONTINUOUS OBSERVABILITY</a:t>
            </a:r>
          </a:p>
        </p:txBody>
      </p:sp>
      <p:sp>
        <p:nvSpPr>
          <p:cNvPr id="100115" name="Card5_Header"/>
          <p:cNvSpPr txBox="1"/>
          <p:nvPr/>
        </p:nvSpPr>
        <p:spPr>
          <a:xfrm>
            <a:off x="6372000" y="4176000"/>
            <a:ext cx="5328000" cy="288000"/>
          </a:xfrm>
          <a:prstGeom prst="rect">
            <a:avLst/>
          </a:prstGeom>
        </p:spPr>
        <p:txBody>
          <a:bodyPr/>
          <a:lstStyle/>
          <a:p>
            <a:r>
              <a:rPr lang="en-US" sz="1350" b="1">
                <a:solidFill>
                  <a:srgbClr val="0B305C"/>
                </a:solidFill>
              </a:rPr>
              <a:t>Cross-Layer Monitoring Tools</a:t>
            </a:r>
          </a:p>
        </p:txBody>
      </p:sp>
      <p:sp>
        <p:nvSpPr>
          <p:cNvPr id="100116" name="Card5_Body"/>
          <p:cNvSpPr txBox="1"/>
          <p:nvPr/>
        </p:nvSpPr>
        <p:spPr>
          <a:xfrm>
            <a:off x="6372000" y="4500000"/>
            <a:ext cx="5328000" cy="1728000"/>
          </a:xfrm>
          <a:prstGeom prst="rect">
            <a:avLst/>
          </a:prstGeom>
        </p:spPr>
        <p:txBody>
          <a:bodyPr/>
          <a:lstStyle/>
          <a:p>
            <a:r>
              <a:rPr lang="en-US" sz="1050">
                <a:solidFill>
                  <a:srgbClr val="333333"/>
                </a:solidFill>
              </a:rPr>
              <a:t>• Telemetry Stack: Monwrite/Perfkit (z/VM) • SAR • hyptop • Prometheus.</a:t>
            </a:r>
          </a:p>
          <a:p>
            <a:r>
              <a:rPr lang="en-US" sz="1100">
                <a:solidFill>
                  <a:srgbClr val="333333"/>
                </a:solidFill>
              </a:rPr>
              <a:t>• Proactive Detection: Continuously monitor CPU steal time &amp; hypervisor dispatch delays.</a:t>
            </a:r>
          </a:p>
          <a:p>
            <a:r>
              <a:rPr lang="en-US" sz="1100">
                <a:solidFill>
                  <a:srgbClr val="333333"/>
                </a:solidFill>
              </a:rPr>
              <a:t>• Early Detection: Identify platform &amp; IFL utilization bottlenecks before production impact.</a:t>
            </a:r>
          </a:p>
        </p:txBody>
      </p:sp>
      <p:sp>
        <p:nvSpPr>
          <p:cNvPr id="2" name="EventFooter">
            <a:extLst>
              <a:ext uri="{FF2B5EF4-FFF2-40B4-BE49-F238E27FC236}">
                <a16:creationId xmlns:a16="http://schemas.microsoft.com/office/drawing/2014/main" id="{3C7BC320-61AD-CC2A-45B6-43CDB28C7D79}"/>
              </a:ext>
            </a:extLst>
          </p:cNvPr>
          <p:cNvSpPr txBox="1"/>
          <p:nvPr/>
        </p:nvSpPr>
        <p:spPr>
          <a:xfrm>
            <a:off x="7403400" y="6516000"/>
            <a:ext cx="4561200" cy="360000"/>
          </a:xfrm>
          <a:prstGeom prst="rect">
            <a:avLst/>
          </a:prstGeom>
        </p:spPr>
        <p:txBody>
          <a:bodyPr/>
          <a:lstStyle/>
          <a:p>
            <a:r>
              <a:rPr lang="en-US" sz="1400" b="1" dirty="0">
                <a:solidFill>
                  <a:srgbClr val="2E7D32"/>
                </a:solidFill>
                <a:latin typeface="Aptos"/>
                <a:ea typeface="Aptos"/>
              </a:rPr>
              <a:t>Bangalore Performance and Scale Meetup - 2026</a:t>
            </a:r>
          </a:p>
        </p:txBody>
      </p:sp>
    </p:spTree>
    <p:extLst>
      <p:ext uri="{BB962C8B-B14F-4D97-AF65-F5344CB8AC3E}">
        <p14:creationId xmlns:p14="http://schemas.microsoft.com/office/powerpoint/2010/main" val="1051928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371998" y="384048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XY3 Prod OpenShift — LPAR Isolation Redesign</a:t>
            </a: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411480" y="896112"/>
            <a:ext cx="11338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shared-LPAR model vs. recommended isolated-LPAR model with dedicated ODF</a:t>
            </a:r>
            <a:endParaRPr lang="en-US" sz="1600" dirty="0"/>
          </a:p>
        </p:txBody>
      </p:sp>
      <p:sp>
        <p:nvSpPr>
          <p:cNvPr id="4" name="As-is frame"/>
          <p:cNvSpPr/>
          <p:nvPr/>
        </p:nvSpPr>
        <p:spPr>
          <a:xfrm>
            <a:off x="374904" y="1426464"/>
            <a:ext cx="4931144" cy="3438144"/>
          </a:xfrm>
          <a:prstGeom prst="rect">
            <a:avLst/>
          </a:prstGeom>
          <a:solidFill>
            <a:schemeClr val="bg1"/>
          </a:solidFill>
          <a:ln w="12700">
            <a:solidFill>
              <a:srgbClr val="D5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o-be frame"/>
          <p:cNvSpPr/>
          <p:nvPr/>
        </p:nvSpPr>
        <p:spPr>
          <a:xfrm>
            <a:off x="5461496" y="1426464"/>
            <a:ext cx="6627189" cy="3438144"/>
          </a:xfrm>
          <a:prstGeom prst="rect">
            <a:avLst/>
          </a:prstGeom>
          <a:solidFill>
            <a:schemeClr val="bg1"/>
          </a:solidFill>
          <a:ln w="12700">
            <a:solidFill>
              <a:srgbClr val="D5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As-is architecture" descr="Existing architecture: Primary and Secondary clusters share LPARs XY3Z141, XY3Z142 and XY3Z1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463040"/>
            <a:ext cx="4857992" cy="3364992"/>
          </a:xfrm>
          <a:prstGeom prst="rect">
            <a:avLst/>
          </a:prstGeom>
        </p:spPr>
      </p:pic>
      <p:pic>
        <p:nvPicPr>
          <p:cNvPr id="7" name="To-be architecture" descr="Proposed architecture: dedicated LPARs per cluster, with ODF on dedicated storage LPAR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8072" y="1463040"/>
            <a:ext cx="6554037" cy="3364992"/>
          </a:xfrm>
          <a:prstGeom prst="rect">
            <a:avLst/>
          </a:prstGeom>
        </p:spPr>
      </p:pic>
      <p:sp>
        <p:nvSpPr>
          <p:cNvPr id="8" name="Card 1"/>
          <p:cNvSpPr/>
          <p:nvPr/>
        </p:nvSpPr>
        <p:spPr>
          <a:xfrm>
            <a:off x="411480" y="5166360"/>
            <a:ext cx="3636264" cy="1188720"/>
          </a:xfrm>
          <a:prstGeom prst="rect">
            <a:avLst/>
          </a:prstGeom>
          <a:solidFill>
            <a:schemeClr val="bg2"/>
          </a:solidFill>
          <a:ln w="9525">
            <a:solidFill>
              <a:srgbClr val="D5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Card text 1"/>
          <p:cNvSpPr txBox="1"/>
          <p:nvPr/>
        </p:nvSpPr>
        <p:spPr>
          <a:xfrm>
            <a:off x="594360" y="5257800"/>
            <a:ext cx="32705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Today: shared LPARs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Primary and Secondary run on the same three LPARs, XY3Z141 to XY3Z143.</a:t>
            </a:r>
            <a:endParaRPr lang="en-US" sz="1600" dirty="0"/>
          </a:p>
        </p:txBody>
      </p:sp>
      <p:sp>
        <p:nvSpPr>
          <p:cNvPr id="10" name="Card 2"/>
          <p:cNvSpPr/>
          <p:nvPr/>
        </p:nvSpPr>
        <p:spPr>
          <a:xfrm>
            <a:off x="4276344" y="5166360"/>
            <a:ext cx="3636264" cy="1188720"/>
          </a:xfrm>
          <a:prstGeom prst="rect">
            <a:avLst/>
          </a:prstGeom>
          <a:solidFill>
            <a:schemeClr val="bg2"/>
          </a:solidFill>
          <a:ln w="9525">
            <a:solidFill>
              <a:srgbClr val="D5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Card text 2"/>
          <p:cNvSpPr txBox="1"/>
          <p:nvPr/>
        </p:nvSpPr>
        <p:spPr>
          <a:xfrm>
            <a:off x="4459224" y="5257800"/>
            <a:ext cx="32705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</a:rPr>
              <a:t>Proposed: isolated LPARs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Each cluster gets its own dedicated LPARs; Secondary is separate from Primary.</a:t>
            </a:r>
            <a:endParaRPr lang="en-US" sz="1600" dirty="0"/>
          </a:p>
        </p:txBody>
      </p:sp>
      <p:sp>
        <p:nvSpPr>
          <p:cNvPr id="12" name="Card 3"/>
          <p:cNvSpPr/>
          <p:nvPr/>
        </p:nvSpPr>
        <p:spPr>
          <a:xfrm>
            <a:off x="8141208" y="5166360"/>
            <a:ext cx="3636264" cy="1188720"/>
          </a:xfrm>
          <a:prstGeom prst="rect">
            <a:avLst/>
          </a:prstGeom>
          <a:solidFill>
            <a:schemeClr val="bg2"/>
          </a:solidFill>
          <a:ln w="9525">
            <a:solidFill>
              <a:srgbClr val="D5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Card text 3"/>
          <p:cNvSpPr txBox="1"/>
          <p:nvPr/>
        </p:nvSpPr>
        <p:spPr>
          <a:xfrm>
            <a:off x="8324088" y="5257800"/>
            <a:ext cx="32705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</a:rPr>
              <a:t>ODF on dedicated LPARs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Storage nodes move to dedicated ODF storage LPARs in both clusters.</a:t>
            </a:r>
            <a:endParaRPr lang="en-US" sz="1600" dirty="0"/>
          </a:p>
        </p:txBody>
      </p:sp>
      <p:sp>
        <p:nvSpPr>
          <p:cNvPr id="14" name="CategoryPill">
            <a:extLst>
              <a:ext uri="{FF2B5EF4-FFF2-40B4-BE49-F238E27FC236}">
                <a16:creationId xmlns:a16="http://schemas.microsoft.com/office/drawing/2014/main" id="{60F98D8D-F119-5704-E5CD-1993C0E9D82B}"/>
              </a:ext>
            </a:extLst>
          </p:cNvPr>
          <p:cNvSpPr txBox="1"/>
          <p:nvPr/>
        </p:nvSpPr>
        <p:spPr>
          <a:xfrm>
            <a:off x="324000" y="180000"/>
            <a:ext cx="5040000" cy="216000"/>
          </a:xfrm>
          <a:prstGeom prst="rect">
            <a:avLst/>
          </a:prstGeom>
        </p:spPr>
        <p:txBody>
          <a:bodyPr/>
          <a:lstStyle/>
          <a:p>
            <a:r>
              <a:rPr lang="en-US" sz="1000" b="1" dirty="0">
                <a:solidFill>
                  <a:srgbClr val="6839A6"/>
                </a:solidFill>
                <a:latin typeface="Aptos"/>
                <a:ea typeface="Aptos"/>
              </a:rPr>
              <a:t>Existing Deployment Vs Recommended Deployment</a:t>
            </a:r>
          </a:p>
        </p:txBody>
      </p:sp>
      <p:sp>
        <p:nvSpPr>
          <p:cNvPr id="15" name="EventFooter">
            <a:extLst>
              <a:ext uri="{FF2B5EF4-FFF2-40B4-BE49-F238E27FC236}">
                <a16:creationId xmlns:a16="http://schemas.microsoft.com/office/drawing/2014/main" id="{10E58438-B847-44EC-7D5D-7F10F7A23124}"/>
              </a:ext>
            </a:extLst>
          </p:cNvPr>
          <p:cNvSpPr txBox="1"/>
          <p:nvPr/>
        </p:nvSpPr>
        <p:spPr>
          <a:xfrm>
            <a:off x="7210800" y="6498000"/>
            <a:ext cx="4561200" cy="360000"/>
          </a:xfrm>
          <a:prstGeom prst="rect">
            <a:avLst/>
          </a:prstGeom>
        </p:spPr>
        <p:txBody>
          <a:bodyPr/>
          <a:lstStyle/>
          <a:p>
            <a:r>
              <a:rPr lang="en-US" sz="1400" b="1" dirty="0">
                <a:solidFill>
                  <a:srgbClr val="2E7D32"/>
                </a:solidFill>
                <a:latin typeface="Aptos"/>
                <a:ea typeface="Aptos"/>
              </a:rPr>
              <a:t>Bangalore Performance and Scale Meetup - 2026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29" name="TopAccent"/>
          <p:cNvSpPr/>
          <p:nvPr/>
        </p:nvSpPr>
        <p:spPr>
          <a:xfrm>
            <a:off x="0" y="0"/>
            <a:ext cx="12193200" cy="72000"/>
          </a:xfrm>
          <a:prstGeom prst="rect">
            <a:avLst/>
          </a:prstGeom>
          <a:solidFill>
            <a:srgbClr val="0B30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030" name="CategoryPill"/>
          <p:cNvSpPr txBox="1"/>
          <p:nvPr/>
        </p:nvSpPr>
        <p:spPr>
          <a:xfrm>
            <a:off x="324000" y="180000"/>
            <a:ext cx="5040000" cy="216000"/>
          </a:xfrm>
          <a:prstGeom prst="rect">
            <a:avLst/>
          </a:prstGeom>
        </p:spPr>
        <p:txBody>
          <a:bodyPr/>
          <a:lstStyle/>
          <a:p>
            <a:r>
              <a:rPr lang="en-US" sz="1000" b="1">
                <a:solidFill>
                  <a:srgbClr val="6839A6"/>
                </a:solidFill>
                <a:latin typeface="Aptos"/>
                <a:ea typeface="Aptos"/>
              </a:rPr>
              <a:t>INFRASTRUCTURE RESTRUCTURING RATIONALE</a:t>
            </a:r>
          </a:p>
        </p:txBody>
      </p:sp>
      <p:sp>
        <p:nvSpPr>
          <p:cNvPr id="100031" name="MainTitle"/>
          <p:cNvSpPr txBox="1"/>
          <p:nvPr/>
        </p:nvSpPr>
        <p:spPr>
          <a:xfrm>
            <a:off x="324000" y="396000"/>
            <a:ext cx="9360000" cy="360000"/>
          </a:xfrm>
          <a:prstGeom prst="rect">
            <a:avLst/>
          </a:prstGeom>
        </p:spPr>
        <p:txBody>
          <a:bodyPr/>
          <a:lstStyle/>
          <a:p>
            <a:r>
              <a:rPr lang="en-US" sz="2200" b="1" dirty="0">
                <a:solidFill>
                  <a:srgbClr val="0B305C"/>
                </a:solidFill>
                <a:latin typeface="Aptos"/>
                <a:ea typeface="Aptos"/>
              </a:rPr>
              <a:t>Why Restructuring &amp; Isolation is Recommended</a:t>
            </a:r>
          </a:p>
        </p:txBody>
      </p:sp>
      <p:sp>
        <p:nvSpPr>
          <p:cNvPr id="100032" name="SubTitle"/>
          <p:cNvSpPr txBox="1"/>
          <p:nvPr/>
        </p:nvSpPr>
        <p:spPr>
          <a:xfrm>
            <a:off x="324000" y="720000"/>
            <a:ext cx="10080000" cy="216000"/>
          </a:xfrm>
          <a:prstGeom prst="rect">
            <a:avLst/>
          </a:prstGeom>
        </p:spPr>
        <p:txBody>
          <a:bodyPr/>
          <a:lstStyle/>
          <a:p>
            <a:r>
              <a:rPr lang="en-US" sz="1350" dirty="0">
                <a:solidFill>
                  <a:srgbClr val="555555"/>
                </a:solidFill>
                <a:latin typeface="Aptos"/>
                <a:ea typeface="Aptos"/>
              </a:rPr>
              <a:t>Eliminating cross-cluster blast radius, protecting control-plane stability, and planning predictable capacity growth</a:t>
            </a:r>
          </a:p>
        </p:txBody>
      </p:sp>
      <p:sp>
        <p:nvSpPr>
          <p:cNvPr id="100033" name="Card1_Bg"/>
          <p:cNvSpPr/>
          <p:nvPr/>
        </p:nvSpPr>
        <p:spPr>
          <a:xfrm>
            <a:off x="324000" y="1044000"/>
            <a:ext cx="3672000" cy="424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0034" name="Card1_Accent"/>
          <p:cNvSpPr/>
          <p:nvPr/>
        </p:nvSpPr>
        <p:spPr>
          <a:xfrm>
            <a:off x="324000" y="1044000"/>
            <a:ext cx="72000" cy="4248000"/>
          </a:xfrm>
          <a:prstGeom prst="rect">
            <a:avLst/>
          </a:prstGeom>
          <a:solidFill>
            <a:srgbClr val="1870B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035" name="Card1_Badge"/>
          <p:cNvSpPr/>
          <p:nvPr/>
        </p:nvSpPr>
        <p:spPr>
          <a:xfrm>
            <a:off x="468000" y="1152000"/>
            <a:ext cx="2232000" cy="288000"/>
          </a:xfrm>
          <a:prstGeom prst="roundRect">
            <a:avLst/>
          </a:prstGeom>
          <a:solidFill>
            <a:srgbClr val="EBF3FB"/>
          </a:solidFill>
          <a:ln>
            <a:noFill/>
          </a:ln>
        </p:spPr>
        <p:txBody>
          <a:bodyPr/>
          <a:lstStyle/>
          <a:p>
            <a:r>
              <a:rPr lang="en-US" sz="1150" b="1">
                <a:solidFill>
                  <a:srgbClr val="1870BE"/>
                </a:solidFill>
              </a:rPr>
              <a:t>1. CLUSTER ISOLATION</a:t>
            </a:r>
          </a:p>
        </p:txBody>
      </p:sp>
      <p:sp>
        <p:nvSpPr>
          <p:cNvPr id="100036" name="Card1_Header"/>
          <p:cNvSpPr txBox="1"/>
          <p:nvPr/>
        </p:nvSpPr>
        <p:spPr>
          <a:xfrm>
            <a:off x="468000" y="1476000"/>
            <a:ext cx="3384000" cy="288000"/>
          </a:xfrm>
          <a:prstGeom prst="rect">
            <a:avLst/>
          </a:prstGeom>
        </p:spPr>
        <p:txBody>
          <a:bodyPr/>
          <a:lstStyle/>
          <a:p>
            <a:r>
              <a:rPr lang="en-US" sz="1350" b="1">
                <a:solidFill>
                  <a:srgbClr val="0B305C"/>
                </a:solidFill>
              </a:rPr>
              <a:t>Eliminating Blast Radius</a:t>
            </a:r>
          </a:p>
        </p:txBody>
      </p:sp>
      <p:sp>
        <p:nvSpPr>
          <p:cNvPr id="100037" name="Card1_Body"/>
          <p:cNvSpPr txBox="1"/>
          <p:nvPr/>
        </p:nvSpPr>
        <p:spPr>
          <a:xfrm>
            <a:off x="468000" y="1800000"/>
            <a:ext cx="3384000" cy="3312000"/>
          </a:xfrm>
          <a:prstGeom prst="rect">
            <a:avLst/>
          </a:prstGeom>
        </p:spPr>
        <p:txBody>
          <a:bodyPr/>
          <a:lstStyle/>
          <a:p>
            <a:r>
              <a:rPr lang="en-US" sz="1050">
                <a:solidFill>
                  <a:srgbClr val="333333"/>
                </a:solidFill>
              </a:rPr>
              <a:t>• Co-Location Risk:</a:t>
            </a:r>
          </a:p>
          <a:p>
            <a:r>
              <a:rPr lang="en-US" sz="1000">
                <a:solidFill>
                  <a:srgbClr val="333333"/>
                </a:solidFill>
              </a:rPr>
              <a:t>  Primary Cluster and Secondary Cluster currently run on shared LPARs (XY3Z141–143).</a:t>
            </a:r>
          </a:p>
          <a:p>
            <a:endParaRPr lang="en-US" sz="1000">
              <a:solidFill>
                <a:srgbClr val="333333"/>
              </a:solidFill>
            </a:endParaRPr>
          </a:p>
          <a:p>
            <a:r>
              <a:rPr lang="en-US" sz="1000">
                <a:solidFill>
                  <a:srgbClr val="333333"/>
                </a:solidFill>
              </a:rPr>
              <a:t>• Fault Propagation:</a:t>
            </a:r>
          </a:p>
          <a:p>
            <a:r>
              <a:rPr lang="en-US" sz="1000">
                <a:solidFill>
                  <a:srgbClr val="333333"/>
                </a:solidFill>
              </a:rPr>
              <a:t>  A resource spike, LPAR-level issue, or maintenance event on one cluster directly impairs the other.</a:t>
            </a:r>
          </a:p>
          <a:p>
            <a:endParaRPr lang="en-US" sz="1000">
              <a:solidFill>
                <a:srgbClr val="333333"/>
              </a:solidFill>
            </a:endParaRPr>
          </a:p>
          <a:p>
            <a:r>
              <a:rPr lang="en-US" sz="1000">
                <a:solidFill>
                  <a:srgbClr val="333333"/>
                </a:solidFill>
              </a:rPr>
              <a:t>• Dedicated Pools:</a:t>
            </a:r>
          </a:p>
          <a:p>
            <a:r>
              <a:rPr lang="en-US" sz="1000">
                <a:solidFill>
                  <a:srgbClr val="333333"/>
                </a:solidFill>
              </a:rPr>
              <a:t>  Moving to separate LPAR pools (XY3Z141–143 for Primary, XY3Z151–153 for Secondary Cluster) guarantees zero cross-cluster contention.</a:t>
            </a:r>
          </a:p>
        </p:txBody>
      </p:sp>
      <p:sp>
        <p:nvSpPr>
          <p:cNvPr id="100038" name="Card2_Bg"/>
          <p:cNvSpPr/>
          <p:nvPr/>
        </p:nvSpPr>
        <p:spPr>
          <a:xfrm>
            <a:off x="6096000" y="1080000"/>
            <a:ext cx="3672000" cy="424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0039" name="Card2_Accent"/>
          <p:cNvSpPr/>
          <p:nvPr/>
        </p:nvSpPr>
        <p:spPr>
          <a:xfrm>
            <a:off x="4974000" y="1044000"/>
            <a:ext cx="72000" cy="4248000"/>
          </a:xfrm>
          <a:prstGeom prst="rect">
            <a:avLst/>
          </a:prstGeom>
          <a:solidFill>
            <a:srgbClr val="0F969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040" name="Card2_Badge"/>
          <p:cNvSpPr/>
          <p:nvPr/>
        </p:nvSpPr>
        <p:spPr>
          <a:xfrm>
            <a:off x="6204000" y="1199077"/>
            <a:ext cx="2448000" cy="288000"/>
          </a:xfrm>
          <a:prstGeom prst="roundRect">
            <a:avLst/>
          </a:prstGeom>
          <a:solidFill>
            <a:srgbClr val="E6F6F6"/>
          </a:solidFill>
          <a:ln>
            <a:noFill/>
          </a:ln>
        </p:spPr>
        <p:txBody>
          <a:bodyPr/>
          <a:lstStyle/>
          <a:p>
            <a:r>
              <a:rPr lang="en-US" sz="1150" b="1">
                <a:solidFill>
                  <a:srgbClr val="0F9699"/>
                </a:solidFill>
              </a:rPr>
              <a:t>2. ODF STORAGE ISOLATION</a:t>
            </a:r>
          </a:p>
        </p:txBody>
      </p:sp>
      <p:sp>
        <p:nvSpPr>
          <p:cNvPr id="100041" name="Card2_Header"/>
          <p:cNvSpPr txBox="1"/>
          <p:nvPr/>
        </p:nvSpPr>
        <p:spPr>
          <a:xfrm>
            <a:off x="6204000" y="1523077"/>
            <a:ext cx="3384000" cy="288000"/>
          </a:xfrm>
          <a:prstGeom prst="rect">
            <a:avLst/>
          </a:prstGeom>
        </p:spPr>
        <p:txBody>
          <a:bodyPr/>
          <a:lstStyle/>
          <a:p>
            <a:r>
              <a:rPr lang="en-US" sz="1350" b="1">
                <a:solidFill>
                  <a:srgbClr val="0B305C"/>
                </a:solidFill>
              </a:rPr>
              <a:t>Protecting Control Plane</a:t>
            </a:r>
          </a:p>
        </p:txBody>
      </p:sp>
      <p:sp>
        <p:nvSpPr>
          <p:cNvPr id="100042" name="Card2_Body"/>
          <p:cNvSpPr txBox="1"/>
          <p:nvPr/>
        </p:nvSpPr>
        <p:spPr>
          <a:xfrm>
            <a:off x="6204000" y="1847077"/>
            <a:ext cx="3384000" cy="3312000"/>
          </a:xfrm>
          <a:prstGeom prst="rect">
            <a:avLst/>
          </a:prstGeom>
        </p:spPr>
        <p:txBody>
          <a:bodyPr/>
          <a:lstStyle/>
          <a:p>
            <a:r>
              <a:rPr lang="en-US" sz="1050">
                <a:solidFill>
                  <a:srgbClr val="333333"/>
                </a:solidFill>
              </a:rPr>
              <a:t>• Heavy I/O Footprint:</a:t>
            </a:r>
          </a:p>
          <a:p>
            <a:r>
              <a:rPr lang="en-US" sz="1000">
                <a:solidFill>
                  <a:srgbClr val="333333"/>
                </a:solidFill>
              </a:rPr>
              <a:t>  ODF storage workloads are highly I/O and CPU intensive on IBM Z.</a:t>
            </a:r>
          </a:p>
          <a:p>
            <a:endParaRPr lang="en-US" sz="1000">
              <a:solidFill>
                <a:srgbClr val="333333"/>
              </a:solidFill>
            </a:endParaRPr>
          </a:p>
          <a:p>
            <a:r>
              <a:rPr lang="en-US" sz="1000">
                <a:solidFill>
                  <a:srgbClr val="333333"/>
                </a:solidFill>
              </a:rPr>
              <a:t>• Starvation Risk:</a:t>
            </a:r>
          </a:p>
          <a:p>
            <a:r>
              <a:rPr lang="en-US" sz="1000">
                <a:solidFill>
                  <a:srgbClr val="333333"/>
                </a:solidFill>
              </a:rPr>
              <a:t>  Co-locating storage nodes with Master/Infra components creates severe CPU steal time &amp; starvation.</a:t>
            </a:r>
          </a:p>
          <a:p>
            <a:endParaRPr lang="en-US" sz="1000">
              <a:solidFill>
                <a:srgbClr val="333333"/>
              </a:solidFill>
            </a:endParaRPr>
          </a:p>
          <a:p>
            <a:r>
              <a:rPr lang="en-US" sz="1000">
                <a:solidFill>
                  <a:srgbClr val="333333"/>
                </a:solidFill>
              </a:rPr>
              <a:t>• Dedicated Storage LPARs:</a:t>
            </a:r>
          </a:p>
          <a:p>
            <a:r>
              <a:rPr lang="en-US" sz="1000">
                <a:solidFill>
                  <a:srgbClr val="333333"/>
                </a:solidFill>
              </a:rPr>
              <a:t>  Splitting ODF onto dedicated Storage LPARs (XY3Z147–149 / XY3Z157–159) ensures control plane resilience &amp; unconstrained storage scaling.</a:t>
            </a:r>
          </a:p>
        </p:txBody>
      </p:sp>
      <p:sp>
        <p:nvSpPr>
          <p:cNvPr id="100048" name="BottomBanner_Bg"/>
          <p:cNvSpPr/>
          <p:nvPr/>
        </p:nvSpPr>
        <p:spPr>
          <a:xfrm>
            <a:off x="324000" y="5472000"/>
            <a:ext cx="11520000" cy="864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BE2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0049" name="BottomBanner_Accent"/>
          <p:cNvSpPr/>
          <p:nvPr/>
        </p:nvSpPr>
        <p:spPr>
          <a:xfrm>
            <a:off x="324000" y="5472000"/>
            <a:ext cx="72000" cy="864000"/>
          </a:xfrm>
          <a:prstGeom prst="rect">
            <a:avLst/>
          </a:prstGeom>
          <a:solidFill>
            <a:srgbClr val="48A8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050" name="BottomBanner_Text"/>
          <p:cNvSpPr txBox="1"/>
          <p:nvPr/>
        </p:nvSpPr>
        <p:spPr>
          <a:xfrm>
            <a:off x="468000" y="5580000"/>
            <a:ext cx="11160000" cy="648000"/>
          </a:xfrm>
          <a:prstGeom prst="rect">
            <a:avLst/>
          </a:prstGeom>
        </p:spPr>
        <p:txBody>
          <a:bodyPr/>
          <a:lstStyle/>
          <a:p>
            <a:r>
              <a:rPr lang="en-US" sz="1100" b="1" dirty="0">
                <a:solidFill>
                  <a:srgbClr val="1B5E20"/>
                </a:solidFill>
              </a:rPr>
              <a:t>💡 Key Architectural Takeaway: Moving from shared infrastructure to dedicated LPAR tiers eliminates IFL contention and steal time, providing predictable OpenShift performance and isolated failure domains for mission-critical enterprise operations. Successful implementation requires active cross-team collaboration across Mainframe Systems, Linux OS, Storage, and OpenShift Platform teams.</a:t>
            </a:r>
          </a:p>
        </p:txBody>
      </p:sp>
      <p:sp>
        <p:nvSpPr>
          <p:cNvPr id="2" name="EventFooter">
            <a:extLst>
              <a:ext uri="{FF2B5EF4-FFF2-40B4-BE49-F238E27FC236}">
                <a16:creationId xmlns:a16="http://schemas.microsoft.com/office/drawing/2014/main" id="{0D1A20E9-2F28-91D6-4B22-DC990B0F4CBC}"/>
              </a:ext>
            </a:extLst>
          </p:cNvPr>
          <p:cNvSpPr txBox="1"/>
          <p:nvPr/>
        </p:nvSpPr>
        <p:spPr>
          <a:xfrm>
            <a:off x="7210800" y="6498000"/>
            <a:ext cx="4561200" cy="360000"/>
          </a:xfrm>
          <a:prstGeom prst="rect">
            <a:avLst/>
          </a:prstGeom>
        </p:spPr>
        <p:txBody>
          <a:bodyPr/>
          <a:lstStyle/>
          <a:p>
            <a:r>
              <a:rPr lang="en-US" sz="1400" b="1" dirty="0">
                <a:solidFill>
                  <a:srgbClr val="2E7D32"/>
                </a:solidFill>
                <a:latin typeface="Aptos"/>
                <a:ea typeface="Aptos"/>
              </a:rPr>
              <a:t>Bangalore Performance and Scale Meetup - 2026</a:t>
            </a:r>
          </a:p>
        </p:txBody>
      </p:sp>
    </p:spTree>
    <p:extLst>
      <p:ext uri="{BB962C8B-B14F-4D97-AF65-F5344CB8AC3E}">
        <p14:creationId xmlns:p14="http://schemas.microsoft.com/office/powerpoint/2010/main" val="33848014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2B09B03-64CE-1D1F-3E0B-2BBB339F7237}"/>
              </a:ext>
            </a:extLst>
          </p:cNvPr>
          <p:cNvSpPr txBox="1"/>
          <p:nvPr/>
        </p:nvSpPr>
        <p:spPr>
          <a:xfrm>
            <a:off x="3720806" y="2335796"/>
            <a:ext cx="4750389" cy="1220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333" b="1" dirty="0">
                <a:solidFill>
                  <a:srgbClr val="7030A0"/>
                </a:solidFill>
                <a:latin typeface="AkayaTelivigala" pitchFamily="2" charset="77"/>
                <a:cs typeface="AkayaTelivigala" pitchFamily="2" charset="77"/>
              </a:rPr>
              <a:t>Thank you 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37DBD5-3F48-44B1-CC71-965011613F73}"/>
              </a:ext>
            </a:extLst>
          </p:cNvPr>
          <p:cNvSpPr/>
          <p:nvPr/>
        </p:nvSpPr>
        <p:spPr>
          <a:xfrm>
            <a:off x="10610272" y="6015182"/>
            <a:ext cx="1581728" cy="8428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F43D98-334E-05DA-D635-8FDF7B8E3C9E}"/>
              </a:ext>
            </a:extLst>
          </p:cNvPr>
          <p:cNvSpPr txBox="1"/>
          <p:nvPr/>
        </p:nvSpPr>
        <p:spPr>
          <a:xfrm>
            <a:off x="5300986" y="3429000"/>
            <a:ext cx="1590028" cy="656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67" b="1" dirty="0"/>
              <a:t> </a:t>
            </a:r>
            <a:r>
              <a:rPr lang="en-IN" sz="3667" b="1" dirty="0"/>
              <a:t>Q &amp; A</a:t>
            </a:r>
            <a:endParaRPr lang="en-US" sz="3667" b="1" dirty="0"/>
          </a:p>
        </p:txBody>
      </p:sp>
    </p:spTree>
    <p:extLst>
      <p:ext uri="{BB962C8B-B14F-4D97-AF65-F5344CB8AC3E}">
        <p14:creationId xmlns:p14="http://schemas.microsoft.com/office/powerpoint/2010/main" val="18387769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1277</TotalTime>
  <Words>1682</Words>
  <Application>Microsoft Macintosh PowerPoint</Application>
  <PresentationFormat>Widescreen</PresentationFormat>
  <Paragraphs>188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AkayaTelivigala</vt:lpstr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XY3 Prod OpenShift — LPAR Isolation Redesign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KALLESH MATT</dc:creator>
  <cp:lastModifiedBy>Rani Bharti</cp:lastModifiedBy>
  <cp:revision>31</cp:revision>
  <dcterms:created xsi:type="dcterms:W3CDTF">2026-08-17T10:16:16Z</dcterms:created>
  <dcterms:modified xsi:type="dcterms:W3CDTF">2026-10-10T05:57:45Z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ceCLI.Version">
    <vt:lpwstr>1.0.155</vt:lpwstr>
  </property>
  <property fmtid="{D5CDD505-2E9C-101B-9397-08002B2CF9AE}" pid="3" name="OfficeCLI.LastModified">
    <vt:lpwstr>2026-10-09T16:09:44Z</vt:lpwstr>
  </property>
</Properties>
</file>