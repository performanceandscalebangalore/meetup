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1.xml"/>
  <Override ContentType="application/vnd.ms-office.chartcolorstyle+xml" PartName="/ppt/charts/colors2.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2.xml"/>
  <Override ContentType="application/vnd.openxmlformats-officedocument.drawingml.chart+xml" PartName="/ppt/charts/chart1.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ms-office.chartstyle+xml" PartName="/ppt/charts/style1.xml"/>
  <Override ContentType="application/vnd.ms-office.chartstyle+xml" PartName="/ppt/charts/style2.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2" roundtripDataSignature="AMtx7miO0LSaY9ovGk0pGbvspucsgFFZ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27AFFA7-D2A1-49AC-8F84-CA7D211AECD2}">
  <a:tblStyle styleId="{B27AFFA7-D2A1-49AC-8F84-CA7D211AECD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customschemas.google.com/relationships/presentationmetadata" Target="metadata"/><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scatterChart>
        <c:scatterStyle val="lineMarker"/>
        <c:varyColors val="0"/>
        <c:ser>
          <c:idx val="0"/>
          <c:order val="0"/>
          <c:tx>
            <c:strRef>
              <c:f>label 0</c:f>
              <c:strCache>
                <c:ptCount val="1"/>
                <c:pt idx="0">
                  <c:v>Throughput (RPS)</c:v>
                </c:pt>
              </c:strCache>
            </c:strRef>
          </c:tx>
          <c:spPr>
            <a:solidFill>
              <a:srgbClr val="087F8C"/>
            </a:solidFill>
            <a:ln w="28440">
              <a:solidFill>
                <a:srgbClr val="087F8C"/>
              </a:solidFill>
              <a:round/>
            </a:ln>
          </c:spPr>
          <c:marker>
            <c:symbol val="circle"/>
            <c:size val="8"/>
            <c:spPr>
              <a:solidFill>
                <a:srgbClr val="087F8C"/>
              </a:solidFill>
            </c:spPr>
          </c:marker>
          <c:dLbls>
            <c:txPr>
              <a:bodyPr wrap="square"/>
              <a:lstStyle/>
              <a:p>
                <a:pPr>
                  <a:defRPr sz="1000" b="0" u="none" strike="noStrike">
                    <a:solidFill>
                      <a:srgbClr val="000000"/>
                    </a:solidFill>
                    <a:uFillTx/>
                    <a:latin typeface="Calibri"/>
                    <a:ea typeface="Calibri"/>
                  </a:defRPr>
                </a:pPr>
              </a:p>
            </c:txPr>
            <c:dLblPos val="r"/>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xVal>
            <c:numRef>
              <c:f>1</c:f>
              <c:numCache>
                <c:formatCode>General</c:formatCode>
                <c:ptCount val="10"/>
                <c:pt idx="0">
                  <c:v>10</c:v>
                </c:pt>
                <c:pt idx="1">
                  <c:v>15</c:v>
                </c:pt>
                <c:pt idx="2">
                  <c:v>20</c:v>
                </c:pt>
                <c:pt idx="3">
                  <c:v>25</c:v>
                </c:pt>
                <c:pt idx="4">
                  <c:v>30</c:v>
                </c:pt>
                <c:pt idx="5">
                  <c:v>35</c:v>
                </c:pt>
                <c:pt idx="6">
                  <c:v>40</c:v>
                </c:pt>
                <c:pt idx="7">
                  <c:v>50</c:v>
                </c:pt>
                <c:pt idx="8">
                  <c:v>70</c:v>
                </c:pt>
                <c:pt idx="9">
                  <c:v>100</c:v>
                </c:pt>
              </c:numCache>
            </c:numRef>
          </c:xVal>
          <c:yVal>
            <c:numRef>
              <c:f>0</c:f>
              <c:numCache>
                <c:formatCode>#,##0</c:formatCode>
                <c:ptCount val="10"/>
                <c:pt idx="0">
                  <c:v>1140.51</c:v>
                </c:pt>
                <c:pt idx="1">
                  <c:v>1206.23</c:v>
                </c:pt>
                <c:pt idx="2">
                  <c:v>1295.52</c:v>
                </c:pt>
                <c:pt idx="3">
                  <c:v>1215.91</c:v>
                </c:pt>
                <c:pt idx="4">
                  <c:v>1211.26</c:v>
                </c:pt>
                <c:pt idx="5">
                  <c:v>1065.97</c:v>
                </c:pt>
                <c:pt idx="6">
                  <c:v>1069.24</c:v>
                </c:pt>
                <c:pt idx="7">
                  <c:v>969.32</c:v>
                </c:pt>
                <c:pt idx="8">
                  <c:v>908.58</c:v>
                </c:pt>
                <c:pt idx="9">
                  <c:v>801.03</c:v>
                </c:pt>
              </c:numCache>
            </c:numRef>
          </c:yVal>
          <c:smooth val="1"/>
        </c:ser>
        <c:axId val="86404321"/>
        <c:axId val="83214735"/>
      </c:scatterChart>
      <c:valAx>
        <c:axId val="86404321"/>
        <c:scaling>
          <c:orientation val="minMax"/>
          <c:max val="100"/>
          <c:min val="0"/>
        </c:scaling>
        <c:delete val="0"/>
        <c:axPos val="b"/>
        <c:title>
          <c:tx>
            <c:rich>
              <a:bodyPr rot="0"/>
              <a:lstStyle/>
              <a:p>
                <a:pPr>
                  <a:defRPr sz="1300" b="0" u="none" strike="noStrike">
                    <a:solidFill>
                      <a:srgbClr val="000000"/>
                    </a:solidFill>
                    <a:uFillTx/>
                    <a:latin typeface="Arial"/>
                  </a:defRPr>
                </a:pPr>
                <a:r>
                  <a:rPr sz="1000" b="1" u="none" strike="noStrike">
                    <a:solidFill>
                      <a:srgbClr val="000000"/>
                    </a:solidFill>
                    <a:uFillTx/>
                    <a:latin typeface="Calibri"/>
                    <a:ea typeface="Calibri"/>
                  </a:rPr>
                  <a:t>Virtual users</a:t>
                </a:r>
              </a:p>
            </c:rich>
          </c:tx>
          <c:overlay val="0"/>
          <c:spPr>
            <a:noFill/>
            <a:ln w="0">
              <a:noFill/>
            </a:ln>
          </c:spPr>
        </c:title>
        <c:numFmt formatCode="#,##0" sourceLinked="0"/>
        <c:majorTickMark val="none"/>
        <c:minorTickMark val="none"/>
        <c:tickLblPos val="nextTo"/>
        <c:spPr>
          <a:ln w="9360">
            <a:solidFill>
              <a:srgbClr val="B8C6C9"/>
            </a:solidFill>
            <a:round/>
          </a:ln>
        </c:spPr>
        <c:txPr>
          <a:bodyPr/>
          <a:lstStyle/>
          <a:p>
            <a:pPr>
              <a:defRPr sz="1575" b="0" u="none" strike="noStrike">
                <a:solidFill>
                  <a:srgbClr val="56666C"/>
                </a:solidFill>
                <a:uFillTx/>
                <a:latin typeface="Calibri"/>
                <a:ea typeface="Calibri"/>
              </a:defRPr>
            </a:pPr>
          </a:p>
        </c:txPr>
        <c:crossAx val="83214735"/>
        <c:crosses val="autoZero"/>
        <c:crossBetween val="midCat"/>
        <c:majorUnit val="20"/>
      </c:valAx>
      <c:valAx>
        <c:axId val="83214735"/>
        <c:scaling>
          <c:orientation val="minMax"/>
          <c:max val="1500"/>
          <c:min val="0"/>
        </c:scaling>
        <c:delete val="0"/>
        <c:axPos val="l"/>
        <c:majorGridlines>
          <c:spPr>
            <a:ln w="9360">
              <a:solidFill>
                <a:srgbClr val="E0E6E6"/>
              </a:solidFill>
              <a:round/>
            </a:ln>
          </c:spPr>
        </c:majorGridlines>
        <c:title>
          <c:tx>
            <c:rich>
              <a:bodyPr rot="-5400000"/>
              <a:lstStyle/>
              <a:p>
                <a:pPr>
                  <a:defRPr sz="1300" b="0" u="none" strike="noStrike">
                    <a:solidFill>
                      <a:srgbClr val="000000"/>
                    </a:solidFill>
                    <a:uFillTx/>
                    <a:latin typeface="Arial"/>
                  </a:defRPr>
                </a:pPr>
                <a:r>
                  <a:rPr sz="1000" b="1" u="none" strike="noStrike">
                    <a:solidFill>
                      <a:srgbClr val="000000"/>
                    </a:solidFill>
                    <a:uFillTx/>
                    <a:latin typeface="Calibri"/>
                    <a:ea typeface="Calibri"/>
                  </a:rPr>
                  <a:t>Requests / second</a:t>
                </a:r>
              </a:p>
            </c:rich>
          </c:tx>
          <c:overlay val="0"/>
          <c:spPr>
            <a:noFill/>
            <a:ln w="0">
              <a:noFill/>
            </a:ln>
          </c:spPr>
        </c:title>
        <c:numFmt formatCode="#,##0" sourceLinked="0"/>
        <c:majorTickMark val="none"/>
        <c:minorTickMark val="none"/>
        <c:tickLblPos val="nextTo"/>
        <c:spPr>
          <a:ln w="9360">
            <a:solidFill>
              <a:srgbClr val="B8C6C9"/>
            </a:solidFill>
            <a:round/>
          </a:ln>
        </c:spPr>
        <c:txPr>
          <a:bodyPr/>
          <a:lstStyle/>
          <a:p>
            <a:pPr>
              <a:defRPr sz="1575" b="0" u="none" strike="noStrike">
                <a:solidFill>
                  <a:srgbClr val="56666C"/>
                </a:solidFill>
                <a:uFillTx/>
                <a:latin typeface="Calibri"/>
                <a:ea typeface="Calibri"/>
              </a:defRPr>
            </a:pPr>
          </a:p>
        </c:txPr>
        <c:crossAx val="86404321"/>
        <c:crosses val="autoZero"/>
        <c:crossBetween val="midCat"/>
      </c:valAx>
      <c:spPr>
        <a:solidFill>
          <a:srgbClr val="FAFAF7"/>
        </a:solidFill>
        <a:ln w="0">
          <a:noFill/>
        </a:ln>
      </c:spPr>
    </c:plotArea>
    <c:plotVisOnly val="1"/>
    <c:dispBlanksAs val="zero"/>
  </c:chart>
  <c:spPr>
    <a:solidFill>
      <a:srgbClr val="FAFAF7"/>
    </a:solid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lineChart>
        <c:grouping val="standard"/>
        <c:varyColors val="0"/>
        <c:ser>
          <c:idx val="0"/>
          <c:order val="0"/>
          <c:tx>
            <c:strRef>
              <c:f>label 0</c:f>
              <c:strCache>
                <c:ptCount val="1"/>
                <c:pt idx="0">
                  <c:v>250 VUs</c:v>
                </c:pt>
              </c:strCache>
            </c:strRef>
          </c:tx>
          <c:spPr>
            <a:solidFill>
              <a:srgbClr val="98A9B0"/>
            </a:solidFill>
            <a:ln w="28440">
              <a:solidFill>
                <a:srgbClr val="98A9B0"/>
              </a:solidFill>
              <a:round/>
            </a:ln>
          </c:spPr>
          <c:marker>
            <c:symbol val="circle"/>
            <c:size val="8"/>
            <c:spPr>
              <a:solidFill>
                <a:srgbClr val="98A9B0"/>
              </a:solidFill>
            </c:spPr>
          </c:marker>
          <c:dLbls>
            <c:txPr>
              <a:bodyPr wrap="square"/>
              <a:lstStyle/>
              <a:p>
                <a:pPr>
                  <a:defRPr sz="1000" b="0" u="none" strike="noStrike">
                    <a:solidFill>
                      <a:srgbClr val="000000"/>
                    </a:solidFill>
                    <a:uFillTx/>
                    <a:latin typeface="Calibri"/>
                    <a:ea typeface="Calibri"/>
                  </a:defRPr>
                </a:pPr>
              </a:p>
            </c:txPr>
            <c:dLblPos val="r"/>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First 100 s</c:v>
                </c:pt>
                <c:pt idx="1">
                  <c:v>Middle 100 s</c:v>
                </c:pt>
                <c:pt idx="2">
                  <c:v>Last 100 s</c:v>
                </c:pt>
              </c:strCache>
            </c:strRef>
          </c:cat>
          <c:val>
            <c:numRef>
              <c:f>0</c:f>
              <c:numCache>
                <c:formatCode>#,##0</c:formatCode>
                <c:ptCount val="3"/>
                <c:pt idx="0">
                  <c:v>2086.2</c:v>
                </c:pt>
                <c:pt idx="1">
                  <c:v>1971.6</c:v>
                </c:pt>
                <c:pt idx="2">
                  <c:v>1843</c:v>
                </c:pt>
              </c:numCache>
            </c:numRef>
          </c:val>
          <c:smooth val="0"/>
        </c:ser>
        <c:ser>
          <c:idx val="1"/>
          <c:order val="1"/>
          <c:tx>
            <c:strRef>
              <c:f>label 1</c:f>
              <c:strCache>
                <c:ptCount val="1"/>
                <c:pt idx="0">
                  <c:v>300 VUs</c:v>
                </c:pt>
              </c:strCache>
            </c:strRef>
          </c:tx>
          <c:spPr>
            <a:solidFill>
              <a:srgbClr val="087F8C"/>
            </a:solidFill>
            <a:ln w="28440">
              <a:solidFill>
                <a:srgbClr val="087F8C"/>
              </a:solidFill>
              <a:round/>
            </a:ln>
          </c:spPr>
          <c:marker>
            <c:symbol val="square"/>
            <c:size val="8"/>
            <c:spPr>
              <a:solidFill>
                <a:srgbClr val="087F8C"/>
              </a:solidFill>
            </c:spPr>
          </c:marker>
          <c:dLbls>
            <c:txPr>
              <a:bodyPr wrap="square"/>
              <a:lstStyle/>
              <a:p>
                <a:pPr>
                  <a:defRPr sz="1000" b="0" u="none" strike="noStrike">
                    <a:solidFill>
                      <a:srgbClr val="000000"/>
                    </a:solidFill>
                    <a:uFillTx/>
                    <a:latin typeface="Calibri"/>
                    <a:ea typeface="Calibri"/>
                  </a:defRPr>
                </a:pPr>
              </a:p>
            </c:txPr>
            <c:dLblPos val="r"/>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First 100 s</c:v>
                </c:pt>
                <c:pt idx="1">
                  <c:v>Middle 100 s</c:v>
                </c:pt>
                <c:pt idx="2">
                  <c:v>Last 100 s</c:v>
                </c:pt>
              </c:strCache>
            </c:strRef>
          </c:cat>
          <c:val>
            <c:numRef>
              <c:f>1</c:f>
              <c:numCache>
                <c:formatCode>#,##0</c:formatCode>
                <c:ptCount val="3"/>
                <c:pt idx="0">
                  <c:v>2102</c:v>
                </c:pt>
                <c:pt idx="1">
                  <c:v>1874.7</c:v>
                </c:pt>
                <c:pt idx="2">
                  <c:v>1924</c:v>
                </c:pt>
              </c:numCache>
            </c:numRef>
          </c:val>
          <c:smooth val="0"/>
        </c:ser>
        <c:ser>
          <c:idx val="2"/>
          <c:order val="2"/>
          <c:tx>
            <c:strRef>
              <c:f>label 2</c:f>
              <c:strCache>
                <c:ptCount val="1"/>
                <c:pt idx="0">
                  <c:v>350 VUs</c:v>
                </c:pt>
              </c:strCache>
            </c:strRef>
          </c:tx>
          <c:spPr>
            <a:solidFill>
              <a:srgbClr val="C55D36"/>
            </a:solidFill>
            <a:ln w="28440">
              <a:solidFill>
                <a:srgbClr val="C55D36"/>
              </a:solidFill>
              <a:round/>
            </a:ln>
          </c:spPr>
          <c:marker>
            <c:symbol val="diamond"/>
            <c:size val="8"/>
            <c:spPr>
              <a:solidFill>
                <a:srgbClr val="C55D36"/>
              </a:solidFill>
            </c:spPr>
          </c:marker>
          <c:dLbls>
            <c:txPr>
              <a:bodyPr wrap="square"/>
              <a:lstStyle/>
              <a:p>
                <a:pPr>
                  <a:defRPr sz="1000" b="0" u="none" strike="noStrike">
                    <a:solidFill>
                      <a:srgbClr val="000000"/>
                    </a:solidFill>
                    <a:uFillTx/>
                    <a:latin typeface="Calibri"/>
                    <a:ea typeface="Calibri"/>
                  </a:defRPr>
                </a:pPr>
              </a:p>
            </c:txPr>
            <c:dLblPos val="r"/>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First 100 s</c:v>
                </c:pt>
                <c:pt idx="1">
                  <c:v>Middle 100 s</c:v>
                </c:pt>
                <c:pt idx="2">
                  <c:v>Last 100 s</c:v>
                </c:pt>
              </c:strCache>
            </c:strRef>
          </c:cat>
          <c:val>
            <c:numRef>
              <c:f>2</c:f>
              <c:numCache>
                <c:formatCode>#,##0</c:formatCode>
                <c:ptCount val="3"/>
                <c:pt idx="0">
                  <c:v>2200.2</c:v>
                </c:pt>
                <c:pt idx="1">
                  <c:v>2033.3</c:v>
                </c:pt>
                <c:pt idx="2">
                  <c:v>1892.2</c:v>
                </c:pt>
              </c:numCache>
            </c:numRef>
          </c:val>
          <c:smooth val="0"/>
        </c:ser>
        <c:hiLowLines>
          <c:spPr>
            <a:ln w="0">
              <a:noFill/>
            </a:ln>
          </c:spPr>
        </c:hiLowLines>
        <c:marker val="1"/>
        <c:axId val="93396599"/>
        <c:axId val="63445120"/>
      </c:lineChart>
      <c:catAx>
        <c:axId val="93396599"/>
        <c:scaling>
          <c:orientation val="minMax"/>
        </c:scaling>
        <c:delete val="0"/>
        <c:axPos val="b"/>
        <c:numFmt formatCode="#,##0" sourceLinked="0"/>
        <c:majorTickMark val="none"/>
        <c:minorTickMark val="none"/>
        <c:tickLblPos val="nextTo"/>
        <c:spPr>
          <a:ln w="9360">
            <a:solidFill>
              <a:srgbClr val="B8C6C9"/>
            </a:solidFill>
            <a:round/>
          </a:ln>
        </c:spPr>
        <c:txPr>
          <a:bodyPr/>
          <a:lstStyle/>
          <a:p>
            <a:pPr>
              <a:defRPr sz="1575" b="0" u="none" strike="noStrike">
                <a:solidFill>
                  <a:srgbClr val="56666C"/>
                </a:solidFill>
                <a:uFillTx/>
                <a:latin typeface="Calibri"/>
                <a:ea typeface="Calibri"/>
              </a:defRPr>
            </a:pPr>
          </a:p>
        </c:txPr>
        <c:crossAx val="63445120"/>
        <c:crosses val="autoZero"/>
        <c:auto val="1"/>
        <c:lblAlgn val="ctr"/>
        <c:lblOffset val="100"/>
        <c:noMultiLvlLbl val="0"/>
      </c:catAx>
      <c:valAx>
        <c:axId val="63445120"/>
        <c:scaling>
          <c:orientation val="minMax"/>
          <c:max val="2300"/>
          <c:min val="1700"/>
        </c:scaling>
        <c:delete val="0"/>
        <c:axPos val="l"/>
        <c:majorGridlines>
          <c:spPr>
            <a:ln w="9360">
              <a:solidFill>
                <a:srgbClr val="E0E6E6"/>
              </a:solidFill>
              <a:round/>
            </a:ln>
          </c:spPr>
        </c:majorGridlines>
        <c:title>
          <c:tx>
            <c:rich>
              <a:bodyPr rot="-5400000"/>
              <a:lstStyle/>
              <a:p>
                <a:pPr>
                  <a:defRPr sz="1300" b="0" u="none" strike="noStrike">
                    <a:solidFill>
                      <a:srgbClr val="000000"/>
                    </a:solidFill>
                    <a:uFillTx/>
                    <a:latin typeface="Arial"/>
                  </a:defRPr>
                </a:pPr>
                <a:r>
                  <a:rPr sz="1000" b="1" u="none" strike="noStrike">
                    <a:solidFill>
                      <a:srgbClr val="000000"/>
                    </a:solidFill>
                    <a:uFillTx/>
                    <a:latin typeface="Calibri"/>
                    <a:ea typeface="Calibri"/>
                  </a:rPr>
                  <a:t>Requests / second</a:t>
                </a:r>
              </a:p>
            </c:rich>
          </c:tx>
          <c:overlay val="0"/>
          <c:spPr>
            <a:noFill/>
            <a:ln w="0">
              <a:noFill/>
            </a:ln>
          </c:spPr>
        </c:title>
        <c:numFmt formatCode="#,##0" sourceLinked="0"/>
        <c:majorTickMark val="none"/>
        <c:minorTickMark val="none"/>
        <c:tickLblPos val="nextTo"/>
        <c:spPr>
          <a:ln w="9360">
            <a:solidFill>
              <a:srgbClr val="B8C6C9"/>
            </a:solidFill>
            <a:round/>
          </a:ln>
        </c:spPr>
        <c:txPr>
          <a:bodyPr/>
          <a:lstStyle/>
          <a:p>
            <a:pPr>
              <a:defRPr sz="1575" b="0" u="none" strike="noStrike">
                <a:solidFill>
                  <a:srgbClr val="56666C"/>
                </a:solidFill>
                <a:uFillTx/>
                <a:latin typeface="Calibri"/>
                <a:ea typeface="Calibri"/>
              </a:defRPr>
            </a:pPr>
          </a:p>
        </c:txPr>
        <c:crossAx val="93396599"/>
        <c:crosses val="autoZero"/>
        <c:crossBetween val="between"/>
      </c:valAx>
      <c:spPr>
        <a:solidFill>
          <a:srgbClr val="FAFAF7"/>
        </a:solidFill>
        <a:ln w="0">
          <a:noFill/>
        </a:ln>
      </c:spPr>
    </c:plotArea>
    <c:legend>
      <c:legendPos val="b"/>
      <c:overlay val="0"/>
      <c:spPr>
        <a:noFill/>
        <a:ln w="0">
          <a:noFill/>
        </a:ln>
      </c:spPr>
      <c:txPr>
        <a:bodyPr/>
        <a:lstStyle/>
        <a:p>
          <a:pPr>
            <a:defRPr sz="1650" b="0" u="none" strike="noStrike">
              <a:solidFill>
                <a:srgbClr val="12252D"/>
              </a:solidFill>
              <a:uFillTx/>
              <a:latin typeface="Calibri"/>
              <a:ea typeface="Calibri"/>
            </a:defRPr>
          </a:pPr>
        </a:p>
      </c:txPr>
    </c:legend>
    <c:plotVisOnly val="1"/>
    <c:dispBlanksAs val="zero"/>
  </c:chart>
  <c:spPr>
    <a:solidFill>
      <a:srgbClr val="FAFAF7"/>
    </a:solidFill>
    <a:ln w="0">
      <a:noFill/>
    </a:ln>
  </c:spPr>
</c:chartSpace>
</file>

<file path=ppt/charts/colors1.xml><?xml version="1.0" encoding="utf-8"?>
<cs:colorStyle xmlns:cs="http://schemas.microsoft.com/office/drawing/2012/chartStyle" xmlns:a="http://schemas.openxmlformats.org/drawingml/2006/main" meth="cycle" id="10">
  <a:schemeClr val="accent1"/>
</cs:colorStyle>
</file>

<file path=ppt/charts/colors2.xml><?xml version="1.0" encoding="utf-8"?>
<cs:colorStyle xmlns:cs="http://schemas.microsoft.com/office/drawing/2012/chartStyle" xmlns:a="http://schemas.openxmlformats.org/drawingml/2006/main" meth="cycle" id="10">
  <a:schemeClr val="accent1"/>
</cs:colorStyle>
</file>

<file path=ppt/charts/style1.xml><?xml version="1.0" encoding="utf-8"?>
<cs:chartStyle xmlns:cs="http://schemas.microsoft.com/office/drawing/2012/chartStyle" xmlns:a="http://schemas.openxmlformats.org/drawingml/2006/main" id="419">
  <cs:axisTitle>
    <cs:lnRef idx="0"/>
    <cs:lineWidthScale>1</cs:lineWidthScale>
    <cs:fillRef idx="0"/>
    <cs:effectRef idx="0"/>
    <cs:fontRef idx="minor"/>
    <a:defRPr sz="1800" b="0"/>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2.xml><?xml version="1.0" encoding="utf-8"?>
<cs:chartStyle xmlns:cs="http://schemas.microsoft.com/office/drawing/2012/chartStyle" xmlns:a="http://schemas.openxmlformats.org/drawingml/2006/main" id="419">
  <cs:axisTitle>
    <cs:lnRef idx="0"/>
    <cs:lineWidthScale>1</cs:lineWidthScale>
    <cs:fillRef idx="0"/>
    <cs:effectRef idx="0"/>
    <cs:fontRef idx="minor"/>
    <a:defRPr sz="1800" b="0"/>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1: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 name="Google Shape;29;p1: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A talk about continuous performance testing (CPT) for REST and unary/server-streaming gRPC APIs. The case study is Kessel. SOAP provides context. The supplied reference deck identifies the presenter as Nitin Krishna Mucheli.</a:t>
            </a:r>
            <a:endParaRPr b="0" sz="2000" u="none" strike="noStrike">
              <a:solidFill>
                <a:srgbClr val="000000"/>
              </a:solidFill>
              <a:latin typeface="Arial"/>
              <a:ea typeface="Arial"/>
              <a:cs typeface="Arial"/>
              <a:sym typeface="Arial"/>
            </a:endParaRPr>
          </a:p>
        </p:txBody>
      </p:sp>
      <p:sp>
        <p:nvSpPr>
          <p:cNvPr id="30" name="Google Shape;30;p1: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2: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 name="Google Shape;40;p2: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Section 1. What we send, what we count, and what load we create</a:t>
            </a:r>
            <a:endParaRPr b="0" sz="2000" u="none" strike="noStrike">
              <a:solidFill>
                <a:srgbClr val="000000"/>
              </a:solidFill>
              <a:latin typeface="Arial"/>
              <a:ea typeface="Arial"/>
              <a:cs typeface="Arial"/>
              <a:sym typeface="Arial"/>
            </a:endParaRPr>
          </a:p>
        </p:txBody>
      </p:sp>
      <p:sp>
        <p:nvSpPr>
          <p:cNvPr id="41" name="Google Shape;41;p2: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3: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 name="Google Shape;57;p3: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These are different categories, not a universal sequence of generations. SOAP is an XML messaging protocol. REST is an architectural style and does not require JSON or HTTP/1.1. gRPC typically uses Protobuf over HTTP/2, with an explicit service contract. Binary encoding can reduce size and parsing work, but does not guarantee lower end-to-end latency.</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Sources: https://www.w3.org/TR/soap12-part1/ ; https://ics.uci.edu/~fielding/pubs/dissertation/rest_arch_style.htm ; https://grpc.io/docs/what-is-grpc/core-concepts/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The header encoding markers are playful shorthand for the typical payload forms. The hexadecimal marker is illustrative, not a literal protocol signature.</a:t>
            </a:r>
            <a:endParaRPr b="0" sz="2000" u="none" strike="noStrike">
              <a:solidFill>
                <a:srgbClr val="000000"/>
              </a:solidFill>
              <a:latin typeface="Arial"/>
              <a:ea typeface="Arial"/>
              <a:cs typeface="Arial"/>
              <a:sym typeface="Arial"/>
            </a:endParaRPr>
          </a:p>
        </p:txBody>
      </p:sp>
      <p:sp>
        <p:nvSpPr>
          <p:cNvPr id="58" name="Google Shape;58;p3: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4: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 name="Google Shape;66;p4:notes"/>
          <p:cNvSpPr txBox="1"/>
          <p:nvPr>
            <p:ph idx="1" type="body"/>
          </p:nvPr>
        </p:nvSpPr>
        <p:spPr>
          <a:xfrm>
            <a:off x="756000" y="5078520"/>
            <a:ext cx="6047280" cy="4810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This illustrative permission-check contract uses proto3. Check is a unary RPC: it accepts one CheckRequest and returns one CheckResponse. The messages declare a string resource identifier and a boolean result. Each field number identifies its field in the binary wire format. Keep field numbers stable and reserve numbers when deleting fields. The example is for teaching, rather than an exact service schema.</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Reflection and schema discovery: A client can ask a gRPC server for its services, methods, and request/response message definitions. The server returns serialized Protobuf descriptors and their dependencies. The client uses those descriptors to encode requests and decode responses. This lets tools obtain the schema without manually distributing .proto files. Discovery happens through a separate reflection RPC. Reflection must be enabled on the server and reachable through the service routing.</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grpcurl can list and describe services through reflection, or use local .proto/protoset files. In k6, client.connect(address, { reflect: true }) loads the server definitions and dependencies. An alternative is to load a known .proto or descriptor set. For a repeatable CPT, record which schema was used. Treat descriptor discovery as connection setup and reuse loaded definitions where the test contract allows, so schema discovery does not repeatedly inflate the measured RPC latency. This setup advice follows the measurement-boundary lesson in this talk.</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https://protobuf.dev/programming-guides/proto3/</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https://grpc.io/docs/guides/reflection/</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https://github.com/fullstorydev/grpcurl</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https://grafana.com/docs/k6/latest/using-k6/protocols/grpc/</a:t>
            </a:r>
            <a:endParaRPr b="0" sz="2000" u="none" strike="noStrike">
              <a:solidFill>
                <a:srgbClr val="000000"/>
              </a:solidFill>
              <a:latin typeface="Arial"/>
              <a:ea typeface="Arial"/>
              <a:cs typeface="Arial"/>
              <a:sym typeface="Arial"/>
            </a:endParaRPr>
          </a:p>
        </p:txBody>
      </p:sp>
      <p:sp>
        <p:nvSpPr>
          <p:cNvPr id="67" name="Google Shape;67;p4:notes"/>
          <p:cNvSpPr txBox="1"/>
          <p:nvPr>
            <p:ph idx="12" type="sldNum"/>
          </p:nvPr>
        </p:nvSpPr>
        <p:spPr>
          <a:xfrm>
            <a:off x="4278960" y="10157400"/>
            <a:ext cx="3280320" cy="53388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5: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 name="Google Shape;81;p5: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A channel is a reusable client abstraction backed by HTTP/2 connections. Each RPC is an HTTP/2 stream. Within an RPC, gRPC frames one or more messages. A streaming RPC is a sequence of typed messages in one call. It does not create a new HTTP request for every message, and it is not a message broker or pub/sub queue. Ordering is preserved within a stream. The Kessel case study tests server streaming.</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Sources: https://grpc.io/docs/what-is-grpc/core-concepts/ ; https://grpc.io/blog/grpc-on-http2/</a:t>
            </a:r>
            <a:endParaRPr b="0" sz="2000" u="none" strike="noStrike">
              <a:solidFill>
                <a:srgbClr val="000000"/>
              </a:solidFill>
              <a:latin typeface="Arial"/>
              <a:ea typeface="Arial"/>
              <a:cs typeface="Arial"/>
              <a:sym typeface="Arial"/>
            </a:endParaRPr>
          </a:p>
        </p:txBody>
      </p:sp>
      <p:sp>
        <p:nvSpPr>
          <p:cNvPr id="82" name="Google Shape;82;p5: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6: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 name="Google Shape;90;p6: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For finite server streams, define completion as receiving the expected messages and final status. For long-lived streams, use message latency, stream lifetime and reconnect rates rather than waiting for an arbitrary end. Measure first-message latency separately from full-stream completion. Message cardinality can change cost dramatically, so calls/sec and messages/sec must not be mixed. K6 exposes stream and message counters, while custom Trends can capture first-message and complete-stream timing.</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Sources: https://grpc.io/docs/what-is-grpc/core-concepts/ ; https://grafana.com/docs/k6/latest/using-k6/protocols/grpc/ ; https://grafana.com/docs/k6/latest/using-k6/metrics/reference/</a:t>
            </a:r>
            <a:endParaRPr b="0" sz="2000" u="none" strike="noStrike">
              <a:solidFill>
                <a:srgbClr val="000000"/>
              </a:solidFill>
              <a:latin typeface="Arial"/>
              <a:ea typeface="Arial"/>
              <a:cs typeface="Arial"/>
              <a:sym typeface="Arial"/>
            </a:endParaRPr>
          </a:p>
        </p:txBody>
      </p:sp>
      <p:sp>
        <p:nvSpPr>
          <p:cNvPr id="91" name="Google Shape;91;p6: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7: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 name="Google Shape;103;p7: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RPS means achieved throughput and must identify the operation and whether failures are included. P95 means 95% of sampled durations are at or below that value. A mean of per-run P95s is not a pooled P95 across all requests. Checks validate results, transport errors validate delivery, and a CPT pass is a separate comparison with performance criteria. Also observe the generator, service and database during identical time windows.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https://grafana.com/docs/k6/latest/using-k6/metrics/reference/ ; Source: K6 load test findings.docx, supplied by presenter.</a:t>
            </a:r>
            <a:endParaRPr b="0" sz="2000" u="none" strike="noStrike">
              <a:solidFill>
                <a:srgbClr val="000000"/>
              </a:solidFill>
              <a:latin typeface="Arial"/>
              <a:ea typeface="Arial"/>
              <a:cs typeface="Arial"/>
              <a:sym typeface="Arial"/>
            </a:endParaRPr>
          </a:p>
        </p:txBody>
      </p:sp>
      <p:sp>
        <p:nvSpPr>
          <p:cNvPr id="104" name="Google Shape;104;p7: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8: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8:notes"/>
          <p:cNvSpPr txBox="1"/>
          <p:nvPr>
            <p:ph idx="1" type="body"/>
          </p:nvPr>
        </p:nvSpPr>
        <p:spPr>
          <a:xfrm>
            <a:off x="756000" y="5078520"/>
            <a:ext cx="6047280" cy="4810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https://grafana.com/docs/k6/latest/reference/glossary/</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https://docs.locust.io/en/stable/writing-a-locustfile.html</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https://grafana.com/docs/k6/latest/using-k6/scenarios/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https://grafana.com/docs/k6/latest/using-k6/scenarios/concepts/open-vs-closed/</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https://docs.locust.io/en/stable/quickstart.html</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https://grafana.com/docs/k6/latest/using-k6/checks/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https://grafana.com/docs/k6/latest/using-k6/thresholds/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A virtual user is one simulated client executing a workflow concurrently with the other users. Locust creates a User instance per simulated user and executes its tasks. k6 VUs execute separate iterations of the default or scenario execution function. A workflow can make one or several API calls. A VU is not inherently one request per second or one active network connection.</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The numbers on this slide are illustrative, not measured CPT results. For a steady, sequential loop with one API call and total loop duration of 0.5 seconds, ten VUs produce approximately 10 / 0.5 = 20 requests per second. Total duration includes API work, client work and pauses. If the loop duration grows, the same number of VUs produces fewer requests per second.</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Related terminology for the presenter: A task in Locust is an action chosen for a user to execute, potentially containing multiple calls. An iteration in k6 is a complete run of its execution function. Think time is a deliberate pause, and pacing controls the repetition interval. Locust provides wait_time helpers, including constant_pacing and constant_throughput. Task and user weights define a traffic mix. Spawn rate controls how quickly Locust adds users. k6 scenarios and executors schedule iterations or VUs, with stages for changing load. Arrival rate describes new iterations per unit time, which need not equal RPS. k6 arrival-rate executors schedule starts independently of completion. Dropped iterations indicate scheduled work that could not start. Checks assess correctness. k6 thresholds turn metric limits into test pass/fail criteria. Locust can mark individual responses as failed and can implement custom pass/fail policies.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The load model remains relevant: user-based loops slow their offered work as responses slow. Open arrival scheduling needs sufficient VUs and generator capacity to keep its target.</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Additional references: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https://grafana.com/docs/k6/latest/using-k6/scenarios/concepts/dropped-iterations/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https://docs.locust.io/en/stable/running-without-web-ui.html</a:t>
            </a:r>
            <a:endParaRPr b="0" sz="2000" u="none" strike="noStrike">
              <a:solidFill>
                <a:srgbClr val="000000"/>
              </a:solidFill>
              <a:latin typeface="Arial"/>
              <a:ea typeface="Arial"/>
              <a:cs typeface="Arial"/>
              <a:sym typeface="Arial"/>
            </a:endParaRPr>
          </a:p>
        </p:txBody>
      </p:sp>
      <p:sp>
        <p:nvSpPr>
          <p:cNvPr id="120" name="Google Shape;120;p8:notes"/>
          <p:cNvSpPr txBox="1"/>
          <p:nvPr>
            <p:ph idx="12" type="sldNum"/>
          </p:nvPr>
        </p:nvSpPr>
        <p:spPr>
          <a:xfrm>
            <a:off x="4278960" y="10157400"/>
            <a:ext cx="3280320" cy="53388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 name="Google Shape;132;p9: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Baseline/load tests measure expected workload and compare releases. Stress tests seek the limit and recovery. Spike tests check sudden traffic changes. Soak tests check long-duration degradation such as memory growth or accumulating DB work. A CPT typically repeats a controlled workload and compares against a baseline. It is not automatically a measurement of absolute production capacity.</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https://grafana.com/docs/k6/latest/testing-guides/api-load-testing/</a:t>
            </a:r>
            <a:endParaRPr b="0" sz="2000" u="none" strike="noStrike">
              <a:solidFill>
                <a:srgbClr val="000000"/>
              </a:solidFill>
              <a:latin typeface="Arial"/>
              <a:ea typeface="Arial"/>
              <a:cs typeface="Arial"/>
              <a:sym typeface="Arial"/>
            </a:endParaRPr>
          </a:p>
        </p:txBody>
      </p:sp>
      <p:sp>
        <p:nvSpPr>
          <p:cNvPr id="133" name="Google Shape;133;p9: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0: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 name="Google Shape;148;p10: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Section 2. How the client became part of the measured latency</a:t>
            </a:r>
            <a:endParaRPr b="0" sz="2000" u="none" strike="noStrike">
              <a:solidFill>
                <a:srgbClr val="000000"/>
              </a:solidFill>
              <a:latin typeface="Arial"/>
              <a:ea typeface="Arial"/>
              <a:cs typeface="Arial"/>
              <a:sym typeface="Arial"/>
            </a:endParaRPr>
          </a:p>
        </p:txBody>
      </p:sp>
      <p:sp>
        <p:nvSpPr>
          <p:cNvPr id="149" name="Google Shape;149;p10: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1: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11:notes"/>
          <p:cNvSpPr txBox="1"/>
          <p:nvPr>
            <p:ph idx="1" type="body"/>
          </p:nvPr>
        </p:nvSpPr>
        <p:spPr>
          <a:xfrm>
            <a:off x="756000" y="5078520"/>
            <a:ext cx="6047280" cy="4810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The team reused a Python/Locust harness because it already collected results and integrated with downstream processing. A custom native Go load client would have required client generation, concurrency control, streaming lifecycle handling, metrics and result-format integration. The team decided against building a Go load test client because of additional maintenance overhead. It used grpcurl to reach gRPC APIs instead. Locust can support gRPC through custom clients, so this is a limitation of the chosen integration, not a universal inability of Locust or Python.</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K6 load test findings.docx, supplied by presenter.</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https://docs.locust.io/en/stable/testing-other-systems.html</a:t>
            </a:r>
            <a:endParaRPr b="0" sz="2000" u="none" strike="noStrike">
              <a:solidFill>
                <a:srgbClr val="000000"/>
              </a:solidFill>
              <a:latin typeface="Arial"/>
              <a:ea typeface="Arial"/>
              <a:cs typeface="Arial"/>
              <a:sym typeface="Arial"/>
            </a:endParaRPr>
          </a:p>
        </p:txBody>
      </p:sp>
      <p:sp>
        <p:nvSpPr>
          <p:cNvPr id="166" name="Google Shape;166;p11:notes"/>
          <p:cNvSpPr txBox="1"/>
          <p:nvPr>
            <p:ph idx="12" type="sldNum"/>
          </p:nvPr>
        </p:nvSpPr>
        <p:spPr>
          <a:xfrm>
            <a:off x="4278960" y="10157400"/>
            <a:ext cx="3280320" cy="53388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2: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 name="Google Shape;181;p12:notes"/>
          <p:cNvSpPr txBox="1"/>
          <p:nvPr>
            <p:ph idx="1" type="body"/>
          </p:nvPr>
        </p:nvSpPr>
        <p:spPr>
          <a:xfrm>
            <a:off x="756000" y="5078520"/>
            <a:ext cx="6047280" cy="4810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K6 load test findings.docx, supplied by presenter.</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The report attributes multi-second latency and limited generated load to per-call process creation in the grpcurl integration. A process wrapper may time startup, client setup, the RPC and output handling together. Without a precise timing boundary, that number cannot be read as server processing time. Low generated load can leave the backend under-stressed even when the client reports very high latency. Channels and setup overhead also depend on actual connection reuse. Do not infer that every second came solely from the OS spawn.</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Kessel K6 metrics.xlsx, supplied by presenter. Sheet: Locust vs K6, row 2. The legacy check_workspace result was 83.0 RPS and 2133.3 ms median response time. The slide rounds its response time to approximately 2.1 seconds. Other legacy gRPC scenarios also achieved roughly 80 RPS. This response time includes the client harness timing boundary, as described above. It is not a server-only measure. These historical results are not a controlled product-performance benchmark.</a:t>
            </a:r>
            <a:endParaRPr b="0" sz="2000" u="none" strike="noStrike">
              <a:solidFill>
                <a:srgbClr val="000000"/>
              </a:solidFill>
              <a:latin typeface="Arial"/>
              <a:ea typeface="Arial"/>
              <a:cs typeface="Arial"/>
              <a:sym typeface="Arial"/>
            </a:endParaRPr>
          </a:p>
        </p:txBody>
      </p:sp>
      <p:sp>
        <p:nvSpPr>
          <p:cNvPr id="182" name="Google Shape;182;p12:notes"/>
          <p:cNvSpPr txBox="1"/>
          <p:nvPr>
            <p:ph idx="12" type="sldNum"/>
          </p:nvPr>
        </p:nvSpPr>
        <p:spPr>
          <a:xfrm>
            <a:off x="4278960" y="10157400"/>
            <a:ext cx="3280320" cy="53388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3: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p13: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presenter-supplied discussion screenshot. Paraphrased anonymously. The discussion compared server metrics around 10–100 ms for most operations with roughly 1–2 seconds in the client harness. One operation was an exception. The initial explanation attributed the gap to client-side process and network overhead, and a participant acknowledged it. The screenshot supports initial acceptance of the explanation, not a claim that every engineer accepted it or that the service itself was slow. The presenter recalls that this nearly normalized the high harness latency for the engineering team. Different timing boundaries can both be technically valid, but process overhead in an artificial test client can invalidate load-generation capacity and interpretation.</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K6 load test findings.docx, supplied by presenter.</a:t>
            </a:r>
            <a:endParaRPr b="0" sz="2000" u="none" strike="noStrike">
              <a:solidFill>
                <a:srgbClr val="000000"/>
              </a:solidFill>
              <a:latin typeface="Arial"/>
              <a:ea typeface="Arial"/>
              <a:cs typeface="Arial"/>
              <a:sym typeface="Arial"/>
            </a:endParaRPr>
          </a:p>
        </p:txBody>
      </p:sp>
      <p:sp>
        <p:nvSpPr>
          <p:cNvPr id="198" name="Google Shape;198;p13: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4: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p14: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Section 3. A better client still needs a controlled experiment</a:t>
            </a:r>
            <a:endParaRPr b="0" sz="2000" u="none" strike="noStrike">
              <a:solidFill>
                <a:srgbClr val="000000"/>
              </a:solidFill>
              <a:latin typeface="Arial"/>
              <a:ea typeface="Arial"/>
              <a:cs typeface="Arial"/>
              <a:sym typeface="Arial"/>
            </a:endParaRPr>
          </a:p>
        </p:txBody>
      </p:sp>
      <p:sp>
        <p:nvSpPr>
          <p:cNvPr id="214" name="Google Shape;214;p14: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5: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p15: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K6 load test findings.docx, supplied by presenter.</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K6 is a Go executable running portable JavaScript test scripts. It supports REST and unary/streaming gRPC clients. The team changed the load-generation layer and retained the downstream CPT integrations using Python adapters for raw K6 JSON. Those adapters convert results into the existing format for comparison and ElasticSearch storage. K6 reduces the grpcurl subprocess overhead, but script design and measurement boundaries still matter.</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https://grafana.com/docs/k6/latest/using-k6/protocols/grpc/</a:t>
            </a:r>
            <a:endParaRPr b="0" sz="2000" u="none" strike="noStrike">
              <a:solidFill>
                <a:srgbClr val="000000"/>
              </a:solidFill>
              <a:latin typeface="Arial"/>
              <a:ea typeface="Arial"/>
              <a:cs typeface="Arial"/>
              <a:sym typeface="Arial"/>
            </a:endParaRPr>
          </a:p>
        </p:txBody>
      </p:sp>
      <p:sp>
        <p:nvSpPr>
          <p:cNvPr id="231" name="Google Shape;231;p15: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6: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6" name="Google Shape;246;p16:notes"/>
          <p:cNvSpPr txBox="1"/>
          <p:nvPr>
            <p:ph idx="1" type="body"/>
          </p:nvPr>
        </p:nvSpPr>
        <p:spPr>
          <a:xfrm>
            <a:off x="0" y="0"/>
            <a:ext cx="0" cy="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Kessel K6 metrics.xlsx, supplied by presenter.</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Sheet: Locust vs K6, rows 2, 3, 8, 13. Values are observed average RPS: check_workspace 83.0/1255.1, check_view 78.5/795.5, checkself 452.1/846.4, subjects 84.8/879.0. This comparison precedes the later Relations API bypass. It is a harness comparison with non-identical image, service/data state, workload and timing. No product speedup claim follows from these ratios. Streaming RPS retains the supplied report's label and counting convention.</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K6 load test findings.docx, supplied by presenter.</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The latency callout uses check_workspace, a gRPC endpoint. Legacy median response time was 2133.3 ms and k6 median response time was 217.5 ms. The reduction is (2133.3 - 217.5) / 2133.3 = 89.8% after rounding. On-slide response times round to whole milliseconds. These are observed client-side timings with different tooling measurement paths, not a claim of a server-only speedup. Source: Kessel K6 metrics.xlsx, sheet Locust vs K6, check_workspace row.</a:t>
            </a:r>
            <a:endParaRPr b="0" sz="2000" u="none" strike="noStrike">
              <a:solidFill>
                <a:srgbClr val="000000"/>
              </a:solidFill>
              <a:latin typeface="Arial"/>
              <a:ea typeface="Arial"/>
              <a:cs typeface="Arial"/>
              <a:sym typeface="Arial"/>
            </a:endParaRPr>
          </a:p>
        </p:txBody>
      </p:sp>
      <p:sp>
        <p:nvSpPr>
          <p:cNvPr id="247" name="Google Shape;247;p16: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7: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0" name="Google Shape;260;p17: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Kessel K6 metrics.xlsx, supplied by presenter.</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Sheet: Locust vs K6, rows 2, 8 and 13. Median response time in milliseconds. Legacy average and P95 were not stored in the ES payload, so there is no valid before/after P95 comparison. REST checkself median rose while RPS increased. This can be consistent with higher achieved load and different client timing, but is not proof of the cause. The values are not a controlled product-performance benchmark.</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K6 load test findings.docx, supplied by presenter.</a:t>
            </a:r>
            <a:endParaRPr b="0" sz="2000" u="none" strike="noStrike">
              <a:solidFill>
                <a:srgbClr val="000000"/>
              </a:solidFill>
              <a:latin typeface="Arial"/>
              <a:ea typeface="Arial"/>
              <a:cs typeface="Arial"/>
              <a:sym typeface="Arial"/>
            </a:endParaRPr>
          </a:p>
        </p:txBody>
      </p:sp>
      <p:sp>
        <p:nvSpPr>
          <p:cNvPr id="261" name="Google Shape;261;p17: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8: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p18:notes"/>
          <p:cNvSpPr txBox="1"/>
          <p:nvPr>
            <p:ph idx="1" type="body"/>
          </p:nvPr>
        </p:nvSpPr>
        <p:spPr>
          <a:xfrm>
            <a:off x="756000" y="5078520"/>
            <a:ext cx="6047280" cy="4810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presenter-supplied implementation history and K6 load test findings.docx.</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The test used a fixed count of 300 VUs. In the earlier implementation, k6 could advance the VU to its next iteration before streaming messages or the end marker arrived. Iterations exited early and recorded no messages. The script used a fixed sleep to keep the iteration alive long enough for those events to arrive. Later k6 versions fixed this early-exit issue, and the test now uses async/await.</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The async iteration awaits a Promise tied to the streaming callbacks. Message callbacks collect and validate responses. The end callback resolves the Promise, while the error callback rejects it or records a failure. The next iteration starts after the current stream completes or fails. A bounded deadline handles a stream that never ends. The 300 VU count stays fixed. Waiting for completion keeps each VU on its current unit of work rather than changing the concurrency setting.</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Current API reference: https://grafana.com/docs/k6/latest/using-k6/protocols/grpc/</a:t>
            </a:r>
            <a:endParaRPr b="0" sz="2000" u="none" strike="noStrike">
              <a:solidFill>
                <a:srgbClr val="000000"/>
              </a:solidFill>
              <a:latin typeface="Arial"/>
              <a:ea typeface="Arial"/>
              <a:cs typeface="Arial"/>
              <a:sym typeface="Arial"/>
            </a:endParaRPr>
          </a:p>
        </p:txBody>
      </p:sp>
      <p:sp>
        <p:nvSpPr>
          <p:cNvPr id="271" name="Google Shape;271;p18:notes"/>
          <p:cNvSpPr txBox="1"/>
          <p:nvPr>
            <p:ph idx="12" type="sldNum"/>
          </p:nvPr>
        </p:nvSpPr>
        <p:spPr>
          <a:xfrm>
            <a:off x="4278960" y="10157400"/>
            <a:ext cx="3280320" cy="53388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9: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p19:notes"/>
          <p:cNvSpPr txBox="1"/>
          <p:nvPr>
            <p:ph idx="1" type="body"/>
          </p:nvPr>
        </p:nvSpPr>
        <p:spPr>
          <a:xfrm>
            <a:off x="756000" y="5078520"/>
            <a:ext cx="6047280" cy="4810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Kessel K6 metrics.xlsx, supplied by presenter.</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Sheet: RPS vs VU count tradeoff, rows 2–11. Report associates this delete_resource sweep with a pool of 20,000 resources. Throughput peaks at 20 VUs (1295.52 RPS) and declines to 801.03 RPS at 100 VUs, while P95 increases from 37.74 ms to 446.70 ms. Source attributes behavior to SpiceDB GC pressure, but this chart alone does not isolate causality. The generator also had an OOM incident at 300 VUs.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K6 load test findings.docx, supplied by presenter.</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Dotted leaders connect the selected 20 VU and 100 VU throughput points to the callouts. Their colors match the RPS and P95 values. Teal marks the 20 VU result and orange marks the degradation at 100 VUs. The VU headings remain black. The underlying chart data is unchanged.</a:t>
            </a:r>
            <a:endParaRPr b="0" sz="2000" u="none" strike="noStrike">
              <a:solidFill>
                <a:srgbClr val="000000"/>
              </a:solidFill>
              <a:latin typeface="Arial"/>
              <a:ea typeface="Arial"/>
              <a:cs typeface="Arial"/>
              <a:sym typeface="Arial"/>
            </a:endParaRPr>
          </a:p>
        </p:txBody>
      </p:sp>
      <p:sp>
        <p:nvSpPr>
          <p:cNvPr id="284" name="Google Shape;284;p19:notes"/>
          <p:cNvSpPr txBox="1"/>
          <p:nvPr>
            <p:ph idx="12" type="sldNum"/>
          </p:nvPr>
        </p:nvSpPr>
        <p:spPr>
          <a:xfrm>
            <a:off x="4278960" y="10157400"/>
            <a:ext cx="3280320" cy="53388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0: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p20: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Kessel K6 metrics.xlsx, supplied by presenter.</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Sheet: Sleep tuning, rows 21–23. For streamed subjects, average RPS for the first/middle/last 100 seconds are 250 VUs: 2086.2/1971.6/1843.0, 300 VUs: 2102.0/1874.7/1924.0, 350 VUs: 2200.2/2033.3/1892.2. A separate two-minute sweep had reached 2394.4 RPS at 350 VUs. These are different experiments. The report retained 300 VUs. This is historical sleep-tuning evidence, not a description of the current async completion mechanism.</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K6 load test findings.docx, supplied by presenter.</a:t>
            </a:r>
            <a:endParaRPr b="0" sz="2000" u="none" strike="noStrike">
              <a:solidFill>
                <a:srgbClr val="000000"/>
              </a:solidFill>
              <a:latin typeface="Arial"/>
              <a:ea typeface="Arial"/>
              <a:cs typeface="Arial"/>
              <a:sym typeface="Arial"/>
            </a:endParaRPr>
          </a:p>
        </p:txBody>
      </p:sp>
      <p:sp>
        <p:nvSpPr>
          <p:cNvPr id="305" name="Google Shape;305;p20: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1: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 name="Google Shape;316;p21: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live dashboard-3d.html, queried from the Kessel K6 Elasticsearch index on 9 October 2026. Selected scenario check_workspace, metric Total RPS, dates 23 July–31 August 2026. The dashboard shows 271 runs. Axes are date, time of day (UTC) and total RPS. Black points are observed runs, the surface interpolates observations, and wall lines show date/time averages. Interpolation and averages help exploration but do not establish a causal pattern. For a live demo, rotate the plot or select Front and Side views to compare averages. This is the team's existing explorer, distinct from the workbook-derived DB scatter plot that follows.</a:t>
            </a:r>
            <a:endParaRPr b="0" sz="2000" u="none" strike="noStrike">
              <a:solidFill>
                <a:srgbClr val="000000"/>
              </a:solidFill>
              <a:latin typeface="Arial"/>
              <a:ea typeface="Arial"/>
              <a:cs typeface="Arial"/>
              <a:sym typeface="Arial"/>
            </a:endParaRPr>
          </a:p>
        </p:txBody>
      </p:sp>
      <p:sp>
        <p:nvSpPr>
          <p:cNvPr id="317" name="Google Shape;317;p21: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2: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p22: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Kessel K6 metrics.xlsx, supplied by presenter.</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Sheet: Latest perf by scenario, rows 2, 10, 11 and 13. RPS CV is 9.2% check_workspace, 2.9% report_resource, 10.8% subjects, 10.9% delete_resource. CV = population standard deviation / mean. Window July 23–August 31 2026, 1803 scenario runs in total. Scenario populations include script changes, particularly streamed subjects, so mixed populations should be segmented. These figures are summaries of the supplied historical window and not current October measurements.</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K6 load test findings.docx, supplied by presenter.</a:t>
            </a:r>
            <a:endParaRPr b="0" sz="2000" u="none" strike="noStrike">
              <a:solidFill>
                <a:srgbClr val="000000"/>
              </a:solidFill>
              <a:latin typeface="Arial"/>
              <a:ea typeface="Arial"/>
              <a:cs typeface="Arial"/>
              <a:sym typeface="Arial"/>
            </a:endParaRPr>
          </a:p>
        </p:txBody>
      </p:sp>
      <p:sp>
        <p:nvSpPr>
          <p:cNvPr id="329" name="Google Shape;329;p22: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3: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0" name="Google Shape;340;p23: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Kessel K6 metrics.xlsx, supplied by presenter.</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Sheet: check workspace sessions vs RPS, row 30, date 2026-08-31. Values rounded: connections 279.9695/279.6751, DBLoadCPU 7.0094/16.8811, RPS 2378.2/1911.2. Drop = 100*(2378.2-1911.2)/2378.2 = 19.6367%. The source report states all 20 matched days with at least 15% RPS difference had higher DBLoad and DBLoadCPU in the slower run. This count is also reproducible from the supplied pair sheet. Same recorded application configuration is not equivalent to identical database state. No causality follows from the association.</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K6 load test findings.docx, supplied by presenter.</a:t>
            </a:r>
            <a:endParaRPr b="0" sz="2000" u="none" strike="noStrike">
              <a:solidFill>
                <a:srgbClr val="000000"/>
              </a:solidFill>
              <a:latin typeface="Arial"/>
              <a:ea typeface="Arial"/>
              <a:cs typeface="Arial"/>
              <a:sym typeface="Arial"/>
            </a:endParaRPr>
          </a:p>
        </p:txBody>
      </p:sp>
      <p:sp>
        <p:nvSpPr>
          <p:cNvPr id="341" name="Google Shape;341;p23: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4: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0" name="Google Shape;350;p24: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DBLoad is average active sessions (AAS), including sessions executing or waiting. DBLoadCPU counts sessions running on or waiting for CPU. DatabaseConnections also includes idle open connections, so it measures a different quantity. Lock waits, I/O waits and client waits describe other kinds of contention. In this case, the root cause is database overload: the configured RDS instance class cannot keep up with the load generated by the tests. The increased CPU-related active-session load and reduced throughput are symptoms of this capacity limit.</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for the diagnosis: presenter-supplied operational clarification.</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Metric definitions: https://docs.aws.amazon.com/AmazonRDS/latest/UserGuide/wait-event.cpu.html</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K6 load test findings.docx, supplied by presenter.</a:t>
            </a:r>
            <a:endParaRPr b="0" sz="2000" u="none" strike="noStrike">
              <a:solidFill>
                <a:srgbClr val="000000"/>
              </a:solidFill>
              <a:latin typeface="Arial"/>
              <a:ea typeface="Arial"/>
              <a:cs typeface="Arial"/>
              <a:sym typeface="Arial"/>
            </a:endParaRPr>
          </a:p>
        </p:txBody>
      </p:sp>
      <p:sp>
        <p:nvSpPr>
          <p:cNvPr id="351" name="Google Shape;351;p24: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5: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6" name="Google Shape;366;p25: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Kessel K6 metrics.xlsx, supplied by presenter.</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Sheet: Latest perf by scenario, row 3, check_view. There are 146 runs. Mean K6 check fail ratio is 0.000%, while the CPT classification pass rate is 75.9%. These are different aggregation units: individual response checks versus classified runs. Classification uses historical performance, typically a window of 50 runs. The contrast does not prove 24.1% of builds have code regressions. It can reflect variation or baseline context. Source window 23 July through 31 August 2026.</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K6 load test findings.docx, supplied by presenter.</a:t>
            </a:r>
            <a:endParaRPr b="0" sz="2000" u="none" strike="noStrike">
              <a:solidFill>
                <a:srgbClr val="000000"/>
              </a:solidFill>
              <a:latin typeface="Arial"/>
              <a:ea typeface="Arial"/>
              <a:cs typeface="Arial"/>
              <a:sym typeface="Arial"/>
            </a:endParaRPr>
          </a:p>
        </p:txBody>
      </p:sp>
      <p:sp>
        <p:nvSpPr>
          <p:cNvPr id="367" name="Google Shape;367;p25: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6: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9" name="Google Shape;379;p26: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Section 4. The right code and a compatible database must survive the test</a:t>
            </a:r>
            <a:endParaRPr b="0" sz="2000" u="none" strike="noStrike">
              <a:solidFill>
                <a:srgbClr val="000000"/>
              </a:solidFill>
              <a:latin typeface="Arial"/>
              <a:ea typeface="Arial"/>
              <a:cs typeface="Arial"/>
              <a:sym typeface="Arial"/>
            </a:endParaRPr>
          </a:p>
        </p:txBody>
      </p:sp>
      <p:sp>
        <p:nvSpPr>
          <p:cNvPr id="380" name="Google Shape;380;p26: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7: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6" name="Google Shape;396;p27: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PR Performance Test Poller README.md and local pipeline implementation, supplied by presenter. Reference snapshot: 9 October 2026.</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A single poller watches configured repositories for new/updated PR revisions every 30 seconds, checks image availability and starts Jenkins performance jobs. A persistent checkpoint avoids losing observations on ordinary restarts. The pipeline temporarily deploys the candidate in a shared performance environment and restores the baseline after testing. Jenkins locks serialize CPT execution to reduce interference. This is a temporary image rollout, not a fresh database per PR. The talk describes the existing workflow, not authorization to execute it.</a:t>
            </a:r>
            <a:endParaRPr b="0" sz="2000" u="none" strike="noStrike">
              <a:solidFill>
                <a:srgbClr val="000000"/>
              </a:solidFill>
              <a:latin typeface="Arial"/>
              <a:ea typeface="Arial"/>
              <a:cs typeface="Arial"/>
              <a:sym typeface="Arial"/>
            </a:endParaRPr>
          </a:p>
        </p:txBody>
      </p:sp>
      <p:sp>
        <p:nvSpPr>
          <p:cNvPr id="397" name="Google Shape;397;p27: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28: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2" name="Google Shape;412;p28: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PR Performance Test Poller README.md and local pipeline implementation, supplied by presenter. Reference snapshot: 9 October 2026.</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GitOps records desired state declaratively in Git. Controllers reconcile live resources to managed desired state. In this incident, Clowder reconciled the child Deployment from the parent ClowdApp resource. A manual change to a generated child object looked like drift, so the controller restored the old image. The parent resource is the immediate source of truth for that controller. Do not claim that all GitOps systems blindly revert every manual change or that the fix globally disables reconciliation.</a:t>
            </a:r>
            <a:endParaRPr b="0" sz="2000" u="none" strike="noStrike">
              <a:solidFill>
                <a:srgbClr val="000000"/>
              </a:solidFill>
              <a:latin typeface="Arial"/>
              <a:ea typeface="Arial"/>
              <a:cs typeface="Arial"/>
              <a:sym typeface="Arial"/>
            </a:endParaRPr>
          </a:p>
        </p:txBody>
      </p:sp>
      <p:sp>
        <p:nvSpPr>
          <p:cNvPr id="413" name="Google Shape;413;p28: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9: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5" name="Google Shape;425;p29:notes"/>
          <p:cNvSpPr txBox="1"/>
          <p:nvPr>
            <p:ph idx="1" type="body"/>
          </p:nvPr>
        </p:nvSpPr>
        <p:spPr>
          <a:xfrm>
            <a:off x="0" y="0"/>
            <a:ext cx="0" cy="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PR Performance Test Poller README.md and local pipeline implementation, supplied by presenter. Reference snapshot: 9 October 2026.</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Local pipeline change inspected from the user-supplied repository. It requires each deployment to declare its owning ClowdApp, patches that parent image first, mirrors onto the child Deployment, records the original image and restores both after testing. Before restoration, it compares the Deployment image field with the intended test image and marks drift as a failed build. This final check is a useful guard, not proof that every pod used that image for every instant of the run. Recommended extension is recording actual pod image digests and watching for changes through the load window.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ClowdApp in plain language: Think of it as the application blueprint. It is a Kubernetes custom resource that declares the application’s image, workloads and dependencies. Clowder is the operator that reads this blueprint and creates and maintains the child Deployments and Services. Changing a child Deployment alone leaves the blueprint unchanged, so Clowder can put the old image back.</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qontract-reconcile is a separate, upstream layer. It brings managed resources into line with the desired configuration in app-interface, including through its OpenShift deployment integrations. In an app-interface-managed application, the path is: app-interface configuration, qontract-reconcile deployment, ClowdApp, then Clowder-managed Deployments and pods. An upstream reconciliation can also reapply a declared ClowdApp configuration. Which fields it manages depends on the deployment setup.</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What happened here: The local investigation identified Clowder’s reconciliation of the child Deployment against the unchanged ClowdApp as the immediate cause of the image rollback. The fix updates the parent ClowdApp image first, mirrors it to the Deployment, and restores both after the test. This fixes the observed parent/child mismatch. The inspected change does not establish that qontract-reconcile was disabled or changed. For temporary test overrides, both layers of desired state need to agree for the test window.</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Sources for the platform background:</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https://redhatinsights.github.io/clowder/clowder/dev/sop.html</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https://github.com/app-sre/qontract-reconcile</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Local evidence: supplied PR Performance Test Poller README.md and runPRPerfTest.groovy implementation.</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2000"/>
              <a:buNone/>
            </a:pPr>
            <a:r>
              <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The on-slide list is a management path. qontract-reconcile and Clowder are the controllers that apply the configuration at different layers. It does not claim that every adjacent item has a Kubernetes ownerReference relationship. Clowder manages the Deployments described by the ClowdApp, and Kubernetes runs the pods through the Deployment and ReplicaSet controllers.</a:t>
            </a:r>
            <a:endParaRPr b="0" sz="2000" u="none" strike="noStrike">
              <a:solidFill>
                <a:srgbClr val="000000"/>
              </a:solidFill>
              <a:latin typeface="Arial"/>
              <a:ea typeface="Arial"/>
              <a:cs typeface="Arial"/>
              <a:sym typeface="Arial"/>
            </a:endParaRPr>
          </a:p>
        </p:txBody>
      </p:sp>
      <p:sp>
        <p:nvSpPr>
          <p:cNvPr id="426" name="Google Shape;426;p29: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30: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0" name="Google Shape;440;p30: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A database migration is a versioned change to the database schema or stored data. Schema means the tables, columns, indexes and constraints that organize data. Typical changes include adding a column, creating an index, renaming a field or transforming existing records. The resources/resource_type example is illustrative, not a claim about the exact Kessel change. In this environment, a deployment runs a migration init container, and gormigrate records applied migration IDs in the database so it can track which changes have already run. The new application may depend on the updated structure or data. Some migrations remain compatible with older code, while others require coordinated deployment or a database restore. This introduces the next slide, which explains why replacing the application image alone does not restore the database.</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Sources: PR Performance Test Poller README.md and local pipeline implementation supplied by the presenter; KESSEL PMR_ (No incident ID) - Internal Consumer Lag High for Extended Periods.docx.</a:t>
            </a:r>
            <a:endParaRPr b="0" sz="2000" u="none" strike="noStrike">
              <a:solidFill>
                <a:srgbClr val="000000"/>
              </a:solidFill>
              <a:latin typeface="Arial"/>
              <a:ea typeface="Arial"/>
              <a:cs typeface="Arial"/>
              <a:sym typeface="Arial"/>
            </a:endParaRPr>
          </a:p>
        </p:txBody>
      </p:sp>
      <p:sp>
        <p:nvSpPr>
          <p:cNvPr id="441" name="Google Shape;441;p30: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31: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2" name="Google Shape;452;p31: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PR Performance Test Poller README.md and local pipeline implementation, supplied by presenter. Reference snapshot: 9 October 2026.</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A migration changes database structure or stored data, for example adding/renaming a column or changing constraints. An image rollout may trigger a forward migration. Switching back to the baseline image does not undo the database change. Old code can fail against the new schema, and destructive transformations may be irreversible without a restore. The supplied README describes persistent-schema mismatch and crash loops after test-image restoration. Adding a column can be backward compatible, whereas renaming/dropping one often breaks older code. A known forward path does not imply a safe downgrade. Not every migration is hard to reverse.</a:t>
            </a:r>
            <a:endParaRPr b="0" sz="2000" u="none" strike="noStrike">
              <a:solidFill>
                <a:srgbClr val="000000"/>
              </a:solidFill>
              <a:latin typeface="Arial"/>
              <a:ea typeface="Arial"/>
              <a:cs typeface="Arial"/>
              <a:sym typeface="Arial"/>
            </a:endParaRPr>
          </a:p>
        </p:txBody>
      </p:sp>
      <p:sp>
        <p:nvSpPr>
          <p:cNvPr id="453" name="Google Shape;453;p31: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32: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2" name="Google Shape;462;p32: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PR Performance Test Poller README.md and local pipeline implementation, supplied by presenter. Reference snapshot: 9 October 2026.</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User-supplied context: skip CPTs on PRs that change schema, and after merge update the pinned schema version in the central app-interface repository. README uses migrations_path to detect touched migration files and request a centrally pinned app-interface ref. Treat the term pinned schema version as the migration/app version pin in that managed configuration, not as proof of a separate universal schema registry. Skipped PRs have a performance-coverage gap. Future options shown are proposals: use an isolated database for each candidate, or take a database snapshot before the CPT and restore it afterward. For the snapshot option, capture the baseline database state before the candidate applies migrations, then restore that state after testing so the baseline application returns to a compatible database. The snapshot-and-restore alternative comes from the presenter’s requested design direction.</a:t>
            </a:r>
            <a:endParaRPr b="0" sz="2000" u="none" strike="noStrike">
              <a:solidFill>
                <a:srgbClr val="000000"/>
              </a:solidFill>
              <a:latin typeface="Arial"/>
              <a:ea typeface="Arial"/>
              <a:cs typeface="Arial"/>
              <a:sym typeface="Arial"/>
            </a:endParaRPr>
          </a:p>
        </p:txBody>
      </p:sp>
      <p:sp>
        <p:nvSpPr>
          <p:cNvPr id="463" name="Google Shape;463;p32: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33: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5" name="Google Shape;475;p33: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Presenter context: a recent Kessel Inventory database schema change showed no regression in the API CPT, while staging Kafka consumers that issue SQL queries slowed substantially. The supplied postmortem documents production consumer lag during the related investigation. Its production measurements should not be described as staging measurements. The release included a schema migration and a new/updated consumer read query in fetchPreviousReporterRepresentation. The reporter_representations table contained millions of historical rows. The primary key ordered columns by reporter_resource_id, version, generation, while the query needed reporter_resource_id, generation DESC, version DESC. The existing index could not efficiently supply that ordering, forcing PostgreSQL to scan and sort many rows before applying LIMIT. Slow SQL calls ranged from 300 ms to 10,000 ms in the incident report, reducing internal-consumer throughput and delaying relation replication to SpiceDB. API endpoints remained operational. Reverting the query-related code improved SQL performance and let the consumer catch up, while retaining code required by the already-applied migration. This consumer query/index mismatch is distinct from the RDS capacity limit described earlier in the load-test findings. The coverage lesson is to exercise consumer SQL with representative historical data and measure consumer throughput, Kafka backlog and catch-up behavior in addition to API metrics. Extending CPT coverage is a recommendation, not a claim that these checks are already implemented.</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Sources: presenter-supplied operational context; KESSEL PMR_ (No incident ID) - Internal Consumer Lag High for Extended Periods.docx.</a:t>
            </a:r>
            <a:endParaRPr b="0" sz="2000" u="none" strike="noStrike">
              <a:solidFill>
                <a:srgbClr val="000000"/>
              </a:solidFill>
              <a:latin typeface="Arial"/>
              <a:ea typeface="Arial"/>
              <a:cs typeface="Arial"/>
              <a:sym typeface="Arial"/>
            </a:endParaRPr>
          </a:p>
        </p:txBody>
      </p:sp>
      <p:sp>
        <p:nvSpPr>
          <p:cNvPr id="476" name="Google Shape;476;p33: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34: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1" name="Google Shape;491;p34: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K6 load test findings.docx, supplied by presenter.</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PR Performance Test Poller README.md and local pipeline implementation, supplied by presenter. Reference snapshot: 9 October 2026.</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Record actual image identity, schema/migration pin, scripts, executor, VU or arrival profile, pacing, service resource settings, infrastructure, dataset and seed strategy. Segment history when any materially changes. Restarting pods resets process state but does not refresh persistent DB data. Use an exclusive environment/lock and align app, DB and generator observation windows. Validate transport and business correctness separately from performance thresholds. Repeat changes that are near normal spread. A CPT classification compares historical performance and is not the raw K6 check success rate. The report's classifier usually uses a historical window of 50 runs.</a:t>
            </a:r>
            <a:endParaRPr b="0" sz="2000" u="none" strike="noStrike">
              <a:solidFill>
                <a:srgbClr val="000000"/>
              </a:solidFill>
              <a:latin typeface="Arial"/>
              <a:ea typeface="Arial"/>
              <a:cs typeface="Arial"/>
              <a:sym typeface="Arial"/>
            </a:endParaRPr>
          </a:p>
        </p:txBody>
      </p:sp>
      <p:sp>
        <p:nvSpPr>
          <p:cNvPr id="492" name="Google Shape;492;p34: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35: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7" name="Google Shape;507;p35:notes"/>
          <p:cNvSpPr txBox="1"/>
          <p:nvPr>
            <p:ph idx="1" type="body"/>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Close the talk by connecting the four sections: define what API work completes; observe generator capacity; keep timing boundaries explicit; confirm code identity; keep database and application compatible; separate workload changes from product changes. A CPT fail can reflect a real regression, a tooling limitation or a changed environment. Evidence is needed to distinguish them. Invite discussion about reproducible datasets and safe schema testing.</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K6 load test findings.docx, supplied by presenter.</a:t>
            </a:r>
            <a:endParaRPr b="0" sz="20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Source: PR Performance Test Poller README.md and local pipeline implementation, supplied by presenter. Reference snapshot: 9 October 2026.</a:t>
            </a:r>
            <a:endParaRPr b="0" sz="2000" u="none" strike="noStrike">
              <a:solidFill>
                <a:srgbClr val="000000"/>
              </a:solidFill>
              <a:latin typeface="Arial"/>
              <a:ea typeface="Arial"/>
              <a:cs typeface="Arial"/>
              <a:sym typeface="Arial"/>
            </a:endParaRPr>
          </a:p>
        </p:txBody>
      </p:sp>
      <p:sp>
        <p:nvSpPr>
          <p:cNvPr id="508" name="Google Shape;508;p35:notes"/>
          <p:cNvSpPr txBox="1"/>
          <p:nvPr>
            <p:ph idx="12" type="sldNum"/>
          </p:nvPr>
        </p:nvSpPr>
        <p:spPr>
          <a:xfrm>
            <a:off x="0" y="0"/>
            <a:ext cx="0" cy="0"/>
          </a:xfrm>
          <a:prstGeom prst="rect">
            <a:avLst/>
          </a:prstGeom>
          <a:noFill/>
          <a:ln>
            <a:noFill/>
          </a:ln>
        </p:spPr>
        <p:txBody>
          <a:bodyPr anchorCtr="0" anchor="t" bIns="0" lIns="90000" spcFirstLastPara="1" rIns="90000" wrap="square" tIns="0">
            <a:noAutofit/>
          </a:bodyPr>
          <a:lstStyle/>
          <a:p>
            <a:pPr indent="0" lvl="0" marL="0" rtl="0" algn="l">
              <a:spcBef>
                <a:spcPts val="0"/>
              </a:spcBef>
              <a:spcAft>
                <a:spcPts val="0"/>
              </a:spcAft>
              <a:buClr>
                <a:srgbClr val="000000"/>
              </a:buClr>
              <a:buSzPts val="1400"/>
              <a:buFont typeface="Times New Roman"/>
              <a:buNone/>
            </a:pPr>
            <a:r>
              <a:t/>
            </a:r>
            <a:endParaRPr b="0" sz="14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h49aa48c39031df0_2_0: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p:spPr>
      </p:sp>
      <p:sp>
        <p:nvSpPr>
          <p:cNvPr id="519" name="Google Shape;519;h49aa48c39031df0_2_0: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20" name="Google Shape;520;h49aa48c39031df0_2_0: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0" name="Shape 10"/>
        <p:cNvGrpSpPr/>
        <p:nvPr/>
      </p:nvGrpSpPr>
      <p:grpSpPr>
        <a:xfrm>
          <a:off x="0" y="0"/>
          <a:ext cx="0" cy="0"/>
          <a:chOff x="0" y="0"/>
          <a:chExt cx="0" cy="0"/>
        </a:xfrm>
      </p:grpSpPr>
      <p:sp>
        <p:nvSpPr>
          <p:cNvPr id="11" name="Google Shape;11;p37"/>
          <p:cNvSpPr txBox="1"/>
          <p:nvPr>
            <p:ph type="title"/>
          </p:nvPr>
        </p:nvSpPr>
        <p:spPr>
          <a:xfrm>
            <a:off x="609480" y="273600"/>
            <a:ext cx="10972080" cy="114444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 name="Google Shape;12;p37"/>
          <p:cNvSpPr txBox="1"/>
          <p:nvPr>
            <p:ph idx="1" type="body"/>
          </p:nvPr>
        </p:nvSpPr>
        <p:spPr>
          <a:xfrm>
            <a:off x="609480" y="1604520"/>
            <a:ext cx="10972080" cy="3976920"/>
          </a:xfrm>
          <a:prstGeom prst="rect">
            <a:avLst/>
          </a:prstGeom>
          <a:noFill/>
          <a:ln>
            <a:noFill/>
          </a:ln>
        </p:spPr>
        <p:txBody>
          <a:bodyPr anchorCtr="0" anchor="t" bIns="0" lIns="0" spcFirstLastPara="1" rIns="0" wrap="square" tIns="0">
            <a:normAutofit/>
          </a:bodyPr>
          <a:lstStyle>
            <a:lvl1pPr indent="-308610" lvl="0" marL="457200" marR="0" rtl="0" algn="l">
              <a:lnSpc>
                <a:spcPct val="90000"/>
              </a:lnSpc>
              <a:spcBef>
                <a:spcPts val="1417"/>
              </a:spcBef>
              <a:spcAft>
                <a:spcPts val="0"/>
              </a:spcAft>
              <a:buClr>
                <a:srgbClr val="000000"/>
              </a:buClr>
              <a:buSzPts val="1260"/>
              <a:buFont typeface="Noto Sans Symbols"/>
              <a:buChar char="●"/>
              <a:defRPr b="0" i="0" sz="2800" u="none" cap="none" strike="noStrike">
                <a:solidFill>
                  <a:schemeClr val="dk1"/>
                </a:solidFill>
                <a:latin typeface="Arial"/>
                <a:ea typeface="Arial"/>
                <a:cs typeface="Arial"/>
                <a:sym typeface="Arial"/>
              </a:defRPr>
            </a:lvl1pPr>
            <a:lvl2pPr indent="-323850" lvl="1" marL="914400" marR="0" rtl="0" algn="l">
              <a:lnSpc>
                <a:spcPct val="90000"/>
              </a:lnSpc>
              <a:spcBef>
                <a:spcPts val="1134"/>
              </a:spcBef>
              <a:spcAft>
                <a:spcPts val="0"/>
              </a:spcAft>
              <a:buClr>
                <a:srgbClr val="000000"/>
              </a:buClr>
              <a:buSzPts val="1500"/>
              <a:buFont typeface="Noto Sans Symbols"/>
              <a:buChar char="−"/>
              <a:defRPr b="0" i="0" sz="2000" u="none" cap="none" strike="noStrike">
                <a:solidFill>
                  <a:schemeClr val="dk1"/>
                </a:solidFill>
                <a:latin typeface="Arial"/>
                <a:ea typeface="Arial"/>
                <a:cs typeface="Arial"/>
                <a:sym typeface="Arial"/>
              </a:defRPr>
            </a:lvl2pPr>
            <a:lvl3pPr indent="-280035" lvl="2" marL="1371600" marR="0" rtl="0" algn="l">
              <a:lnSpc>
                <a:spcPct val="90000"/>
              </a:lnSpc>
              <a:spcBef>
                <a:spcPts val="850"/>
              </a:spcBef>
              <a:spcAft>
                <a:spcPts val="0"/>
              </a:spcAft>
              <a:buClr>
                <a:srgbClr val="000000"/>
              </a:buClr>
              <a:buSzPts val="810"/>
              <a:buFont typeface="Noto Sans Symbols"/>
              <a:buChar char="●"/>
              <a:defRPr b="0" i="0" sz="1800" u="none" cap="none" strike="noStrike">
                <a:solidFill>
                  <a:schemeClr val="dk1"/>
                </a:solidFill>
                <a:latin typeface="Arial"/>
                <a:ea typeface="Arial"/>
                <a:cs typeface="Arial"/>
                <a:sym typeface="Arial"/>
              </a:defRPr>
            </a:lvl3pPr>
            <a:lvl4pPr indent="-314325" lvl="3" marL="1828800" marR="0" rtl="0" algn="l">
              <a:lnSpc>
                <a:spcPct val="90000"/>
              </a:lnSpc>
              <a:spcBef>
                <a:spcPts val="567"/>
              </a:spcBef>
              <a:spcAft>
                <a:spcPts val="0"/>
              </a:spcAft>
              <a:buClr>
                <a:srgbClr val="000000"/>
              </a:buClr>
              <a:buSzPts val="1350"/>
              <a:buFont typeface="Noto Sans Symbols"/>
              <a:buChar char="−"/>
              <a:defRPr b="0" i="0" sz="1800" u="none" cap="none" strike="noStrike">
                <a:solidFill>
                  <a:schemeClr val="dk1"/>
                </a:solidFill>
                <a:latin typeface="Arial"/>
                <a:ea typeface="Arial"/>
                <a:cs typeface="Arial"/>
                <a:sym typeface="Arial"/>
              </a:defRPr>
            </a:lvl4pPr>
            <a:lvl5pPr indent="-285750" lvl="4" marL="2286000" marR="0" rtl="0" algn="l">
              <a:lnSpc>
                <a:spcPct val="90000"/>
              </a:lnSpc>
              <a:spcBef>
                <a:spcPts val="283"/>
              </a:spcBef>
              <a:spcAft>
                <a:spcPts val="0"/>
              </a:spcAft>
              <a:buClr>
                <a:srgbClr val="000000"/>
              </a:buClr>
              <a:buSzPts val="900"/>
              <a:buFont typeface="Noto Sans Symbols"/>
              <a:buChar char="●"/>
              <a:defRPr b="0" i="0" sz="2000" u="none" cap="none" strike="noStrike">
                <a:solidFill>
                  <a:schemeClr val="dk1"/>
                </a:solidFill>
                <a:latin typeface="Arial"/>
                <a:ea typeface="Arial"/>
                <a:cs typeface="Arial"/>
                <a:sym typeface="Arial"/>
              </a:defRPr>
            </a:lvl5pPr>
            <a:lvl6pPr indent="-285750" lvl="5" marL="2743200" marR="0" rtl="0" algn="l">
              <a:lnSpc>
                <a:spcPct val="90000"/>
              </a:lnSpc>
              <a:spcBef>
                <a:spcPts val="283"/>
              </a:spcBef>
              <a:spcAft>
                <a:spcPts val="0"/>
              </a:spcAft>
              <a:buClr>
                <a:srgbClr val="000000"/>
              </a:buClr>
              <a:buSzPts val="900"/>
              <a:buFont typeface="Noto Sans Symbols"/>
              <a:buChar char="●"/>
              <a:defRPr b="0" i="0" sz="2000" u="none" cap="none" strike="noStrike">
                <a:solidFill>
                  <a:schemeClr val="dk1"/>
                </a:solidFill>
                <a:latin typeface="Arial"/>
                <a:ea typeface="Arial"/>
                <a:cs typeface="Arial"/>
                <a:sym typeface="Arial"/>
              </a:defRPr>
            </a:lvl6pPr>
            <a:lvl7pPr indent="-285750" lvl="6" marL="3200400" marR="0" rtl="0" algn="l">
              <a:lnSpc>
                <a:spcPct val="90000"/>
              </a:lnSpc>
              <a:spcBef>
                <a:spcPts val="283"/>
              </a:spcBef>
              <a:spcAft>
                <a:spcPts val="0"/>
              </a:spcAft>
              <a:buClr>
                <a:srgbClr val="000000"/>
              </a:buClr>
              <a:buSzPts val="900"/>
              <a:buFont typeface="Noto Sans Symbols"/>
              <a:buChar char="●"/>
              <a:defRPr b="0" i="0" sz="20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bg>
      <p:bgPr>
        <a:solidFill>
          <a:srgbClr val="FFFFFF"/>
        </a:solidFill>
      </p:bgPr>
    </p:bg>
    <p:spTree>
      <p:nvGrpSpPr>
        <p:cNvPr id="13" name="Shape 13"/>
        <p:cNvGrpSpPr/>
        <p:nvPr/>
      </p:nvGrpSpPr>
      <p:grpSpPr>
        <a:xfrm>
          <a:off x="0" y="0"/>
          <a:ext cx="0" cy="0"/>
          <a:chOff x="0" y="0"/>
          <a:chExt cx="0" cy="0"/>
        </a:xfrm>
      </p:grpSpPr>
      <p:sp>
        <p:nvSpPr>
          <p:cNvPr id="14" name="Google Shape;14;p38"/>
          <p:cNvSpPr txBox="1"/>
          <p:nvPr>
            <p:ph type="title"/>
          </p:nvPr>
        </p:nvSpPr>
        <p:spPr>
          <a:xfrm>
            <a:off x="685800" y="533520"/>
            <a:ext cx="10819800" cy="837360"/>
          </a:xfrm>
          <a:prstGeom prst="rect">
            <a:avLst/>
          </a:prstGeom>
          <a:noFill/>
          <a:ln>
            <a:noFill/>
          </a:ln>
        </p:spPr>
        <p:txBody>
          <a:bodyPr anchorCtr="0" anchor="t" bIns="0" lIns="0" spcFirstLastPara="1" rIns="0" wrap="square" tIns="0">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5" name="Google Shape;15;p38"/>
          <p:cNvSpPr txBox="1"/>
          <p:nvPr>
            <p:ph idx="1" type="body"/>
          </p:nvPr>
        </p:nvSpPr>
        <p:spPr>
          <a:xfrm>
            <a:off x="685800" y="1905120"/>
            <a:ext cx="5028480" cy="4266360"/>
          </a:xfrm>
          <a:prstGeom prst="rect">
            <a:avLst/>
          </a:prstGeom>
          <a:noFill/>
          <a:ln>
            <a:noFill/>
          </a:ln>
        </p:spPr>
        <p:txBody>
          <a:bodyPr anchorCtr="0" anchor="t" bIns="0" lIns="0" spcFirstLastPara="1" rIns="0" wrap="square" tIns="0">
            <a:normAutofit/>
          </a:bodyPr>
          <a:lstStyle>
            <a:lvl1pPr indent="-292894" lvl="0" marL="457200" marR="0" rtl="0" algn="l">
              <a:lnSpc>
                <a:spcPct val="90000"/>
              </a:lnSpc>
              <a:spcBef>
                <a:spcPts val="1417"/>
              </a:spcBef>
              <a:spcAft>
                <a:spcPts val="0"/>
              </a:spcAft>
              <a:buClr>
                <a:srgbClr val="000000"/>
              </a:buClr>
              <a:buSzPts val="1013"/>
              <a:buFont typeface="Noto Sans Symbols"/>
              <a:buChar char="●"/>
              <a:defRPr b="0" i="0" sz="2250" u="none" cap="none" strike="noStrike">
                <a:solidFill>
                  <a:schemeClr val="dk1"/>
                </a:solidFill>
                <a:latin typeface="Arial"/>
                <a:ea typeface="Arial"/>
                <a:cs typeface="Arial"/>
                <a:sym typeface="Arial"/>
              </a:defRPr>
            </a:lvl1pPr>
            <a:lvl2pPr indent="-335756" lvl="1" marL="914400" marR="0" rtl="0" algn="l">
              <a:lnSpc>
                <a:spcPct val="90000"/>
              </a:lnSpc>
              <a:spcBef>
                <a:spcPts val="1134"/>
              </a:spcBef>
              <a:spcAft>
                <a:spcPts val="0"/>
              </a:spcAft>
              <a:buClr>
                <a:srgbClr val="000000"/>
              </a:buClr>
              <a:buSzPts val="1688"/>
              <a:buFont typeface="Noto Sans Symbols"/>
              <a:buChar char="−"/>
              <a:defRPr b="0" i="0" sz="2250" u="none" cap="none" strike="noStrike">
                <a:solidFill>
                  <a:schemeClr val="dk1"/>
                </a:solidFill>
                <a:latin typeface="Arial"/>
                <a:ea typeface="Arial"/>
                <a:cs typeface="Arial"/>
                <a:sym typeface="Arial"/>
              </a:defRPr>
            </a:lvl2pPr>
            <a:lvl3pPr indent="-292894" lvl="2" marL="1371600" marR="0" rtl="0" algn="l">
              <a:lnSpc>
                <a:spcPct val="90000"/>
              </a:lnSpc>
              <a:spcBef>
                <a:spcPts val="850"/>
              </a:spcBef>
              <a:spcAft>
                <a:spcPts val="0"/>
              </a:spcAft>
              <a:buClr>
                <a:srgbClr val="000000"/>
              </a:buClr>
              <a:buSzPts val="1013"/>
              <a:buFont typeface="Noto Sans Symbols"/>
              <a:buChar char="●"/>
              <a:defRPr b="0" i="0" sz="2250" u="none" cap="none" strike="noStrike">
                <a:solidFill>
                  <a:schemeClr val="dk1"/>
                </a:solidFill>
                <a:latin typeface="Arial"/>
                <a:ea typeface="Arial"/>
                <a:cs typeface="Arial"/>
                <a:sym typeface="Arial"/>
              </a:defRPr>
            </a:lvl3pPr>
            <a:lvl4pPr indent="-335756" lvl="3" marL="1828800" marR="0" rtl="0" algn="l">
              <a:lnSpc>
                <a:spcPct val="90000"/>
              </a:lnSpc>
              <a:spcBef>
                <a:spcPts val="567"/>
              </a:spcBef>
              <a:spcAft>
                <a:spcPts val="0"/>
              </a:spcAft>
              <a:buClr>
                <a:srgbClr val="000000"/>
              </a:buClr>
              <a:buSzPts val="1688"/>
              <a:buFont typeface="Noto Sans Symbols"/>
              <a:buChar char="−"/>
              <a:defRPr b="0" i="0" sz="2250" u="none" cap="none" strike="noStrike">
                <a:solidFill>
                  <a:schemeClr val="dk1"/>
                </a:solidFill>
                <a:latin typeface="Arial"/>
                <a:ea typeface="Arial"/>
                <a:cs typeface="Arial"/>
                <a:sym typeface="Arial"/>
              </a:defRPr>
            </a:lvl4pPr>
            <a:lvl5pPr indent="-292894" lvl="4" marL="2286000" marR="0" rtl="0" algn="l">
              <a:lnSpc>
                <a:spcPct val="90000"/>
              </a:lnSpc>
              <a:spcBef>
                <a:spcPts val="283"/>
              </a:spcBef>
              <a:spcAft>
                <a:spcPts val="0"/>
              </a:spcAft>
              <a:buClr>
                <a:srgbClr val="000000"/>
              </a:buClr>
              <a:buSzPts val="1013"/>
              <a:buFont typeface="Noto Sans Symbols"/>
              <a:buChar char="●"/>
              <a:defRPr b="0" i="0" sz="2250" u="none" cap="none" strike="noStrike">
                <a:solidFill>
                  <a:schemeClr val="dk1"/>
                </a:solidFill>
                <a:latin typeface="Arial"/>
                <a:ea typeface="Arial"/>
                <a:cs typeface="Arial"/>
                <a:sym typeface="Arial"/>
              </a:defRPr>
            </a:lvl5pPr>
            <a:lvl6pPr indent="-292894" lvl="5" marL="2743200" marR="0" rtl="0" algn="l">
              <a:lnSpc>
                <a:spcPct val="90000"/>
              </a:lnSpc>
              <a:spcBef>
                <a:spcPts val="283"/>
              </a:spcBef>
              <a:spcAft>
                <a:spcPts val="0"/>
              </a:spcAft>
              <a:buClr>
                <a:srgbClr val="000000"/>
              </a:buClr>
              <a:buSzPts val="1013"/>
              <a:buFont typeface="Noto Sans Symbols"/>
              <a:buChar char="●"/>
              <a:defRPr b="0" i="0" sz="2250" u="none" cap="none" strike="noStrike">
                <a:solidFill>
                  <a:schemeClr val="dk1"/>
                </a:solidFill>
                <a:latin typeface="Arial"/>
                <a:ea typeface="Arial"/>
                <a:cs typeface="Arial"/>
                <a:sym typeface="Arial"/>
              </a:defRPr>
            </a:lvl6pPr>
            <a:lvl7pPr indent="-292894" lvl="6" marL="3200400" marR="0" rtl="0" algn="l">
              <a:lnSpc>
                <a:spcPct val="90000"/>
              </a:lnSpc>
              <a:spcBef>
                <a:spcPts val="283"/>
              </a:spcBef>
              <a:spcAft>
                <a:spcPts val="0"/>
              </a:spcAft>
              <a:buClr>
                <a:srgbClr val="000000"/>
              </a:buClr>
              <a:buSzPts val="1013"/>
              <a:buFont typeface="Noto Sans Symbols"/>
              <a:buChar char="●"/>
              <a:defRPr b="0" i="0" sz="225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FFFFFF"/>
        </a:solidFill>
      </p:bgPr>
    </p:bg>
    <p:spTree>
      <p:nvGrpSpPr>
        <p:cNvPr id="16" name="Shape 16"/>
        <p:cNvGrpSpPr/>
        <p:nvPr/>
      </p:nvGrpSpPr>
      <p:grpSpPr>
        <a:xfrm>
          <a:off x="0" y="0"/>
          <a:ext cx="0" cy="0"/>
          <a:chOff x="0" y="0"/>
          <a:chExt cx="0" cy="0"/>
        </a:xfrm>
      </p:grpSpPr>
      <p:sp>
        <p:nvSpPr>
          <p:cNvPr id="17" name="Google Shape;17;p39"/>
          <p:cNvSpPr txBox="1"/>
          <p:nvPr>
            <p:ph type="title"/>
          </p:nvPr>
        </p:nvSpPr>
        <p:spPr>
          <a:xfrm>
            <a:off x="1219320" y="2590920"/>
            <a:ext cx="9752760" cy="990000"/>
          </a:xfrm>
          <a:prstGeom prst="rect">
            <a:avLst/>
          </a:prstGeom>
          <a:noFill/>
          <a:ln>
            <a:noFill/>
          </a:ln>
        </p:spPr>
        <p:txBody>
          <a:bodyPr anchorCtr="0" anchor="ctr" bIns="0" lIns="0" spcFirstLastPara="1" rIns="0" wrap="square" tIns="0">
            <a:normAutofit/>
          </a:bodyPr>
          <a:lstStyle>
            <a:lvl1pPr lvl="0" marR="0" rtl="0" algn="l">
              <a:lnSpc>
                <a:spcPct val="9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FFFFF"/>
        </a:solidFill>
      </p:bgPr>
    </p:bg>
    <p:spTree>
      <p:nvGrpSpPr>
        <p:cNvPr id="18" name="Shape 18"/>
        <p:cNvGrpSpPr/>
        <p:nvPr/>
      </p:nvGrpSpPr>
      <p:grpSpPr>
        <a:xfrm>
          <a:off x="0" y="0"/>
          <a:ext cx="0" cy="0"/>
          <a:chOff x="0" y="0"/>
          <a:chExt cx="0" cy="0"/>
        </a:xfrm>
      </p:grpSpPr>
      <p:sp>
        <p:nvSpPr>
          <p:cNvPr id="19" name="Google Shape;19;p40"/>
          <p:cNvSpPr txBox="1"/>
          <p:nvPr>
            <p:ph type="title"/>
          </p:nvPr>
        </p:nvSpPr>
        <p:spPr>
          <a:xfrm>
            <a:off x="685800" y="533520"/>
            <a:ext cx="10819800" cy="837360"/>
          </a:xfrm>
          <a:prstGeom prst="rect">
            <a:avLst/>
          </a:prstGeom>
          <a:noFill/>
          <a:ln>
            <a:noFill/>
          </a:ln>
        </p:spPr>
        <p:txBody>
          <a:bodyPr anchorCtr="0" anchor="t" bIns="0" lIns="0" spcFirstLastPara="1" rIns="0" wrap="square" tIns="0">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0" name="Google Shape;20;p40"/>
          <p:cNvSpPr txBox="1"/>
          <p:nvPr>
            <p:ph idx="1" type="body"/>
          </p:nvPr>
        </p:nvSpPr>
        <p:spPr>
          <a:xfrm>
            <a:off x="685800" y="1905120"/>
            <a:ext cx="10819800" cy="4266360"/>
          </a:xfrm>
          <a:prstGeom prst="rect">
            <a:avLst/>
          </a:prstGeom>
          <a:noFill/>
          <a:ln>
            <a:noFill/>
          </a:ln>
        </p:spPr>
        <p:txBody>
          <a:bodyPr anchorCtr="0" anchor="t" bIns="0" lIns="0" spcFirstLastPara="1" rIns="0" wrap="square" tIns="0">
            <a:normAutofit/>
          </a:bodyPr>
          <a:lstStyle>
            <a:lvl1pPr indent="-292894" lvl="0" marL="457200" marR="0" rtl="0" algn="l">
              <a:lnSpc>
                <a:spcPct val="90000"/>
              </a:lnSpc>
              <a:spcBef>
                <a:spcPts val="1417"/>
              </a:spcBef>
              <a:spcAft>
                <a:spcPts val="0"/>
              </a:spcAft>
              <a:buClr>
                <a:srgbClr val="000000"/>
              </a:buClr>
              <a:buSzPts val="1013"/>
              <a:buFont typeface="Noto Sans Symbols"/>
              <a:buChar char="●"/>
              <a:defRPr b="0" i="0" sz="2250" u="none" cap="none" strike="noStrike">
                <a:solidFill>
                  <a:schemeClr val="dk1"/>
                </a:solidFill>
                <a:latin typeface="Arial"/>
                <a:ea typeface="Arial"/>
                <a:cs typeface="Arial"/>
                <a:sym typeface="Arial"/>
              </a:defRPr>
            </a:lvl1pPr>
            <a:lvl2pPr indent="-335756" lvl="1" marL="914400" marR="0" rtl="0" algn="l">
              <a:lnSpc>
                <a:spcPct val="90000"/>
              </a:lnSpc>
              <a:spcBef>
                <a:spcPts val="1134"/>
              </a:spcBef>
              <a:spcAft>
                <a:spcPts val="0"/>
              </a:spcAft>
              <a:buClr>
                <a:srgbClr val="000000"/>
              </a:buClr>
              <a:buSzPts val="1688"/>
              <a:buFont typeface="Noto Sans Symbols"/>
              <a:buChar char="−"/>
              <a:defRPr b="0" i="0" sz="2250" u="none" cap="none" strike="noStrike">
                <a:solidFill>
                  <a:schemeClr val="dk1"/>
                </a:solidFill>
                <a:latin typeface="Arial"/>
                <a:ea typeface="Arial"/>
                <a:cs typeface="Arial"/>
                <a:sym typeface="Arial"/>
              </a:defRPr>
            </a:lvl2pPr>
            <a:lvl3pPr indent="-292894" lvl="2" marL="1371600" marR="0" rtl="0" algn="l">
              <a:lnSpc>
                <a:spcPct val="90000"/>
              </a:lnSpc>
              <a:spcBef>
                <a:spcPts val="850"/>
              </a:spcBef>
              <a:spcAft>
                <a:spcPts val="0"/>
              </a:spcAft>
              <a:buClr>
                <a:srgbClr val="000000"/>
              </a:buClr>
              <a:buSzPts val="1013"/>
              <a:buFont typeface="Noto Sans Symbols"/>
              <a:buChar char="●"/>
              <a:defRPr b="0" i="0" sz="2250" u="none" cap="none" strike="noStrike">
                <a:solidFill>
                  <a:schemeClr val="dk1"/>
                </a:solidFill>
                <a:latin typeface="Arial"/>
                <a:ea typeface="Arial"/>
                <a:cs typeface="Arial"/>
                <a:sym typeface="Arial"/>
              </a:defRPr>
            </a:lvl3pPr>
            <a:lvl4pPr indent="-335756" lvl="3" marL="1828800" marR="0" rtl="0" algn="l">
              <a:lnSpc>
                <a:spcPct val="90000"/>
              </a:lnSpc>
              <a:spcBef>
                <a:spcPts val="567"/>
              </a:spcBef>
              <a:spcAft>
                <a:spcPts val="0"/>
              </a:spcAft>
              <a:buClr>
                <a:srgbClr val="000000"/>
              </a:buClr>
              <a:buSzPts val="1688"/>
              <a:buFont typeface="Noto Sans Symbols"/>
              <a:buChar char="−"/>
              <a:defRPr b="0" i="0" sz="2250" u="none" cap="none" strike="noStrike">
                <a:solidFill>
                  <a:schemeClr val="dk1"/>
                </a:solidFill>
                <a:latin typeface="Arial"/>
                <a:ea typeface="Arial"/>
                <a:cs typeface="Arial"/>
                <a:sym typeface="Arial"/>
              </a:defRPr>
            </a:lvl4pPr>
            <a:lvl5pPr indent="-292894" lvl="4" marL="2286000" marR="0" rtl="0" algn="l">
              <a:lnSpc>
                <a:spcPct val="90000"/>
              </a:lnSpc>
              <a:spcBef>
                <a:spcPts val="283"/>
              </a:spcBef>
              <a:spcAft>
                <a:spcPts val="0"/>
              </a:spcAft>
              <a:buClr>
                <a:srgbClr val="000000"/>
              </a:buClr>
              <a:buSzPts val="1013"/>
              <a:buFont typeface="Noto Sans Symbols"/>
              <a:buChar char="●"/>
              <a:defRPr b="0" i="0" sz="2250" u="none" cap="none" strike="noStrike">
                <a:solidFill>
                  <a:schemeClr val="dk1"/>
                </a:solidFill>
                <a:latin typeface="Arial"/>
                <a:ea typeface="Arial"/>
                <a:cs typeface="Arial"/>
                <a:sym typeface="Arial"/>
              </a:defRPr>
            </a:lvl5pPr>
            <a:lvl6pPr indent="-292894" lvl="5" marL="2743200" marR="0" rtl="0" algn="l">
              <a:lnSpc>
                <a:spcPct val="90000"/>
              </a:lnSpc>
              <a:spcBef>
                <a:spcPts val="283"/>
              </a:spcBef>
              <a:spcAft>
                <a:spcPts val="0"/>
              </a:spcAft>
              <a:buClr>
                <a:srgbClr val="000000"/>
              </a:buClr>
              <a:buSzPts val="1013"/>
              <a:buFont typeface="Noto Sans Symbols"/>
              <a:buChar char="●"/>
              <a:defRPr b="0" i="0" sz="2250" u="none" cap="none" strike="noStrike">
                <a:solidFill>
                  <a:schemeClr val="dk1"/>
                </a:solidFill>
                <a:latin typeface="Arial"/>
                <a:ea typeface="Arial"/>
                <a:cs typeface="Arial"/>
                <a:sym typeface="Arial"/>
              </a:defRPr>
            </a:lvl6pPr>
            <a:lvl7pPr indent="-292894" lvl="6" marL="3200400" marR="0" rtl="0" algn="l">
              <a:lnSpc>
                <a:spcPct val="90000"/>
              </a:lnSpc>
              <a:spcBef>
                <a:spcPts val="283"/>
              </a:spcBef>
              <a:spcAft>
                <a:spcPts val="0"/>
              </a:spcAft>
              <a:buClr>
                <a:srgbClr val="000000"/>
              </a:buClr>
              <a:buSzPts val="1013"/>
              <a:buFont typeface="Noto Sans Symbols"/>
              <a:buChar char="●"/>
              <a:defRPr b="0" i="0" sz="225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bg>
      <p:bgPr>
        <a:solidFill>
          <a:srgbClr val="FFFFFF"/>
        </a:solidFill>
      </p:bgPr>
    </p:bg>
    <p:spTree>
      <p:nvGrpSpPr>
        <p:cNvPr id="21" name="Shape 21"/>
        <p:cNvGrpSpPr/>
        <p:nvPr/>
      </p:nvGrpSpPr>
      <p:grpSpPr>
        <a:xfrm>
          <a:off x="0" y="0"/>
          <a:ext cx="0" cy="0"/>
          <a:chOff x="0" y="0"/>
          <a:chExt cx="0" cy="0"/>
        </a:xfrm>
      </p:grpSpPr>
      <p:sp>
        <p:nvSpPr>
          <p:cNvPr id="22" name="Google Shape;22;p41"/>
          <p:cNvSpPr txBox="1"/>
          <p:nvPr>
            <p:ph type="title"/>
          </p:nvPr>
        </p:nvSpPr>
        <p:spPr>
          <a:xfrm>
            <a:off x="1219320" y="2857680"/>
            <a:ext cx="9752760" cy="1142280"/>
          </a:xfrm>
          <a:prstGeom prst="rect">
            <a:avLst/>
          </a:prstGeom>
          <a:noFill/>
          <a:ln>
            <a:noFill/>
          </a:ln>
        </p:spPr>
        <p:txBody>
          <a:bodyPr anchorCtr="0" anchor="ctr" bIns="0" lIns="0" spcFirstLastPara="1" rIns="0" wrap="square" tIns="0">
            <a:normAutofit/>
          </a:bodyPr>
          <a:lstStyle>
            <a:lvl1pPr lvl="0" marR="0" rtl="0" algn="l">
              <a:lnSpc>
                <a:spcPct val="9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bg>
      <p:bgPr>
        <a:solidFill>
          <a:srgbClr val="FFFFFF"/>
        </a:solidFill>
      </p:bgPr>
    </p:bg>
    <p:spTree>
      <p:nvGrpSpPr>
        <p:cNvPr id="23" name="Shape 23"/>
        <p:cNvGrpSpPr/>
        <p:nvPr/>
      </p:nvGrpSpPr>
      <p:grpSpPr>
        <a:xfrm>
          <a:off x="0" y="0"/>
          <a:ext cx="0" cy="0"/>
          <a:chOff x="0" y="0"/>
          <a:chExt cx="0" cy="0"/>
        </a:xfrm>
      </p:grpSpPr>
      <p:sp>
        <p:nvSpPr>
          <p:cNvPr id="24" name="Google Shape;24;p42"/>
          <p:cNvSpPr txBox="1"/>
          <p:nvPr>
            <p:ph type="title"/>
          </p:nvPr>
        </p:nvSpPr>
        <p:spPr>
          <a:xfrm>
            <a:off x="685800" y="533520"/>
            <a:ext cx="10819800" cy="837360"/>
          </a:xfrm>
          <a:prstGeom prst="rect">
            <a:avLst/>
          </a:prstGeom>
          <a:noFill/>
          <a:ln>
            <a:noFill/>
          </a:ln>
        </p:spPr>
        <p:txBody>
          <a:bodyPr anchorCtr="0" anchor="t" bIns="0" lIns="0" spcFirstLastPara="1" rIns="0" wrap="square" tIns="0">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5" name="Google Shape;25;p42"/>
          <p:cNvSpPr txBox="1"/>
          <p:nvPr>
            <p:ph idx="1" type="body"/>
          </p:nvPr>
        </p:nvSpPr>
        <p:spPr>
          <a:xfrm>
            <a:off x="685800" y="1905120"/>
            <a:ext cx="5028480" cy="4266360"/>
          </a:xfrm>
          <a:prstGeom prst="rect">
            <a:avLst/>
          </a:prstGeom>
          <a:noFill/>
          <a:ln>
            <a:noFill/>
          </a:ln>
        </p:spPr>
        <p:txBody>
          <a:bodyPr anchorCtr="0" anchor="t" bIns="0" lIns="0" spcFirstLastPara="1" rIns="0" wrap="square" tIns="0">
            <a:normAutofit/>
          </a:bodyPr>
          <a:lstStyle>
            <a:lvl1pPr indent="-288608" lvl="0" marL="457200" marR="0" rtl="0" algn="l">
              <a:lnSpc>
                <a:spcPct val="90000"/>
              </a:lnSpc>
              <a:spcBef>
                <a:spcPts val="1417"/>
              </a:spcBef>
              <a:spcAft>
                <a:spcPts val="0"/>
              </a:spcAft>
              <a:buClr>
                <a:srgbClr val="000000"/>
              </a:buClr>
              <a:buSzPts val="945"/>
              <a:buFont typeface="Noto Sans Symbols"/>
              <a:buChar char="●"/>
              <a:defRPr b="0" i="0" sz="2100" u="none" cap="none" strike="noStrike">
                <a:solidFill>
                  <a:schemeClr val="dk1"/>
                </a:solidFill>
                <a:latin typeface="Arial"/>
                <a:ea typeface="Arial"/>
                <a:cs typeface="Arial"/>
                <a:sym typeface="Arial"/>
              </a:defRPr>
            </a:lvl1pPr>
            <a:lvl2pPr indent="-328613" lvl="1" marL="914400" marR="0" rtl="0" algn="l">
              <a:lnSpc>
                <a:spcPct val="90000"/>
              </a:lnSpc>
              <a:spcBef>
                <a:spcPts val="1134"/>
              </a:spcBef>
              <a:spcAft>
                <a:spcPts val="0"/>
              </a:spcAft>
              <a:buClr>
                <a:srgbClr val="000000"/>
              </a:buClr>
              <a:buSzPts val="1575"/>
              <a:buFont typeface="Noto Sans Symbols"/>
              <a:buChar char="−"/>
              <a:defRPr b="0" i="0" sz="2100" u="none" cap="none" strike="noStrike">
                <a:solidFill>
                  <a:schemeClr val="dk1"/>
                </a:solidFill>
                <a:latin typeface="Arial"/>
                <a:ea typeface="Arial"/>
                <a:cs typeface="Arial"/>
                <a:sym typeface="Arial"/>
              </a:defRPr>
            </a:lvl2pPr>
            <a:lvl3pPr indent="-288607" lvl="2" marL="1371600" marR="0" rtl="0" algn="l">
              <a:lnSpc>
                <a:spcPct val="90000"/>
              </a:lnSpc>
              <a:spcBef>
                <a:spcPts val="850"/>
              </a:spcBef>
              <a:spcAft>
                <a:spcPts val="0"/>
              </a:spcAft>
              <a:buClr>
                <a:srgbClr val="000000"/>
              </a:buClr>
              <a:buSzPts val="945"/>
              <a:buFont typeface="Noto Sans Symbols"/>
              <a:buChar char="●"/>
              <a:defRPr b="0" i="0" sz="2100" u="none" cap="none" strike="noStrike">
                <a:solidFill>
                  <a:schemeClr val="dk1"/>
                </a:solidFill>
                <a:latin typeface="Arial"/>
                <a:ea typeface="Arial"/>
                <a:cs typeface="Arial"/>
                <a:sym typeface="Arial"/>
              </a:defRPr>
            </a:lvl3pPr>
            <a:lvl4pPr indent="-328613" lvl="3" marL="1828800" marR="0" rtl="0" algn="l">
              <a:lnSpc>
                <a:spcPct val="90000"/>
              </a:lnSpc>
              <a:spcBef>
                <a:spcPts val="567"/>
              </a:spcBef>
              <a:spcAft>
                <a:spcPts val="0"/>
              </a:spcAft>
              <a:buClr>
                <a:srgbClr val="000000"/>
              </a:buClr>
              <a:buSzPts val="1575"/>
              <a:buFont typeface="Noto Sans Symbols"/>
              <a:buChar char="−"/>
              <a:defRPr b="0" i="0" sz="2100" u="none" cap="none" strike="noStrike">
                <a:solidFill>
                  <a:schemeClr val="dk1"/>
                </a:solidFill>
                <a:latin typeface="Arial"/>
                <a:ea typeface="Arial"/>
                <a:cs typeface="Arial"/>
                <a:sym typeface="Arial"/>
              </a:defRPr>
            </a:lvl4pPr>
            <a:lvl5pPr indent="-288608" lvl="4" marL="2286000" marR="0" rtl="0" algn="l">
              <a:lnSpc>
                <a:spcPct val="90000"/>
              </a:lnSpc>
              <a:spcBef>
                <a:spcPts val="283"/>
              </a:spcBef>
              <a:spcAft>
                <a:spcPts val="0"/>
              </a:spcAft>
              <a:buClr>
                <a:srgbClr val="000000"/>
              </a:buClr>
              <a:buSzPts val="945"/>
              <a:buFont typeface="Noto Sans Symbols"/>
              <a:buChar char="●"/>
              <a:defRPr b="0" i="0" sz="2100" u="none" cap="none" strike="noStrike">
                <a:solidFill>
                  <a:schemeClr val="dk1"/>
                </a:solidFill>
                <a:latin typeface="Arial"/>
                <a:ea typeface="Arial"/>
                <a:cs typeface="Arial"/>
                <a:sym typeface="Arial"/>
              </a:defRPr>
            </a:lvl5pPr>
            <a:lvl6pPr indent="-288608" lvl="5" marL="2743200" marR="0" rtl="0" algn="l">
              <a:lnSpc>
                <a:spcPct val="90000"/>
              </a:lnSpc>
              <a:spcBef>
                <a:spcPts val="283"/>
              </a:spcBef>
              <a:spcAft>
                <a:spcPts val="0"/>
              </a:spcAft>
              <a:buClr>
                <a:srgbClr val="000000"/>
              </a:buClr>
              <a:buSzPts val="945"/>
              <a:buFont typeface="Noto Sans Symbols"/>
              <a:buChar char="●"/>
              <a:defRPr b="0" i="0" sz="2100" u="none" cap="none" strike="noStrike">
                <a:solidFill>
                  <a:schemeClr val="dk1"/>
                </a:solidFill>
                <a:latin typeface="Arial"/>
                <a:ea typeface="Arial"/>
                <a:cs typeface="Arial"/>
                <a:sym typeface="Arial"/>
              </a:defRPr>
            </a:lvl6pPr>
            <a:lvl7pPr indent="-288608" lvl="6" marL="3200400" marR="0" rtl="0" algn="l">
              <a:lnSpc>
                <a:spcPct val="90000"/>
              </a:lnSpc>
              <a:spcBef>
                <a:spcPts val="283"/>
              </a:spcBef>
              <a:spcAft>
                <a:spcPts val="0"/>
              </a:spcAft>
              <a:buClr>
                <a:srgbClr val="000000"/>
              </a:buClr>
              <a:buSzPts val="945"/>
              <a:buFont typeface="Noto Sans Symbols"/>
              <a:buChar char="●"/>
              <a:defRPr b="0" i="0" sz="21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6" name="Google Shape;26;p42"/>
          <p:cNvSpPr txBox="1"/>
          <p:nvPr>
            <p:ph idx="2" type="body"/>
          </p:nvPr>
        </p:nvSpPr>
        <p:spPr>
          <a:xfrm>
            <a:off x="6477120" y="1905120"/>
            <a:ext cx="5028480" cy="4266360"/>
          </a:xfrm>
          <a:prstGeom prst="rect">
            <a:avLst/>
          </a:prstGeom>
          <a:noFill/>
          <a:ln>
            <a:noFill/>
          </a:ln>
        </p:spPr>
        <p:txBody>
          <a:bodyPr anchorCtr="0" anchor="t" bIns="0" lIns="0" spcFirstLastPara="1" rIns="0" wrap="square" tIns="0">
            <a:normAutofit/>
          </a:bodyPr>
          <a:lstStyle>
            <a:lvl1pPr indent="-288608" lvl="0" marL="457200" marR="0" rtl="0" algn="l">
              <a:lnSpc>
                <a:spcPct val="90000"/>
              </a:lnSpc>
              <a:spcBef>
                <a:spcPts val="1417"/>
              </a:spcBef>
              <a:spcAft>
                <a:spcPts val="0"/>
              </a:spcAft>
              <a:buClr>
                <a:srgbClr val="000000"/>
              </a:buClr>
              <a:buSzPts val="945"/>
              <a:buFont typeface="Noto Sans Symbols"/>
              <a:buChar char="●"/>
              <a:defRPr b="0" i="0" sz="2100" u="none" cap="none" strike="noStrike">
                <a:solidFill>
                  <a:schemeClr val="dk1"/>
                </a:solidFill>
                <a:latin typeface="Arial"/>
                <a:ea typeface="Arial"/>
                <a:cs typeface="Arial"/>
                <a:sym typeface="Arial"/>
              </a:defRPr>
            </a:lvl1pPr>
            <a:lvl2pPr indent="-328613" lvl="1" marL="914400" marR="0" rtl="0" algn="l">
              <a:lnSpc>
                <a:spcPct val="90000"/>
              </a:lnSpc>
              <a:spcBef>
                <a:spcPts val="1134"/>
              </a:spcBef>
              <a:spcAft>
                <a:spcPts val="0"/>
              </a:spcAft>
              <a:buClr>
                <a:srgbClr val="000000"/>
              </a:buClr>
              <a:buSzPts val="1575"/>
              <a:buFont typeface="Noto Sans Symbols"/>
              <a:buChar char="−"/>
              <a:defRPr b="0" i="0" sz="2100" u="none" cap="none" strike="noStrike">
                <a:solidFill>
                  <a:schemeClr val="dk1"/>
                </a:solidFill>
                <a:latin typeface="Arial"/>
                <a:ea typeface="Arial"/>
                <a:cs typeface="Arial"/>
                <a:sym typeface="Arial"/>
              </a:defRPr>
            </a:lvl2pPr>
            <a:lvl3pPr indent="-288607" lvl="2" marL="1371600" marR="0" rtl="0" algn="l">
              <a:lnSpc>
                <a:spcPct val="90000"/>
              </a:lnSpc>
              <a:spcBef>
                <a:spcPts val="850"/>
              </a:spcBef>
              <a:spcAft>
                <a:spcPts val="0"/>
              </a:spcAft>
              <a:buClr>
                <a:srgbClr val="000000"/>
              </a:buClr>
              <a:buSzPts val="945"/>
              <a:buFont typeface="Noto Sans Symbols"/>
              <a:buChar char="●"/>
              <a:defRPr b="0" i="0" sz="2100" u="none" cap="none" strike="noStrike">
                <a:solidFill>
                  <a:schemeClr val="dk1"/>
                </a:solidFill>
                <a:latin typeface="Arial"/>
                <a:ea typeface="Arial"/>
                <a:cs typeface="Arial"/>
                <a:sym typeface="Arial"/>
              </a:defRPr>
            </a:lvl3pPr>
            <a:lvl4pPr indent="-328613" lvl="3" marL="1828800" marR="0" rtl="0" algn="l">
              <a:lnSpc>
                <a:spcPct val="90000"/>
              </a:lnSpc>
              <a:spcBef>
                <a:spcPts val="567"/>
              </a:spcBef>
              <a:spcAft>
                <a:spcPts val="0"/>
              </a:spcAft>
              <a:buClr>
                <a:srgbClr val="000000"/>
              </a:buClr>
              <a:buSzPts val="1575"/>
              <a:buFont typeface="Noto Sans Symbols"/>
              <a:buChar char="−"/>
              <a:defRPr b="0" i="0" sz="2100" u="none" cap="none" strike="noStrike">
                <a:solidFill>
                  <a:schemeClr val="dk1"/>
                </a:solidFill>
                <a:latin typeface="Arial"/>
                <a:ea typeface="Arial"/>
                <a:cs typeface="Arial"/>
                <a:sym typeface="Arial"/>
              </a:defRPr>
            </a:lvl4pPr>
            <a:lvl5pPr indent="-288608" lvl="4" marL="2286000" marR="0" rtl="0" algn="l">
              <a:lnSpc>
                <a:spcPct val="90000"/>
              </a:lnSpc>
              <a:spcBef>
                <a:spcPts val="283"/>
              </a:spcBef>
              <a:spcAft>
                <a:spcPts val="0"/>
              </a:spcAft>
              <a:buClr>
                <a:srgbClr val="000000"/>
              </a:buClr>
              <a:buSzPts val="945"/>
              <a:buFont typeface="Noto Sans Symbols"/>
              <a:buChar char="●"/>
              <a:defRPr b="0" i="0" sz="2100" u="none" cap="none" strike="noStrike">
                <a:solidFill>
                  <a:schemeClr val="dk1"/>
                </a:solidFill>
                <a:latin typeface="Arial"/>
                <a:ea typeface="Arial"/>
                <a:cs typeface="Arial"/>
                <a:sym typeface="Arial"/>
              </a:defRPr>
            </a:lvl5pPr>
            <a:lvl6pPr indent="-288608" lvl="5" marL="2743200" marR="0" rtl="0" algn="l">
              <a:lnSpc>
                <a:spcPct val="90000"/>
              </a:lnSpc>
              <a:spcBef>
                <a:spcPts val="283"/>
              </a:spcBef>
              <a:spcAft>
                <a:spcPts val="0"/>
              </a:spcAft>
              <a:buClr>
                <a:srgbClr val="000000"/>
              </a:buClr>
              <a:buSzPts val="945"/>
              <a:buFont typeface="Noto Sans Symbols"/>
              <a:buChar char="●"/>
              <a:defRPr b="0" i="0" sz="2100" u="none" cap="none" strike="noStrike">
                <a:solidFill>
                  <a:schemeClr val="dk1"/>
                </a:solidFill>
                <a:latin typeface="Arial"/>
                <a:ea typeface="Arial"/>
                <a:cs typeface="Arial"/>
                <a:sym typeface="Arial"/>
              </a:defRPr>
            </a:lvl6pPr>
            <a:lvl7pPr indent="-288608" lvl="6" marL="3200400" marR="0" rtl="0" algn="l">
              <a:lnSpc>
                <a:spcPct val="90000"/>
              </a:lnSpc>
              <a:spcBef>
                <a:spcPts val="283"/>
              </a:spcBef>
              <a:spcAft>
                <a:spcPts val="0"/>
              </a:spcAft>
              <a:buClr>
                <a:srgbClr val="000000"/>
              </a:buClr>
              <a:buSzPts val="945"/>
              <a:buFont typeface="Noto Sans Symbols"/>
              <a:buChar char="●"/>
              <a:defRPr b="0" i="0" sz="21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chart" Target="../charts/char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chart" Target="../charts/char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hyperlink" Target="https://github.com/project-kessel/" TargetMode="External"/><Relationship Id="rId4" Type="http://schemas.openxmlformats.org/officeDocument/2006/relationships/hyperlink" Target="https://github.com/authzed/spicedb" TargetMode="External"/><Relationship Id="rId5" Type="http://schemas.openxmlformats.org/officeDocument/2006/relationships/hyperlink" Target="https://authzed.com/blog/google-scale-authorization" TargetMode="External"/><Relationship Id="rId6" Type="http://schemas.openxmlformats.org/officeDocument/2006/relationships/hyperlink" Target="https://grafana.com/docs/k6/latest/using-k6/protocols/grpc/" TargetMode="External"/><Relationship Id="rId7" Type="http://schemas.openxmlformats.org/officeDocument/2006/relationships/hyperlink" Target="https://docs.aws.amazon.com/AmazonRDS/latest/UserGuide/USER_PerfInsights.Cloudwatch.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31" name="Shape 31"/>
        <p:cNvGrpSpPr/>
        <p:nvPr/>
      </p:nvGrpSpPr>
      <p:grpSpPr>
        <a:xfrm>
          <a:off x="0" y="0"/>
          <a:ext cx="0" cy="0"/>
          <a:chOff x="0" y="0"/>
          <a:chExt cx="0" cy="0"/>
        </a:xfrm>
      </p:grpSpPr>
      <p:sp>
        <p:nvSpPr>
          <p:cNvPr id="32" name="Google Shape;32;p1"/>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50" u="none" cap="none" strike="noStrike">
                <a:solidFill>
                  <a:srgbClr val="56666C"/>
                </a:solidFill>
                <a:latin typeface="Calibri"/>
                <a:ea typeface="Calibri"/>
                <a:cs typeface="Calibri"/>
                <a:sym typeface="Calibri"/>
              </a:rPr>
              <a:t>01</a:t>
            </a:r>
            <a:endParaRPr b="0" i="0" sz="1350" u="none" cap="none" strike="noStrike">
              <a:solidFill>
                <a:srgbClr val="000000"/>
              </a:solidFill>
              <a:latin typeface="Arial"/>
              <a:ea typeface="Arial"/>
              <a:cs typeface="Arial"/>
              <a:sym typeface="Arial"/>
            </a:endParaRPr>
          </a:p>
        </p:txBody>
      </p:sp>
      <p:sp>
        <p:nvSpPr>
          <p:cNvPr id="33" name="Google Shape;33;p1"/>
          <p:cNvSpPr/>
          <p:nvPr/>
        </p:nvSpPr>
        <p:spPr>
          <a:xfrm>
            <a:off x="666720" y="2000160"/>
            <a:ext cx="10667160" cy="951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6000" u="none" cap="none" strike="noStrike">
                <a:solidFill>
                  <a:srgbClr val="12252D"/>
                </a:solidFill>
                <a:latin typeface="Calibri"/>
                <a:ea typeface="Calibri"/>
                <a:cs typeface="Calibri"/>
                <a:sym typeface="Calibri"/>
              </a:rPr>
              <a:t>When Load Tests </a:t>
            </a:r>
            <a:r>
              <a:rPr b="1" i="0" lang="en-US" sz="6000" u="none" cap="none" strike="noStrike">
                <a:solidFill>
                  <a:srgbClr val="C9211E"/>
                </a:solidFill>
                <a:latin typeface="Calibri"/>
                <a:ea typeface="Calibri"/>
                <a:cs typeface="Calibri"/>
                <a:sym typeface="Calibri"/>
              </a:rPr>
              <a:t>LIE</a:t>
            </a:r>
            <a:endParaRPr b="0" i="0" sz="6000" u="none" cap="none" strike="noStrike">
              <a:solidFill>
                <a:srgbClr val="000000"/>
              </a:solidFill>
              <a:latin typeface="Arial"/>
              <a:ea typeface="Arial"/>
              <a:cs typeface="Arial"/>
              <a:sym typeface="Arial"/>
            </a:endParaRPr>
          </a:p>
        </p:txBody>
      </p:sp>
      <p:sp>
        <p:nvSpPr>
          <p:cNvPr id="34" name="Google Shape;34;p1"/>
          <p:cNvSpPr/>
          <p:nvPr/>
        </p:nvSpPr>
        <p:spPr>
          <a:xfrm>
            <a:off x="695160" y="3219480"/>
            <a:ext cx="10572120" cy="66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930" u="none" cap="none" strike="noStrike">
                <a:solidFill>
                  <a:srgbClr val="56666C"/>
                </a:solidFill>
                <a:latin typeface="Calibri"/>
                <a:ea typeface="Calibri"/>
                <a:cs typeface="Calibri"/>
                <a:sym typeface="Calibri"/>
              </a:rPr>
              <a:t>The Road to Reliable API Performance Testing</a:t>
            </a:r>
            <a:endParaRPr b="0" i="0" sz="2930" u="none" cap="none" strike="noStrike">
              <a:solidFill>
                <a:srgbClr val="000000"/>
              </a:solidFill>
              <a:latin typeface="Arial"/>
              <a:ea typeface="Arial"/>
              <a:cs typeface="Arial"/>
              <a:sym typeface="Arial"/>
            </a:endParaRPr>
          </a:p>
        </p:txBody>
      </p:sp>
      <p:sp>
        <p:nvSpPr>
          <p:cNvPr id="35" name="Google Shape;35;p1"/>
          <p:cNvSpPr/>
          <p:nvPr/>
        </p:nvSpPr>
        <p:spPr>
          <a:xfrm>
            <a:off x="666720" y="704880"/>
            <a:ext cx="1028628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800" u="none" cap="none" strike="noStrike">
                <a:solidFill>
                  <a:srgbClr val="087F8C"/>
                </a:solidFill>
                <a:latin typeface="Calibri"/>
                <a:ea typeface="Calibri"/>
                <a:cs typeface="Calibri"/>
                <a:sym typeface="Calibri"/>
              </a:rPr>
              <a:t>Lessons from REST and gRPC CPTs</a:t>
            </a:r>
            <a:endParaRPr b="0" i="0" sz="1800" u="none" cap="none" strike="noStrike">
              <a:solidFill>
                <a:srgbClr val="000000"/>
              </a:solidFill>
              <a:latin typeface="Arial"/>
              <a:ea typeface="Arial"/>
              <a:cs typeface="Arial"/>
              <a:sym typeface="Arial"/>
            </a:endParaRPr>
          </a:p>
        </p:txBody>
      </p:sp>
      <p:sp>
        <p:nvSpPr>
          <p:cNvPr id="36" name="Google Shape;36;p1"/>
          <p:cNvSpPr/>
          <p:nvPr/>
        </p:nvSpPr>
        <p:spPr>
          <a:xfrm>
            <a:off x="695160" y="5334120"/>
            <a:ext cx="7619400" cy="361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020" u="none" cap="none" strike="noStrike">
                <a:solidFill>
                  <a:srgbClr val="12252D"/>
                </a:solidFill>
                <a:latin typeface="Calibri"/>
                <a:ea typeface="Calibri"/>
                <a:cs typeface="Calibri"/>
                <a:sym typeface="Calibri"/>
              </a:rPr>
              <a:t>Nitin Krishna Mucheli</a:t>
            </a:r>
            <a:endParaRPr b="0" i="0" sz="2020" u="none" cap="none" strike="noStrike">
              <a:solidFill>
                <a:srgbClr val="000000"/>
              </a:solidFill>
              <a:latin typeface="Arial"/>
              <a:ea typeface="Arial"/>
              <a:cs typeface="Arial"/>
              <a:sym typeface="Arial"/>
            </a:endParaRPr>
          </a:p>
        </p:txBody>
      </p:sp>
      <p:sp>
        <p:nvSpPr>
          <p:cNvPr id="37" name="Google Shape;37;p1"/>
          <p:cNvSpPr/>
          <p:nvPr/>
        </p:nvSpPr>
        <p:spPr>
          <a:xfrm>
            <a:off x="695160" y="5762520"/>
            <a:ext cx="7619400" cy="332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800" u="none" cap="none" strike="noStrike">
                <a:solidFill>
                  <a:srgbClr val="56666C"/>
                </a:solidFill>
                <a:latin typeface="Calibri"/>
                <a:ea typeface="Calibri"/>
                <a:cs typeface="Calibri"/>
                <a:sym typeface="Calibri"/>
              </a:rPr>
              <a:t>Performance &amp; Scale</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62F"/>
        </a:solidFill>
      </p:bgPr>
    </p:bg>
    <p:spTree>
      <p:nvGrpSpPr>
        <p:cNvPr id="42" name="Shape 42"/>
        <p:cNvGrpSpPr/>
        <p:nvPr/>
      </p:nvGrpSpPr>
      <p:grpSpPr>
        <a:xfrm>
          <a:off x="0" y="0"/>
          <a:ext cx="0" cy="0"/>
          <a:chOff x="0" y="0"/>
          <a:chExt cx="0" cy="0"/>
        </a:xfrm>
      </p:grpSpPr>
      <p:sp>
        <p:nvSpPr>
          <p:cNvPr id="43" name="Google Shape;43;p2"/>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50" u="none" cap="none" strike="noStrike">
                <a:solidFill>
                  <a:srgbClr val="98A9B0"/>
                </a:solidFill>
                <a:latin typeface="Calibri"/>
                <a:ea typeface="Calibri"/>
                <a:cs typeface="Calibri"/>
                <a:sym typeface="Calibri"/>
              </a:rPr>
              <a:t>02</a:t>
            </a:r>
            <a:endParaRPr b="0" i="0" sz="1350" u="none" cap="none" strike="noStrike">
              <a:solidFill>
                <a:srgbClr val="FFFFFF"/>
              </a:solidFill>
              <a:latin typeface="Arial"/>
              <a:ea typeface="Arial"/>
              <a:cs typeface="Arial"/>
              <a:sym typeface="Arial"/>
            </a:endParaRPr>
          </a:p>
        </p:txBody>
      </p:sp>
      <p:sp>
        <p:nvSpPr>
          <p:cNvPr id="44" name="Google Shape;44;p2"/>
          <p:cNvSpPr/>
          <p:nvPr/>
        </p:nvSpPr>
        <p:spPr>
          <a:xfrm>
            <a:off x="666720" y="685800"/>
            <a:ext cx="2094840" cy="1142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7050" u="none" cap="none" strike="noStrike">
                <a:solidFill>
                  <a:srgbClr val="087F8C"/>
                </a:solidFill>
                <a:latin typeface="Calibri"/>
                <a:ea typeface="Calibri"/>
                <a:cs typeface="Calibri"/>
                <a:sym typeface="Calibri"/>
              </a:rPr>
              <a:t>01</a:t>
            </a:r>
            <a:endParaRPr b="0" i="0" sz="7050" u="none" cap="none" strike="noStrike">
              <a:solidFill>
                <a:srgbClr val="FFFFFF"/>
              </a:solidFill>
              <a:latin typeface="Arial"/>
              <a:ea typeface="Arial"/>
              <a:cs typeface="Arial"/>
              <a:sym typeface="Arial"/>
            </a:endParaRPr>
          </a:p>
        </p:txBody>
      </p:sp>
      <p:sp>
        <p:nvSpPr>
          <p:cNvPr id="45" name="Google Shape;45;p2"/>
          <p:cNvSpPr/>
          <p:nvPr/>
        </p:nvSpPr>
        <p:spPr>
          <a:xfrm>
            <a:off x="666720" y="2143080"/>
            <a:ext cx="5428440" cy="180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4500" u="none" cap="none" strike="noStrike">
                <a:solidFill>
                  <a:srgbClr val="FFFFFF"/>
                </a:solidFill>
                <a:latin typeface="Calibri"/>
                <a:ea typeface="Calibri"/>
                <a:cs typeface="Calibri"/>
                <a:sym typeface="Calibri"/>
              </a:rPr>
              <a:t>API types &amp;</a:t>
            </a:r>
            <a:endParaRPr b="0" i="0" sz="45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rPr b="1" i="0" lang="en-US" sz="4500" u="none" cap="none" strike="noStrike">
                <a:solidFill>
                  <a:srgbClr val="FFFFFF"/>
                </a:solidFill>
                <a:latin typeface="Calibri"/>
                <a:ea typeface="Calibri"/>
                <a:cs typeface="Calibri"/>
                <a:sym typeface="Calibri"/>
              </a:rPr>
              <a:t>load models</a:t>
            </a:r>
            <a:endParaRPr b="0" i="0" sz="4500" u="none" cap="none" strike="noStrike">
              <a:solidFill>
                <a:srgbClr val="FFFFFF"/>
              </a:solidFill>
              <a:latin typeface="Arial"/>
              <a:ea typeface="Arial"/>
              <a:cs typeface="Arial"/>
              <a:sym typeface="Arial"/>
            </a:endParaRPr>
          </a:p>
        </p:txBody>
      </p:sp>
      <p:sp>
        <p:nvSpPr>
          <p:cNvPr id="46" name="Google Shape;46;p2"/>
          <p:cNvSpPr/>
          <p:nvPr/>
        </p:nvSpPr>
        <p:spPr>
          <a:xfrm>
            <a:off x="666720" y="4334040"/>
            <a:ext cx="5238000" cy="1142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E5EDEE"/>
                </a:solidFill>
                <a:latin typeface="Calibri"/>
                <a:ea typeface="Calibri"/>
                <a:cs typeface="Calibri"/>
                <a:sym typeface="Calibri"/>
              </a:rPr>
              <a:t>What we send, what we count, and what load we create</a:t>
            </a:r>
            <a:endParaRPr b="0" i="0" sz="2100" u="none" cap="none" strike="noStrike">
              <a:solidFill>
                <a:srgbClr val="FFFFFF"/>
              </a:solidFill>
              <a:latin typeface="Arial"/>
              <a:ea typeface="Arial"/>
              <a:cs typeface="Arial"/>
              <a:sym typeface="Arial"/>
            </a:endParaRPr>
          </a:p>
        </p:txBody>
      </p:sp>
      <p:sp>
        <p:nvSpPr>
          <p:cNvPr id="47" name="Google Shape;47;p2"/>
          <p:cNvSpPr/>
          <p:nvPr/>
        </p:nvSpPr>
        <p:spPr>
          <a:xfrm>
            <a:off x="7143840" y="1657440"/>
            <a:ext cx="57096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100" u="none" cap="none" strike="noStrike">
                <a:solidFill>
                  <a:srgbClr val="FFFFFF"/>
                </a:solidFill>
                <a:latin typeface="Calibri"/>
                <a:ea typeface="Calibri"/>
                <a:cs typeface="Calibri"/>
                <a:sym typeface="Calibri"/>
              </a:rPr>
              <a:t>01</a:t>
            </a:r>
            <a:endParaRPr b="0" i="0" sz="2100" u="none" cap="none" strike="noStrike">
              <a:solidFill>
                <a:srgbClr val="FFFFFF"/>
              </a:solidFill>
              <a:latin typeface="Arial"/>
              <a:ea typeface="Arial"/>
              <a:cs typeface="Arial"/>
              <a:sym typeface="Arial"/>
            </a:endParaRPr>
          </a:p>
        </p:txBody>
      </p:sp>
      <p:sp>
        <p:nvSpPr>
          <p:cNvPr id="48" name="Google Shape;48;p2"/>
          <p:cNvSpPr/>
          <p:nvPr/>
        </p:nvSpPr>
        <p:spPr>
          <a:xfrm>
            <a:off x="7858080" y="1657440"/>
            <a:ext cx="3523680" cy="618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250" u="none" cap="none" strike="noStrike">
                <a:solidFill>
                  <a:srgbClr val="FFFFFF"/>
                </a:solidFill>
                <a:latin typeface="Calibri"/>
                <a:ea typeface="Calibri"/>
                <a:cs typeface="Calibri"/>
                <a:sym typeface="Calibri"/>
              </a:rPr>
              <a:t>API types &amp; load models</a:t>
            </a:r>
            <a:endParaRPr b="0" i="0" sz="2250" u="none" cap="none" strike="noStrike">
              <a:solidFill>
                <a:srgbClr val="FFFFFF"/>
              </a:solidFill>
              <a:latin typeface="Arial"/>
              <a:ea typeface="Arial"/>
              <a:cs typeface="Arial"/>
              <a:sym typeface="Arial"/>
            </a:endParaRPr>
          </a:p>
        </p:txBody>
      </p:sp>
      <p:sp>
        <p:nvSpPr>
          <p:cNvPr id="49" name="Google Shape;49;p2"/>
          <p:cNvSpPr/>
          <p:nvPr/>
        </p:nvSpPr>
        <p:spPr>
          <a:xfrm>
            <a:off x="7143840" y="2562120"/>
            <a:ext cx="57096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98A9B0"/>
                </a:solidFill>
                <a:latin typeface="Calibri"/>
                <a:ea typeface="Calibri"/>
                <a:cs typeface="Calibri"/>
                <a:sym typeface="Calibri"/>
              </a:rPr>
              <a:t>02</a:t>
            </a:r>
            <a:endParaRPr b="0" i="0" sz="2100" u="none" cap="none" strike="noStrike">
              <a:solidFill>
                <a:srgbClr val="FFFFFF"/>
              </a:solidFill>
              <a:latin typeface="Arial"/>
              <a:ea typeface="Arial"/>
              <a:cs typeface="Arial"/>
              <a:sym typeface="Arial"/>
            </a:endParaRPr>
          </a:p>
        </p:txBody>
      </p:sp>
      <p:sp>
        <p:nvSpPr>
          <p:cNvPr id="50" name="Google Shape;50;p2"/>
          <p:cNvSpPr/>
          <p:nvPr/>
        </p:nvSpPr>
        <p:spPr>
          <a:xfrm>
            <a:off x="7858080" y="2562120"/>
            <a:ext cx="3523680" cy="618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98A9B0"/>
                </a:solidFill>
                <a:latin typeface="Calibri"/>
                <a:ea typeface="Calibri"/>
                <a:cs typeface="Calibri"/>
                <a:sym typeface="Calibri"/>
              </a:rPr>
              <a:t>The original harness</a:t>
            </a:r>
            <a:endParaRPr b="0" i="0" sz="2250" u="none" cap="none" strike="noStrike">
              <a:solidFill>
                <a:srgbClr val="FFFFFF"/>
              </a:solidFill>
              <a:latin typeface="Arial"/>
              <a:ea typeface="Arial"/>
              <a:cs typeface="Arial"/>
              <a:sym typeface="Arial"/>
            </a:endParaRPr>
          </a:p>
        </p:txBody>
      </p:sp>
      <p:sp>
        <p:nvSpPr>
          <p:cNvPr id="51" name="Google Shape;51;p2"/>
          <p:cNvSpPr/>
          <p:nvPr/>
        </p:nvSpPr>
        <p:spPr>
          <a:xfrm>
            <a:off x="7143840" y="3467160"/>
            <a:ext cx="57096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98A9B0"/>
                </a:solidFill>
                <a:latin typeface="Calibri"/>
                <a:ea typeface="Calibri"/>
                <a:cs typeface="Calibri"/>
                <a:sym typeface="Calibri"/>
              </a:rPr>
              <a:t>03</a:t>
            </a:r>
            <a:endParaRPr b="0" i="0" sz="2100" u="none" cap="none" strike="noStrike">
              <a:solidFill>
                <a:srgbClr val="FFFFFF"/>
              </a:solidFill>
              <a:latin typeface="Arial"/>
              <a:ea typeface="Arial"/>
              <a:cs typeface="Arial"/>
              <a:sym typeface="Arial"/>
            </a:endParaRPr>
          </a:p>
        </p:txBody>
      </p:sp>
      <p:sp>
        <p:nvSpPr>
          <p:cNvPr id="52" name="Google Shape;52;p2"/>
          <p:cNvSpPr/>
          <p:nvPr/>
        </p:nvSpPr>
        <p:spPr>
          <a:xfrm>
            <a:off x="7858080" y="3467160"/>
            <a:ext cx="3523680" cy="618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98A9B0"/>
                </a:solidFill>
                <a:latin typeface="Calibri"/>
                <a:ea typeface="Calibri"/>
                <a:cs typeface="Calibri"/>
                <a:sym typeface="Calibri"/>
              </a:rPr>
              <a:t>K6 &amp; result interpretation</a:t>
            </a:r>
            <a:endParaRPr b="0" i="0" sz="2250" u="none" cap="none" strike="noStrike">
              <a:solidFill>
                <a:srgbClr val="FFFFFF"/>
              </a:solidFill>
              <a:latin typeface="Arial"/>
              <a:ea typeface="Arial"/>
              <a:cs typeface="Arial"/>
              <a:sym typeface="Arial"/>
            </a:endParaRPr>
          </a:p>
        </p:txBody>
      </p:sp>
      <p:sp>
        <p:nvSpPr>
          <p:cNvPr id="53" name="Google Shape;53;p2"/>
          <p:cNvSpPr/>
          <p:nvPr/>
        </p:nvSpPr>
        <p:spPr>
          <a:xfrm>
            <a:off x="7143840" y="4371840"/>
            <a:ext cx="57096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98A9B0"/>
                </a:solidFill>
                <a:latin typeface="Calibri"/>
                <a:ea typeface="Calibri"/>
                <a:cs typeface="Calibri"/>
                <a:sym typeface="Calibri"/>
              </a:rPr>
              <a:t>04</a:t>
            </a:r>
            <a:endParaRPr b="0" i="0" sz="2100" u="none" cap="none" strike="noStrike">
              <a:solidFill>
                <a:srgbClr val="FFFFFF"/>
              </a:solidFill>
              <a:latin typeface="Arial"/>
              <a:ea typeface="Arial"/>
              <a:cs typeface="Arial"/>
              <a:sym typeface="Arial"/>
            </a:endParaRPr>
          </a:p>
        </p:txBody>
      </p:sp>
      <p:sp>
        <p:nvSpPr>
          <p:cNvPr id="54" name="Google Shape;54;p2"/>
          <p:cNvSpPr/>
          <p:nvPr/>
        </p:nvSpPr>
        <p:spPr>
          <a:xfrm>
            <a:off x="7858080" y="4371840"/>
            <a:ext cx="3523680" cy="618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98A9B0"/>
                </a:solidFill>
                <a:latin typeface="Calibri"/>
                <a:ea typeface="Calibri"/>
                <a:cs typeface="Calibri"/>
                <a:sym typeface="Calibri"/>
              </a:rPr>
              <a:t>PR testing &amp; state</a:t>
            </a:r>
            <a:endParaRPr b="0" i="0" sz="2250" u="none" cap="none" strike="noStrike">
              <a:solidFill>
                <a:srgbClr val="FFFFFF"/>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59" name="Shape 59"/>
        <p:cNvGrpSpPr/>
        <p:nvPr/>
      </p:nvGrpSpPr>
      <p:grpSpPr>
        <a:xfrm>
          <a:off x="0" y="0"/>
          <a:ext cx="0" cy="0"/>
          <a:chOff x="0" y="0"/>
          <a:chExt cx="0" cy="0"/>
        </a:xfrm>
      </p:grpSpPr>
      <p:sp>
        <p:nvSpPr>
          <p:cNvPr id="60" name="Google Shape;60;p3"/>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3450" u="none" cap="none" strike="noStrike">
                <a:solidFill>
                  <a:srgbClr val="12252D"/>
                </a:solidFill>
                <a:latin typeface="Calibri"/>
                <a:ea typeface="Calibri"/>
                <a:cs typeface="Calibri"/>
                <a:sym typeface="Calibri"/>
              </a:rPr>
              <a:t>SOAP, REST and gRPC</a:t>
            </a:r>
            <a:endParaRPr b="0" i="0" sz="3450" u="none" cap="none" strike="noStrike">
              <a:solidFill>
                <a:srgbClr val="000000"/>
              </a:solidFill>
              <a:latin typeface="Arial"/>
              <a:ea typeface="Arial"/>
              <a:cs typeface="Arial"/>
              <a:sym typeface="Arial"/>
            </a:endParaRPr>
          </a:p>
        </p:txBody>
      </p:sp>
      <p:sp>
        <p:nvSpPr>
          <p:cNvPr id="61" name="Google Shape;61;p3"/>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50" u="none" cap="none" strike="noStrike">
                <a:solidFill>
                  <a:srgbClr val="56666C"/>
                </a:solidFill>
                <a:latin typeface="Calibri"/>
                <a:ea typeface="Calibri"/>
                <a:cs typeface="Calibri"/>
                <a:sym typeface="Calibri"/>
              </a:rPr>
              <a:t>03</a:t>
            </a:r>
            <a:endParaRPr b="0" i="0" sz="1350" u="none" cap="none" strike="noStrike">
              <a:solidFill>
                <a:srgbClr val="000000"/>
              </a:solidFill>
              <a:latin typeface="Arial"/>
              <a:ea typeface="Arial"/>
              <a:cs typeface="Arial"/>
              <a:sym typeface="Arial"/>
            </a:endParaRPr>
          </a:p>
        </p:txBody>
      </p:sp>
      <p:graphicFrame>
        <p:nvGraphicFramePr>
          <p:cNvPr id="62" name="Google Shape;62;p3"/>
          <p:cNvGraphicFramePr/>
          <p:nvPr/>
        </p:nvGraphicFramePr>
        <p:xfrm>
          <a:off x="666720" y="1762200"/>
          <a:ext cx="3000000" cy="3000000"/>
        </p:xfrm>
        <a:graphic>
          <a:graphicData uri="http://schemas.openxmlformats.org/drawingml/2006/table">
            <a:tbl>
              <a:tblPr>
                <a:noFill/>
                <a:tableStyleId>{B27AFFA7-D2A1-49AC-8F84-CA7D211AECD2}</a:tableStyleId>
              </a:tblPr>
              <a:tblGrid>
                <a:gridCol w="1714325"/>
                <a:gridCol w="3047750"/>
                <a:gridCol w="3047750"/>
                <a:gridCol w="3047750"/>
              </a:tblGrid>
              <a:tr h="723600">
                <a:tc>
                  <a:txBody>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10262F"/>
                    </a:solidFill>
                  </a:tcPr>
                </a:tc>
                <a:tc>
                  <a:txBody>
                    <a:bodyPr/>
                    <a:lstStyle/>
                    <a:p>
                      <a:pPr indent="0" lvl="0" marL="0" marR="0" rtl="0" algn="l">
                        <a:lnSpc>
                          <a:spcPct val="100000"/>
                        </a:lnSpc>
                        <a:spcBef>
                          <a:spcPts val="0"/>
                        </a:spcBef>
                        <a:spcAft>
                          <a:spcPts val="0"/>
                        </a:spcAft>
                        <a:buNone/>
                      </a:pPr>
                      <a:r>
                        <a:rPr b="1" lang="en-US" sz="1870" u="none" strike="noStrike">
                          <a:solidFill>
                            <a:srgbClr val="FFFFFF"/>
                          </a:solidFill>
                          <a:latin typeface="Calibri"/>
                          <a:ea typeface="Calibri"/>
                          <a:cs typeface="Calibri"/>
                          <a:sym typeface="Calibri"/>
                        </a:rPr>
                        <a:t>SOAP</a:t>
                      </a:r>
                      <a:r>
                        <a:rPr b="0" lang="en-US" sz="1650" u="none" strike="noStrike">
                          <a:solidFill>
                            <a:srgbClr val="8FD5D9"/>
                          </a:solidFill>
                          <a:latin typeface="Calibri"/>
                          <a:ea typeface="Calibri"/>
                          <a:cs typeface="Calibri"/>
                          <a:sym typeface="Calibri"/>
                        </a:rPr>
                        <a:t>  &lt;XML&gt;</a:t>
                      </a:r>
                      <a:endParaRPr b="0" sz="1650" u="none" strike="noStrike">
                        <a:solidFill>
                          <a:srgbClr val="FFFFFF"/>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10262F"/>
                    </a:solidFill>
                  </a:tcPr>
                </a:tc>
                <a:tc>
                  <a:txBody>
                    <a:bodyPr/>
                    <a:lstStyle/>
                    <a:p>
                      <a:pPr indent="0" lvl="0" marL="0" marR="0" rtl="0" algn="l">
                        <a:lnSpc>
                          <a:spcPct val="100000"/>
                        </a:lnSpc>
                        <a:spcBef>
                          <a:spcPts val="0"/>
                        </a:spcBef>
                        <a:spcAft>
                          <a:spcPts val="0"/>
                        </a:spcAft>
                        <a:buNone/>
                      </a:pPr>
                      <a:r>
                        <a:rPr b="1" lang="en-US" sz="1870" u="none" strike="noStrike">
                          <a:solidFill>
                            <a:srgbClr val="FFFFFF"/>
                          </a:solidFill>
                          <a:latin typeface="Calibri"/>
                          <a:ea typeface="Calibri"/>
                          <a:cs typeface="Calibri"/>
                          <a:sym typeface="Calibri"/>
                        </a:rPr>
                        <a:t>REST</a:t>
                      </a:r>
                      <a:r>
                        <a:rPr b="0" lang="en-US" sz="1650" u="none" strike="noStrike">
                          <a:solidFill>
                            <a:srgbClr val="8FD5D9"/>
                          </a:solidFill>
                          <a:latin typeface="Calibri"/>
                          <a:ea typeface="Calibri"/>
                          <a:cs typeface="Calibri"/>
                          <a:sym typeface="Calibri"/>
                        </a:rPr>
                        <a:t>  {JSON}</a:t>
                      </a:r>
                      <a:endParaRPr b="0" sz="1650" u="none" strike="noStrike">
                        <a:solidFill>
                          <a:srgbClr val="FFFFFF"/>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10262F"/>
                    </a:solidFill>
                  </a:tcPr>
                </a:tc>
                <a:tc>
                  <a:txBody>
                    <a:bodyPr/>
                    <a:lstStyle/>
                    <a:p>
                      <a:pPr indent="0" lvl="0" marL="0" marR="0" rtl="0" algn="l">
                        <a:lnSpc>
                          <a:spcPct val="100000"/>
                        </a:lnSpc>
                        <a:spcBef>
                          <a:spcPts val="0"/>
                        </a:spcBef>
                        <a:spcAft>
                          <a:spcPts val="0"/>
                        </a:spcAft>
                        <a:buNone/>
                      </a:pPr>
                      <a:r>
                        <a:rPr b="1" lang="en-US" sz="1870" u="none" strike="noStrike">
                          <a:solidFill>
                            <a:srgbClr val="FFFFFF"/>
                          </a:solidFill>
                          <a:latin typeface="Calibri"/>
                          <a:ea typeface="Calibri"/>
                          <a:cs typeface="Calibri"/>
                          <a:sym typeface="Calibri"/>
                        </a:rPr>
                        <a:t>gRPC</a:t>
                      </a:r>
                      <a:r>
                        <a:rPr b="0" lang="en-US" sz="1650" u="none" strike="noStrike">
                          <a:solidFill>
                            <a:srgbClr val="8FD5D9"/>
                          </a:solidFill>
                          <a:latin typeface="Calibri"/>
                          <a:ea typeface="Calibri"/>
                          <a:cs typeface="Calibri"/>
                          <a:sym typeface="Calibri"/>
                        </a:rPr>
                        <a:t>  0x35BINARY</a:t>
                      </a:r>
                      <a:endParaRPr b="0" sz="1650" u="none" strike="noStrike">
                        <a:solidFill>
                          <a:srgbClr val="FFFFFF"/>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10262F"/>
                    </a:solidFill>
                  </a:tcPr>
                </a:tc>
              </a:tr>
              <a:tr h="723600">
                <a:tc>
                  <a:txBody>
                    <a:bodyPr/>
                    <a:lstStyle/>
                    <a:p>
                      <a:pPr indent="0" lvl="0" marL="0" marR="0" rtl="0" algn="l">
                        <a:lnSpc>
                          <a:spcPct val="100000"/>
                        </a:lnSpc>
                        <a:spcBef>
                          <a:spcPts val="0"/>
                        </a:spcBef>
                        <a:spcAft>
                          <a:spcPts val="0"/>
                        </a:spcAft>
                        <a:buNone/>
                      </a:pPr>
                      <a:r>
                        <a:rPr b="0" lang="en-US" sz="1870" u="none" strike="noStrike">
                          <a:solidFill>
                            <a:srgbClr val="12252D"/>
                          </a:solidFill>
                          <a:latin typeface="Calibri"/>
                          <a:ea typeface="Calibri"/>
                          <a:cs typeface="Calibri"/>
                          <a:sym typeface="Calibri"/>
                        </a:rPr>
                        <a:t>API model</a:t>
                      </a:r>
                      <a:endParaRPr b="0" sz="187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1870" u="none" strike="noStrike">
                          <a:solidFill>
                            <a:srgbClr val="12252D"/>
                          </a:solidFill>
                          <a:latin typeface="Calibri"/>
                          <a:ea typeface="Calibri"/>
                          <a:cs typeface="Calibri"/>
                          <a:sym typeface="Calibri"/>
                        </a:rPr>
                        <a:t>Message protocol</a:t>
                      </a:r>
                      <a:endParaRPr b="0" sz="187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1870" u="none" strike="noStrike">
                          <a:solidFill>
                            <a:srgbClr val="12252D"/>
                          </a:solidFill>
                          <a:latin typeface="Calibri"/>
                          <a:ea typeface="Calibri"/>
                          <a:cs typeface="Calibri"/>
                          <a:sym typeface="Calibri"/>
                        </a:rPr>
                        <a:t>Resource-oriented style</a:t>
                      </a:r>
                      <a:endParaRPr b="0" sz="187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1870" u="none" strike="noStrike">
                          <a:solidFill>
                            <a:srgbClr val="12252D"/>
                          </a:solidFill>
                          <a:latin typeface="Calibri"/>
                          <a:ea typeface="Calibri"/>
                          <a:cs typeface="Calibri"/>
                          <a:sym typeface="Calibri"/>
                        </a:rPr>
                        <a:t>Remote method call</a:t>
                      </a:r>
                      <a:endParaRPr b="0" sz="187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r>
              <a:tr h="723600">
                <a:tc>
                  <a:txBody>
                    <a:bodyPr/>
                    <a:lstStyle/>
                    <a:p>
                      <a:pPr indent="0" lvl="0" marL="0" marR="0" rtl="0" algn="l">
                        <a:lnSpc>
                          <a:spcPct val="100000"/>
                        </a:lnSpc>
                        <a:spcBef>
                          <a:spcPts val="0"/>
                        </a:spcBef>
                        <a:spcAft>
                          <a:spcPts val="0"/>
                        </a:spcAft>
                        <a:buNone/>
                      </a:pPr>
                      <a:r>
                        <a:rPr b="0" lang="en-US" sz="1870" u="none" strike="noStrike">
                          <a:solidFill>
                            <a:srgbClr val="12252D"/>
                          </a:solidFill>
                          <a:latin typeface="Calibri"/>
                          <a:ea typeface="Calibri"/>
                          <a:cs typeface="Calibri"/>
                          <a:sym typeface="Calibri"/>
                        </a:rPr>
                        <a:t>Typical payload</a:t>
                      </a:r>
                      <a:endParaRPr b="0" sz="187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1870" u="none" strike="noStrike">
                          <a:solidFill>
                            <a:srgbClr val="12252D"/>
                          </a:solidFill>
                          <a:latin typeface="Calibri"/>
                          <a:ea typeface="Calibri"/>
                          <a:cs typeface="Calibri"/>
                          <a:sym typeface="Calibri"/>
                        </a:rPr>
                        <a:t>XML envelope</a:t>
                      </a:r>
                      <a:endParaRPr b="0" sz="187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1870" u="none" strike="noStrike">
                          <a:solidFill>
                            <a:srgbClr val="12252D"/>
                          </a:solidFill>
                          <a:latin typeface="Calibri"/>
                          <a:ea typeface="Calibri"/>
                          <a:cs typeface="Calibri"/>
                          <a:sym typeface="Calibri"/>
                        </a:rPr>
                        <a:t>JSON representation</a:t>
                      </a:r>
                      <a:endParaRPr b="0" sz="187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1870" u="none" strike="noStrike">
                          <a:solidFill>
                            <a:srgbClr val="12252D"/>
                          </a:solidFill>
                          <a:latin typeface="Calibri"/>
                          <a:ea typeface="Calibri"/>
                          <a:cs typeface="Calibri"/>
                          <a:sym typeface="Calibri"/>
                        </a:rPr>
                        <a:t>Protobuf binary</a:t>
                      </a:r>
                      <a:endParaRPr b="0" sz="187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r>
              <a:tr h="723600">
                <a:tc>
                  <a:txBody>
                    <a:bodyPr/>
                    <a:lstStyle/>
                    <a:p>
                      <a:pPr indent="0" lvl="0" marL="0" marR="0" rtl="0" algn="l">
                        <a:lnSpc>
                          <a:spcPct val="100000"/>
                        </a:lnSpc>
                        <a:spcBef>
                          <a:spcPts val="0"/>
                        </a:spcBef>
                        <a:spcAft>
                          <a:spcPts val="0"/>
                        </a:spcAft>
                        <a:buNone/>
                      </a:pPr>
                      <a:r>
                        <a:rPr b="0" lang="en-US" sz="1870" u="none" strike="noStrike">
                          <a:solidFill>
                            <a:srgbClr val="12252D"/>
                          </a:solidFill>
                          <a:latin typeface="Calibri"/>
                          <a:ea typeface="Calibri"/>
                          <a:cs typeface="Calibri"/>
                          <a:sym typeface="Calibri"/>
                        </a:rPr>
                        <a:t>Typical transport</a:t>
                      </a:r>
                      <a:endParaRPr b="0" sz="187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1870" u="none" strike="noStrike">
                          <a:solidFill>
                            <a:srgbClr val="12252D"/>
                          </a:solidFill>
                          <a:latin typeface="Calibri"/>
                          <a:ea typeface="Calibri"/>
                          <a:cs typeface="Calibri"/>
                          <a:sym typeface="Calibri"/>
                        </a:rPr>
                        <a:t>Often HTTP</a:t>
                      </a:r>
                      <a:endParaRPr b="0" sz="187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1870" u="none" strike="noStrike">
                          <a:solidFill>
                            <a:srgbClr val="12252D"/>
                          </a:solidFill>
                          <a:latin typeface="Calibri"/>
                          <a:ea typeface="Calibri"/>
                          <a:cs typeface="Calibri"/>
                          <a:sym typeface="Calibri"/>
                        </a:rPr>
                        <a:t>HTTP</a:t>
                      </a:r>
                      <a:endParaRPr b="0" sz="187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1870" u="none" strike="noStrike">
                          <a:solidFill>
                            <a:srgbClr val="12252D"/>
                          </a:solidFill>
                          <a:latin typeface="Calibri"/>
                          <a:ea typeface="Calibri"/>
                          <a:cs typeface="Calibri"/>
                          <a:sym typeface="Calibri"/>
                        </a:rPr>
                        <a:t>HTTP/2</a:t>
                      </a:r>
                      <a:endParaRPr b="0" sz="187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r>
              <a:tr h="723600">
                <a:tc>
                  <a:txBody>
                    <a:bodyPr/>
                    <a:lstStyle/>
                    <a:p>
                      <a:pPr indent="0" lvl="0" marL="0" marR="0" rtl="0" algn="l">
                        <a:lnSpc>
                          <a:spcPct val="100000"/>
                        </a:lnSpc>
                        <a:spcBef>
                          <a:spcPts val="0"/>
                        </a:spcBef>
                        <a:spcAft>
                          <a:spcPts val="0"/>
                        </a:spcAft>
                        <a:buNone/>
                      </a:pPr>
                      <a:r>
                        <a:rPr b="0" lang="en-US" sz="1870" u="none" strike="noStrike">
                          <a:solidFill>
                            <a:srgbClr val="12252D"/>
                          </a:solidFill>
                          <a:latin typeface="Calibri"/>
                          <a:ea typeface="Calibri"/>
                          <a:cs typeface="Calibri"/>
                          <a:sym typeface="Calibri"/>
                        </a:rPr>
                        <a:t>Test contract</a:t>
                      </a:r>
                      <a:endParaRPr b="0" sz="187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1870" u="none" strike="noStrike">
                          <a:solidFill>
                            <a:srgbClr val="12252D"/>
                          </a:solidFill>
                          <a:latin typeface="Calibri"/>
                          <a:ea typeface="Calibri"/>
                          <a:cs typeface="Calibri"/>
                          <a:sym typeface="Calibri"/>
                        </a:rPr>
                        <a:t>Envelope + operation</a:t>
                      </a:r>
                      <a:endParaRPr b="0" sz="187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1870" u="none" strike="noStrike">
                          <a:solidFill>
                            <a:srgbClr val="12252D"/>
                          </a:solidFill>
                          <a:latin typeface="Calibri"/>
                          <a:ea typeface="Calibri"/>
                          <a:cs typeface="Calibri"/>
                          <a:sym typeface="Calibri"/>
                        </a:rPr>
                        <a:t>Method + URL + body</a:t>
                      </a:r>
                      <a:endParaRPr b="0" sz="187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1870" u="none" strike="noStrike">
                          <a:solidFill>
                            <a:srgbClr val="12252D"/>
                          </a:solidFill>
                          <a:latin typeface="Calibri"/>
                          <a:ea typeface="Calibri"/>
                          <a:cs typeface="Calibri"/>
                          <a:sym typeface="Calibri"/>
                        </a:rPr>
                        <a:t>.proto + service method</a:t>
                      </a:r>
                      <a:endParaRPr b="0" sz="187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r>
            </a:tbl>
          </a:graphicData>
        </a:graphic>
      </p:graphicFrame>
      <p:sp>
        <p:nvSpPr>
          <p:cNvPr id="63" name="Google Shape;63;p3"/>
          <p:cNvSpPr/>
          <p:nvPr/>
        </p:nvSpPr>
        <p:spPr>
          <a:xfrm>
            <a:off x="666720" y="5924520"/>
            <a:ext cx="1038168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56666C"/>
                </a:solidFill>
                <a:latin typeface="Calibri"/>
                <a:ea typeface="Calibri"/>
                <a:cs typeface="Calibri"/>
                <a:sym typeface="Calibri"/>
              </a:rPr>
              <a:t>SOAP uses XML. REST often uses JSON. gRPC usually uses Protobuf.</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68" name="Shape 68"/>
        <p:cNvGrpSpPr/>
        <p:nvPr/>
      </p:nvGrpSpPr>
      <p:grpSpPr>
        <a:xfrm>
          <a:off x="0" y="0"/>
          <a:ext cx="0" cy="0"/>
          <a:chOff x="0" y="0"/>
          <a:chExt cx="0" cy="0"/>
        </a:xfrm>
      </p:grpSpPr>
      <p:sp>
        <p:nvSpPr>
          <p:cNvPr id="69" name="Google Shape;69;p4"/>
          <p:cNvSpPr/>
          <p:nvPr/>
        </p:nvSpPr>
        <p:spPr>
          <a:xfrm>
            <a:off x="666720" y="514440"/>
            <a:ext cx="10839240" cy="856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3450" u="none" cap="none" strike="noStrike">
                <a:solidFill>
                  <a:srgbClr val="12252D"/>
                </a:solidFill>
                <a:latin typeface="Calibri"/>
                <a:ea typeface="Calibri"/>
                <a:cs typeface="Calibri"/>
                <a:sym typeface="Calibri"/>
              </a:rPr>
              <a:t>Example Protobuf contract</a:t>
            </a:r>
            <a:endParaRPr b="0" i="0" sz="3450" u="none" cap="none" strike="noStrike">
              <a:solidFill>
                <a:srgbClr val="000000"/>
              </a:solidFill>
              <a:latin typeface="Arial"/>
              <a:ea typeface="Arial"/>
              <a:cs typeface="Arial"/>
              <a:sym typeface="Arial"/>
            </a:endParaRPr>
          </a:p>
        </p:txBody>
      </p:sp>
      <p:sp>
        <p:nvSpPr>
          <p:cNvPr id="70" name="Google Shape;70;p4"/>
          <p:cNvSpPr/>
          <p:nvPr/>
        </p:nvSpPr>
        <p:spPr>
          <a:xfrm>
            <a:off x="666720" y="1743120"/>
            <a:ext cx="6381360" cy="4000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800" u="none" cap="none" strike="noStrike">
                <a:solidFill>
                  <a:srgbClr val="12252D"/>
                </a:solidFill>
                <a:latin typeface="Courier New"/>
                <a:ea typeface="Courier New"/>
                <a:cs typeface="Courier New"/>
                <a:sym typeface="Courier New"/>
              </a:rPr>
              <a:t>syntax = "proto3";</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12252D"/>
                </a:solidFill>
                <a:latin typeface="Courier New"/>
                <a:ea typeface="Courier New"/>
                <a:cs typeface="Courier New"/>
                <a:sym typeface="Courier New"/>
              </a:rPr>
              <a:t>service Permissions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12252D"/>
                </a:solidFill>
                <a:latin typeface="Courier New"/>
                <a:ea typeface="Courier New"/>
                <a:cs typeface="Courier New"/>
                <a:sym typeface="Courier New"/>
              </a:rPr>
              <a:t>  rpc Check(CheckRequest)</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12252D"/>
                </a:solidFill>
                <a:latin typeface="Courier New"/>
                <a:ea typeface="Courier New"/>
                <a:cs typeface="Courier New"/>
                <a:sym typeface="Courier New"/>
              </a:rPr>
              <a:t>      returns (CheckResponse);</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12252D"/>
                </a:solidFill>
                <a:latin typeface="Courier New"/>
                <a:ea typeface="Courier New"/>
                <a:cs typeface="Courier New"/>
                <a:sym typeface="Courier New"/>
              </a:rPr>
              <a:t>}</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12252D"/>
                </a:solidFill>
                <a:latin typeface="Courier New"/>
                <a:ea typeface="Courier New"/>
                <a:cs typeface="Courier New"/>
                <a:sym typeface="Courier New"/>
              </a:rPr>
              <a:t>message CheckRequest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12252D"/>
                </a:solidFill>
                <a:latin typeface="Courier New"/>
                <a:ea typeface="Courier New"/>
                <a:cs typeface="Courier New"/>
                <a:sym typeface="Courier New"/>
              </a:rPr>
              <a:t>  string resource_id = 1;</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12252D"/>
                </a:solidFill>
                <a:latin typeface="Courier New"/>
                <a:ea typeface="Courier New"/>
                <a:cs typeface="Courier New"/>
                <a:sym typeface="Courier New"/>
              </a:rPr>
              <a:t>}</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12252D"/>
                </a:solidFill>
                <a:latin typeface="Courier New"/>
                <a:ea typeface="Courier New"/>
                <a:cs typeface="Courier New"/>
                <a:sym typeface="Courier New"/>
              </a:rPr>
              <a:t>message CheckResponse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12252D"/>
                </a:solidFill>
                <a:latin typeface="Courier New"/>
                <a:ea typeface="Courier New"/>
                <a:cs typeface="Courier New"/>
                <a:sym typeface="Courier New"/>
              </a:rPr>
              <a:t>  bool allowed = 1;</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00" u="none" cap="none" strike="noStrike">
                <a:solidFill>
                  <a:srgbClr val="12252D"/>
                </a:solidFill>
                <a:latin typeface="Courier New"/>
                <a:ea typeface="Courier New"/>
                <a:cs typeface="Courier New"/>
                <a:sym typeface="Courier New"/>
              </a:rPr>
              <a:t>}</a:t>
            </a:r>
            <a:endParaRPr b="0" i="0" sz="1800" u="none" cap="none" strike="noStrike">
              <a:solidFill>
                <a:srgbClr val="000000"/>
              </a:solidFill>
              <a:latin typeface="Arial"/>
              <a:ea typeface="Arial"/>
              <a:cs typeface="Arial"/>
              <a:sym typeface="Arial"/>
            </a:endParaRPr>
          </a:p>
        </p:txBody>
      </p:sp>
      <p:sp>
        <p:nvSpPr>
          <p:cNvPr id="71" name="Google Shape;71;p4"/>
          <p:cNvSpPr/>
          <p:nvPr/>
        </p:nvSpPr>
        <p:spPr>
          <a:xfrm>
            <a:off x="7620120" y="1809720"/>
            <a:ext cx="3809520" cy="456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087F8C"/>
                </a:solidFill>
                <a:latin typeface="Calibri"/>
                <a:ea typeface="Calibri"/>
                <a:cs typeface="Calibri"/>
                <a:sym typeface="Calibri"/>
              </a:rPr>
              <a:t>RPC contract</a:t>
            </a:r>
            <a:endParaRPr b="0" i="0" sz="2400" u="none" cap="none" strike="noStrike">
              <a:solidFill>
                <a:srgbClr val="000000"/>
              </a:solidFill>
              <a:latin typeface="Arial"/>
              <a:ea typeface="Arial"/>
              <a:cs typeface="Arial"/>
              <a:sym typeface="Arial"/>
            </a:endParaRPr>
          </a:p>
        </p:txBody>
      </p:sp>
      <p:sp>
        <p:nvSpPr>
          <p:cNvPr id="72" name="Google Shape;72;p4"/>
          <p:cNvSpPr/>
          <p:nvPr/>
        </p:nvSpPr>
        <p:spPr>
          <a:xfrm>
            <a:off x="7620120" y="2333520"/>
            <a:ext cx="3809520" cy="809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020" u="none" cap="none" strike="noStrike">
                <a:solidFill>
                  <a:srgbClr val="12252D"/>
                </a:solidFill>
                <a:latin typeface="Calibri"/>
                <a:ea typeface="Calibri"/>
                <a:cs typeface="Calibri"/>
                <a:sym typeface="Calibri"/>
              </a:rPr>
              <a:t>CheckRequest in,</a:t>
            </a:r>
            <a:endParaRPr b="0" i="0" sz="202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020" u="none" cap="none" strike="noStrike">
                <a:solidFill>
                  <a:srgbClr val="12252D"/>
                </a:solidFill>
                <a:latin typeface="Calibri"/>
                <a:ea typeface="Calibri"/>
                <a:cs typeface="Calibri"/>
                <a:sym typeface="Calibri"/>
              </a:rPr>
              <a:t>CheckResponse out.</a:t>
            </a:r>
            <a:endParaRPr b="0" i="0" sz="2020" u="none" cap="none" strike="noStrike">
              <a:solidFill>
                <a:srgbClr val="000000"/>
              </a:solidFill>
              <a:latin typeface="Arial"/>
              <a:ea typeface="Arial"/>
              <a:cs typeface="Arial"/>
              <a:sym typeface="Arial"/>
            </a:endParaRPr>
          </a:p>
        </p:txBody>
      </p:sp>
      <p:sp>
        <p:nvSpPr>
          <p:cNvPr id="73" name="Google Shape;73;p4"/>
          <p:cNvSpPr/>
          <p:nvPr/>
        </p:nvSpPr>
        <p:spPr>
          <a:xfrm>
            <a:off x="7620120" y="3238560"/>
            <a:ext cx="3809520" cy="456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087F8C"/>
                </a:solidFill>
                <a:latin typeface="Calibri"/>
                <a:ea typeface="Calibri"/>
                <a:cs typeface="Calibri"/>
                <a:sym typeface="Calibri"/>
              </a:rPr>
              <a:t>Typed messages</a:t>
            </a:r>
            <a:endParaRPr b="0" i="0" sz="2400" u="none" cap="none" strike="noStrike">
              <a:solidFill>
                <a:srgbClr val="000000"/>
              </a:solidFill>
              <a:latin typeface="Arial"/>
              <a:ea typeface="Arial"/>
              <a:cs typeface="Arial"/>
              <a:sym typeface="Arial"/>
            </a:endParaRPr>
          </a:p>
        </p:txBody>
      </p:sp>
      <p:sp>
        <p:nvSpPr>
          <p:cNvPr id="74" name="Google Shape;74;p4"/>
          <p:cNvSpPr/>
          <p:nvPr/>
        </p:nvSpPr>
        <p:spPr>
          <a:xfrm>
            <a:off x="7620120" y="3762360"/>
            <a:ext cx="3809520" cy="809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020" u="none" cap="none" strike="noStrike">
                <a:solidFill>
                  <a:srgbClr val="12252D"/>
                </a:solidFill>
                <a:latin typeface="Calibri"/>
                <a:ea typeface="Calibri"/>
                <a:cs typeface="Calibri"/>
                <a:sym typeface="Calibri"/>
              </a:rPr>
              <a:t>resource_id is a string.</a:t>
            </a:r>
            <a:endParaRPr b="0" i="0" sz="202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020" u="none" cap="none" strike="noStrike">
                <a:solidFill>
                  <a:srgbClr val="12252D"/>
                </a:solidFill>
                <a:latin typeface="Calibri"/>
                <a:ea typeface="Calibri"/>
                <a:cs typeface="Calibri"/>
                <a:sym typeface="Calibri"/>
              </a:rPr>
              <a:t>allowed is a boolean.</a:t>
            </a:r>
            <a:endParaRPr b="0" i="0" sz="2020" u="none" cap="none" strike="noStrike">
              <a:solidFill>
                <a:srgbClr val="000000"/>
              </a:solidFill>
              <a:latin typeface="Arial"/>
              <a:ea typeface="Arial"/>
              <a:cs typeface="Arial"/>
              <a:sym typeface="Arial"/>
            </a:endParaRPr>
          </a:p>
        </p:txBody>
      </p:sp>
      <p:sp>
        <p:nvSpPr>
          <p:cNvPr id="75" name="Google Shape;75;p4"/>
          <p:cNvSpPr/>
          <p:nvPr/>
        </p:nvSpPr>
        <p:spPr>
          <a:xfrm>
            <a:off x="7620120" y="4667400"/>
            <a:ext cx="3809520" cy="456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087F8C"/>
                </a:solidFill>
                <a:latin typeface="Calibri"/>
                <a:ea typeface="Calibri"/>
                <a:cs typeface="Calibri"/>
                <a:sym typeface="Calibri"/>
              </a:rPr>
              <a:t>Field numbers</a:t>
            </a:r>
            <a:endParaRPr b="0" i="0" sz="2400" u="none" cap="none" strike="noStrike">
              <a:solidFill>
                <a:srgbClr val="000000"/>
              </a:solidFill>
              <a:latin typeface="Arial"/>
              <a:ea typeface="Arial"/>
              <a:cs typeface="Arial"/>
              <a:sym typeface="Arial"/>
            </a:endParaRPr>
          </a:p>
        </p:txBody>
      </p:sp>
      <p:sp>
        <p:nvSpPr>
          <p:cNvPr id="76" name="Google Shape;76;p4"/>
          <p:cNvSpPr/>
          <p:nvPr/>
        </p:nvSpPr>
        <p:spPr>
          <a:xfrm>
            <a:off x="7620120" y="5191200"/>
            <a:ext cx="38095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020" u="none" cap="none" strike="noStrike">
                <a:solidFill>
                  <a:srgbClr val="12252D"/>
                </a:solidFill>
                <a:latin typeface="Calibri"/>
                <a:ea typeface="Calibri"/>
                <a:cs typeface="Calibri"/>
                <a:sym typeface="Calibri"/>
              </a:rPr>
              <a:t>1 is a stable field identifier.</a:t>
            </a:r>
            <a:endParaRPr b="0" i="0" sz="2020" u="none" cap="none" strike="noStrike">
              <a:solidFill>
                <a:srgbClr val="000000"/>
              </a:solidFill>
              <a:latin typeface="Arial"/>
              <a:ea typeface="Arial"/>
              <a:cs typeface="Arial"/>
              <a:sym typeface="Arial"/>
            </a:endParaRPr>
          </a:p>
        </p:txBody>
      </p:sp>
      <p:sp>
        <p:nvSpPr>
          <p:cNvPr id="77" name="Google Shape;77;p4"/>
          <p:cNvSpPr/>
          <p:nvPr/>
        </p:nvSpPr>
        <p:spPr>
          <a:xfrm>
            <a:off x="666720" y="5924520"/>
            <a:ext cx="10382040" cy="428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56666C"/>
                </a:solidFill>
                <a:latin typeface="Calibri"/>
                <a:ea typeface="Calibri"/>
                <a:cs typeface="Calibri"/>
                <a:sym typeface="Calibri"/>
              </a:rPr>
              <a:t>The .proto file defines the contract. gRPC sends Protobuf messages as binary.</a:t>
            </a:r>
            <a:endParaRPr b="0" i="0" sz="1500" u="none" cap="none" strike="noStrike">
              <a:solidFill>
                <a:srgbClr val="000000"/>
              </a:solidFill>
              <a:latin typeface="Arial"/>
              <a:ea typeface="Arial"/>
              <a:cs typeface="Arial"/>
              <a:sym typeface="Arial"/>
            </a:endParaRPr>
          </a:p>
        </p:txBody>
      </p:sp>
      <p:sp>
        <p:nvSpPr>
          <p:cNvPr id="78" name="Google Shape;78;p4"/>
          <p:cNvSpPr/>
          <p:nvPr/>
        </p:nvSpPr>
        <p:spPr>
          <a:xfrm>
            <a:off x="11144160" y="6410160"/>
            <a:ext cx="380520" cy="228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50" u="none" cap="none" strike="noStrike">
                <a:solidFill>
                  <a:srgbClr val="56666C"/>
                </a:solidFill>
                <a:latin typeface="Calibri"/>
                <a:ea typeface="Calibri"/>
                <a:cs typeface="Calibri"/>
                <a:sym typeface="Calibri"/>
              </a:rPr>
              <a:t>04</a:t>
            </a:r>
            <a:endParaRPr b="0" i="0" sz="135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83" name="Shape 83"/>
        <p:cNvGrpSpPr/>
        <p:nvPr/>
      </p:nvGrpSpPr>
      <p:grpSpPr>
        <a:xfrm>
          <a:off x="0" y="0"/>
          <a:ext cx="0" cy="0"/>
          <a:chOff x="0" y="0"/>
          <a:chExt cx="0" cy="0"/>
        </a:xfrm>
      </p:grpSpPr>
      <p:sp>
        <p:nvSpPr>
          <p:cNvPr id="84" name="Google Shape;84;p5"/>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3450" u="none" cap="none" strike="noStrike">
                <a:solidFill>
                  <a:srgbClr val="12252D"/>
                </a:solidFill>
                <a:latin typeface="Calibri"/>
                <a:ea typeface="Calibri"/>
                <a:cs typeface="Calibri"/>
                <a:sym typeface="Calibri"/>
              </a:rPr>
              <a:t>Unary and streaming gRPC</a:t>
            </a:r>
            <a:endParaRPr b="0" i="0" sz="3450" u="none" cap="none" strike="noStrike">
              <a:solidFill>
                <a:srgbClr val="000000"/>
              </a:solidFill>
              <a:latin typeface="Arial"/>
              <a:ea typeface="Arial"/>
              <a:cs typeface="Arial"/>
              <a:sym typeface="Arial"/>
            </a:endParaRPr>
          </a:p>
        </p:txBody>
      </p:sp>
      <p:sp>
        <p:nvSpPr>
          <p:cNvPr id="85" name="Google Shape;85;p5"/>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50" u="none" cap="none" strike="noStrike">
                <a:solidFill>
                  <a:srgbClr val="56666C"/>
                </a:solidFill>
                <a:latin typeface="Calibri"/>
                <a:ea typeface="Calibri"/>
                <a:cs typeface="Calibri"/>
                <a:sym typeface="Calibri"/>
              </a:rPr>
              <a:t>05</a:t>
            </a:r>
            <a:endParaRPr b="0" i="0" sz="1350" u="none" cap="none" strike="noStrike">
              <a:solidFill>
                <a:srgbClr val="000000"/>
              </a:solidFill>
              <a:latin typeface="Arial"/>
              <a:ea typeface="Arial"/>
              <a:cs typeface="Arial"/>
              <a:sym typeface="Arial"/>
            </a:endParaRPr>
          </a:p>
        </p:txBody>
      </p:sp>
      <p:graphicFrame>
        <p:nvGraphicFramePr>
          <p:cNvPr id="86" name="Google Shape;86;p5"/>
          <p:cNvGraphicFramePr/>
          <p:nvPr/>
        </p:nvGraphicFramePr>
        <p:xfrm>
          <a:off x="666720" y="1762200"/>
          <a:ext cx="3000000" cy="3000000"/>
        </p:xfrm>
        <a:graphic>
          <a:graphicData uri="http://schemas.openxmlformats.org/drawingml/2006/table">
            <a:tbl>
              <a:tblPr>
                <a:noFill/>
                <a:tableStyleId>{B27AFFA7-D2A1-49AC-8F84-CA7D211AECD2}</a:tableStyleId>
              </a:tblPr>
              <a:tblGrid>
                <a:gridCol w="3429000"/>
                <a:gridCol w="3143150"/>
                <a:gridCol w="4286150"/>
              </a:tblGrid>
              <a:tr h="666725">
                <a:tc>
                  <a:txBody>
                    <a:bodyPr/>
                    <a:lstStyle/>
                    <a:p>
                      <a:pPr indent="0" lvl="0" marL="0" marR="0" rtl="0" algn="l">
                        <a:lnSpc>
                          <a:spcPct val="100000"/>
                        </a:lnSpc>
                        <a:spcBef>
                          <a:spcPts val="0"/>
                        </a:spcBef>
                        <a:spcAft>
                          <a:spcPts val="0"/>
                        </a:spcAft>
                        <a:buNone/>
                      </a:pPr>
                      <a:r>
                        <a:rPr b="1" lang="en-US" sz="1950" u="none" strike="noStrike">
                          <a:solidFill>
                            <a:srgbClr val="FFFFFF"/>
                          </a:solidFill>
                          <a:latin typeface="Calibri"/>
                          <a:ea typeface="Calibri"/>
                          <a:cs typeface="Calibri"/>
                          <a:sym typeface="Calibri"/>
                        </a:rPr>
                        <a:t>RPC pattern</a:t>
                      </a:r>
                      <a:endParaRPr b="0" sz="1950" u="none" strike="noStrike">
                        <a:solidFill>
                          <a:srgbClr val="FFFFFF"/>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10262F"/>
                    </a:solidFill>
                  </a:tcPr>
                </a:tc>
                <a:tc>
                  <a:txBody>
                    <a:bodyPr/>
                    <a:lstStyle/>
                    <a:p>
                      <a:pPr indent="0" lvl="0" marL="0" marR="0" rtl="0" algn="l">
                        <a:lnSpc>
                          <a:spcPct val="100000"/>
                        </a:lnSpc>
                        <a:spcBef>
                          <a:spcPts val="0"/>
                        </a:spcBef>
                        <a:spcAft>
                          <a:spcPts val="0"/>
                        </a:spcAft>
                        <a:buNone/>
                      </a:pPr>
                      <a:r>
                        <a:rPr b="1" lang="en-US" sz="1950" u="none" strike="noStrike">
                          <a:solidFill>
                            <a:srgbClr val="FFFFFF"/>
                          </a:solidFill>
                          <a:latin typeface="Calibri"/>
                          <a:ea typeface="Calibri"/>
                          <a:cs typeface="Calibri"/>
                          <a:sym typeface="Calibri"/>
                        </a:rPr>
                        <a:t>Client sends</a:t>
                      </a:r>
                      <a:endParaRPr b="0" sz="1950" u="none" strike="noStrike">
                        <a:solidFill>
                          <a:srgbClr val="FFFFFF"/>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10262F"/>
                    </a:solidFill>
                  </a:tcPr>
                </a:tc>
                <a:tc>
                  <a:txBody>
                    <a:bodyPr/>
                    <a:lstStyle/>
                    <a:p>
                      <a:pPr indent="0" lvl="0" marL="0" marR="0" rtl="0" algn="l">
                        <a:lnSpc>
                          <a:spcPct val="100000"/>
                        </a:lnSpc>
                        <a:spcBef>
                          <a:spcPts val="0"/>
                        </a:spcBef>
                        <a:spcAft>
                          <a:spcPts val="0"/>
                        </a:spcAft>
                        <a:buNone/>
                      </a:pPr>
                      <a:r>
                        <a:rPr b="1" lang="en-US" sz="1950" u="none" strike="noStrike">
                          <a:solidFill>
                            <a:srgbClr val="FFFFFF"/>
                          </a:solidFill>
                          <a:latin typeface="Calibri"/>
                          <a:ea typeface="Calibri"/>
                          <a:cs typeface="Calibri"/>
                          <a:sym typeface="Calibri"/>
                        </a:rPr>
                        <a:t>Server sends</a:t>
                      </a:r>
                      <a:endParaRPr b="0" sz="1950" u="none" strike="noStrike">
                        <a:solidFill>
                          <a:srgbClr val="FFFFFF"/>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10262F"/>
                    </a:solidFill>
                  </a:tcPr>
                </a:tc>
              </a:tr>
              <a:tr h="666725">
                <a:tc>
                  <a:txBody>
                    <a:bodyPr/>
                    <a:lstStyle/>
                    <a:p>
                      <a:pPr indent="0" lvl="0" marL="0" marR="0" rtl="0" algn="l">
                        <a:lnSpc>
                          <a:spcPct val="100000"/>
                        </a:lnSpc>
                        <a:spcBef>
                          <a:spcPts val="0"/>
                        </a:spcBef>
                        <a:spcAft>
                          <a:spcPts val="0"/>
                        </a:spcAft>
                        <a:buNone/>
                      </a:pPr>
                      <a:r>
                        <a:rPr b="0" lang="en-US" sz="1950" u="none" strike="noStrike">
                          <a:solidFill>
                            <a:srgbClr val="12252D"/>
                          </a:solidFill>
                          <a:latin typeface="Calibri"/>
                          <a:ea typeface="Calibri"/>
                          <a:cs typeface="Calibri"/>
                          <a:sym typeface="Calibri"/>
                        </a:rPr>
                        <a:t>Unary</a:t>
                      </a:r>
                      <a:endParaRPr b="0" sz="195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1950" u="none" strike="noStrike">
                          <a:solidFill>
                            <a:srgbClr val="12252D"/>
                          </a:solidFill>
                          <a:latin typeface="Calibri"/>
                          <a:ea typeface="Calibri"/>
                          <a:cs typeface="Calibri"/>
                          <a:sym typeface="Calibri"/>
                        </a:rPr>
                        <a:t>1 message</a:t>
                      </a:r>
                      <a:endParaRPr b="0" sz="195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1950" u="none" strike="noStrike">
                          <a:solidFill>
                            <a:srgbClr val="12252D"/>
                          </a:solidFill>
                          <a:latin typeface="Calibri"/>
                          <a:ea typeface="Calibri"/>
                          <a:cs typeface="Calibri"/>
                          <a:sym typeface="Calibri"/>
                        </a:rPr>
                        <a:t>1 message</a:t>
                      </a:r>
                      <a:endParaRPr b="0" sz="195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r>
              <a:tr h="666725">
                <a:tc>
                  <a:txBody>
                    <a:bodyPr/>
                    <a:lstStyle/>
                    <a:p>
                      <a:pPr indent="0" lvl="0" marL="0" marR="0" rtl="0" algn="l">
                        <a:lnSpc>
                          <a:spcPct val="100000"/>
                        </a:lnSpc>
                        <a:spcBef>
                          <a:spcPts val="0"/>
                        </a:spcBef>
                        <a:spcAft>
                          <a:spcPts val="0"/>
                        </a:spcAft>
                        <a:buNone/>
                      </a:pPr>
                      <a:r>
                        <a:rPr b="0" lang="en-US" sz="1950" u="none" strike="noStrike">
                          <a:solidFill>
                            <a:srgbClr val="12252D"/>
                          </a:solidFill>
                          <a:latin typeface="Calibri"/>
                          <a:ea typeface="Calibri"/>
                          <a:cs typeface="Calibri"/>
                          <a:sym typeface="Calibri"/>
                        </a:rPr>
                        <a:t>Server streaming</a:t>
                      </a:r>
                      <a:endParaRPr b="0" sz="195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1950" u="none" strike="noStrike">
                          <a:solidFill>
                            <a:srgbClr val="12252D"/>
                          </a:solidFill>
                          <a:latin typeface="Calibri"/>
                          <a:ea typeface="Calibri"/>
                          <a:cs typeface="Calibri"/>
                          <a:sym typeface="Calibri"/>
                        </a:rPr>
                        <a:t>1 message</a:t>
                      </a:r>
                      <a:endParaRPr b="0" sz="195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1950" u="none" strike="noStrike">
                          <a:solidFill>
                            <a:srgbClr val="12252D"/>
                          </a:solidFill>
                          <a:latin typeface="Calibri"/>
                          <a:ea typeface="Calibri"/>
                          <a:cs typeface="Calibri"/>
                          <a:sym typeface="Calibri"/>
                        </a:rPr>
                        <a:t>Many messages</a:t>
                      </a:r>
                      <a:endParaRPr b="0" sz="195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r>
              <a:tr h="666725">
                <a:tc>
                  <a:txBody>
                    <a:bodyPr/>
                    <a:lstStyle/>
                    <a:p>
                      <a:pPr indent="0" lvl="0" marL="0" marR="0" rtl="0" algn="l">
                        <a:lnSpc>
                          <a:spcPct val="100000"/>
                        </a:lnSpc>
                        <a:spcBef>
                          <a:spcPts val="0"/>
                        </a:spcBef>
                        <a:spcAft>
                          <a:spcPts val="0"/>
                        </a:spcAft>
                        <a:buNone/>
                      </a:pPr>
                      <a:r>
                        <a:rPr b="0" lang="en-US" sz="1950" u="none" strike="noStrike">
                          <a:solidFill>
                            <a:srgbClr val="12252D"/>
                          </a:solidFill>
                          <a:latin typeface="Calibri"/>
                          <a:ea typeface="Calibri"/>
                          <a:cs typeface="Calibri"/>
                          <a:sym typeface="Calibri"/>
                        </a:rPr>
                        <a:t>Client streaming</a:t>
                      </a:r>
                      <a:endParaRPr b="0" sz="195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1950" u="none" strike="noStrike">
                          <a:solidFill>
                            <a:srgbClr val="12252D"/>
                          </a:solidFill>
                          <a:latin typeface="Calibri"/>
                          <a:ea typeface="Calibri"/>
                          <a:cs typeface="Calibri"/>
                          <a:sym typeface="Calibri"/>
                        </a:rPr>
                        <a:t>Many messages</a:t>
                      </a:r>
                      <a:endParaRPr b="0" sz="195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1950" u="none" strike="noStrike">
                          <a:solidFill>
                            <a:srgbClr val="12252D"/>
                          </a:solidFill>
                          <a:latin typeface="Calibri"/>
                          <a:ea typeface="Calibri"/>
                          <a:cs typeface="Calibri"/>
                          <a:sym typeface="Calibri"/>
                        </a:rPr>
                        <a:t>1 message</a:t>
                      </a:r>
                      <a:endParaRPr b="0" sz="195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r>
              <a:tr h="666725">
                <a:tc>
                  <a:txBody>
                    <a:bodyPr/>
                    <a:lstStyle/>
                    <a:p>
                      <a:pPr indent="0" lvl="0" marL="0" marR="0" rtl="0" algn="l">
                        <a:lnSpc>
                          <a:spcPct val="100000"/>
                        </a:lnSpc>
                        <a:spcBef>
                          <a:spcPts val="0"/>
                        </a:spcBef>
                        <a:spcAft>
                          <a:spcPts val="0"/>
                        </a:spcAft>
                        <a:buNone/>
                      </a:pPr>
                      <a:r>
                        <a:rPr b="0" lang="en-US" sz="1950" u="none" strike="noStrike">
                          <a:solidFill>
                            <a:srgbClr val="12252D"/>
                          </a:solidFill>
                          <a:latin typeface="Calibri"/>
                          <a:ea typeface="Calibri"/>
                          <a:cs typeface="Calibri"/>
                          <a:sym typeface="Calibri"/>
                        </a:rPr>
                        <a:t>Bidirectional streaming</a:t>
                      </a:r>
                      <a:endParaRPr b="0" sz="195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1950" u="none" strike="noStrike">
                          <a:solidFill>
                            <a:srgbClr val="12252D"/>
                          </a:solidFill>
                          <a:latin typeface="Calibri"/>
                          <a:ea typeface="Calibri"/>
                          <a:cs typeface="Calibri"/>
                          <a:sym typeface="Calibri"/>
                        </a:rPr>
                        <a:t>Many messages</a:t>
                      </a:r>
                      <a:endParaRPr b="0" sz="195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1950" u="none" strike="noStrike">
                          <a:solidFill>
                            <a:srgbClr val="12252D"/>
                          </a:solidFill>
                          <a:latin typeface="Calibri"/>
                          <a:ea typeface="Calibri"/>
                          <a:cs typeface="Calibri"/>
                          <a:sym typeface="Calibri"/>
                        </a:rPr>
                        <a:t>Many messages independently</a:t>
                      </a:r>
                      <a:endParaRPr b="0" sz="195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r>
            </a:tbl>
          </a:graphicData>
        </a:graphic>
      </p:graphicFrame>
      <p:sp>
        <p:nvSpPr>
          <p:cNvPr id="87" name="Google Shape;87;p5"/>
          <p:cNvSpPr/>
          <p:nvPr/>
        </p:nvSpPr>
        <p:spPr>
          <a:xfrm>
            <a:off x="666720" y="5924520"/>
            <a:ext cx="1038168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56666C"/>
                </a:solidFill>
                <a:latin typeface="Calibri"/>
                <a:ea typeface="Calibri"/>
                <a:cs typeface="Calibri"/>
                <a:sym typeface="Calibri"/>
              </a:rPr>
              <a:t>A reusable channel carries RPCs. One streaming RPC carries multiple messages.</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92" name="Shape 92"/>
        <p:cNvGrpSpPr/>
        <p:nvPr/>
      </p:nvGrpSpPr>
      <p:grpSpPr>
        <a:xfrm>
          <a:off x="0" y="0"/>
          <a:ext cx="0" cy="0"/>
          <a:chOff x="0" y="0"/>
          <a:chExt cx="0" cy="0"/>
        </a:xfrm>
      </p:grpSpPr>
      <p:sp>
        <p:nvSpPr>
          <p:cNvPr id="93" name="Google Shape;93;p6"/>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3450" u="none" cap="none" strike="noStrike">
                <a:solidFill>
                  <a:srgbClr val="12252D"/>
                </a:solidFill>
                <a:latin typeface="Calibri"/>
                <a:ea typeface="Calibri"/>
                <a:cs typeface="Calibri"/>
                <a:sym typeface="Calibri"/>
              </a:rPr>
              <a:t>The unit of work changes with streaming</a:t>
            </a:r>
            <a:endParaRPr b="0" i="0" sz="3450" u="none" cap="none" strike="noStrike">
              <a:solidFill>
                <a:srgbClr val="000000"/>
              </a:solidFill>
              <a:latin typeface="Arial"/>
              <a:ea typeface="Arial"/>
              <a:cs typeface="Arial"/>
              <a:sym typeface="Arial"/>
            </a:endParaRPr>
          </a:p>
        </p:txBody>
      </p:sp>
      <p:sp>
        <p:nvSpPr>
          <p:cNvPr id="94" name="Google Shape;94;p6"/>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50" u="none" cap="none" strike="noStrike">
                <a:solidFill>
                  <a:srgbClr val="56666C"/>
                </a:solidFill>
                <a:latin typeface="Calibri"/>
                <a:ea typeface="Calibri"/>
                <a:cs typeface="Calibri"/>
                <a:sym typeface="Calibri"/>
              </a:rPr>
              <a:t>06</a:t>
            </a:r>
            <a:endParaRPr b="0" i="0" sz="1350" u="none" cap="none" strike="noStrike">
              <a:solidFill>
                <a:srgbClr val="000000"/>
              </a:solidFill>
              <a:latin typeface="Arial"/>
              <a:ea typeface="Arial"/>
              <a:cs typeface="Arial"/>
              <a:sym typeface="Arial"/>
            </a:endParaRPr>
          </a:p>
        </p:txBody>
      </p:sp>
      <p:sp>
        <p:nvSpPr>
          <p:cNvPr id="95" name="Google Shape;95;p6"/>
          <p:cNvSpPr/>
          <p:nvPr/>
        </p:nvSpPr>
        <p:spPr>
          <a:xfrm>
            <a:off x="666720" y="1857240"/>
            <a:ext cx="47617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087F8C"/>
                </a:solidFill>
                <a:latin typeface="Calibri"/>
                <a:ea typeface="Calibri"/>
                <a:cs typeface="Calibri"/>
                <a:sym typeface="Calibri"/>
              </a:rPr>
              <a:t>Unary API</a:t>
            </a:r>
            <a:endParaRPr b="0" i="0" sz="2400" u="none" cap="none" strike="noStrike">
              <a:solidFill>
                <a:srgbClr val="000000"/>
              </a:solidFill>
              <a:latin typeface="Arial"/>
              <a:ea typeface="Arial"/>
              <a:cs typeface="Arial"/>
              <a:sym typeface="Arial"/>
            </a:endParaRPr>
          </a:p>
        </p:txBody>
      </p:sp>
      <p:sp>
        <p:nvSpPr>
          <p:cNvPr id="96" name="Google Shape;96;p6"/>
          <p:cNvSpPr/>
          <p:nvPr/>
        </p:nvSpPr>
        <p:spPr>
          <a:xfrm>
            <a:off x="666720" y="2409840"/>
            <a:ext cx="4761720" cy="1618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Completed calls per second</a:t>
            </a:r>
            <a:endParaRPr b="0" i="0" sz="2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Latency to the response</a:t>
            </a:r>
            <a:endParaRPr b="0" i="0" sz="2100" u="none" cap="none" strike="noStrike">
              <a:solidFill>
                <a:srgbClr val="000000"/>
              </a:solidFill>
              <a:latin typeface="Arial"/>
              <a:ea typeface="Arial"/>
              <a:cs typeface="Arial"/>
              <a:sym typeface="Arial"/>
            </a:endParaRPr>
          </a:p>
        </p:txBody>
      </p:sp>
      <p:sp>
        <p:nvSpPr>
          <p:cNvPr id="97" name="Google Shape;97;p6"/>
          <p:cNvSpPr/>
          <p:nvPr/>
        </p:nvSpPr>
        <p:spPr>
          <a:xfrm>
            <a:off x="6381720" y="1857240"/>
            <a:ext cx="504756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087F8C"/>
                </a:solidFill>
                <a:latin typeface="Calibri"/>
                <a:ea typeface="Calibri"/>
                <a:cs typeface="Calibri"/>
                <a:sym typeface="Calibri"/>
              </a:rPr>
              <a:t>Streaming API</a:t>
            </a:r>
            <a:endParaRPr b="0" i="0" sz="2400" u="none" cap="none" strike="noStrike">
              <a:solidFill>
                <a:srgbClr val="000000"/>
              </a:solidFill>
              <a:latin typeface="Arial"/>
              <a:ea typeface="Arial"/>
              <a:cs typeface="Arial"/>
              <a:sym typeface="Arial"/>
            </a:endParaRPr>
          </a:p>
        </p:txBody>
      </p:sp>
      <p:sp>
        <p:nvSpPr>
          <p:cNvPr id="98" name="Google Shape;98;p6"/>
          <p:cNvSpPr/>
          <p:nvPr/>
        </p:nvSpPr>
        <p:spPr>
          <a:xfrm>
            <a:off x="6381720" y="2409840"/>
            <a:ext cx="5047560" cy="1618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Streams per second and messages per second</a:t>
            </a:r>
            <a:endParaRPr b="0" i="0" sz="2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Time to first message and full completion</a:t>
            </a:r>
            <a:endParaRPr b="0" i="0" sz="2100" u="none" cap="none" strike="noStrike">
              <a:solidFill>
                <a:srgbClr val="000000"/>
              </a:solidFill>
              <a:latin typeface="Arial"/>
              <a:ea typeface="Arial"/>
              <a:cs typeface="Arial"/>
              <a:sym typeface="Arial"/>
            </a:endParaRPr>
          </a:p>
        </p:txBody>
      </p:sp>
      <p:sp>
        <p:nvSpPr>
          <p:cNvPr id="99" name="Google Shape;99;p6"/>
          <p:cNvSpPr/>
          <p:nvPr/>
        </p:nvSpPr>
        <p:spPr>
          <a:xfrm>
            <a:off x="666720" y="4857840"/>
            <a:ext cx="10810080" cy="66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700" u="none" cap="none" strike="noStrike">
                <a:solidFill>
                  <a:srgbClr val="087F8C"/>
                </a:solidFill>
                <a:latin typeface="Calibri"/>
                <a:ea typeface="Calibri"/>
                <a:cs typeface="Calibri"/>
                <a:sym typeface="Calibri"/>
              </a:rPr>
              <a:t>Completion includes the final status and all expected messages</a:t>
            </a:r>
            <a:endParaRPr b="0" i="0" sz="2700" u="none" cap="none" strike="noStrike">
              <a:solidFill>
                <a:srgbClr val="000000"/>
              </a:solidFill>
              <a:latin typeface="Arial"/>
              <a:ea typeface="Arial"/>
              <a:cs typeface="Arial"/>
              <a:sym typeface="Arial"/>
            </a:endParaRPr>
          </a:p>
        </p:txBody>
      </p:sp>
      <p:sp>
        <p:nvSpPr>
          <p:cNvPr id="100" name="Google Shape;100;p6"/>
          <p:cNvSpPr/>
          <p:nvPr/>
        </p:nvSpPr>
        <p:spPr>
          <a:xfrm>
            <a:off x="666720" y="5924520"/>
            <a:ext cx="1038168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56666C"/>
                </a:solidFill>
                <a:latin typeface="Calibri"/>
                <a:ea typeface="Calibri"/>
                <a:cs typeface="Calibri"/>
                <a:sym typeface="Calibri"/>
              </a:rPr>
              <a:t>For long-lived streams, also track message delay, open streams and reconnects.</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105" name="Shape 105"/>
        <p:cNvGrpSpPr/>
        <p:nvPr/>
      </p:nvGrpSpPr>
      <p:grpSpPr>
        <a:xfrm>
          <a:off x="0" y="0"/>
          <a:ext cx="0" cy="0"/>
          <a:chOff x="0" y="0"/>
          <a:chExt cx="0" cy="0"/>
        </a:xfrm>
      </p:grpSpPr>
      <p:sp>
        <p:nvSpPr>
          <p:cNvPr id="106" name="Google Shape;106;p7"/>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3450" u="none" cap="none" strike="noStrike">
                <a:solidFill>
                  <a:srgbClr val="12252D"/>
                </a:solidFill>
                <a:latin typeface="Calibri"/>
                <a:ea typeface="Calibri"/>
                <a:cs typeface="Calibri"/>
                <a:sym typeface="Calibri"/>
              </a:rPr>
              <a:t>Core load-test measurements</a:t>
            </a:r>
            <a:endParaRPr b="0" i="0" sz="3450" u="none" cap="none" strike="noStrike">
              <a:solidFill>
                <a:srgbClr val="000000"/>
              </a:solidFill>
              <a:latin typeface="Arial"/>
              <a:ea typeface="Arial"/>
              <a:cs typeface="Arial"/>
              <a:sym typeface="Arial"/>
            </a:endParaRPr>
          </a:p>
        </p:txBody>
      </p:sp>
      <p:sp>
        <p:nvSpPr>
          <p:cNvPr id="107" name="Google Shape;107;p7"/>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50" u="none" cap="none" strike="noStrike">
                <a:solidFill>
                  <a:srgbClr val="56666C"/>
                </a:solidFill>
                <a:latin typeface="Calibri"/>
                <a:ea typeface="Calibri"/>
                <a:cs typeface="Calibri"/>
                <a:sym typeface="Calibri"/>
              </a:rPr>
              <a:t>07</a:t>
            </a:r>
            <a:endParaRPr b="0" i="0" sz="1350" u="none" cap="none" strike="noStrike">
              <a:solidFill>
                <a:srgbClr val="000000"/>
              </a:solidFill>
              <a:latin typeface="Arial"/>
              <a:ea typeface="Arial"/>
              <a:cs typeface="Arial"/>
              <a:sym typeface="Arial"/>
            </a:endParaRPr>
          </a:p>
        </p:txBody>
      </p:sp>
      <p:sp>
        <p:nvSpPr>
          <p:cNvPr id="108" name="Google Shape;108;p7"/>
          <p:cNvSpPr/>
          <p:nvPr/>
        </p:nvSpPr>
        <p:spPr>
          <a:xfrm>
            <a:off x="666720" y="180972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170" u="none" cap="none" strike="noStrike">
                <a:solidFill>
                  <a:srgbClr val="087F8C"/>
                </a:solidFill>
                <a:latin typeface="Calibri"/>
                <a:ea typeface="Calibri"/>
                <a:cs typeface="Calibri"/>
                <a:sym typeface="Calibri"/>
              </a:rPr>
              <a:t>Throughput</a:t>
            </a:r>
            <a:endParaRPr b="0" i="0" sz="2170" u="none" cap="none" strike="noStrike">
              <a:solidFill>
                <a:srgbClr val="000000"/>
              </a:solidFill>
              <a:latin typeface="Arial"/>
              <a:ea typeface="Arial"/>
              <a:cs typeface="Arial"/>
              <a:sym typeface="Arial"/>
            </a:endParaRPr>
          </a:p>
        </p:txBody>
      </p:sp>
      <p:sp>
        <p:nvSpPr>
          <p:cNvPr id="109" name="Google Shape;109;p7"/>
          <p:cNvSpPr/>
          <p:nvPr/>
        </p:nvSpPr>
        <p:spPr>
          <a:xfrm>
            <a:off x="3524400" y="180972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Completed work per second, with the unit clearly defined</a:t>
            </a:r>
            <a:endParaRPr b="0" i="0" sz="2100" u="none" cap="none" strike="noStrike">
              <a:solidFill>
                <a:srgbClr val="000000"/>
              </a:solidFill>
              <a:latin typeface="Arial"/>
              <a:ea typeface="Arial"/>
              <a:cs typeface="Arial"/>
              <a:sym typeface="Arial"/>
            </a:endParaRPr>
          </a:p>
        </p:txBody>
      </p:sp>
      <p:sp>
        <p:nvSpPr>
          <p:cNvPr id="110" name="Google Shape;110;p7"/>
          <p:cNvSpPr/>
          <p:nvPr/>
        </p:nvSpPr>
        <p:spPr>
          <a:xfrm>
            <a:off x="666720" y="280980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170" u="none" cap="none" strike="noStrike">
                <a:solidFill>
                  <a:srgbClr val="087F8C"/>
                </a:solidFill>
                <a:latin typeface="Calibri"/>
                <a:ea typeface="Calibri"/>
                <a:cs typeface="Calibri"/>
                <a:sym typeface="Calibri"/>
              </a:rPr>
              <a:t>Latency</a:t>
            </a:r>
            <a:endParaRPr b="0" i="0" sz="2170" u="none" cap="none" strike="noStrike">
              <a:solidFill>
                <a:srgbClr val="000000"/>
              </a:solidFill>
              <a:latin typeface="Arial"/>
              <a:ea typeface="Arial"/>
              <a:cs typeface="Arial"/>
              <a:sym typeface="Arial"/>
            </a:endParaRPr>
          </a:p>
        </p:txBody>
      </p:sp>
      <p:sp>
        <p:nvSpPr>
          <p:cNvPr id="111" name="Google Shape;111;p7"/>
          <p:cNvSpPr/>
          <p:nvPr/>
        </p:nvSpPr>
        <p:spPr>
          <a:xfrm>
            <a:off x="3524400" y="280980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Median for the typical call, P95 for the slower tail</a:t>
            </a:r>
            <a:endParaRPr b="0" i="0" sz="2100" u="none" cap="none" strike="noStrike">
              <a:solidFill>
                <a:srgbClr val="000000"/>
              </a:solidFill>
              <a:latin typeface="Arial"/>
              <a:ea typeface="Arial"/>
              <a:cs typeface="Arial"/>
              <a:sym typeface="Arial"/>
            </a:endParaRPr>
          </a:p>
        </p:txBody>
      </p:sp>
      <p:sp>
        <p:nvSpPr>
          <p:cNvPr id="112" name="Google Shape;112;p7"/>
          <p:cNvSpPr/>
          <p:nvPr/>
        </p:nvSpPr>
        <p:spPr>
          <a:xfrm>
            <a:off x="666720" y="380988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170" u="none" cap="none" strike="noStrike">
                <a:solidFill>
                  <a:srgbClr val="087F8C"/>
                </a:solidFill>
                <a:latin typeface="Calibri"/>
                <a:ea typeface="Calibri"/>
                <a:cs typeface="Calibri"/>
                <a:sym typeface="Calibri"/>
              </a:rPr>
              <a:t>Failures</a:t>
            </a:r>
            <a:endParaRPr b="0" i="0" sz="2170" u="none" cap="none" strike="noStrike">
              <a:solidFill>
                <a:srgbClr val="000000"/>
              </a:solidFill>
              <a:latin typeface="Arial"/>
              <a:ea typeface="Arial"/>
              <a:cs typeface="Arial"/>
              <a:sym typeface="Arial"/>
            </a:endParaRPr>
          </a:p>
        </p:txBody>
      </p:sp>
      <p:sp>
        <p:nvSpPr>
          <p:cNvPr id="113" name="Google Shape;113;p7"/>
          <p:cNvSpPr/>
          <p:nvPr/>
        </p:nvSpPr>
        <p:spPr>
          <a:xfrm>
            <a:off x="3524400" y="380988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Transport status plus checks of response correctness</a:t>
            </a:r>
            <a:endParaRPr b="0" i="0" sz="2100" u="none" cap="none" strike="noStrike">
              <a:solidFill>
                <a:srgbClr val="000000"/>
              </a:solidFill>
              <a:latin typeface="Arial"/>
              <a:ea typeface="Arial"/>
              <a:cs typeface="Arial"/>
              <a:sym typeface="Arial"/>
            </a:endParaRPr>
          </a:p>
        </p:txBody>
      </p:sp>
      <p:sp>
        <p:nvSpPr>
          <p:cNvPr id="114" name="Google Shape;114;p7"/>
          <p:cNvSpPr/>
          <p:nvPr/>
        </p:nvSpPr>
        <p:spPr>
          <a:xfrm>
            <a:off x="666720" y="480996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170" u="none" cap="none" strike="noStrike">
                <a:solidFill>
                  <a:srgbClr val="087F8C"/>
                </a:solidFill>
                <a:latin typeface="Calibri"/>
                <a:ea typeface="Calibri"/>
                <a:cs typeface="Calibri"/>
                <a:sym typeface="Calibri"/>
              </a:rPr>
              <a:t>Resources</a:t>
            </a:r>
            <a:endParaRPr b="0" i="0" sz="2170" u="none" cap="none" strike="noStrike">
              <a:solidFill>
                <a:srgbClr val="000000"/>
              </a:solidFill>
              <a:latin typeface="Arial"/>
              <a:ea typeface="Arial"/>
              <a:cs typeface="Arial"/>
              <a:sym typeface="Arial"/>
            </a:endParaRPr>
          </a:p>
        </p:txBody>
      </p:sp>
      <p:sp>
        <p:nvSpPr>
          <p:cNvPr id="115" name="Google Shape;115;p7"/>
          <p:cNvSpPr/>
          <p:nvPr/>
        </p:nvSpPr>
        <p:spPr>
          <a:xfrm>
            <a:off x="3524400" y="480996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Generator CPU/memory, service load and database activity</a:t>
            </a:r>
            <a:endParaRPr b="0" i="0" sz="2100" u="none" cap="none" strike="noStrike">
              <a:solidFill>
                <a:srgbClr val="000000"/>
              </a:solidFill>
              <a:latin typeface="Arial"/>
              <a:ea typeface="Arial"/>
              <a:cs typeface="Arial"/>
              <a:sym typeface="Arial"/>
            </a:endParaRPr>
          </a:p>
        </p:txBody>
      </p:sp>
      <p:sp>
        <p:nvSpPr>
          <p:cNvPr id="116" name="Google Shape;116;p7"/>
          <p:cNvSpPr/>
          <p:nvPr/>
        </p:nvSpPr>
        <p:spPr>
          <a:xfrm>
            <a:off x="666720" y="5924520"/>
            <a:ext cx="1038168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56666C"/>
                </a:solidFill>
                <a:latin typeface="Calibri"/>
                <a:ea typeface="Calibri"/>
                <a:cs typeface="Calibri"/>
                <a:sym typeface="Calibri"/>
              </a:rPr>
              <a:t>A healthy status code can still hide slow responses or an incorrect payload.</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121" name="Shape 121"/>
        <p:cNvGrpSpPr/>
        <p:nvPr/>
      </p:nvGrpSpPr>
      <p:grpSpPr>
        <a:xfrm>
          <a:off x="0" y="0"/>
          <a:ext cx="0" cy="0"/>
          <a:chOff x="0" y="0"/>
          <a:chExt cx="0" cy="0"/>
        </a:xfrm>
      </p:grpSpPr>
      <p:sp>
        <p:nvSpPr>
          <p:cNvPr id="122" name="Google Shape;122;p8"/>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3450" u="none" cap="none" strike="noStrike">
                <a:solidFill>
                  <a:srgbClr val="12252D"/>
                </a:solidFill>
                <a:latin typeface="Calibri"/>
                <a:ea typeface="Calibri"/>
                <a:cs typeface="Calibri"/>
                <a:sym typeface="Calibri"/>
              </a:rPr>
              <a:t>Virtual users (VUs)</a:t>
            </a:r>
            <a:endParaRPr b="0" i="0" sz="3450" u="none" cap="none" strike="noStrike">
              <a:solidFill>
                <a:srgbClr val="000000"/>
              </a:solidFill>
              <a:latin typeface="Arial"/>
              <a:ea typeface="Arial"/>
              <a:cs typeface="Arial"/>
              <a:sym typeface="Arial"/>
            </a:endParaRPr>
          </a:p>
        </p:txBody>
      </p:sp>
      <p:sp>
        <p:nvSpPr>
          <p:cNvPr id="123" name="Google Shape;123;p8"/>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50" u="none" cap="none" strike="noStrike">
                <a:solidFill>
                  <a:srgbClr val="56666C"/>
                </a:solidFill>
                <a:latin typeface="Calibri"/>
                <a:ea typeface="Calibri"/>
                <a:cs typeface="Calibri"/>
                <a:sym typeface="Calibri"/>
              </a:rPr>
              <a:t>08</a:t>
            </a:r>
            <a:endParaRPr b="0" i="0" sz="1350" u="none" cap="none" strike="noStrike">
              <a:solidFill>
                <a:srgbClr val="000000"/>
              </a:solidFill>
              <a:latin typeface="Arial"/>
              <a:ea typeface="Arial"/>
              <a:cs typeface="Arial"/>
              <a:sym typeface="Arial"/>
            </a:endParaRPr>
          </a:p>
        </p:txBody>
      </p:sp>
      <p:sp>
        <p:nvSpPr>
          <p:cNvPr id="124" name="Google Shape;124;p8"/>
          <p:cNvSpPr/>
          <p:nvPr/>
        </p:nvSpPr>
        <p:spPr>
          <a:xfrm>
            <a:off x="666720" y="1752480"/>
            <a:ext cx="10858320" cy="856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850" u="none" cap="none" strike="noStrike">
                <a:solidFill>
                  <a:srgbClr val="087F8C"/>
                </a:solidFill>
                <a:latin typeface="Calibri"/>
                <a:ea typeface="Calibri"/>
                <a:cs typeface="Calibri"/>
                <a:sym typeface="Calibri"/>
              </a:rPr>
              <a:t>A VU is a simulated client running a scripted workflow.</a:t>
            </a:r>
            <a:endParaRPr b="0" i="0" sz="2850" u="none" cap="none" strike="noStrike">
              <a:solidFill>
                <a:srgbClr val="000000"/>
              </a:solidFill>
              <a:latin typeface="Arial"/>
              <a:ea typeface="Arial"/>
              <a:cs typeface="Arial"/>
              <a:sym typeface="Arial"/>
            </a:endParaRPr>
          </a:p>
        </p:txBody>
      </p:sp>
      <p:sp>
        <p:nvSpPr>
          <p:cNvPr id="125" name="Google Shape;125;p8"/>
          <p:cNvSpPr/>
          <p:nvPr/>
        </p:nvSpPr>
        <p:spPr>
          <a:xfrm>
            <a:off x="666720" y="3619440"/>
            <a:ext cx="5238360" cy="1257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70" u="none" cap="none" strike="noStrike">
                <a:solidFill>
                  <a:srgbClr val="12252D"/>
                </a:solidFill>
                <a:latin typeface="Calibri"/>
                <a:ea typeface="Calibri"/>
                <a:cs typeface="Calibri"/>
                <a:sym typeface="Calibri"/>
              </a:rPr>
              <a:t>Call an API</a:t>
            </a:r>
            <a:endParaRPr b="0" i="0" sz="217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170" u="none" cap="none" strike="noStrike">
                <a:solidFill>
                  <a:srgbClr val="12252D"/>
                </a:solidFill>
                <a:latin typeface="Calibri"/>
                <a:ea typeface="Calibri"/>
                <a:cs typeface="Calibri"/>
                <a:sym typeface="Calibri"/>
              </a:rPr>
              <a:t>Validate the response</a:t>
            </a:r>
            <a:endParaRPr b="0" i="0" sz="217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170" u="none" cap="none" strike="noStrike">
                <a:solidFill>
                  <a:srgbClr val="12252D"/>
                </a:solidFill>
                <a:latin typeface="Calibri"/>
                <a:ea typeface="Calibri"/>
                <a:cs typeface="Calibri"/>
                <a:sym typeface="Calibri"/>
              </a:rPr>
              <a:t>Pause and repeat</a:t>
            </a:r>
            <a:endParaRPr b="0" i="0" sz="2170" u="none" cap="none" strike="noStrike">
              <a:solidFill>
                <a:srgbClr val="000000"/>
              </a:solidFill>
              <a:latin typeface="Arial"/>
              <a:ea typeface="Arial"/>
              <a:cs typeface="Arial"/>
              <a:sym typeface="Arial"/>
            </a:endParaRPr>
          </a:p>
        </p:txBody>
      </p:sp>
      <p:sp>
        <p:nvSpPr>
          <p:cNvPr id="126" name="Google Shape;126;p8"/>
          <p:cNvSpPr/>
          <p:nvPr/>
        </p:nvSpPr>
        <p:spPr>
          <a:xfrm>
            <a:off x="6953400" y="2952720"/>
            <a:ext cx="4571640" cy="761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3750" u="none" cap="none" strike="noStrike">
                <a:solidFill>
                  <a:srgbClr val="087F8C"/>
                </a:solidFill>
                <a:latin typeface="Calibri"/>
                <a:ea typeface="Calibri"/>
                <a:cs typeface="Calibri"/>
                <a:sym typeface="Calibri"/>
              </a:rPr>
              <a:t>10 VUs ≈ 20 RPS</a:t>
            </a:r>
            <a:endParaRPr b="0" i="0" sz="3750" u="none" cap="none" strike="noStrike">
              <a:solidFill>
                <a:srgbClr val="000000"/>
              </a:solidFill>
              <a:latin typeface="Arial"/>
              <a:ea typeface="Arial"/>
              <a:cs typeface="Arial"/>
              <a:sym typeface="Arial"/>
            </a:endParaRPr>
          </a:p>
        </p:txBody>
      </p:sp>
      <p:sp>
        <p:nvSpPr>
          <p:cNvPr id="127" name="Google Shape;127;p8"/>
          <p:cNvSpPr/>
          <p:nvPr/>
        </p:nvSpPr>
        <p:spPr>
          <a:xfrm>
            <a:off x="6953400" y="3876840"/>
            <a:ext cx="4571640" cy="1095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12252D"/>
                </a:solidFill>
                <a:latin typeface="Calibri"/>
                <a:ea typeface="Calibri"/>
                <a:cs typeface="Calibri"/>
                <a:sym typeface="Calibri"/>
              </a:rPr>
              <a:t>Example: one API call per loop</a:t>
            </a:r>
            <a:endParaRPr b="0" i="0" sz="195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950" u="none" cap="none" strike="noStrike">
                <a:solidFill>
                  <a:srgbClr val="12252D"/>
                </a:solidFill>
                <a:latin typeface="Calibri"/>
                <a:ea typeface="Calibri"/>
                <a:cs typeface="Calibri"/>
                <a:sym typeface="Calibri"/>
              </a:rPr>
              <a:t>0.5 s per loop, including pauses</a:t>
            </a:r>
            <a:endParaRPr b="0" i="0" sz="1950" u="none" cap="none" strike="noStrike">
              <a:solidFill>
                <a:srgbClr val="000000"/>
              </a:solidFill>
              <a:latin typeface="Arial"/>
              <a:ea typeface="Arial"/>
              <a:cs typeface="Arial"/>
              <a:sym typeface="Arial"/>
            </a:endParaRPr>
          </a:p>
        </p:txBody>
      </p:sp>
      <p:sp>
        <p:nvSpPr>
          <p:cNvPr id="128" name="Google Shape;128;p8"/>
          <p:cNvSpPr/>
          <p:nvPr/>
        </p:nvSpPr>
        <p:spPr>
          <a:xfrm>
            <a:off x="666720" y="2952720"/>
            <a:ext cx="5524200" cy="571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12252D"/>
                </a:solidFill>
                <a:latin typeface="Calibri"/>
                <a:ea typeface="Calibri"/>
                <a:cs typeface="Calibri"/>
                <a:sym typeface="Calibri"/>
              </a:rPr>
              <a:t>Each VU repeats its workflow</a:t>
            </a:r>
            <a:endParaRPr b="0" i="0" sz="2400" u="none" cap="none" strike="noStrike">
              <a:solidFill>
                <a:srgbClr val="000000"/>
              </a:solidFill>
              <a:latin typeface="Arial"/>
              <a:ea typeface="Arial"/>
              <a:cs typeface="Arial"/>
              <a:sym typeface="Arial"/>
            </a:endParaRPr>
          </a:p>
        </p:txBody>
      </p:sp>
      <p:sp>
        <p:nvSpPr>
          <p:cNvPr id="129" name="Google Shape;129;p8"/>
          <p:cNvSpPr/>
          <p:nvPr/>
        </p:nvSpPr>
        <p:spPr>
          <a:xfrm>
            <a:off x="666720" y="5924520"/>
            <a:ext cx="1038168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56666C"/>
                </a:solidFill>
                <a:latin typeface="Calibri"/>
                <a:ea typeface="Calibri"/>
                <a:cs typeface="Calibri"/>
                <a:sym typeface="Calibri"/>
              </a:rPr>
              <a:t>The same VU count can generate different RPS as workflows and response times change.</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134" name="Shape 134"/>
        <p:cNvGrpSpPr/>
        <p:nvPr/>
      </p:nvGrpSpPr>
      <p:grpSpPr>
        <a:xfrm>
          <a:off x="0" y="0"/>
          <a:ext cx="0" cy="0"/>
          <a:chOff x="0" y="0"/>
          <a:chExt cx="0" cy="0"/>
        </a:xfrm>
      </p:grpSpPr>
      <p:sp>
        <p:nvSpPr>
          <p:cNvPr id="135" name="Google Shape;135;p9"/>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3450" u="none" cap="none" strike="noStrike">
                <a:solidFill>
                  <a:srgbClr val="12252D"/>
                </a:solidFill>
                <a:latin typeface="Calibri"/>
                <a:ea typeface="Calibri"/>
                <a:cs typeface="Calibri"/>
                <a:sym typeface="Calibri"/>
              </a:rPr>
              <a:t>Different tests answer different questions</a:t>
            </a:r>
            <a:endParaRPr b="0" i="0" sz="3450" u="none" cap="none" strike="noStrike">
              <a:solidFill>
                <a:srgbClr val="000000"/>
              </a:solidFill>
              <a:latin typeface="Arial"/>
              <a:ea typeface="Arial"/>
              <a:cs typeface="Arial"/>
              <a:sym typeface="Arial"/>
            </a:endParaRPr>
          </a:p>
        </p:txBody>
      </p:sp>
      <p:sp>
        <p:nvSpPr>
          <p:cNvPr id="136" name="Google Shape;136;p9"/>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50" u="none" cap="none" strike="noStrike">
                <a:solidFill>
                  <a:srgbClr val="56666C"/>
                </a:solidFill>
                <a:latin typeface="Calibri"/>
                <a:ea typeface="Calibri"/>
                <a:cs typeface="Calibri"/>
                <a:sym typeface="Calibri"/>
              </a:rPr>
              <a:t>09</a:t>
            </a:r>
            <a:endParaRPr b="0" i="0" sz="1350" u="none" cap="none" strike="noStrike">
              <a:solidFill>
                <a:srgbClr val="000000"/>
              </a:solidFill>
              <a:latin typeface="Arial"/>
              <a:ea typeface="Arial"/>
              <a:cs typeface="Arial"/>
              <a:sym typeface="Arial"/>
            </a:endParaRPr>
          </a:p>
        </p:txBody>
      </p:sp>
      <p:sp>
        <p:nvSpPr>
          <p:cNvPr id="137" name="Google Shape;137;p9"/>
          <p:cNvSpPr/>
          <p:nvPr/>
        </p:nvSpPr>
        <p:spPr>
          <a:xfrm>
            <a:off x="666720" y="180972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170" u="none" cap="none" strike="noStrike">
                <a:solidFill>
                  <a:srgbClr val="087F8C"/>
                </a:solidFill>
                <a:latin typeface="Calibri"/>
                <a:ea typeface="Calibri"/>
                <a:cs typeface="Calibri"/>
                <a:sym typeface="Calibri"/>
              </a:rPr>
              <a:t>Baseline / load</a:t>
            </a:r>
            <a:endParaRPr b="0" i="0" sz="2170" u="none" cap="none" strike="noStrike">
              <a:solidFill>
                <a:srgbClr val="000000"/>
              </a:solidFill>
              <a:latin typeface="Arial"/>
              <a:ea typeface="Arial"/>
              <a:cs typeface="Arial"/>
              <a:sym typeface="Arial"/>
            </a:endParaRPr>
          </a:p>
        </p:txBody>
      </p:sp>
      <p:sp>
        <p:nvSpPr>
          <p:cNvPr id="138" name="Google Shape;138;p9"/>
          <p:cNvSpPr/>
          <p:nvPr/>
        </p:nvSpPr>
        <p:spPr>
          <a:xfrm>
            <a:off x="3524400" y="180972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How does this version behave at an expected workload?</a:t>
            </a:r>
            <a:endParaRPr b="0" i="0" sz="2100" u="none" cap="none" strike="noStrike">
              <a:solidFill>
                <a:srgbClr val="000000"/>
              </a:solidFill>
              <a:latin typeface="Arial"/>
              <a:ea typeface="Arial"/>
              <a:cs typeface="Arial"/>
              <a:sym typeface="Arial"/>
            </a:endParaRPr>
          </a:p>
        </p:txBody>
      </p:sp>
      <p:sp>
        <p:nvSpPr>
          <p:cNvPr id="139" name="Google Shape;139;p9"/>
          <p:cNvSpPr/>
          <p:nvPr/>
        </p:nvSpPr>
        <p:spPr>
          <a:xfrm>
            <a:off x="666720" y="280980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170" u="none" cap="none" strike="noStrike">
                <a:solidFill>
                  <a:srgbClr val="087F8C"/>
                </a:solidFill>
                <a:latin typeface="Calibri"/>
                <a:ea typeface="Calibri"/>
                <a:cs typeface="Calibri"/>
                <a:sym typeface="Calibri"/>
              </a:rPr>
              <a:t>Stress</a:t>
            </a:r>
            <a:endParaRPr b="0" i="0" sz="2170" u="none" cap="none" strike="noStrike">
              <a:solidFill>
                <a:srgbClr val="000000"/>
              </a:solidFill>
              <a:latin typeface="Arial"/>
              <a:ea typeface="Arial"/>
              <a:cs typeface="Arial"/>
              <a:sym typeface="Arial"/>
            </a:endParaRPr>
          </a:p>
        </p:txBody>
      </p:sp>
      <p:sp>
        <p:nvSpPr>
          <p:cNvPr id="140" name="Google Shape;140;p9"/>
          <p:cNvSpPr/>
          <p:nvPr/>
        </p:nvSpPr>
        <p:spPr>
          <a:xfrm>
            <a:off x="3524400" y="280980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Where does throughput flatten, latency rise or failure begin?</a:t>
            </a:r>
            <a:endParaRPr b="0" i="0" sz="2100" u="none" cap="none" strike="noStrike">
              <a:solidFill>
                <a:srgbClr val="000000"/>
              </a:solidFill>
              <a:latin typeface="Arial"/>
              <a:ea typeface="Arial"/>
              <a:cs typeface="Arial"/>
              <a:sym typeface="Arial"/>
            </a:endParaRPr>
          </a:p>
        </p:txBody>
      </p:sp>
      <p:sp>
        <p:nvSpPr>
          <p:cNvPr id="141" name="Google Shape;141;p9"/>
          <p:cNvSpPr/>
          <p:nvPr/>
        </p:nvSpPr>
        <p:spPr>
          <a:xfrm>
            <a:off x="666720" y="380988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170" u="none" cap="none" strike="noStrike">
                <a:solidFill>
                  <a:srgbClr val="087F8C"/>
                </a:solidFill>
                <a:latin typeface="Calibri"/>
                <a:ea typeface="Calibri"/>
                <a:cs typeface="Calibri"/>
                <a:sym typeface="Calibri"/>
              </a:rPr>
              <a:t>Spike</a:t>
            </a:r>
            <a:endParaRPr b="0" i="0" sz="2170" u="none" cap="none" strike="noStrike">
              <a:solidFill>
                <a:srgbClr val="000000"/>
              </a:solidFill>
              <a:latin typeface="Arial"/>
              <a:ea typeface="Arial"/>
              <a:cs typeface="Arial"/>
              <a:sym typeface="Arial"/>
            </a:endParaRPr>
          </a:p>
        </p:txBody>
      </p:sp>
      <p:sp>
        <p:nvSpPr>
          <p:cNvPr id="142" name="Google Shape;142;p9"/>
          <p:cNvSpPr/>
          <p:nvPr/>
        </p:nvSpPr>
        <p:spPr>
          <a:xfrm>
            <a:off x="3524400" y="380988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How does the system handle a sudden change in traffic?</a:t>
            </a:r>
            <a:endParaRPr b="0" i="0" sz="2100" u="none" cap="none" strike="noStrike">
              <a:solidFill>
                <a:srgbClr val="000000"/>
              </a:solidFill>
              <a:latin typeface="Arial"/>
              <a:ea typeface="Arial"/>
              <a:cs typeface="Arial"/>
              <a:sym typeface="Arial"/>
            </a:endParaRPr>
          </a:p>
        </p:txBody>
      </p:sp>
      <p:sp>
        <p:nvSpPr>
          <p:cNvPr id="143" name="Google Shape;143;p9"/>
          <p:cNvSpPr/>
          <p:nvPr/>
        </p:nvSpPr>
        <p:spPr>
          <a:xfrm>
            <a:off x="666720" y="480996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170" u="none" cap="none" strike="noStrike">
                <a:solidFill>
                  <a:srgbClr val="087F8C"/>
                </a:solidFill>
                <a:latin typeface="Calibri"/>
                <a:ea typeface="Calibri"/>
                <a:cs typeface="Calibri"/>
                <a:sym typeface="Calibri"/>
              </a:rPr>
              <a:t>Soak</a:t>
            </a:r>
            <a:endParaRPr b="0" i="0" sz="2170" u="none" cap="none" strike="noStrike">
              <a:solidFill>
                <a:srgbClr val="000000"/>
              </a:solidFill>
              <a:latin typeface="Arial"/>
              <a:ea typeface="Arial"/>
              <a:cs typeface="Arial"/>
              <a:sym typeface="Arial"/>
            </a:endParaRPr>
          </a:p>
        </p:txBody>
      </p:sp>
      <p:sp>
        <p:nvSpPr>
          <p:cNvPr id="144" name="Google Shape;144;p9"/>
          <p:cNvSpPr/>
          <p:nvPr/>
        </p:nvSpPr>
        <p:spPr>
          <a:xfrm>
            <a:off x="3524400" y="480996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Does performance hold as the test runs for longer?</a:t>
            </a:r>
            <a:endParaRPr b="0" i="0" sz="2100" u="none" cap="none" strike="noStrike">
              <a:solidFill>
                <a:srgbClr val="000000"/>
              </a:solidFill>
              <a:latin typeface="Arial"/>
              <a:ea typeface="Arial"/>
              <a:cs typeface="Arial"/>
              <a:sym typeface="Arial"/>
            </a:endParaRPr>
          </a:p>
        </p:txBody>
      </p:sp>
      <p:sp>
        <p:nvSpPr>
          <p:cNvPr id="145" name="Google Shape;145;p9"/>
          <p:cNvSpPr/>
          <p:nvPr/>
        </p:nvSpPr>
        <p:spPr>
          <a:xfrm>
            <a:off x="666720" y="5924520"/>
            <a:ext cx="1038168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56666C"/>
                </a:solidFill>
                <a:latin typeface="Calibri"/>
                <a:ea typeface="Calibri"/>
                <a:cs typeface="Calibri"/>
                <a:sym typeface="Calibri"/>
              </a:rPr>
              <a:t>CPT means Continuous Performance Testing: repeating a comparable experiment.</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62F"/>
        </a:solidFill>
      </p:bgPr>
    </p:bg>
    <p:spTree>
      <p:nvGrpSpPr>
        <p:cNvPr id="150" name="Shape 150"/>
        <p:cNvGrpSpPr/>
        <p:nvPr/>
      </p:nvGrpSpPr>
      <p:grpSpPr>
        <a:xfrm>
          <a:off x="0" y="0"/>
          <a:ext cx="0" cy="0"/>
          <a:chOff x="0" y="0"/>
          <a:chExt cx="0" cy="0"/>
        </a:xfrm>
      </p:grpSpPr>
      <p:sp>
        <p:nvSpPr>
          <p:cNvPr id="151" name="Google Shape;151;p10"/>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50" u="none" cap="none" strike="noStrike">
                <a:solidFill>
                  <a:srgbClr val="98A9B0"/>
                </a:solidFill>
                <a:latin typeface="Calibri"/>
                <a:ea typeface="Calibri"/>
                <a:cs typeface="Calibri"/>
                <a:sym typeface="Calibri"/>
              </a:rPr>
              <a:t>10</a:t>
            </a:r>
            <a:endParaRPr b="0" i="0" sz="1350" u="none" cap="none" strike="noStrike">
              <a:solidFill>
                <a:srgbClr val="FFFFFF"/>
              </a:solidFill>
              <a:latin typeface="Arial"/>
              <a:ea typeface="Arial"/>
              <a:cs typeface="Arial"/>
              <a:sym typeface="Arial"/>
            </a:endParaRPr>
          </a:p>
        </p:txBody>
      </p:sp>
      <p:sp>
        <p:nvSpPr>
          <p:cNvPr id="152" name="Google Shape;152;p10"/>
          <p:cNvSpPr/>
          <p:nvPr/>
        </p:nvSpPr>
        <p:spPr>
          <a:xfrm>
            <a:off x="666720" y="685800"/>
            <a:ext cx="2094840" cy="1142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7050" u="none" cap="none" strike="noStrike">
                <a:solidFill>
                  <a:srgbClr val="087F8C"/>
                </a:solidFill>
                <a:latin typeface="Calibri"/>
                <a:ea typeface="Calibri"/>
                <a:cs typeface="Calibri"/>
                <a:sym typeface="Calibri"/>
              </a:rPr>
              <a:t>02</a:t>
            </a:r>
            <a:endParaRPr b="0" i="0" sz="7050" u="none" cap="none" strike="noStrike">
              <a:solidFill>
                <a:srgbClr val="FFFFFF"/>
              </a:solidFill>
              <a:latin typeface="Arial"/>
              <a:ea typeface="Arial"/>
              <a:cs typeface="Arial"/>
              <a:sym typeface="Arial"/>
            </a:endParaRPr>
          </a:p>
        </p:txBody>
      </p:sp>
      <p:sp>
        <p:nvSpPr>
          <p:cNvPr id="153" name="Google Shape;153;p10"/>
          <p:cNvSpPr/>
          <p:nvPr/>
        </p:nvSpPr>
        <p:spPr>
          <a:xfrm>
            <a:off x="666720" y="2143080"/>
            <a:ext cx="5428440" cy="180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4500" u="none" cap="none" strike="noStrike">
                <a:solidFill>
                  <a:srgbClr val="FFFFFF"/>
                </a:solidFill>
                <a:latin typeface="Calibri"/>
                <a:ea typeface="Calibri"/>
                <a:cs typeface="Calibri"/>
                <a:sym typeface="Calibri"/>
              </a:rPr>
              <a:t>The original</a:t>
            </a:r>
            <a:endParaRPr b="0" i="0" sz="45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rPr b="1" i="0" lang="en-US" sz="4500" u="none" cap="none" strike="noStrike">
                <a:solidFill>
                  <a:srgbClr val="FFFFFF"/>
                </a:solidFill>
                <a:latin typeface="Calibri"/>
                <a:ea typeface="Calibri"/>
                <a:cs typeface="Calibri"/>
                <a:sym typeface="Calibri"/>
              </a:rPr>
              <a:t>harness</a:t>
            </a:r>
            <a:endParaRPr b="0" i="0" sz="4500" u="none" cap="none" strike="noStrike">
              <a:solidFill>
                <a:srgbClr val="FFFFFF"/>
              </a:solidFill>
              <a:latin typeface="Arial"/>
              <a:ea typeface="Arial"/>
              <a:cs typeface="Arial"/>
              <a:sym typeface="Arial"/>
            </a:endParaRPr>
          </a:p>
        </p:txBody>
      </p:sp>
      <p:sp>
        <p:nvSpPr>
          <p:cNvPr id="154" name="Google Shape;154;p10"/>
          <p:cNvSpPr/>
          <p:nvPr/>
        </p:nvSpPr>
        <p:spPr>
          <a:xfrm>
            <a:off x="666720" y="4334040"/>
            <a:ext cx="5238000" cy="1142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E5EDEE"/>
                </a:solidFill>
                <a:latin typeface="Calibri"/>
                <a:ea typeface="Calibri"/>
                <a:cs typeface="Calibri"/>
                <a:sym typeface="Calibri"/>
              </a:rPr>
              <a:t>How the client became part of the measured latency</a:t>
            </a:r>
            <a:endParaRPr b="0" i="0" sz="2100" u="none" cap="none" strike="noStrike">
              <a:solidFill>
                <a:srgbClr val="FFFFFF"/>
              </a:solidFill>
              <a:latin typeface="Arial"/>
              <a:ea typeface="Arial"/>
              <a:cs typeface="Arial"/>
              <a:sym typeface="Arial"/>
            </a:endParaRPr>
          </a:p>
        </p:txBody>
      </p:sp>
      <p:sp>
        <p:nvSpPr>
          <p:cNvPr id="155" name="Google Shape;155;p10"/>
          <p:cNvSpPr/>
          <p:nvPr/>
        </p:nvSpPr>
        <p:spPr>
          <a:xfrm>
            <a:off x="7143840" y="1657440"/>
            <a:ext cx="57096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98A9B0"/>
                </a:solidFill>
                <a:latin typeface="Calibri"/>
                <a:ea typeface="Calibri"/>
                <a:cs typeface="Calibri"/>
                <a:sym typeface="Calibri"/>
              </a:rPr>
              <a:t>01</a:t>
            </a:r>
            <a:endParaRPr b="0" i="0" sz="2100" u="none" cap="none" strike="noStrike">
              <a:solidFill>
                <a:srgbClr val="FFFFFF"/>
              </a:solidFill>
              <a:latin typeface="Arial"/>
              <a:ea typeface="Arial"/>
              <a:cs typeface="Arial"/>
              <a:sym typeface="Arial"/>
            </a:endParaRPr>
          </a:p>
        </p:txBody>
      </p:sp>
      <p:sp>
        <p:nvSpPr>
          <p:cNvPr id="156" name="Google Shape;156;p10"/>
          <p:cNvSpPr/>
          <p:nvPr/>
        </p:nvSpPr>
        <p:spPr>
          <a:xfrm>
            <a:off x="7858080" y="1657440"/>
            <a:ext cx="3523680" cy="618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98A9B0"/>
                </a:solidFill>
                <a:latin typeface="Calibri"/>
                <a:ea typeface="Calibri"/>
                <a:cs typeface="Calibri"/>
                <a:sym typeface="Calibri"/>
              </a:rPr>
              <a:t>API types &amp; load models</a:t>
            </a:r>
            <a:endParaRPr b="0" i="0" sz="2250" u="none" cap="none" strike="noStrike">
              <a:solidFill>
                <a:srgbClr val="FFFFFF"/>
              </a:solidFill>
              <a:latin typeface="Arial"/>
              <a:ea typeface="Arial"/>
              <a:cs typeface="Arial"/>
              <a:sym typeface="Arial"/>
            </a:endParaRPr>
          </a:p>
        </p:txBody>
      </p:sp>
      <p:sp>
        <p:nvSpPr>
          <p:cNvPr id="157" name="Google Shape;157;p10"/>
          <p:cNvSpPr/>
          <p:nvPr/>
        </p:nvSpPr>
        <p:spPr>
          <a:xfrm>
            <a:off x="7143840" y="2562120"/>
            <a:ext cx="57096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100" u="none" cap="none" strike="noStrike">
                <a:solidFill>
                  <a:srgbClr val="FFFFFF"/>
                </a:solidFill>
                <a:latin typeface="Calibri"/>
                <a:ea typeface="Calibri"/>
                <a:cs typeface="Calibri"/>
                <a:sym typeface="Calibri"/>
              </a:rPr>
              <a:t>02</a:t>
            </a:r>
            <a:endParaRPr b="0" i="0" sz="2100" u="none" cap="none" strike="noStrike">
              <a:solidFill>
                <a:srgbClr val="FFFFFF"/>
              </a:solidFill>
              <a:latin typeface="Arial"/>
              <a:ea typeface="Arial"/>
              <a:cs typeface="Arial"/>
              <a:sym typeface="Arial"/>
            </a:endParaRPr>
          </a:p>
        </p:txBody>
      </p:sp>
      <p:sp>
        <p:nvSpPr>
          <p:cNvPr id="158" name="Google Shape;158;p10"/>
          <p:cNvSpPr/>
          <p:nvPr/>
        </p:nvSpPr>
        <p:spPr>
          <a:xfrm>
            <a:off x="7858080" y="2562120"/>
            <a:ext cx="3523680" cy="618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250" u="none" cap="none" strike="noStrike">
                <a:solidFill>
                  <a:srgbClr val="FFFFFF"/>
                </a:solidFill>
                <a:latin typeface="Calibri"/>
                <a:ea typeface="Calibri"/>
                <a:cs typeface="Calibri"/>
                <a:sym typeface="Calibri"/>
              </a:rPr>
              <a:t>The original harness</a:t>
            </a:r>
            <a:endParaRPr b="0" i="0" sz="2250" u="none" cap="none" strike="noStrike">
              <a:solidFill>
                <a:srgbClr val="FFFFFF"/>
              </a:solidFill>
              <a:latin typeface="Arial"/>
              <a:ea typeface="Arial"/>
              <a:cs typeface="Arial"/>
              <a:sym typeface="Arial"/>
            </a:endParaRPr>
          </a:p>
        </p:txBody>
      </p:sp>
      <p:sp>
        <p:nvSpPr>
          <p:cNvPr id="159" name="Google Shape;159;p10"/>
          <p:cNvSpPr/>
          <p:nvPr/>
        </p:nvSpPr>
        <p:spPr>
          <a:xfrm>
            <a:off x="7143840" y="3467160"/>
            <a:ext cx="57096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98A9B0"/>
                </a:solidFill>
                <a:latin typeface="Calibri"/>
                <a:ea typeface="Calibri"/>
                <a:cs typeface="Calibri"/>
                <a:sym typeface="Calibri"/>
              </a:rPr>
              <a:t>03</a:t>
            </a:r>
            <a:endParaRPr b="0" i="0" sz="2100" u="none" cap="none" strike="noStrike">
              <a:solidFill>
                <a:srgbClr val="FFFFFF"/>
              </a:solidFill>
              <a:latin typeface="Arial"/>
              <a:ea typeface="Arial"/>
              <a:cs typeface="Arial"/>
              <a:sym typeface="Arial"/>
            </a:endParaRPr>
          </a:p>
        </p:txBody>
      </p:sp>
      <p:sp>
        <p:nvSpPr>
          <p:cNvPr id="160" name="Google Shape;160;p10"/>
          <p:cNvSpPr/>
          <p:nvPr/>
        </p:nvSpPr>
        <p:spPr>
          <a:xfrm>
            <a:off x="7858080" y="3467160"/>
            <a:ext cx="3523680" cy="618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98A9B0"/>
                </a:solidFill>
                <a:latin typeface="Calibri"/>
                <a:ea typeface="Calibri"/>
                <a:cs typeface="Calibri"/>
                <a:sym typeface="Calibri"/>
              </a:rPr>
              <a:t>K6 &amp; result interpretation</a:t>
            </a:r>
            <a:endParaRPr b="0" i="0" sz="2250" u="none" cap="none" strike="noStrike">
              <a:solidFill>
                <a:srgbClr val="FFFFFF"/>
              </a:solidFill>
              <a:latin typeface="Arial"/>
              <a:ea typeface="Arial"/>
              <a:cs typeface="Arial"/>
              <a:sym typeface="Arial"/>
            </a:endParaRPr>
          </a:p>
        </p:txBody>
      </p:sp>
      <p:sp>
        <p:nvSpPr>
          <p:cNvPr id="161" name="Google Shape;161;p10"/>
          <p:cNvSpPr/>
          <p:nvPr/>
        </p:nvSpPr>
        <p:spPr>
          <a:xfrm>
            <a:off x="7143840" y="4371840"/>
            <a:ext cx="57096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98A9B0"/>
                </a:solidFill>
                <a:latin typeface="Calibri"/>
                <a:ea typeface="Calibri"/>
                <a:cs typeface="Calibri"/>
                <a:sym typeface="Calibri"/>
              </a:rPr>
              <a:t>04</a:t>
            </a:r>
            <a:endParaRPr b="0" i="0" sz="2100" u="none" cap="none" strike="noStrike">
              <a:solidFill>
                <a:srgbClr val="FFFFFF"/>
              </a:solidFill>
              <a:latin typeface="Arial"/>
              <a:ea typeface="Arial"/>
              <a:cs typeface="Arial"/>
              <a:sym typeface="Arial"/>
            </a:endParaRPr>
          </a:p>
        </p:txBody>
      </p:sp>
      <p:sp>
        <p:nvSpPr>
          <p:cNvPr id="162" name="Google Shape;162;p10"/>
          <p:cNvSpPr/>
          <p:nvPr/>
        </p:nvSpPr>
        <p:spPr>
          <a:xfrm>
            <a:off x="7858080" y="4371840"/>
            <a:ext cx="3523680" cy="618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98A9B0"/>
                </a:solidFill>
                <a:latin typeface="Calibri"/>
                <a:ea typeface="Calibri"/>
                <a:cs typeface="Calibri"/>
                <a:sym typeface="Calibri"/>
              </a:rPr>
              <a:t>PR testing &amp; state</a:t>
            </a:r>
            <a:endParaRPr b="0" i="0" sz="2250" u="none" cap="none" strike="noStrike">
              <a:solidFill>
                <a:srgbClr val="FFFFFF"/>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167" name="Shape 167"/>
        <p:cNvGrpSpPr/>
        <p:nvPr/>
      </p:nvGrpSpPr>
      <p:grpSpPr>
        <a:xfrm>
          <a:off x="0" y="0"/>
          <a:ext cx="0" cy="0"/>
          <a:chOff x="0" y="0"/>
          <a:chExt cx="0" cy="0"/>
        </a:xfrm>
      </p:grpSpPr>
      <p:sp>
        <p:nvSpPr>
          <p:cNvPr id="168" name="Google Shape;168;p11"/>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3450" u="none" cap="none" strike="noStrike">
                <a:solidFill>
                  <a:srgbClr val="12252D"/>
                </a:solidFill>
                <a:latin typeface="Calibri"/>
                <a:ea typeface="Calibri"/>
                <a:cs typeface="Calibri"/>
                <a:sym typeface="Calibri"/>
              </a:rPr>
              <a:t>The existing collection pipeline</a:t>
            </a:r>
            <a:endParaRPr b="0" i="0" sz="3450" u="none" cap="none" strike="noStrike">
              <a:solidFill>
                <a:srgbClr val="000000"/>
              </a:solidFill>
              <a:latin typeface="Arial"/>
              <a:ea typeface="Arial"/>
              <a:cs typeface="Arial"/>
              <a:sym typeface="Arial"/>
            </a:endParaRPr>
          </a:p>
        </p:txBody>
      </p:sp>
      <p:sp>
        <p:nvSpPr>
          <p:cNvPr id="169" name="Google Shape;169;p11"/>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50" u="none" cap="none" strike="noStrike">
                <a:solidFill>
                  <a:srgbClr val="56666C"/>
                </a:solidFill>
                <a:latin typeface="Calibri"/>
                <a:ea typeface="Calibri"/>
                <a:cs typeface="Calibri"/>
                <a:sym typeface="Calibri"/>
              </a:rPr>
              <a:t>11</a:t>
            </a:r>
            <a:endParaRPr b="0" i="0" sz="1350" u="none" cap="none" strike="noStrike">
              <a:solidFill>
                <a:srgbClr val="000000"/>
              </a:solidFill>
              <a:latin typeface="Arial"/>
              <a:ea typeface="Arial"/>
              <a:cs typeface="Arial"/>
              <a:sym typeface="Arial"/>
            </a:endParaRPr>
          </a:p>
        </p:txBody>
      </p:sp>
      <p:sp>
        <p:nvSpPr>
          <p:cNvPr id="170" name="Google Shape;170;p11"/>
          <p:cNvSpPr/>
          <p:nvPr/>
        </p:nvSpPr>
        <p:spPr>
          <a:xfrm>
            <a:off x="666720" y="180972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170" u="none" cap="none" strike="noStrike">
                <a:solidFill>
                  <a:srgbClr val="087F8C"/>
                </a:solidFill>
                <a:latin typeface="Calibri"/>
                <a:ea typeface="Calibri"/>
                <a:cs typeface="Calibri"/>
                <a:sym typeface="Calibri"/>
              </a:rPr>
              <a:t>Existing harness</a:t>
            </a:r>
            <a:endParaRPr b="0" i="0" sz="2170" u="none" cap="none" strike="noStrike">
              <a:solidFill>
                <a:srgbClr val="000000"/>
              </a:solidFill>
              <a:latin typeface="Arial"/>
              <a:ea typeface="Arial"/>
              <a:cs typeface="Arial"/>
              <a:sym typeface="Arial"/>
            </a:endParaRPr>
          </a:p>
        </p:txBody>
      </p:sp>
      <p:sp>
        <p:nvSpPr>
          <p:cNvPr id="171" name="Google Shape;171;p11"/>
          <p:cNvSpPr/>
          <p:nvPr/>
        </p:nvSpPr>
        <p:spPr>
          <a:xfrm>
            <a:off x="3524400" y="180972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Python + Locust with established result collection</a:t>
            </a:r>
            <a:endParaRPr b="0" i="0" sz="2100" u="none" cap="none" strike="noStrike">
              <a:solidFill>
                <a:srgbClr val="000000"/>
              </a:solidFill>
              <a:latin typeface="Arial"/>
              <a:ea typeface="Arial"/>
              <a:cs typeface="Arial"/>
              <a:sym typeface="Arial"/>
            </a:endParaRPr>
          </a:p>
        </p:txBody>
      </p:sp>
      <p:sp>
        <p:nvSpPr>
          <p:cNvPr id="172" name="Google Shape;172;p11"/>
          <p:cNvSpPr/>
          <p:nvPr/>
        </p:nvSpPr>
        <p:spPr>
          <a:xfrm>
            <a:off x="666720" y="280980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170" u="none" cap="none" strike="noStrike">
                <a:solidFill>
                  <a:srgbClr val="087F8C"/>
                </a:solidFill>
                <a:latin typeface="Calibri"/>
                <a:ea typeface="Calibri"/>
                <a:cs typeface="Calibri"/>
                <a:sym typeface="Calibri"/>
              </a:rPr>
              <a:t>REST path</a:t>
            </a:r>
            <a:endParaRPr b="0" i="0" sz="2170" u="none" cap="none" strike="noStrike">
              <a:solidFill>
                <a:srgbClr val="000000"/>
              </a:solidFill>
              <a:latin typeface="Arial"/>
              <a:ea typeface="Arial"/>
              <a:cs typeface="Arial"/>
              <a:sym typeface="Arial"/>
            </a:endParaRPr>
          </a:p>
        </p:txBody>
      </p:sp>
      <p:sp>
        <p:nvSpPr>
          <p:cNvPr id="173" name="Google Shape;173;p11"/>
          <p:cNvSpPr/>
          <p:nvPr/>
        </p:nvSpPr>
        <p:spPr>
          <a:xfrm>
            <a:off x="3524400" y="280980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HTTP client inside the load process</a:t>
            </a:r>
            <a:endParaRPr b="0" i="0" sz="2100" u="none" cap="none" strike="noStrike">
              <a:solidFill>
                <a:srgbClr val="000000"/>
              </a:solidFill>
              <a:latin typeface="Arial"/>
              <a:ea typeface="Arial"/>
              <a:cs typeface="Arial"/>
              <a:sym typeface="Arial"/>
            </a:endParaRPr>
          </a:p>
        </p:txBody>
      </p:sp>
      <p:sp>
        <p:nvSpPr>
          <p:cNvPr id="174" name="Google Shape;174;p11"/>
          <p:cNvSpPr/>
          <p:nvPr/>
        </p:nvSpPr>
        <p:spPr>
          <a:xfrm>
            <a:off x="666720" y="380988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170" u="none" cap="none" strike="noStrike">
                <a:solidFill>
                  <a:srgbClr val="087F8C"/>
                </a:solidFill>
                <a:latin typeface="Calibri"/>
                <a:ea typeface="Calibri"/>
                <a:cs typeface="Calibri"/>
                <a:sym typeface="Calibri"/>
              </a:rPr>
              <a:t>gRPC path</a:t>
            </a:r>
            <a:endParaRPr b="0" i="0" sz="2170" u="none" cap="none" strike="noStrike">
              <a:solidFill>
                <a:srgbClr val="000000"/>
              </a:solidFill>
              <a:latin typeface="Arial"/>
              <a:ea typeface="Arial"/>
              <a:cs typeface="Arial"/>
              <a:sym typeface="Arial"/>
            </a:endParaRPr>
          </a:p>
        </p:txBody>
      </p:sp>
      <p:sp>
        <p:nvSpPr>
          <p:cNvPr id="175" name="Google Shape;175;p11"/>
          <p:cNvSpPr/>
          <p:nvPr/>
        </p:nvSpPr>
        <p:spPr>
          <a:xfrm>
            <a:off x="3524400" y="380988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grpcurl subprocess for each RPC</a:t>
            </a:r>
            <a:endParaRPr b="0" i="0" sz="2100" u="none" cap="none" strike="noStrike">
              <a:solidFill>
                <a:srgbClr val="000000"/>
              </a:solidFill>
              <a:latin typeface="Arial"/>
              <a:ea typeface="Arial"/>
              <a:cs typeface="Arial"/>
              <a:sym typeface="Arial"/>
            </a:endParaRPr>
          </a:p>
        </p:txBody>
      </p:sp>
      <p:sp>
        <p:nvSpPr>
          <p:cNvPr id="176" name="Google Shape;176;p11"/>
          <p:cNvSpPr/>
          <p:nvPr/>
        </p:nvSpPr>
        <p:spPr>
          <a:xfrm>
            <a:off x="666720" y="480996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170" u="none" cap="none" strike="noStrike">
                <a:solidFill>
                  <a:srgbClr val="087F8C"/>
                </a:solidFill>
                <a:latin typeface="Calibri"/>
                <a:ea typeface="Calibri"/>
                <a:cs typeface="Calibri"/>
                <a:sym typeface="Calibri"/>
              </a:rPr>
              <a:t>Practical tradeoff</a:t>
            </a:r>
            <a:endParaRPr b="0" i="0" sz="2170" u="none" cap="none" strike="noStrike">
              <a:solidFill>
                <a:srgbClr val="000000"/>
              </a:solidFill>
              <a:latin typeface="Arial"/>
              <a:ea typeface="Arial"/>
              <a:cs typeface="Arial"/>
              <a:sym typeface="Arial"/>
            </a:endParaRPr>
          </a:p>
        </p:txBody>
      </p:sp>
      <p:sp>
        <p:nvSpPr>
          <p:cNvPr id="177" name="Google Shape;177;p11"/>
          <p:cNvSpPr/>
          <p:nvPr/>
        </p:nvSpPr>
        <p:spPr>
          <a:xfrm>
            <a:off x="3524400" y="480996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Decided against building a Go load test client because of additional maintenance overhead</a:t>
            </a:r>
            <a:endParaRPr b="0" i="0" sz="2100" u="none" cap="none" strike="noStrike">
              <a:solidFill>
                <a:srgbClr val="000000"/>
              </a:solidFill>
              <a:latin typeface="Arial"/>
              <a:ea typeface="Arial"/>
              <a:cs typeface="Arial"/>
              <a:sym typeface="Arial"/>
            </a:endParaRPr>
          </a:p>
        </p:txBody>
      </p:sp>
      <p:sp>
        <p:nvSpPr>
          <p:cNvPr id="178" name="Google Shape;178;p11"/>
          <p:cNvSpPr/>
          <p:nvPr/>
        </p:nvSpPr>
        <p:spPr>
          <a:xfrm>
            <a:off x="666720" y="5924520"/>
            <a:ext cx="1038168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56666C"/>
                </a:solidFill>
                <a:latin typeface="Calibri"/>
                <a:ea typeface="Calibri"/>
                <a:cs typeface="Calibri"/>
                <a:sym typeface="Calibri"/>
              </a:rPr>
              <a:t>The shortcut reused the pipeline, but added work around every gRPC call.</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183" name="Shape 183"/>
        <p:cNvGrpSpPr/>
        <p:nvPr/>
      </p:nvGrpSpPr>
      <p:grpSpPr>
        <a:xfrm>
          <a:off x="0" y="0"/>
          <a:ext cx="0" cy="0"/>
          <a:chOff x="0" y="0"/>
          <a:chExt cx="0" cy="0"/>
        </a:xfrm>
      </p:grpSpPr>
      <p:sp>
        <p:nvSpPr>
          <p:cNvPr id="184" name="Google Shape;184;p12"/>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3450" u="none" cap="none" strike="noStrike">
                <a:solidFill>
                  <a:srgbClr val="12252D"/>
                </a:solidFill>
                <a:latin typeface="Calibri"/>
                <a:ea typeface="Calibri"/>
                <a:cs typeface="Calibri"/>
                <a:sym typeface="Calibri"/>
              </a:rPr>
              <a:t>grpcurl overhead distorted the experiment</a:t>
            </a:r>
            <a:endParaRPr b="0" i="0" sz="3450" u="none" cap="none" strike="noStrike">
              <a:solidFill>
                <a:srgbClr val="000000"/>
              </a:solidFill>
              <a:latin typeface="Arial"/>
              <a:ea typeface="Arial"/>
              <a:cs typeface="Arial"/>
              <a:sym typeface="Arial"/>
            </a:endParaRPr>
          </a:p>
        </p:txBody>
      </p:sp>
      <p:sp>
        <p:nvSpPr>
          <p:cNvPr id="185" name="Google Shape;185;p12"/>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50" u="none" cap="none" strike="noStrike">
                <a:solidFill>
                  <a:srgbClr val="56666C"/>
                </a:solidFill>
                <a:latin typeface="Calibri"/>
                <a:ea typeface="Calibri"/>
                <a:cs typeface="Calibri"/>
                <a:sym typeface="Calibri"/>
              </a:rPr>
              <a:t>12</a:t>
            </a:r>
            <a:endParaRPr b="0" i="0" sz="1350" u="none" cap="none" strike="noStrike">
              <a:solidFill>
                <a:srgbClr val="000000"/>
              </a:solidFill>
              <a:latin typeface="Arial"/>
              <a:ea typeface="Arial"/>
              <a:cs typeface="Arial"/>
              <a:sym typeface="Arial"/>
            </a:endParaRPr>
          </a:p>
        </p:txBody>
      </p:sp>
      <p:sp>
        <p:nvSpPr>
          <p:cNvPr id="186" name="Google Shape;186;p12"/>
          <p:cNvSpPr/>
          <p:nvPr/>
        </p:nvSpPr>
        <p:spPr>
          <a:xfrm>
            <a:off x="666720" y="1752480"/>
            <a:ext cx="10286280" cy="66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087F8C"/>
                </a:solidFill>
                <a:latin typeface="Calibri"/>
                <a:ea typeface="Calibri"/>
                <a:cs typeface="Calibri"/>
                <a:sym typeface="Calibri"/>
              </a:rPr>
              <a:t>Observed latency included client work</a:t>
            </a:r>
            <a:endParaRPr b="0" i="0" sz="3000" u="none" cap="none" strike="noStrike">
              <a:solidFill>
                <a:srgbClr val="000000"/>
              </a:solidFill>
              <a:latin typeface="Arial"/>
              <a:ea typeface="Arial"/>
              <a:cs typeface="Arial"/>
              <a:sym typeface="Arial"/>
            </a:endParaRPr>
          </a:p>
        </p:txBody>
      </p:sp>
      <p:sp>
        <p:nvSpPr>
          <p:cNvPr id="187" name="Google Shape;187;p12"/>
          <p:cNvSpPr/>
          <p:nvPr/>
        </p:nvSpPr>
        <p:spPr>
          <a:xfrm>
            <a:off x="666720" y="2857680"/>
            <a:ext cx="5714280" cy="475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400" u="none" cap="none" strike="noStrike">
                <a:solidFill>
                  <a:srgbClr val="12252D"/>
                </a:solidFill>
                <a:latin typeface="Calibri"/>
                <a:ea typeface="Calibri"/>
                <a:cs typeface="Calibri"/>
                <a:sym typeface="Calibri"/>
              </a:rPr>
              <a:t>Process startup and setup</a:t>
            </a:r>
            <a:endParaRPr b="0" i="0" sz="2400" u="none" cap="none" strike="noStrike">
              <a:solidFill>
                <a:srgbClr val="000000"/>
              </a:solidFill>
              <a:latin typeface="Arial"/>
              <a:ea typeface="Arial"/>
              <a:cs typeface="Arial"/>
              <a:sym typeface="Arial"/>
            </a:endParaRPr>
          </a:p>
        </p:txBody>
      </p:sp>
      <p:sp>
        <p:nvSpPr>
          <p:cNvPr id="188" name="Google Shape;188;p12"/>
          <p:cNvSpPr/>
          <p:nvPr/>
        </p:nvSpPr>
        <p:spPr>
          <a:xfrm>
            <a:off x="666720" y="3657600"/>
            <a:ext cx="5714280" cy="475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400" u="none" cap="none" strike="noStrike">
                <a:solidFill>
                  <a:srgbClr val="12252D"/>
                </a:solidFill>
                <a:latin typeface="Calibri"/>
                <a:ea typeface="Calibri"/>
                <a:cs typeface="Calibri"/>
                <a:sym typeface="Calibri"/>
              </a:rPr>
              <a:t>RPC and backend work</a:t>
            </a:r>
            <a:endParaRPr b="0" i="0" sz="2400" u="none" cap="none" strike="noStrike">
              <a:solidFill>
                <a:srgbClr val="000000"/>
              </a:solidFill>
              <a:latin typeface="Arial"/>
              <a:ea typeface="Arial"/>
              <a:cs typeface="Arial"/>
              <a:sym typeface="Arial"/>
            </a:endParaRPr>
          </a:p>
        </p:txBody>
      </p:sp>
      <p:sp>
        <p:nvSpPr>
          <p:cNvPr id="189" name="Google Shape;189;p12"/>
          <p:cNvSpPr/>
          <p:nvPr/>
        </p:nvSpPr>
        <p:spPr>
          <a:xfrm>
            <a:off x="666720" y="4457880"/>
            <a:ext cx="6190560" cy="475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400" u="none" cap="none" strike="noStrike">
                <a:solidFill>
                  <a:srgbClr val="12252D"/>
                </a:solidFill>
                <a:latin typeface="Calibri"/>
                <a:ea typeface="Calibri"/>
                <a:cs typeface="Calibri"/>
                <a:sym typeface="Calibri"/>
              </a:rPr>
              <a:t>Response parsing and collection</a:t>
            </a:r>
            <a:endParaRPr b="0" i="0" sz="2400" u="none" cap="none" strike="noStrike">
              <a:solidFill>
                <a:srgbClr val="000000"/>
              </a:solidFill>
              <a:latin typeface="Arial"/>
              <a:ea typeface="Arial"/>
              <a:cs typeface="Arial"/>
              <a:sym typeface="Arial"/>
            </a:endParaRPr>
          </a:p>
        </p:txBody>
      </p:sp>
      <p:sp>
        <p:nvSpPr>
          <p:cNvPr id="190" name="Google Shape;190;p12"/>
          <p:cNvSpPr/>
          <p:nvPr/>
        </p:nvSpPr>
        <p:spPr>
          <a:xfrm>
            <a:off x="7905600" y="2571840"/>
            <a:ext cx="3476160" cy="761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4500" u="none" cap="none" strike="noStrike">
                <a:solidFill>
                  <a:srgbClr val="12252D"/>
                </a:solidFill>
                <a:latin typeface="Calibri"/>
                <a:ea typeface="Calibri"/>
                <a:cs typeface="Calibri"/>
                <a:sym typeface="Calibri"/>
              </a:rPr>
              <a:t>~80 RPS</a:t>
            </a:r>
            <a:endParaRPr b="0" i="0" sz="4500" u="none" cap="none" strike="noStrike">
              <a:solidFill>
                <a:srgbClr val="000000"/>
              </a:solidFill>
              <a:latin typeface="Arial"/>
              <a:ea typeface="Arial"/>
              <a:cs typeface="Arial"/>
              <a:sym typeface="Arial"/>
            </a:endParaRPr>
          </a:p>
        </p:txBody>
      </p:sp>
      <p:sp>
        <p:nvSpPr>
          <p:cNvPr id="191" name="Google Shape;191;p12"/>
          <p:cNvSpPr/>
          <p:nvPr/>
        </p:nvSpPr>
        <p:spPr>
          <a:xfrm>
            <a:off x="7953480" y="3381480"/>
            <a:ext cx="342864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020" u="none" cap="none" strike="noStrike">
                <a:solidFill>
                  <a:srgbClr val="56666C"/>
                </a:solidFill>
                <a:latin typeface="Calibri"/>
                <a:ea typeface="Calibri"/>
                <a:cs typeface="Calibri"/>
                <a:sym typeface="Calibri"/>
              </a:rPr>
              <a:t>for many legacy gRPC scenarios</a:t>
            </a:r>
            <a:endParaRPr b="0" i="0" sz="2020" u="none" cap="none" strike="noStrike">
              <a:solidFill>
                <a:srgbClr val="000000"/>
              </a:solidFill>
              <a:latin typeface="Arial"/>
              <a:ea typeface="Arial"/>
              <a:cs typeface="Arial"/>
              <a:sym typeface="Arial"/>
            </a:endParaRPr>
          </a:p>
        </p:txBody>
      </p:sp>
      <p:sp>
        <p:nvSpPr>
          <p:cNvPr id="192" name="Google Shape;192;p12"/>
          <p:cNvSpPr/>
          <p:nvPr/>
        </p:nvSpPr>
        <p:spPr>
          <a:xfrm>
            <a:off x="666720" y="5924520"/>
            <a:ext cx="1038168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56666C"/>
                </a:solidFill>
                <a:latin typeface="Calibri"/>
                <a:ea typeface="Calibri"/>
                <a:cs typeface="Calibri"/>
                <a:sym typeface="Calibri"/>
              </a:rPr>
              <a:t>The load generator can be the bottleneck while the service still has headroom.</a:t>
            </a:r>
            <a:endParaRPr b="0" i="0" sz="1500" u="none" cap="none" strike="noStrike">
              <a:solidFill>
                <a:srgbClr val="000000"/>
              </a:solidFill>
              <a:latin typeface="Arial"/>
              <a:ea typeface="Arial"/>
              <a:cs typeface="Arial"/>
              <a:sym typeface="Arial"/>
            </a:endParaRPr>
          </a:p>
        </p:txBody>
      </p:sp>
      <p:sp>
        <p:nvSpPr>
          <p:cNvPr id="193" name="Google Shape;193;p12"/>
          <p:cNvSpPr/>
          <p:nvPr/>
        </p:nvSpPr>
        <p:spPr>
          <a:xfrm>
            <a:off x="7905600" y="4238640"/>
            <a:ext cx="3476160" cy="761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4500" u="none" cap="none" strike="noStrike">
                <a:solidFill>
                  <a:srgbClr val="12252D"/>
                </a:solidFill>
                <a:latin typeface="Calibri"/>
                <a:ea typeface="Calibri"/>
                <a:cs typeface="Calibri"/>
                <a:sym typeface="Calibri"/>
              </a:rPr>
              <a:t>~2.1 s</a:t>
            </a:r>
            <a:endParaRPr b="0" i="0" sz="4500" u="none" cap="none" strike="noStrike">
              <a:solidFill>
                <a:srgbClr val="000000"/>
              </a:solidFill>
              <a:latin typeface="Arial"/>
              <a:ea typeface="Arial"/>
              <a:cs typeface="Arial"/>
              <a:sym typeface="Arial"/>
            </a:endParaRPr>
          </a:p>
        </p:txBody>
      </p:sp>
      <p:sp>
        <p:nvSpPr>
          <p:cNvPr id="194" name="Google Shape;194;p12"/>
          <p:cNvSpPr/>
          <p:nvPr/>
        </p:nvSpPr>
        <p:spPr>
          <a:xfrm>
            <a:off x="7953480" y="5048280"/>
            <a:ext cx="347616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870" u="none" cap="none" strike="noStrike">
                <a:solidFill>
                  <a:srgbClr val="56666C"/>
                </a:solidFill>
                <a:latin typeface="Calibri"/>
                <a:ea typeface="Calibri"/>
                <a:cs typeface="Calibri"/>
                <a:sym typeface="Calibri"/>
              </a:rPr>
              <a:t>Legacy median response time</a:t>
            </a:r>
            <a:endParaRPr b="0" i="0" sz="187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870" u="none" cap="none" strike="noStrike">
                <a:solidFill>
                  <a:srgbClr val="56666C"/>
                </a:solidFill>
                <a:latin typeface="Calibri"/>
                <a:ea typeface="Calibri"/>
                <a:cs typeface="Calibri"/>
                <a:sym typeface="Calibri"/>
              </a:rPr>
              <a:t>check_workspace (gRPC)</a:t>
            </a:r>
            <a:endParaRPr b="0" i="0" sz="187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199" name="Shape 199"/>
        <p:cNvGrpSpPr/>
        <p:nvPr/>
      </p:nvGrpSpPr>
      <p:grpSpPr>
        <a:xfrm>
          <a:off x="0" y="0"/>
          <a:ext cx="0" cy="0"/>
          <a:chOff x="0" y="0"/>
          <a:chExt cx="0" cy="0"/>
        </a:xfrm>
      </p:grpSpPr>
      <p:sp>
        <p:nvSpPr>
          <p:cNvPr id="200" name="Google Shape;200;p13"/>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3450" u="none" cap="none" strike="noStrike">
                <a:solidFill>
                  <a:srgbClr val="12252D"/>
                </a:solidFill>
                <a:latin typeface="Calibri"/>
                <a:ea typeface="Calibri"/>
                <a:cs typeface="Calibri"/>
                <a:sym typeface="Calibri"/>
              </a:rPr>
              <a:t>How we nearly accepted the latency gap</a:t>
            </a:r>
            <a:endParaRPr b="0" i="0" sz="3450" u="none" cap="none" strike="noStrike">
              <a:solidFill>
                <a:srgbClr val="000000"/>
              </a:solidFill>
              <a:latin typeface="Arial"/>
              <a:ea typeface="Arial"/>
              <a:cs typeface="Arial"/>
              <a:sym typeface="Arial"/>
            </a:endParaRPr>
          </a:p>
        </p:txBody>
      </p:sp>
      <p:sp>
        <p:nvSpPr>
          <p:cNvPr id="201" name="Google Shape;201;p13"/>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50" u="none" cap="none" strike="noStrike">
                <a:solidFill>
                  <a:srgbClr val="56666C"/>
                </a:solidFill>
                <a:latin typeface="Calibri"/>
                <a:ea typeface="Calibri"/>
                <a:cs typeface="Calibri"/>
                <a:sym typeface="Calibri"/>
              </a:rPr>
              <a:t>13</a:t>
            </a:r>
            <a:endParaRPr b="0" i="0" sz="1350" u="none" cap="none" strike="noStrike">
              <a:solidFill>
                <a:srgbClr val="000000"/>
              </a:solidFill>
              <a:latin typeface="Arial"/>
              <a:ea typeface="Arial"/>
              <a:cs typeface="Arial"/>
              <a:sym typeface="Arial"/>
            </a:endParaRPr>
          </a:p>
        </p:txBody>
      </p:sp>
      <p:sp>
        <p:nvSpPr>
          <p:cNvPr id="202" name="Google Shape;202;p13"/>
          <p:cNvSpPr/>
          <p:nvPr/>
        </p:nvSpPr>
        <p:spPr>
          <a:xfrm>
            <a:off x="666720" y="180972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170" u="none" cap="none" strike="noStrike">
                <a:solidFill>
                  <a:srgbClr val="087F8C"/>
                </a:solidFill>
                <a:latin typeface="Calibri"/>
                <a:ea typeface="Calibri"/>
                <a:cs typeface="Calibri"/>
                <a:sym typeface="Calibri"/>
              </a:rPr>
              <a:t>The discrepancy</a:t>
            </a:r>
            <a:endParaRPr b="0" i="0" sz="2170" u="none" cap="none" strike="noStrike">
              <a:solidFill>
                <a:srgbClr val="000000"/>
              </a:solidFill>
              <a:latin typeface="Arial"/>
              <a:ea typeface="Arial"/>
              <a:cs typeface="Arial"/>
              <a:sym typeface="Arial"/>
            </a:endParaRPr>
          </a:p>
        </p:txBody>
      </p:sp>
      <p:sp>
        <p:nvSpPr>
          <p:cNvPr id="203" name="Google Shape;203;p13"/>
          <p:cNvSpPr/>
          <p:nvPr/>
        </p:nvSpPr>
        <p:spPr>
          <a:xfrm>
            <a:off x="3524400" y="180972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Server metrics showed milliseconds. The harness reported seconds.</a:t>
            </a:r>
            <a:endParaRPr b="0" i="0" sz="2100" u="none" cap="none" strike="noStrike">
              <a:solidFill>
                <a:srgbClr val="000000"/>
              </a:solidFill>
              <a:latin typeface="Arial"/>
              <a:ea typeface="Arial"/>
              <a:cs typeface="Arial"/>
              <a:sym typeface="Arial"/>
            </a:endParaRPr>
          </a:p>
        </p:txBody>
      </p:sp>
      <p:sp>
        <p:nvSpPr>
          <p:cNvPr id="204" name="Google Shape;204;p13"/>
          <p:cNvSpPr/>
          <p:nvPr/>
        </p:nvSpPr>
        <p:spPr>
          <a:xfrm>
            <a:off x="666720" y="280980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170" u="none" cap="none" strike="noStrike">
                <a:solidFill>
                  <a:srgbClr val="087F8C"/>
                </a:solidFill>
                <a:latin typeface="Calibri"/>
                <a:ea typeface="Calibri"/>
                <a:cs typeface="Calibri"/>
                <a:sym typeface="Calibri"/>
              </a:rPr>
              <a:t>The initial explanation</a:t>
            </a:r>
            <a:endParaRPr b="0" i="0" sz="2170" u="none" cap="none" strike="noStrike">
              <a:solidFill>
                <a:srgbClr val="000000"/>
              </a:solidFill>
              <a:latin typeface="Arial"/>
              <a:ea typeface="Arial"/>
              <a:cs typeface="Arial"/>
              <a:sym typeface="Arial"/>
            </a:endParaRPr>
          </a:p>
        </p:txBody>
      </p:sp>
      <p:sp>
        <p:nvSpPr>
          <p:cNvPr id="205" name="Google Shape;205;p13"/>
          <p:cNvSpPr/>
          <p:nvPr/>
        </p:nvSpPr>
        <p:spPr>
          <a:xfrm>
            <a:off x="3524400" y="280980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We attributed the gap to client overhead, which sounded reasonable.</a:t>
            </a:r>
            <a:endParaRPr b="0" i="0" sz="2100" u="none" cap="none" strike="noStrike">
              <a:solidFill>
                <a:srgbClr val="000000"/>
              </a:solidFill>
              <a:latin typeface="Arial"/>
              <a:ea typeface="Arial"/>
              <a:cs typeface="Arial"/>
              <a:sym typeface="Arial"/>
            </a:endParaRPr>
          </a:p>
        </p:txBody>
      </p:sp>
      <p:sp>
        <p:nvSpPr>
          <p:cNvPr id="206" name="Google Shape;206;p13"/>
          <p:cNvSpPr/>
          <p:nvPr/>
        </p:nvSpPr>
        <p:spPr>
          <a:xfrm>
            <a:off x="666720" y="380988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170" u="none" cap="none" strike="noStrike">
                <a:solidFill>
                  <a:srgbClr val="087F8C"/>
                </a:solidFill>
                <a:latin typeface="Calibri"/>
                <a:ea typeface="Calibri"/>
                <a:cs typeface="Calibri"/>
                <a:sym typeface="Calibri"/>
              </a:rPr>
              <a:t>The risk</a:t>
            </a:r>
            <a:endParaRPr b="0" i="0" sz="2170" u="none" cap="none" strike="noStrike">
              <a:solidFill>
                <a:srgbClr val="000000"/>
              </a:solidFill>
              <a:latin typeface="Arial"/>
              <a:ea typeface="Arial"/>
              <a:cs typeface="Arial"/>
              <a:sym typeface="Arial"/>
            </a:endParaRPr>
          </a:p>
        </p:txBody>
      </p:sp>
      <p:sp>
        <p:nvSpPr>
          <p:cNvPr id="207" name="Google Shape;207;p13"/>
          <p:cNvSpPr/>
          <p:nvPr/>
        </p:nvSpPr>
        <p:spPr>
          <a:xfrm>
            <a:off x="3524400" y="380988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That explanation made the high latency seem acceptable.</a:t>
            </a:r>
            <a:endParaRPr b="0" i="0" sz="2100" u="none" cap="none" strike="noStrike">
              <a:solidFill>
                <a:srgbClr val="000000"/>
              </a:solidFill>
              <a:latin typeface="Arial"/>
              <a:ea typeface="Arial"/>
              <a:cs typeface="Arial"/>
              <a:sym typeface="Arial"/>
            </a:endParaRPr>
          </a:p>
        </p:txBody>
      </p:sp>
      <p:sp>
        <p:nvSpPr>
          <p:cNvPr id="208" name="Google Shape;208;p13"/>
          <p:cNvSpPr/>
          <p:nvPr/>
        </p:nvSpPr>
        <p:spPr>
          <a:xfrm>
            <a:off x="666720" y="480996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170" u="none" cap="none" strike="noStrike">
                <a:solidFill>
                  <a:srgbClr val="087F8C"/>
                </a:solidFill>
                <a:latin typeface="Calibri"/>
                <a:ea typeface="Calibri"/>
                <a:cs typeface="Calibri"/>
                <a:sym typeface="Calibri"/>
              </a:rPr>
              <a:t>Breaking point</a:t>
            </a:r>
            <a:endParaRPr b="0" i="0" sz="2170" u="none" cap="none" strike="noStrike">
              <a:solidFill>
                <a:srgbClr val="000000"/>
              </a:solidFill>
              <a:latin typeface="Arial"/>
              <a:ea typeface="Arial"/>
              <a:cs typeface="Arial"/>
              <a:sym typeface="Arial"/>
            </a:endParaRPr>
          </a:p>
        </p:txBody>
      </p:sp>
      <p:sp>
        <p:nvSpPr>
          <p:cNvPr id="209" name="Google Shape;209;p13"/>
          <p:cNvSpPr/>
          <p:nvPr/>
        </p:nvSpPr>
        <p:spPr>
          <a:xfrm>
            <a:off x="3524400" y="480996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The harness had limited load generating capacity and was less efficient for gRPC than REST.</a:t>
            </a:r>
            <a:endParaRPr b="0" i="0" sz="2100" u="none" cap="none" strike="noStrike">
              <a:solidFill>
                <a:srgbClr val="000000"/>
              </a:solidFill>
              <a:latin typeface="Arial"/>
              <a:ea typeface="Arial"/>
              <a:cs typeface="Arial"/>
              <a:sym typeface="Arial"/>
            </a:endParaRPr>
          </a:p>
        </p:txBody>
      </p:sp>
      <p:sp>
        <p:nvSpPr>
          <p:cNvPr id="210" name="Google Shape;210;p13"/>
          <p:cNvSpPr/>
          <p:nvPr/>
        </p:nvSpPr>
        <p:spPr>
          <a:xfrm>
            <a:off x="666720" y="5924520"/>
            <a:ext cx="1038168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56666C"/>
                </a:solidFill>
                <a:latin typeface="Calibri"/>
                <a:ea typeface="Calibri"/>
                <a:cs typeface="Calibri"/>
                <a:sym typeface="Calibri"/>
              </a:rPr>
              <a:t>Explaining the overhead did not establish that the load test was representative.</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62F"/>
        </a:solidFill>
      </p:bgPr>
    </p:bg>
    <p:spTree>
      <p:nvGrpSpPr>
        <p:cNvPr id="215" name="Shape 215"/>
        <p:cNvGrpSpPr/>
        <p:nvPr/>
      </p:nvGrpSpPr>
      <p:grpSpPr>
        <a:xfrm>
          <a:off x="0" y="0"/>
          <a:ext cx="0" cy="0"/>
          <a:chOff x="0" y="0"/>
          <a:chExt cx="0" cy="0"/>
        </a:xfrm>
      </p:grpSpPr>
      <p:sp>
        <p:nvSpPr>
          <p:cNvPr id="216" name="Google Shape;216;p14"/>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50" u="none" cap="none" strike="noStrike">
                <a:solidFill>
                  <a:srgbClr val="98A9B0"/>
                </a:solidFill>
                <a:latin typeface="Calibri"/>
                <a:ea typeface="Calibri"/>
                <a:cs typeface="Calibri"/>
                <a:sym typeface="Calibri"/>
              </a:rPr>
              <a:t>14</a:t>
            </a:r>
            <a:endParaRPr b="0" i="0" sz="1350" u="none" cap="none" strike="noStrike">
              <a:solidFill>
                <a:srgbClr val="FFFFFF"/>
              </a:solidFill>
              <a:latin typeface="Arial"/>
              <a:ea typeface="Arial"/>
              <a:cs typeface="Arial"/>
              <a:sym typeface="Arial"/>
            </a:endParaRPr>
          </a:p>
        </p:txBody>
      </p:sp>
      <p:sp>
        <p:nvSpPr>
          <p:cNvPr id="217" name="Google Shape;217;p14"/>
          <p:cNvSpPr/>
          <p:nvPr/>
        </p:nvSpPr>
        <p:spPr>
          <a:xfrm>
            <a:off x="666720" y="685800"/>
            <a:ext cx="2094840" cy="1142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7050" u="none" cap="none" strike="noStrike">
                <a:solidFill>
                  <a:srgbClr val="087F8C"/>
                </a:solidFill>
                <a:latin typeface="Calibri"/>
                <a:ea typeface="Calibri"/>
                <a:cs typeface="Calibri"/>
                <a:sym typeface="Calibri"/>
              </a:rPr>
              <a:t>03</a:t>
            </a:r>
            <a:endParaRPr b="0" i="0" sz="7050" u="none" cap="none" strike="noStrike">
              <a:solidFill>
                <a:srgbClr val="FFFFFF"/>
              </a:solidFill>
              <a:latin typeface="Arial"/>
              <a:ea typeface="Arial"/>
              <a:cs typeface="Arial"/>
              <a:sym typeface="Arial"/>
            </a:endParaRPr>
          </a:p>
        </p:txBody>
      </p:sp>
      <p:sp>
        <p:nvSpPr>
          <p:cNvPr id="218" name="Google Shape;218;p14"/>
          <p:cNvSpPr/>
          <p:nvPr/>
        </p:nvSpPr>
        <p:spPr>
          <a:xfrm>
            <a:off x="666720" y="2143080"/>
            <a:ext cx="5428440" cy="180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4500" u="none" cap="none" strike="noStrike">
                <a:solidFill>
                  <a:srgbClr val="FFFFFF"/>
                </a:solidFill>
                <a:latin typeface="Calibri"/>
                <a:ea typeface="Calibri"/>
                <a:cs typeface="Calibri"/>
                <a:sym typeface="Calibri"/>
              </a:rPr>
              <a:t>K6 &amp; result</a:t>
            </a:r>
            <a:endParaRPr b="0" i="0" sz="45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rPr b="1" i="0" lang="en-US" sz="4500" u="none" cap="none" strike="noStrike">
                <a:solidFill>
                  <a:srgbClr val="FFFFFF"/>
                </a:solidFill>
                <a:latin typeface="Calibri"/>
                <a:ea typeface="Calibri"/>
                <a:cs typeface="Calibri"/>
                <a:sym typeface="Calibri"/>
              </a:rPr>
              <a:t>interpretation</a:t>
            </a:r>
            <a:endParaRPr b="0" i="0" sz="4500" u="none" cap="none" strike="noStrike">
              <a:solidFill>
                <a:srgbClr val="FFFFFF"/>
              </a:solidFill>
              <a:latin typeface="Arial"/>
              <a:ea typeface="Arial"/>
              <a:cs typeface="Arial"/>
              <a:sym typeface="Arial"/>
            </a:endParaRPr>
          </a:p>
        </p:txBody>
      </p:sp>
      <p:sp>
        <p:nvSpPr>
          <p:cNvPr id="219" name="Google Shape;219;p14"/>
          <p:cNvSpPr/>
          <p:nvPr/>
        </p:nvSpPr>
        <p:spPr>
          <a:xfrm>
            <a:off x="666720" y="4334040"/>
            <a:ext cx="5238000" cy="1142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E5EDEE"/>
                </a:solidFill>
                <a:latin typeface="Calibri"/>
                <a:ea typeface="Calibri"/>
                <a:cs typeface="Calibri"/>
                <a:sym typeface="Calibri"/>
              </a:rPr>
              <a:t>A better client still needs a controlled experiment</a:t>
            </a:r>
            <a:endParaRPr b="0" i="0" sz="2100" u="none" cap="none" strike="noStrike">
              <a:solidFill>
                <a:srgbClr val="FFFFFF"/>
              </a:solidFill>
              <a:latin typeface="Arial"/>
              <a:ea typeface="Arial"/>
              <a:cs typeface="Arial"/>
              <a:sym typeface="Arial"/>
            </a:endParaRPr>
          </a:p>
        </p:txBody>
      </p:sp>
      <p:sp>
        <p:nvSpPr>
          <p:cNvPr id="220" name="Google Shape;220;p14"/>
          <p:cNvSpPr/>
          <p:nvPr/>
        </p:nvSpPr>
        <p:spPr>
          <a:xfrm>
            <a:off x="7143840" y="1657440"/>
            <a:ext cx="57096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98A9B0"/>
                </a:solidFill>
                <a:latin typeface="Calibri"/>
                <a:ea typeface="Calibri"/>
                <a:cs typeface="Calibri"/>
                <a:sym typeface="Calibri"/>
              </a:rPr>
              <a:t>01</a:t>
            </a:r>
            <a:endParaRPr b="0" i="0" sz="2100" u="none" cap="none" strike="noStrike">
              <a:solidFill>
                <a:srgbClr val="FFFFFF"/>
              </a:solidFill>
              <a:latin typeface="Arial"/>
              <a:ea typeface="Arial"/>
              <a:cs typeface="Arial"/>
              <a:sym typeface="Arial"/>
            </a:endParaRPr>
          </a:p>
        </p:txBody>
      </p:sp>
      <p:sp>
        <p:nvSpPr>
          <p:cNvPr id="221" name="Google Shape;221;p14"/>
          <p:cNvSpPr/>
          <p:nvPr/>
        </p:nvSpPr>
        <p:spPr>
          <a:xfrm>
            <a:off x="7858080" y="1657440"/>
            <a:ext cx="3523680" cy="618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98A9B0"/>
                </a:solidFill>
                <a:latin typeface="Calibri"/>
                <a:ea typeface="Calibri"/>
                <a:cs typeface="Calibri"/>
                <a:sym typeface="Calibri"/>
              </a:rPr>
              <a:t>API types &amp; load models</a:t>
            </a:r>
            <a:endParaRPr b="0" i="0" sz="2250" u="none" cap="none" strike="noStrike">
              <a:solidFill>
                <a:srgbClr val="FFFFFF"/>
              </a:solidFill>
              <a:latin typeface="Arial"/>
              <a:ea typeface="Arial"/>
              <a:cs typeface="Arial"/>
              <a:sym typeface="Arial"/>
            </a:endParaRPr>
          </a:p>
        </p:txBody>
      </p:sp>
      <p:sp>
        <p:nvSpPr>
          <p:cNvPr id="222" name="Google Shape;222;p14"/>
          <p:cNvSpPr/>
          <p:nvPr/>
        </p:nvSpPr>
        <p:spPr>
          <a:xfrm>
            <a:off x="7143840" y="2562120"/>
            <a:ext cx="57096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98A9B0"/>
                </a:solidFill>
                <a:latin typeface="Calibri"/>
                <a:ea typeface="Calibri"/>
                <a:cs typeface="Calibri"/>
                <a:sym typeface="Calibri"/>
              </a:rPr>
              <a:t>02</a:t>
            </a:r>
            <a:endParaRPr b="0" i="0" sz="2100" u="none" cap="none" strike="noStrike">
              <a:solidFill>
                <a:srgbClr val="FFFFFF"/>
              </a:solidFill>
              <a:latin typeface="Arial"/>
              <a:ea typeface="Arial"/>
              <a:cs typeface="Arial"/>
              <a:sym typeface="Arial"/>
            </a:endParaRPr>
          </a:p>
        </p:txBody>
      </p:sp>
      <p:sp>
        <p:nvSpPr>
          <p:cNvPr id="223" name="Google Shape;223;p14"/>
          <p:cNvSpPr/>
          <p:nvPr/>
        </p:nvSpPr>
        <p:spPr>
          <a:xfrm>
            <a:off x="7858080" y="2562120"/>
            <a:ext cx="3523680" cy="618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98A9B0"/>
                </a:solidFill>
                <a:latin typeface="Calibri"/>
                <a:ea typeface="Calibri"/>
                <a:cs typeface="Calibri"/>
                <a:sym typeface="Calibri"/>
              </a:rPr>
              <a:t>The original harness</a:t>
            </a:r>
            <a:endParaRPr b="0" i="0" sz="2250" u="none" cap="none" strike="noStrike">
              <a:solidFill>
                <a:srgbClr val="FFFFFF"/>
              </a:solidFill>
              <a:latin typeface="Arial"/>
              <a:ea typeface="Arial"/>
              <a:cs typeface="Arial"/>
              <a:sym typeface="Arial"/>
            </a:endParaRPr>
          </a:p>
        </p:txBody>
      </p:sp>
      <p:sp>
        <p:nvSpPr>
          <p:cNvPr id="224" name="Google Shape;224;p14"/>
          <p:cNvSpPr/>
          <p:nvPr/>
        </p:nvSpPr>
        <p:spPr>
          <a:xfrm>
            <a:off x="7143840" y="3467160"/>
            <a:ext cx="57096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100" u="none" cap="none" strike="noStrike">
                <a:solidFill>
                  <a:srgbClr val="FFFFFF"/>
                </a:solidFill>
                <a:latin typeface="Calibri"/>
                <a:ea typeface="Calibri"/>
                <a:cs typeface="Calibri"/>
                <a:sym typeface="Calibri"/>
              </a:rPr>
              <a:t>03</a:t>
            </a:r>
            <a:endParaRPr b="0" i="0" sz="2100" u="none" cap="none" strike="noStrike">
              <a:solidFill>
                <a:srgbClr val="FFFFFF"/>
              </a:solidFill>
              <a:latin typeface="Arial"/>
              <a:ea typeface="Arial"/>
              <a:cs typeface="Arial"/>
              <a:sym typeface="Arial"/>
            </a:endParaRPr>
          </a:p>
        </p:txBody>
      </p:sp>
      <p:sp>
        <p:nvSpPr>
          <p:cNvPr id="225" name="Google Shape;225;p14"/>
          <p:cNvSpPr/>
          <p:nvPr/>
        </p:nvSpPr>
        <p:spPr>
          <a:xfrm>
            <a:off x="7858080" y="3467160"/>
            <a:ext cx="3523680" cy="618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250" u="none" cap="none" strike="noStrike">
                <a:solidFill>
                  <a:srgbClr val="FFFFFF"/>
                </a:solidFill>
                <a:latin typeface="Calibri"/>
                <a:ea typeface="Calibri"/>
                <a:cs typeface="Calibri"/>
                <a:sym typeface="Calibri"/>
              </a:rPr>
              <a:t>K6 &amp; result interpretation</a:t>
            </a:r>
            <a:endParaRPr b="0" i="0" sz="2250" u="none" cap="none" strike="noStrike">
              <a:solidFill>
                <a:srgbClr val="FFFFFF"/>
              </a:solidFill>
              <a:latin typeface="Arial"/>
              <a:ea typeface="Arial"/>
              <a:cs typeface="Arial"/>
              <a:sym typeface="Arial"/>
            </a:endParaRPr>
          </a:p>
        </p:txBody>
      </p:sp>
      <p:sp>
        <p:nvSpPr>
          <p:cNvPr id="226" name="Google Shape;226;p14"/>
          <p:cNvSpPr/>
          <p:nvPr/>
        </p:nvSpPr>
        <p:spPr>
          <a:xfrm>
            <a:off x="7143840" y="4371840"/>
            <a:ext cx="57096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98A9B0"/>
                </a:solidFill>
                <a:latin typeface="Calibri"/>
                <a:ea typeface="Calibri"/>
                <a:cs typeface="Calibri"/>
                <a:sym typeface="Calibri"/>
              </a:rPr>
              <a:t>04</a:t>
            </a:r>
            <a:endParaRPr b="0" i="0" sz="2100" u="none" cap="none" strike="noStrike">
              <a:solidFill>
                <a:srgbClr val="FFFFFF"/>
              </a:solidFill>
              <a:latin typeface="Arial"/>
              <a:ea typeface="Arial"/>
              <a:cs typeface="Arial"/>
              <a:sym typeface="Arial"/>
            </a:endParaRPr>
          </a:p>
        </p:txBody>
      </p:sp>
      <p:sp>
        <p:nvSpPr>
          <p:cNvPr id="227" name="Google Shape;227;p14"/>
          <p:cNvSpPr/>
          <p:nvPr/>
        </p:nvSpPr>
        <p:spPr>
          <a:xfrm>
            <a:off x="7858080" y="4371840"/>
            <a:ext cx="3523680" cy="618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98A9B0"/>
                </a:solidFill>
                <a:latin typeface="Calibri"/>
                <a:ea typeface="Calibri"/>
                <a:cs typeface="Calibri"/>
                <a:sym typeface="Calibri"/>
              </a:rPr>
              <a:t>PR testing &amp; state</a:t>
            </a:r>
            <a:endParaRPr b="0" i="0" sz="2250" u="none" cap="none" strike="noStrike">
              <a:solidFill>
                <a:srgbClr val="FFFFFF"/>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232" name="Shape 232"/>
        <p:cNvGrpSpPr/>
        <p:nvPr/>
      </p:nvGrpSpPr>
      <p:grpSpPr>
        <a:xfrm>
          <a:off x="0" y="0"/>
          <a:ext cx="0" cy="0"/>
          <a:chOff x="0" y="0"/>
          <a:chExt cx="0" cy="0"/>
        </a:xfrm>
      </p:grpSpPr>
      <p:sp>
        <p:nvSpPr>
          <p:cNvPr id="233" name="Google Shape;233;p15"/>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3450" u="none" cap="none" strike="noStrike">
                <a:solidFill>
                  <a:srgbClr val="12252D"/>
                </a:solidFill>
                <a:latin typeface="Calibri"/>
                <a:ea typeface="Calibri"/>
                <a:cs typeface="Calibri"/>
                <a:sym typeface="Calibri"/>
              </a:rPr>
              <a:t>K6 fit into the existing CPT workflow</a:t>
            </a:r>
            <a:endParaRPr b="0" i="0" sz="3450" u="none" cap="none" strike="noStrike">
              <a:solidFill>
                <a:srgbClr val="000000"/>
              </a:solidFill>
              <a:latin typeface="Arial"/>
              <a:ea typeface="Arial"/>
              <a:cs typeface="Arial"/>
              <a:sym typeface="Arial"/>
            </a:endParaRPr>
          </a:p>
        </p:txBody>
      </p:sp>
      <p:sp>
        <p:nvSpPr>
          <p:cNvPr id="234" name="Google Shape;234;p15"/>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50" u="none" cap="none" strike="noStrike">
                <a:solidFill>
                  <a:srgbClr val="56666C"/>
                </a:solidFill>
                <a:latin typeface="Calibri"/>
                <a:ea typeface="Calibri"/>
                <a:cs typeface="Calibri"/>
                <a:sym typeface="Calibri"/>
              </a:rPr>
              <a:t>15</a:t>
            </a:r>
            <a:endParaRPr b="0" i="0" sz="1350" u="none" cap="none" strike="noStrike">
              <a:solidFill>
                <a:srgbClr val="000000"/>
              </a:solidFill>
              <a:latin typeface="Arial"/>
              <a:ea typeface="Arial"/>
              <a:cs typeface="Arial"/>
              <a:sym typeface="Arial"/>
            </a:endParaRPr>
          </a:p>
        </p:txBody>
      </p:sp>
      <p:sp>
        <p:nvSpPr>
          <p:cNvPr id="235" name="Google Shape;235;p15"/>
          <p:cNvSpPr/>
          <p:nvPr/>
        </p:nvSpPr>
        <p:spPr>
          <a:xfrm>
            <a:off x="666720" y="180972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170" u="none" cap="none" strike="noStrike">
                <a:solidFill>
                  <a:srgbClr val="087F8C"/>
                </a:solidFill>
                <a:latin typeface="Calibri"/>
                <a:ea typeface="Calibri"/>
                <a:cs typeface="Calibri"/>
                <a:sym typeface="Calibri"/>
              </a:rPr>
              <a:t>Load scripts</a:t>
            </a:r>
            <a:endParaRPr b="0" i="0" sz="2170" u="none" cap="none" strike="noStrike">
              <a:solidFill>
                <a:srgbClr val="000000"/>
              </a:solidFill>
              <a:latin typeface="Arial"/>
              <a:ea typeface="Arial"/>
              <a:cs typeface="Arial"/>
              <a:sym typeface="Arial"/>
            </a:endParaRPr>
          </a:p>
        </p:txBody>
      </p:sp>
      <p:sp>
        <p:nvSpPr>
          <p:cNvPr id="236" name="Google Shape;236;p15"/>
          <p:cNvSpPr/>
          <p:nvPr/>
        </p:nvSpPr>
        <p:spPr>
          <a:xfrm>
            <a:off x="3524400" y="180972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JavaScript scenarios for REST and gRPC</a:t>
            </a:r>
            <a:endParaRPr b="0" i="0" sz="2100" u="none" cap="none" strike="noStrike">
              <a:solidFill>
                <a:srgbClr val="000000"/>
              </a:solidFill>
              <a:latin typeface="Arial"/>
              <a:ea typeface="Arial"/>
              <a:cs typeface="Arial"/>
              <a:sym typeface="Arial"/>
            </a:endParaRPr>
          </a:p>
        </p:txBody>
      </p:sp>
      <p:sp>
        <p:nvSpPr>
          <p:cNvPr id="237" name="Google Shape;237;p15"/>
          <p:cNvSpPr/>
          <p:nvPr/>
        </p:nvSpPr>
        <p:spPr>
          <a:xfrm>
            <a:off x="666720" y="280980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170" u="none" cap="none" strike="noStrike">
                <a:solidFill>
                  <a:srgbClr val="087F8C"/>
                </a:solidFill>
                <a:latin typeface="Calibri"/>
                <a:ea typeface="Calibri"/>
                <a:cs typeface="Calibri"/>
                <a:sym typeface="Calibri"/>
              </a:rPr>
              <a:t>Execution</a:t>
            </a:r>
            <a:endParaRPr b="0" i="0" sz="2170" u="none" cap="none" strike="noStrike">
              <a:solidFill>
                <a:srgbClr val="000000"/>
              </a:solidFill>
              <a:latin typeface="Arial"/>
              <a:ea typeface="Arial"/>
              <a:cs typeface="Arial"/>
              <a:sym typeface="Arial"/>
            </a:endParaRPr>
          </a:p>
        </p:txBody>
      </p:sp>
      <p:sp>
        <p:nvSpPr>
          <p:cNvPr id="238" name="Google Shape;238;p15"/>
          <p:cNvSpPr/>
          <p:nvPr/>
        </p:nvSpPr>
        <p:spPr>
          <a:xfrm>
            <a:off x="3524400" y="280980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One Go binary with direct protocol clients</a:t>
            </a:r>
            <a:endParaRPr b="0" i="0" sz="2100" u="none" cap="none" strike="noStrike">
              <a:solidFill>
                <a:srgbClr val="000000"/>
              </a:solidFill>
              <a:latin typeface="Arial"/>
              <a:ea typeface="Arial"/>
              <a:cs typeface="Arial"/>
              <a:sym typeface="Arial"/>
            </a:endParaRPr>
          </a:p>
        </p:txBody>
      </p:sp>
      <p:sp>
        <p:nvSpPr>
          <p:cNvPr id="239" name="Google Shape;239;p15"/>
          <p:cNvSpPr/>
          <p:nvPr/>
        </p:nvSpPr>
        <p:spPr>
          <a:xfrm>
            <a:off x="666720" y="380988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170" u="none" cap="none" strike="noStrike">
                <a:solidFill>
                  <a:srgbClr val="087F8C"/>
                </a:solidFill>
                <a:latin typeface="Calibri"/>
                <a:ea typeface="Calibri"/>
                <a:cs typeface="Calibri"/>
                <a:sym typeface="Calibri"/>
              </a:rPr>
              <a:t>Result adapter</a:t>
            </a:r>
            <a:endParaRPr b="0" i="0" sz="2170" u="none" cap="none" strike="noStrike">
              <a:solidFill>
                <a:srgbClr val="000000"/>
              </a:solidFill>
              <a:latin typeface="Arial"/>
              <a:ea typeface="Arial"/>
              <a:cs typeface="Arial"/>
              <a:sym typeface="Arial"/>
            </a:endParaRPr>
          </a:p>
        </p:txBody>
      </p:sp>
      <p:sp>
        <p:nvSpPr>
          <p:cNvPr id="240" name="Google Shape;240;p15"/>
          <p:cNvSpPr/>
          <p:nvPr/>
        </p:nvSpPr>
        <p:spPr>
          <a:xfrm>
            <a:off x="3524400" y="380988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Converts K6's JSON export to existing result format</a:t>
            </a:r>
            <a:endParaRPr b="0" i="0" sz="2100" u="none" cap="none" strike="noStrike">
              <a:solidFill>
                <a:srgbClr val="000000"/>
              </a:solidFill>
              <a:latin typeface="Arial"/>
              <a:ea typeface="Arial"/>
              <a:cs typeface="Arial"/>
              <a:sym typeface="Arial"/>
            </a:endParaRPr>
          </a:p>
        </p:txBody>
      </p:sp>
      <p:sp>
        <p:nvSpPr>
          <p:cNvPr id="241" name="Google Shape;241;p15"/>
          <p:cNvSpPr/>
          <p:nvPr/>
        </p:nvSpPr>
        <p:spPr>
          <a:xfrm>
            <a:off x="666720" y="480996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170" u="none" cap="none" strike="noStrike">
                <a:solidFill>
                  <a:srgbClr val="087F8C"/>
                </a:solidFill>
                <a:latin typeface="Calibri"/>
                <a:ea typeface="Calibri"/>
                <a:cs typeface="Calibri"/>
                <a:sym typeface="Calibri"/>
              </a:rPr>
              <a:t>Existing workflow</a:t>
            </a:r>
            <a:endParaRPr b="0" i="0" sz="2170" u="none" cap="none" strike="noStrike">
              <a:solidFill>
                <a:srgbClr val="000000"/>
              </a:solidFill>
              <a:latin typeface="Arial"/>
              <a:ea typeface="Arial"/>
              <a:cs typeface="Arial"/>
              <a:sym typeface="Arial"/>
            </a:endParaRPr>
          </a:p>
        </p:txBody>
      </p:sp>
      <p:sp>
        <p:nvSpPr>
          <p:cNvPr id="242" name="Google Shape;242;p15"/>
          <p:cNvSpPr/>
          <p:nvPr/>
        </p:nvSpPr>
        <p:spPr>
          <a:xfrm>
            <a:off x="3524400" y="480996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Historical comparison, pass classification and result storage</a:t>
            </a:r>
            <a:endParaRPr b="0" i="0" sz="2100" u="none" cap="none" strike="noStrike">
              <a:solidFill>
                <a:srgbClr val="000000"/>
              </a:solidFill>
              <a:latin typeface="Arial"/>
              <a:ea typeface="Arial"/>
              <a:cs typeface="Arial"/>
              <a:sym typeface="Arial"/>
            </a:endParaRPr>
          </a:p>
        </p:txBody>
      </p:sp>
      <p:sp>
        <p:nvSpPr>
          <p:cNvPr id="243" name="Google Shape;243;p15"/>
          <p:cNvSpPr/>
          <p:nvPr/>
        </p:nvSpPr>
        <p:spPr>
          <a:xfrm>
            <a:off x="666720" y="5924520"/>
            <a:ext cx="1038168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56666C"/>
                </a:solidFill>
                <a:latin typeface="Calibri"/>
                <a:ea typeface="Calibri"/>
                <a:cs typeface="Calibri"/>
                <a:sym typeface="Calibri"/>
              </a:rPr>
              <a:t>The migration replaced the load generation, while preserving downstream integration.</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248" name="Shape 248"/>
        <p:cNvGrpSpPr/>
        <p:nvPr/>
      </p:nvGrpSpPr>
      <p:grpSpPr>
        <a:xfrm>
          <a:off x="0" y="0"/>
          <a:ext cx="0" cy="0"/>
          <a:chOff x="0" y="0"/>
          <a:chExt cx="0" cy="0"/>
        </a:xfrm>
      </p:grpSpPr>
      <p:sp>
        <p:nvSpPr>
          <p:cNvPr id="249" name="Google Shape;249;p16"/>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3450" u="none" cap="none" strike="noStrike">
                <a:solidFill>
                  <a:srgbClr val="12252D"/>
                </a:solidFill>
                <a:latin typeface="Calibri"/>
                <a:ea typeface="Calibri"/>
                <a:cs typeface="Calibri"/>
                <a:sym typeface="Calibri"/>
              </a:rPr>
              <a:t>K6 drove substantially more completed work</a:t>
            </a:r>
            <a:endParaRPr b="0" i="0" sz="3450" u="none" cap="none" strike="noStrike">
              <a:solidFill>
                <a:srgbClr val="000000"/>
              </a:solidFill>
              <a:latin typeface="Arial"/>
              <a:ea typeface="Arial"/>
              <a:cs typeface="Arial"/>
              <a:sym typeface="Arial"/>
            </a:endParaRPr>
          </a:p>
        </p:txBody>
      </p:sp>
      <p:sp>
        <p:nvSpPr>
          <p:cNvPr id="250" name="Google Shape;250;p16"/>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50" u="none" cap="none" strike="noStrike">
                <a:solidFill>
                  <a:srgbClr val="56666C"/>
                </a:solidFill>
                <a:latin typeface="Calibri"/>
                <a:ea typeface="Calibri"/>
                <a:cs typeface="Calibri"/>
                <a:sym typeface="Calibri"/>
              </a:rPr>
              <a:t>16</a:t>
            </a:r>
            <a:endParaRPr b="0" i="0" sz="1350" u="none" cap="none" strike="noStrike">
              <a:solidFill>
                <a:srgbClr val="000000"/>
              </a:solidFill>
              <a:latin typeface="Arial"/>
              <a:ea typeface="Arial"/>
              <a:cs typeface="Arial"/>
              <a:sym typeface="Arial"/>
            </a:endParaRPr>
          </a:p>
        </p:txBody>
      </p:sp>
      <p:sp>
        <p:nvSpPr>
          <p:cNvPr id="251" name="Google Shape;251;p16"/>
          <p:cNvSpPr/>
          <p:nvPr/>
        </p:nvSpPr>
        <p:spPr>
          <a:xfrm>
            <a:off x="8477280" y="2048040"/>
            <a:ext cx="3047760" cy="856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4800" u="none" cap="none" strike="noStrike">
                <a:solidFill>
                  <a:srgbClr val="087F8C"/>
                </a:solidFill>
                <a:latin typeface="Calibri"/>
                <a:ea typeface="Calibri"/>
                <a:cs typeface="Calibri"/>
                <a:sym typeface="Calibri"/>
              </a:rPr>
              <a:t>15.1×</a:t>
            </a:r>
            <a:endParaRPr b="0" i="0" sz="4800" u="none" cap="none" strike="noStrike">
              <a:solidFill>
                <a:srgbClr val="000000"/>
              </a:solidFill>
              <a:latin typeface="Arial"/>
              <a:ea typeface="Arial"/>
              <a:cs typeface="Arial"/>
              <a:sym typeface="Arial"/>
            </a:endParaRPr>
          </a:p>
        </p:txBody>
      </p:sp>
      <p:sp>
        <p:nvSpPr>
          <p:cNvPr id="252" name="Google Shape;252;p16"/>
          <p:cNvSpPr/>
          <p:nvPr/>
        </p:nvSpPr>
        <p:spPr>
          <a:xfrm>
            <a:off x="8524800" y="2952720"/>
            <a:ext cx="3047760" cy="761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check_workspace (gRPC)</a:t>
            </a:r>
            <a:endParaRPr b="0" i="0" sz="2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Higher RPS</a:t>
            </a:r>
            <a:endParaRPr b="0" i="0" sz="2100" u="none" cap="none" strike="noStrike">
              <a:solidFill>
                <a:srgbClr val="000000"/>
              </a:solidFill>
              <a:latin typeface="Arial"/>
              <a:ea typeface="Arial"/>
              <a:cs typeface="Arial"/>
              <a:sym typeface="Arial"/>
            </a:endParaRPr>
          </a:p>
        </p:txBody>
      </p:sp>
      <p:sp>
        <p:nvSpPr>
          <p:cNvPr id="253" name="Google Shape;253;p16"/>
          <p:cNvSpPr/>
          <p:nvPr/>
        </p:nvSpPr>
        <p:spPr>
          <a:xfrm>
            <a:off x="666720" y="5924520"/>
            <a:ext cx="1038168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56666C"/>
                </a:solidFill>
                <a:latin typeface="Calibri"/>
                <a:ea typeface="Calibri"/>
                <a:cs typeface="Calibri"/>
                <a:sym typeface="Calibri"/>
              </a:rPr>
              <a:t>Observed tooling comparison. Images, state and workload were not identical.</a:t>
            </a:r>
            <a:endParaRPr b="0" i="0" sz="1500" u="none" cap="none" strike="noStrike">
              <a:solidFill>
                <a:srgbClr val="000000"/>
              </a:solidFill>
              <a:latin typeface="Arial"/>
              <a:ea typeface="Arial"/>
              <a:cs typeface="Arial"/>
              <a:sym typeface="Arial"/>
            </a:endParaRPr>
          </a:p>
        </p:txBody>
      </p:sp>
      <p:sp>
        <p:nvSpPr>
          <p:cNvPr id="254" name="Google Shape;254;p16"/>
          <p:cNvSpPr/>
          <p:nvPr/>
        </p:nvSpPr>
        <p:spPr>
          <a:xfrm>
            <a:off x="8477280" y="3952800"/>
            <a:ext cx="3047760" cy="713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4200" u="none" cap="none" strike="noStrike">
                <a:solidFill>
                  <a:srgbClr val="087F8C"/>
                </a:solidFill>
                <a:latin typeface="Calibri"/>
                <a:ea typeface="Calibri"/>
                <a:cs typeface="Calibri"/>
                <a:sym typeface="Calibri"/>
              </a:rPr>
              <a:t>89.8%</a:t>
            </a:r>
            <a:endParaRPr b="0" i="0" sz="4200" u="none" cap="none" strike="noStrike">
              <a:solidFill>
                <a:srgbClr val="000000"/>
              </a:solidFill>
              <a:latin typeface="Arial"/>
              <a:ea typeface="Arial"/>
              <a:cs typeface="Arial"/>
              <a:sym typeface="Arial"/>
            </a:endParaRPr>
          </a:p>
        </p:txBody>
      </p:sp>
      <p:sp>
        <p:nvSpPr>
          <p:cNvPr id="255" name="Google Shape;255;p16"/>
          <p:cNvSpPr/>
          <p:nvPr/>
        </p:nvSpPr>
        <p:spPr>
          <a:xfrm>
            <a:off x="8524800" y="4734000"/>
            <a:ext cx="3047760" cy="428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020" u="none" cap="none" strike="noStrike">
                <a:solidFill>
                  <a:srgbClr val="12252D"/>
                </a:solidFill>
                <a:latin typeface="Calibri"/>
                <a:ea typeface="Calibri"/>
                <a:cs typeface="Calibri"/>
                <a:sym typeface="Calibri"/>
              </a:rPr>
              <a:t>Lower median latency</a:t>
            </a:r>
            <a:endParaRPr b="0" i="0" sz="2020" u="none" cap="none" strike="noStrike">
              <a:solidFill>
                <a:srgbClr val="000000"/>
              </a:solidFill>
              <a:latin typeface="Arial"/>
              <a:ea typeface="Arial"/>
              <a:cs typeface="Arial"/>
              <a:sym typeface="Arial"/>
            </a:endParaRPr>
          </a:p>
        </p:txBody>
      </p:sp>
      <p:sp>
        <p:nvSpPr>
          <p:cNvPr id="256" name="Google Shape;256;p16"/>
          <p:cNvSpPr/>
          <p:nvPr/>
        </p:nvSpPr>
        <p:spPr>
          <a:xfrm>
            <a:off x="8524800" y="5219640"/>
            <a:ext cx="3047760" cy="39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800" u="none" cap="none" strike="noStrike">
                <a:solidFill>
                  <a:srgbClr val="56666C"/>
                </a:solidFill>
                <a:latin typeface="Calibri"/>
                <a:ea typeface="Calibri"/>
                <a:cs typeface="Calibri"/>
                <a:sym typeface="Calibri"/>
              </a:rPr>
              <a:t>2,133 ms to 218 ms</a:t>
            </a:r>
            <a:endParaRPr b="0" i="0" sz="1800" u="none" cap="none" strike="noStrike">
              <a:solidFill>
                <a:srgbClr val="000000"/>
              </a:solidFill>
              <a:latin typeface="Arial"/>
              <a:ea typeface="Arial"/>
              <a:cs typeface="Arial"/>
              <a:sym typeface="Arial"/>
            </a:endParaRPr>
          </a:p>
        </p:txBody>
      </p:sp>
      <p:pic>
        <p:nvPicPr>
          <p:cNvPr id="257" name="Google Shape;257;p16"/>
          <p:cNvPicPr preferRelativeResize="0"/>
          <p:nvPr/>
        </p:nvPicPr>
        <p:blipFill>
          <a:blip r:embed="rId3">
            <a:alphaModFix/>
          </a:blip>
          <a:stretch>
            <a:fillRect/>
          </a:stretch>
        </p:blipFill>
        <p:spPr>
          <a:xfrm>
            <a:off x="152400" y="1523280"/>
            <a:ext cx="8172479" cy="424592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262" name="Shape 262"/>
        <p:cNvGrpSpPr/>
        <p:nvPr/>
      </p:nvGrpSpPr>
      <p:grpSpPr>
        <a:xfrm>
          <a:off x="0" y="0"/>
          <a:ext cx="0" cy="0"/>
          <a:chOff x="0" y="0"/>
          <a:chExt cx="0" cy="0"/>
        </a:xfrm>
      </p:grpSpPr>
      <p:sp>
        <p:nvSpPr>
          <p:cNvPr id="263" name="Google Shape;263;p17"/>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3450" u="none" cap="none" strike="noStrike">
                <a:solidFill>
                  <a:srgbClr val="12252D"/>
                </a:solidFill>
                <a:latin typeface="Calibri"/>
                <a:ea typeface="Calibri"/>
                <a:cs typeface="Calibri"/>
                <a:sym typeface="Calibri"/>
              </a:rPr>
              <a:t>Latency changed with the measurement path</a:t>
            </a:r>
            <a:endParaRPr b="0" i="0" sz="3450" u="none" cap="none" strike="noStrike">
              <a:solidFill>
                <a:srgbClr val="000000"/>
              </a:solidFill>
              <a:latin typeface="Arial"/>
              <a:ea typeface="Arial"/>
              <a:cs typeface="Arial"/>
              <a:sym typeface="Arial"/>
            </a:endParaRPr>
          </a:p>
        </p:txBody>
      </p:sp>
      <p:sp>
        <p:nvSpPr>
          <p:cNvPr id="264" name="Google Shape;264;p17"/>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50" u="none" cap="none" strike="noStrike">
                <a:solidFill>
                  <a:srgbClr val="56666C"/>
                </a:solidFill>
                <a:latin typeface="Calibri"/>
                <a:ea typeface="Calibri"/>
                <a:cs typeface="Calibri"/>
                <a:sym typeface="Calibri"/>
              </a:rPr>
              <a:t>17</a:t>
            </a:r>
            <a:endParaRPr b="0" i="0" sz="1350" u="none" cap="none" strike="noStrike">
              <a:solidFill>
                <a:srgbClr val="000000"/>
              </a:solidFill>
              <a:latin typeface="Arial"/>
              <a:ea typeface="Arial"/>
              <a:cs typeface="Arial"/>
              <a:sym typeface="Arial"/>
            </a:endParaRPr>
          </a:p>
        </p:txBody>
      </p:sp>
      <p:graphicFrame>
        <p:nvGraphicFramePr>
          <p:cNvPr id="265" name="Google Shape;265;p17"/>
          <p:cNvGraphicFramePr/>
          <p:nvPr/>
        </p:nvGraphicFramePr>
        <p:xfrm>
          <a:off x="666720" y="1762200"/>
          <a:ext cx="3000000" cy="3000000"/>
        </p:xfrm>
        <a:graphic>
          <a:graphicData uri="http://schemas.openxmlformats.org/drawingml/2006/table">
            <a:tbl>
              <a:tblPr>
                <a:noFill/>
                <a:tableStyleId>{B27AFFA7-D2A1-49AC-8F84-CA7D211AECD2}</a:tableStyleId>
              </a:tblPr>
              <a:tblGrid>
                <a:gridCol w="5047925"/>
                <a:gridCol w="2904850"/>
                <a:gridCol w="2904850"/>
              </a:tblGrid>
              <a:tr h="690475">
                <a:tc>
                  <a:txBody>
                    <a:bodyPr/>
                    <a:lstStyle/>
                    <a:p>
                      <a:pPr indent="0" lvl="0" marL="0" marR="0" rtl="0" algn="l">
                        <a:lnSpc>
                          <a:spcPct val="100000"/>
                        </a:lnSpc>
                        <a:spcBef>
                          <a:spcPts val="0"/>
                        </a:spcBef>
                        <a:spcAft>
                          <a:spcPts val="0"/>
                        </a:spcAft>
                        <a:buNone/>
                      </a:pPr>
                      <a:r>
                        <a:rPr b="1" lang="en-US" sz="2100" u="none" strike="noStrike">
                          <a:solidFill>
                            <a:srgbClr val="FFFFFF"/>
                          </a:solidFill>
                          <a:latin typeface="Calibri"/>
                          <a:ea typeface="Calibri"/>
                          <a:cs typeface="Calibri"/>
                          <a:sym typeface="Calibri"/>
                        </a:rPr>
                        <a:t>Scenario</a:t>
                      </a:r>
                      <a:endParaRPr b="0" sz="2100" u="none" strike="noStrike">
                        <a:solidFill>
                          <a:srgbClr val="FFFFFF"/>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10262F"/>
                    </a:solidFill>
                  </a:tcPr>
                </a:tc>
                <a:tc>
                  <a:txBody>
                    <a:bodyPr/>
                    <a:lstStyle/>
                    <a:p>
                      <a:pPr indent="0" lvl="0" marL="0" marR="0" rtl="0" algn="l">
                        <a:lnSpc>
                          <a:spcPct val="100000"/>
                        </a:lnSpc>
                        <a:spcBef>
                          <a:spcPts val="0"/>
                        </a:spcBef>
                        <a:spcAft>
                          <a:spcPts val="0"/>
                        </a:spcAft>
                        <a:buNone/>
                      </a:pPr>
                      <a:r>
                        <a:rPr b="1" lang="en-US" sz="2100" u="none" strike="noStrike">
                          <a:solidFill>
                            <a:srgbClr val="FFFFFF"/>
                          </a:solidFill>
                          <a:latin typeface="Calibri"/>
                          <a:ea typeface="Calibri"/>
                          <a:cs typeface="Calibri"/>
                          <a:sym typeface="Calibri"/>
                        </a:rPr>
                        <a:t>Legacy median</a:t>
                      </a:r>
                      <a:endParaRPr b="0" sz="2100" u="none" strike="noStrike">
                        <a:solidFill>
                          <a:srgbClr val="FFFFFF"/>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10262F"/>
                    </a:solidFill>
                  </a:tcPr>
                </a:tc>
                <a:tc>
                  <a:txBody>
                    <a:bodyPr/>
                    <a:lstStyle/>
                    <a:p>
                      <a:pPr indent="0" lvl="0" marL="0" marR="0" rtl="0" algn="l">
                        <a:lnSpc>
                          <a:spcPct val="100000"/>
                        </a:lnSpc>
                        <a:spcBef>
                          <a:spcPts val="0"/>
                        </a:spcBef>
                        <a:spcAft>
                          <a:spcPts val="0"/>
                        </a:spcAft>
                        <a:buNone/>
                      </a:pPr>
                      <a:r>
                        <a:rPr b="1" lang="en-US" sz="2100" u="none" strike="noStrike">
                          <a:solidFill>
                            <a:srgbClr val="FFFFFF"/>
                          </a:solidFill>
                          <a:latin typeface="Calibri"/>
                          <a:ea typeface="Calibri"/>
                          <a:cs typeface="Calibri"/>
                          <a:sym typeface="Calibri"/>
                        </a:rPr>
                        <a:t>K6 median</a:t>
                      </a:r>
                      <a:endParaRPr b="0" sz="2100" u="none" strike="noStrike">
                        <a:solidFill>
                          <a:srgbClr val="FFFFFF"/>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10262F"/>
                    </a:solidFill>
                  </a:tcPr>
                </a:tc>
              </a:tr>
              <a:tr h="690475">
                <a:tc>
                  <a:txBody>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check_workspace (gRPC)</a:t>
                      </a:r>
                      <a:endParaRPr b="0" sz="210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2,133.3 ms</a:t>
                      </a:r>
                      <a:endParaRPr b="0" sz="210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217.5 ms</a:t>
                      </a:r>
                      <a:endParaRPr b="0" sz="210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r>
              <a:tr h="690475">
                <a:tc>
                  <a:txBody>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subjects (streaming)</a:t>
                      </a:r>
                      <a:endParaRPr b="0" sz="210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2,310.0 ms</a:t>
                      </a:r>
                      <a:endParaRPr b="0" sz="210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260.3 ms</a:t>
                      </a:r>
                      <a:endParaRPr b="0" sz="210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r>
              <a:tr h="690475">
                <a:tc>
                  <a:txBody>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checkself (REST)</a:t>
                      </a:r>
                      <a:endParaRPr b="0" sz="210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163.3 ms</a:t>
                      </a:r>
                      <a:endParaRPr b="0" sz="210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324.6 ms</a:t>
                      </a:r>
                      <a:endParaRPr b="0" sz="210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r>
            </a:tbl>
          </a:graphicData>
        </a:graphic>
      </p:graphicFrame>
      <p:sp>
        <p:nvSpPr>
          <p:cNvPr id="266" name="Google Shape;266;p17"/>
          <p:cNvSpPr/>
          <p:nvPr/>
        </p:nvSpPr>
        <p:spPr>
          <a:xfrm>
            <a:off x="666720" y="4952880"/>
            <a:ext cx="10857960" cy="523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087F8C"/>
                </a:solidFill>
                <a:latin typeface="Calibri"/>
                <a:ea typeface="Calibri"/>
                <a:cs typeface="Calibri"/>
                <a:sym typeface="Calibri"/>
              </a:rPr>
              <a:t>Higher throughput can increase backend latency</a:t>
            </a:r>
            <a:endParaRPr b="0" i="0" sz="2550" u="none" cap="none" strike="noStrike">
              <a:solidFill>
                <a:srgbClr val="000000"/>
              </a:solidFill>
              <a:latin typeface="Arial"/>
              <a:ea typeface="Arial"/>
              <a:cs typeface="Arial"/>
              <a:sym typeface="Arial"/>
            </a:endParaRPr>
          </a:p>
        </p:txBody>
      </p:sp>
      <p:sp>
        <p:nvSpPr>
          <p:cNvPr id="267" name="Google Shape;267;p17"/>
          <p:cNvSpPr/>
          <p:nvPr/>
        </p:nvSpPr>
        <p:spPr>
          <a:xfrm>
            <a:off x="666720" y="5924520"/>
            <a:ext cx="1038168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56666C"/>
                </a:solidFill>
                <a:latin typeface="Calibri"/>
                <a:ea typeface="Calibri"/>
                <a:cs typeface="Calibri"/>
                <a:sym typeface="Calibri"/>
              </a:rPr>
              <a:t>Legacy average and P95 were not recorded. These medians have different contexts.</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272" name="Shape 272"/>
        <p:cNvGrpSpPr/>
        <p:nvPr/>
      </p:nvGrpSpPr>
      <p:grpSpPr>
        <a:xfrm>
          <a:off x="0" y="0"/>
          <a:ext cx="0" cy="0"/>
          <a:chOff x="0" y="0"/>
          <a:chExt cx="0" cy="0"/>
        </a:xfrm>
      </p:grpSpPr>
      <p:sp>
        <p:nvSpPr>
          <p:cNvPr id="273" name="Google Shape;273;p18"/>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3450" u="none" cap="none" strike="noStrike">
                <a:solidFill>
                  <a:srgbClr val="12252D"/>
                </a:solidFill>
                <a:latin typeface="Calibri"/>
                <a:ea typeface="Calibri"/>
                <a:cs typeface="Calibri"/>
                <a:sym typeface="Calibri"/>
              </a:rPr>
              <a:t>Fixed sleeps, but now async/await</a:t>
            </a:r>
            <a:endParaRPr b="0" i="0" sz="3450" u="none" cap="none" strike="noStrike">
              <a:solidFill>
                <a:srgbClr val="000000"/>
              </a:solidFill>
              <a:latin typeface="Arial"/>
              <a:ea typeface="Arial"/>
              <a:cs typeface="Arial"/>
              <a:sym typeface="Arial"/>
            </a:endParaRPr>
          </a:p>
        </p:txBody>
      </p:sp>
      <p:sp>
        <p:nvSpPr>
          <p:cNvPr id="274" name="Google Shape;274;p18"/>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50" u="none" cap="none" strike="noStrike">
                <a:solidFill>
                  <a:srgbClr val="56666C"/>
                </a:solidFill>
                <a:latin typeface="Calibri"/>
                <a:ea typeface="Calibri"/>
                <a:cs typeface="Calibri"/>
                <a:sym typeface="Calibri"/>
              </a:rPr>
              <a:t>18</a:t>
            </a:r>
            <a:endParaRPr b="0" i="0" sz="1350" u="none" cap="none" strike="noStrike">
              <a:solidFill>
                <a:srgbClr val="000000"/>
              </a:solidFill>
              <a:latin typeface="Arial"/>
              <a:ea typeface="Arial"/>
              <a:cs typeface="Arial"/>
              <a:sym typeface="Arial"/>
            </a:endParaRPr>
          </a:p>
        </p:txBody>
      </p:sp>
      <p:sp>
        <p:nvSpPr>
          <p:cNvPr id="275" name="Google Shape;275;p18"/>
          <p:cNvSpPr/>
          <p:nvPr/>
        </p:nvSpPr>
        <p:spPr>
          <a:xfrm>
            <a:off x="666720" y="1809720"/>
            <a:ext cx="4857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087F8C"/>
                </a:solidFill>
                <a:latin typeface="Calibri"/>
                <a:ea typeface="Calibri"/>
                <a:cs typeface="Calibri"/>
                <a:sym typeface="Calibri"/>
              </a:rPr>
              <a:t>Earlier approach</a:t>
            </a:r>
            <a:endParaRPr b="0" i="0" sz="2400" u="none" cap="none" strike="noStrike">
              <a:solidFill>
                <a:srgbClr val="000000"/>
              </a:solidFill>
              <a:latin typeface="Arial"/>
              <a:ea typeface="Arial"/>
              <a:cs typeface="Arial"/>
              <a:sym typeface="Arial"/>
            </a:endParaRPr>
          </a:p>
        </p:txBody>
      </p:sp>
      <p:sp>
        <p:nvSpPr>
          <p:cNvPr id="276" name="Google Shape;276;p18"/>
          <p:cNvSpPr/>
          <p:nvPr/>
        </p:nvSpPr>
        <p:spPr>
          <a:xfrm>
            <a:off x="666720" y="2362320"/>
            <a:ext cx="4857480" cy="23331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k6 advanced the VU before stream messages or the end marker arrived.</a:t>
            </a:r>
            <a:endParaRPr b="0" i="0" sz="2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Early exits recorded no messages. A fixed sleep kept the iteration alive.</a:t>
            </a:r>
            <a:endParaRPr b="0" i="0" sz="2100" u="none" cap="none" strike="noStrike">
              <a:solidFill>
                <a:srgbClr val="000000"/>
              </a:solidFill>
              <a:latin typeface="Arial"/>
              <a:ea typeface="Arial"/>
              <a:cs typeface="Arial"/>
              <a:sym typeface="Arial"/>
            </a:endParaRPr>
          </a:p>
        </p:txBody>
      </p:sp>
      <p:sp>
        <p:nvSpPr>
          <p:cNvPr id="277" name="Google Shape;277;p18"/>
          <p:cNvSpPr/>
          <p:nvPr/>
        </p:nvSpPr>
        <p:spPr>
          <a:xfrm>
            <a:off x="6381720" y="1809720"/>
            <a:ext cx="504756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087F8C"/>
                </a:solidFill>
                <a:latin typeface="Calibri"/>
                <a:ea typeface="Calibri"/>
                <a:cs typeface="Calibri"/>
                <a:sym typeface="Calibri"/>
              </a:rPr>
              <a:t>Current approach</a:t>
            </a:r>
            <a:endParaRPr b="0" i="0" sz="2400" u="none" cap="none" strike="noStrike">
              <a:solidFill>
                <a:srgbClr val="000000"/>
              </a:solidFill>
              <a:latin typeface="Arial"/>
              <a:ea typeface="Arial"/>
              <a:cs typeface="Arial"/>
              <a:sym typeface="Arial"/>
            </a:endParaRPr>
          </a:p>
        </p:txBody>
      </p:sp>
      <p:sp>
        <p:nvSpPr>
          <p:cNvPr id="278" name="Google Shape;278;p18"/>
          <p:cNvSpPr/>
          <p:nvPr/>
        </p:nvSpPr>
        <p:spPr>
          <a:xfrm>
            <a:off x="6381720" y="2362320"/>
            <a:ext cx="5047920" cy="23331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Later k6 versions fixed the early exit.</a:t>
            </a:r>
            <a:endParaRPr b="0" i="0" sz="2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100" u="none" cap="none" strike="noStrike">
                <a:solidFill>
                  <a:srgbClr val="12252D"/>
                </a:solidFill>
                <a:latin typeface="Calibri"/>
                <a:ea typeface="Calibri"/>
                <a:cs typeface="Calibri"/>
                <a:sym typeface="Calibri"/>
              </a:rPr>
              <a:t>We now use async/await to collect messages, wait for the stream to end, and validate the result before the next iteration.</a:t>
            </a:r>
            <a:endParaRPr b="0" i="0" sz="2100" u="none" cap="none" strike="noStrike">
              <a:solidFill>
                <a:srgbClr val="000000"/>
              </a:solidFill>
              <a:latin typeface="Arial"/>
              <a:ea typeface="Arial"/>
              <a:cs typeface="Arial"/>
              <a:sym typeface="Arial"/>
            </a:endParaRPr>
          </a:p>
        </p:txBody>
      </p:sp>
      <p:sp>
        <p:nvSpPr>
          <p:cNvPr id="279" name="Google Shape;279;p18"/>
          <p:cNvSpPr/>
          <p:nvPr/>
        </p:nvSpPr>
        <p:spPr>
          <a:xfrm>
            <a:off x="666720" y="4857840"/>
            <a:ext cx="10762560" cy="66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700" u="none" cap="none" strike="noStrike">
                <a:solidFill>
                  <a:srgbClr val="087F8C"/>
                </a:solidFill>
                <a:latin typeface="Calibri"/>
                <a:ea typeface="Calibri"/>
                <a:cs typeface="Calibri"/>
                <a:sym typeface="Calibri"/>
              </a:rPr>
              <a:t>300 VUs, with each iteration awaiting stream completion</a:t>
            </a:r>
            <a:endParaRPr b="0" i="0" sz="2700" u="none" cap="none" strike="noStrike">
              <a:solidFill>
                <a:srgbClr val="000000"/>
              </a:solidFill>
              <a:latin typeface="Arial"/>
              <a:ea typeface="Arial"/>
              <a:cs typeface="Arial"/>
              <a:sym typeface="Arial"/>
            </a:endParaRPr>
          </a:p>
        </p:txBody>
      </p:sp>
      <p:sp>
        <p:nvSpPr>
          <p:cNvPr id="280" name="Google Shape;280;p18"/>
          <p:cNvSpPr/>
          <p:nvPr/>
        </p:nvSpPr>
        <p:spPr>
          <a:xfrm>
            <a:off x="666720" y="5924520"/>
            <a:ext cx="1038168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56666C"/>
                </a:solidFill>
                <a:latin typeface="Calibri"/>
                <a:ea typeface="Calibri"/>
                <a:cs typeface="Calibri"/>
                <a:sym typeface="Calibri"/>
              </a:rPr>
              <a:t>A VU starts its next iteration only after the stream ends or reports an error.</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285" name="Shape 285"/>
        <p:cNvGrpSpPr/>
        <p:nvPr/>
      </p:nvGrpSpPr>
      <p:grpSpPr>
        <a:xfrm>
          <a:off x="0" y="0"/>
          <a:ext cx="0" cy="0"/>
          <a:chOff x="0" y="0"/>
          <a:chExt cx="0" cy="0"/>
        </a:xfrm>
      </p:grpSpPr>
      <p:sp>
        <p:nvSpPr>
          <p:cNvPr id="286" name="Google Shape;286;p19"/>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3450" u="none" cap="none" strike="noStrike">
                <a:solidFill>
                  <a:srgbClr val="12252D"/>
                </a:solidFill>
                <a:latin typeface="Calibri"/>
                <a:ea typeface="Calibri"/>
                <a:cs typeface="Calibri"/>
                <a:sym typeface="Calibri"/>
              </a:rPr>
              <a:t>More concurrency eventually reduced throughput</a:t>
            </a:r>
            <a:endParaRPr b="0" i="0" sz="3450" u="none" cap="none" strike="noStrike">
              <a:solidFill>
                <a:srgbClr val="000000"/>
              </a:solidFill>
              <a:latin typeface="Arial"/>
              <a:ea typeface="Arial"/>
              <a:cs typeface="Arial"/>
              <a:sym typeface="Arial"/>
            </a:endParaRPr>
          </a:p>
        </p:txBody>
      </p:sp>
      <p:sp>
        <p:nvSpPr>
          <p:cNvPr id="287" name="Google Shape;287;p19"/>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50" u="none" cap="none" strike="noStrike">
                <a:solidFill>
                  <a:srgbClr val="56666C"/>
                </a:solidFill>
                <a:latin typeface="Calibri"/>
                <a:ea typeface="Calibri"/>
                <a:cs typeface="Calibri"/>
                <a:sym typeface="Calibri"/>
              </a:rPr>
              <a:t>19</a:t>
            </a:r>
            <a:endParaRPr b="0" i="0" sz="1350" u="none" cap="none" strike="noStrike">
              <a:solidFill>
                <a:srgbClr val="000000"/>
              </a:solidFill>
              <a:latin typeface="Arial"/>
              <a:ea typeface="Arial"/>
              <a:cs typeface="Arial"/>
              <a:sym typeface="Arial"/>
            </a:endParaRPr>
          </a:p>
        </p:txBody>
      </p:sp>
      <p:graphicFrame>
        <p:nvGraphicFramePr>
          <p:cNvPr id="288" name="Google Shape;288;p19"/>
          <p:cNvGraphicFramePr/>
          <p:nvPr/>
        </p:nvGraphicFramePr>
        <p:xfrm>
          <a:off x="685566" y="1574614"/>
          <a:ext cx="7428900" cy="3857100"/>
        </p:xfrm>
        <a:graphic>
          <a:graphicData uri="http://schemas.openxmlformats.org/drawingml/2006/chart">
            <c:chart r:id="rId3"/>
          </a:graphicData>
        </a:graphic>
      </p:graphicFrame>
      <p:sp>
        <p:nvSpPr>
          <p:cNvPr id="289" name="Google Shape;289;p19"/>
          <p:cNvSpPr/>
          <p:nvPr/>
        </p:nvSpPr>
        <p:spPr>
          <a:xfrm>
            <a:off x="8477280" y="2066760"/>
            <a:ext cx="3047400" cy="618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3300" u="none" cap="none" strike="noStrike">
                <a:solidFill>
                  <a:srgbClr val="000000"/>
                </a:solidFill>
                <a:latin typeface="Calibri"/>
                <a:ea typeface="Calibri"/>
                <a:cs typeface="Calibri"/>
                <a:sym typeface="Calibri"/>
              </a:rPr>
              <a:t>20 VUs</a:t>
            </a:r>
            <a:endParaRPr b="0" i="0" sz="3300" u="none" cap="none" strike="noStrike">
              <a:solidFill>
                <a:srgbClr val="000000"/>
              </a:solidFill>
              <a:latin typeface="Arial"/>
              <a:ea typeface="Arial"/>
              <a:cs typeface="Arial"/>
              <a:sym typeface="Arial"/>
            </a:endParaRPr>
          </a:p>
        </p:txBody>
      </p:sp>
      <p:sp>
        <p:nvSpPr>
          <p:cNvPr id="290" name="Google Shape;290;p19"/>
          <p:cNvSpPr/>
          <p:nvPr/>
        </p:nvSpPr>
        <p:spPr>
          <a:xfrm>
            <a:off x="8477280" y="2762280"/>
            <a:ext cx="3047400" cy="951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70" u="none" cap="none" strike="noStrike">
                <a:solidFill>
                  <a:srgbClr val="087F8C"/>
                </a:solidFill>
                <a:latin typeface="Calibri"/>
                <a:ea typeface="Calibri"/>
                <a:cs typeface="Calibri"/>
                <a:sym typeface="Calibri"/>
              </a:rPr>
              <a:t>1,296 RPS</a:t>
            </a:r>
            <a:endParaRPr b="0" i="0" sz="217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170" u="none" cap="none" strike="noStrike">
                <a:solidFill>
                  <a:srgbClr val="087F8C"/>
                </a:solidFill>
                <a:latin typeface="Calibri"/>
                <a:ea typeface="Calibri"/>
                <a:cs typeface="Calibri"/>
                <a:sym typeface="Calibri"/>
              </a:rPr>
              <a:t>37.7 ms P95</a:t>
            </a:r>
            <a:endParaRPr b="0" i="0" sz="2170" u="none" cap="none" strike="noStrike">
              <a:solidFill>
                <a:srgbClr val="000000"/>
              </a:solidFill>
              <a:latin typeface="Arial"/>
              <a:ea typeface="Arial"/>
              <a:cs typeface="Arial"/>
              <a:sym typeface="Arial"/>
            </a:endParaRPr>
          </a:p>
        </p:txBody>
      </p:sp>
      <p:sp>
        <p:nvSpPr>
          <p:cNvPr id="291" name="Google Shape;291;p19"/>
          <p:cNvSpPr/>
          <p:nvPr/>
        </p:nvSpPr>
        <p:spPr>
          <a:xfrm>
            <a:off x="8477280" y="4095720"/>
            <a:ext cx="3047400" cy="570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3000" u="none" cap="none" strike="noStrike">
                <a:solidFill>
                  <a:srgbClr val="000000"/>
                </a:solidFill>
                <a:latin typeface="Calibri"/>
                <a:ea typeface="Calibri"/>
                <a:cs typeface="Calibri"/>
                <a:sym typeface="Calibri"/>
              </a:rPr>
              <a:t>100 VUs</a:t>
            </a:r>
            <a:endParaRPr b="0" i="0" sz="3000" u="none" cap="none" strike="noStrike">
              <a:solidFill>
                <a:srgbClr val="000000"/>
              </a:solidFill>
              <a:latin typeface="Arial"/>
              <a:ea typeface="Arial"/>
              <a:cs typeface="Arial"/>
              <a:sym typeface="Arial"/>
            </a:endParaRPr>
          </a:p>
        </p:txBody>
      </p:sp>
      <p:sp>
        <p:nvSpPr>
          <p:cNvPr id="292" name="Google Shape;292;p19"/>
          <p:cNvSpPr/>
          <p:nvPr/>
        </p:nvSpPr>
        <p:spPr>
          <a:xfrm>
            <a:off x="8477280" y="4734000"/>
            <a:ext cx="3047400" cy="951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170" u="none" cap="none" strike="noStrike">
                <a:solidFill>
                  <a:srgbClr val="C55D36"/>
                </a:solidFill>
                <a:latin typeface="Calibri"/>
                <a:ea typeface="Calibri"/>
                <a:cs typeface="Calibri"/>
                <a:sym typeface="Calibri"/>
              </a:rPr>
              <a:t>801 RPS</a:t>
            </a:r>
            <a:endParaRPr b="0" i="0" sz="217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2170" u="none" cap="none" strike="noStrike">
                <a:solidFill>
                  <a:srgbClr val="C55D36"/>
                </a:solidFill>
                <a:latin typeface="Calibri"/>
                <a:ea typeface="Calibri"/>
                <a:cs typeface="Calibri"/>
                <a:sym typeface="Calibri"/>
              </a:rPr>
              <a:t>446.7 ms P95</a:t>
            </a:r>
            <a:endParaRPr b="0" i="0" sz="2170" u="none" cap="none" strike="noStrike">
              <a:solidFill>
                <a:srgbClr val="000000"/>
              </a:solidFill>
              <a:latin typeface="Arial"/>
              <a:ea typeface="Arial"/>
              <a:cs typeface="Arial"/>
              <a:sym typeface="Arial"/>
            </a:endParaRPr>
          </a:p>
        </p:txBody>
      </p:sp>
      <p:sp>
        <p:nvSpPr>
          <p:cNvPr id="293" name="Google Shape;293;p19"/>
          <p:cNvSpPr/>
          <p:nvPr/>
        </p:nvSpPr>
        <p:spPr>
          <a:xfrm>
            <a:off x="666720" y="5924520"/>
            <a:ext cx="1038168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56666C"/>
                </a:solidFill>
                <a:latin typeface="Calibri"/>
                <a:ea typeface="Calibri"/>
                <a:cs typeface="Calibri"/>
                <a:sym typeface="Calibri"/>
              </a:rPr>
              <a:t>delete_resource, 20k resource pool. Source links the decline to GC pressure.</a:t>
            </a:r>
            <a:endParaRPr b="0" i="0" sz="1500" u="none" cap="none" strike="noStrike">
              <a:solidFill>
                <a:srgbClr val="000000"/>
              </a:solidFill>
              <a:latin typeface="Arial"/>
              <a:ea typeface="Arial"/>
              <a:cs typeface="Arial"/>
              <a:sym typeface="Arial"/>
            </a:endParaRPr>
          </a:p>
        </p:txBody>
      </p:sp>
      <p:cxnSp>
        <p:nvCxnSpPr>
          <p:cNvPr id="294" name="Google Shape;294;p19"/>
          <p:cNvCxnSpPr/>
          <p:nvPr/>
        </p:nvCxnSpPr>
        <p:spPr>
          <a:xfrm>
            <a:off x="2743200" y="2171520"/>
            <a:ext cx="5448600" cy="360"/>
          </a:xfrm>
          <a:prstGeom prst="straightConnector1">
            <a:avLst/>
          </a:prstGeom>
          <a:noFill/>
          <a:ln cap="flat" cmpd="sng" w="19050">
            <a:solidFill>
              <a:srgbClr val="087F8C"/>
            </a:solidFill>
            <a:prstDash val="dot"/>
            <a:round/>
            <a:headEnd len="sm" w="sm" type="none"/>
            <a:tailEnd len="sm" w="sm" type="none"/>
          </a:ln>
        </p:spPr>
      </p:cxnSp>
      <p:cxnSp>
        <p:nvCxnSpPr>
          <p:cNvPr id="295" name="Google Shape;295;p19"/>
          <p:cNvCxnSpPr/>
          <p:nvPr/>
        </p:nvCxnSpPr>
        <p:spPr>
          <a:xfrm>
            <a:off x="8191440" y="2171520"/>
            <a:ext cx="360" cy="752760"/>
          </a:xfrm>
          <a:prstGeom prst="straightConnector1">
            <a:avLst/>
          </a:prstGeom>
          <a:noFill/>
          <a:ln cap="flat" cmpd="sng" w="19050">
            <a:solidFill>
              <a:srgbClr val="087F8C"/>
            </a:solidFill>
            <a:prstDash val="dot"/>
            <a:round/>
            <a:headEnd len="sm" w="sm" type="none"/>
            <a:tailEnd len="sm" w="sm" type="none"/>
          </a:ln>
        </p:spPr>
      </p:cxnSp>
      <p:cxnSp>
        <p:nvCxnSpPr>
          <p:cNvPr id="296" name="Google Shape;296;p19"/>
          <p:cNvCxnSpPr/>
          <p:nvPr/>
        </p:nvCxnSpPr>
        <p:spPr>
          <a:xfrm>
            <a:off x="8191440" y="2923920"/>
            <a:ext cx="190800" cy="360"/>
          </a:xfrm>
          <a:prstGeom prst="straightConnector1">
            <a:avLst/>
          </a:prstGeom>
          <a:noFill/>
          <a:ln cap="flat" cmpd="sng" w="19050">
            <a:solidFill>
              <a:srgbClr val="087F8C"/>
            </a:solidFill>
            <a:prstDash val="dot"/>
            <a:round/>
            <a:headEnd len="sm" w="sm" type="none"/>
            <a:tailEnd len="sm" w="sm" type="none"/>
          </a:ln>
        </p:spPr>
      </p:cxnSp>
      <p:cxnSp>
        <p:nvCxnSpPr>
          <p:cNvPr id="297" name="Google Shape;297;p19"/>
          <p:cNvCxnSpPr/>
          <p:nvPr/>
        </p:nvCxnSpPr>
        <p:spPr>
          <a:xfrm>
            <a:off x="7848360" y="3238200"/>
            <a:ext cx="248040" cy="360"/>
          </a:xfrm>
          <a:prstGeom prst="straightConnector1">
            <a:avLst/>
          </a:prstGeom>
          <a:noFill/>
          <a:ln cap="flat" cmpd="sng" w="19050">
            <a:solidFill>
              <a:srgbClr val="C55D36"/>
            </a:solidFill>
            <a:prstDash val="dot"/>
            <a:round/>
            <a:headEnd len="sm" w="sm" type="none"/>
            <a:tailEnd len="sm" w="sm" type="none"/>
          </a:ln>
        </p:spPr>
      </p:cxnSp>
      <p:cxnSp>
        <p:nvCxnSpPr>
          <p:cNvPr id="298" name="Google Shape;298;p19"/>
          <p:cNvCxnSpPr/>
          <p:nvPr/>
        </p:nvCxnSpPr>
        <p:spPr>
          <a:xfrm>
            <a:off x="8096040" y="3238200"/>
            <a:ext cx="360" cy="1657800"/>
          </a:xfrm>
          <a:prstGeom prst="straightConnector1">
            <a:avLst/>
          </a:prstGeom>
          <a:noFill/>
          <a:ln cap="flat" cmpd="sng" w="19050">
            <a:solidFill>
              <a:srgbClr val="C55D36"/>
            </a:solidFill>
            <a:prstDash val="dot"/>
            <a:round/>
            <a:headEnd len="sm" w="sm" type="none"/>
            <a:tailEnd len="sm" w="sm" type="none"/>
          </a:ln>
        </p:spPr>
      </p:cxnSp>
      <p:cxnSp>
        <p:nvCxnSpPr>
          <p:cNvPr id="299" name="Google Shape;299;p19"/>
          <p:cNvCxnSpPr/>
          <p:nvPr/>
        </p:nvCxnSpPr>
        <p:spPr>
          <a:xfrm>
            <a:off x="8096040" y="4895640"/>
            <a:ext cx="286200" cy="360"/>
          </a:xfrm>
          <a:prstGeom prst="straightConnector1">
            <a:avLst/>
          </a:prstGeom>
          <a:noFill/>
          <a:ln cap="flat" cmpd="sng" w="19050">
            <a:solidFill>
              <a:srgbClr val="C55D36"/>
            </a:solidFill>
            <a:prstDash val="dot"/>
            <a:round/>
            <a:headEnd len="sm" w="sm" type="none"/>
            <a:tailEnd len="sm" w="sm" type="none"/>
          </a:ln>
        </p:spPr>
      </p:cxnSp>
      <p:sp>
        <p:nvSpPr>
          <p:cNvPr id="300" name="Google Shape;300;p19"/>
          <p:cNvSpPr/>
          <p:nvPr/>
        </p:nvSpPr>
        <p:spPr>
          <a:xfrm>
            <a:off x="2724961" y="2181196"/>
            <a:ext cx="151800" cy="151800"/>
          </a:xfrm>
          <a:prstGeom prst="ellipse">
            <a:avLst/>
          </a:prstGeom>
          <a:solidFill>
            <a:srgbClr val="087F8C"/>
          </a:solidFill>
          <a:ln cap="flat" cmpd="sng" w="14275">
            <a:solidFill>
              <a:srgbClr val="FAFAF7"/>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01" name="Google Shape;301;p19"/>
          <p:cNvSpPr/>
          <p:nvPr/>
        </p:nvSpPr>
        <p:spPr>
          <a:xfrm>
            <a:off x="7772400" y="3162240"/>
            <a:ext cx="151920" cy="151920"/>
          </a:xfrm>
          <a:prstGeom prst="ellipse">
            <a:avLst/>
          </a:prstGeom>
          <a:solidFill>
            <a:srgbClr val="C55D36"/>
          </a:solidFill>
          <a:ln cap="flat" cmpd="sng" w="14275">
            <a:solidFill>
              <a:srgbClr val="FAFAF7"/>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306" name="Shape 306"/>
        <p:cNvGrpSpPr/>
        <p:nvPr/>
      </p:nvGrpSpPr>
      <p:grpSpPr>
        <a:xfrm>
          <a:off x="0" y="0"/>
          <a:ext cx="0" cy="0"/>
          <a:chOff x="0" y="0"/>
          <a:chExt cx="0" cy="0"/>
        </a:xfrm>
      </p:grpSpPr>
      <p:sp>
        <p:nvSpPr>
          <p:cNvPr id="307" name="Google Shape;307;p20"/>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u="none" strike="noStrike">
                <a:solidFill>
                  <a:srgbClr val="12252D"/>
                </a:solidFill>
                <a:latin typeface="Calibri"/>
                <a:ea typeface="Calibri"/>
                <a:cs typeface="Calibri"/>
                <a:sym typeface="Calibri"/>
              </a:rPr>
              <a:t>A short peak did not hold under sustained load</a:t>
            </a:r>
            <a:endParaRPr b="0" sz="3450" u="none" strike="noStrike">
              <a:solidFill>
                <a:srgbClr val="000000"/>
              </a:solidFill>
              <a:latin typeface="Arial"/>
              <a:ea typeface="Arial"/>
              <a:cs typeface="Arial"/>
              <a:sym typeface="Arial"/>
            </a:endParaRPr>
          </a:p>
        </p:txBody>
      </p:sp>
      <p:sp>
        <p:nvSpPr>
          <p:cNvPr id="308" name="Google Shape;308;p20"/>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350" u="none" strike="noStrike">
                <a:solidFill>
                  <a:srgbClr val="56666C"/>
                </a:solidFill>
                <a:latin typeface="Calibri"/>
                <a:ea typeface="Calibri"/>
                <a:cs typeface="Calibri"/>
                <a:sym typeface="Calibri"/>
              </a:rPr>
              <a:t>20</a:t>
            </a:r>
            <a:endParaRPr b="0" sz="1350" u="none" strike="noStrike">
              <a:solidFill>
                <a:srgbClr val="000000"/>
              </a:solidFill>
              <a:latin typeface="Arial"/>
              <a:ea typeface="Arial"/>
              <a:cs typeface="Arial"/>
              <a:sym typeface="Arial"/>
            </a:endParaRPr>
          </a:p>
        </p:txBody>
      </p:sp>
      <p:graphicFrame>
        <p:nvGraphicFramePr>
          <p:cNvPr id="309" name="Google Shape;309;p20"/>
          <p:cNvGraphicFramePr/>
          <p:nvPr/>
        </p:nvGraphicFramePr>
        <p:xfrm>
          <a:off x="571680" y="1657440"/>
          <a:ext cx="7428960" cy="3857040"/>
        </p:xfrm>
        <a:graphic>
          <a:graphicData uri="http://schemas.openxmlformats.org/drawingml/2006/chart">
            <c:chart r:id="rId3"/>
          </a:graphicData>
        </a:graphic>
      </p:graphicFrame>
      <p:sp>
        <p:nvSpPr>
          <p:cNvPr id="310" name="Google Shape;310;p20"/>
          <p:cNvSpPr/>
          <p:nvPr/>
        </p:nvSpPr>
        <p:spPr>
          <a:xfrm>
            <a:off x="8477280" y="2095560"/>
            <a:ext cx="304740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4800" u="none" strike="noStrike">
                <a:solidFill>
                  <a:srgbClr val="C55D36"/>
                </a:solidFill>
                <a:latin typeface="Calibri"/>
                <a:ea typeface="Calibri"/>
                <a:cs typeface="Calibri"/>
                <a:sym typeface="Calibri"/>
              </a:rPr>
              <a:t>14%</a:t>
            </a:r>
            <a:endParaRPr b="0" sz="4800" u="none" strike="noStrike">
              <a:solidFill>
                <a:srgbClr val="000000"/>
              </a:solidFill>
              <a:latin typeface="Arial"/>
              <a:ea typeface="Arial"/>
              <a:cs typeface="Arial"/>
              <a:sym typeface="Arial"/>
            </a:endParaRPr>
          </a:p>
        </p:txBody>
      </p:sp>
      <p:sp>
        <p:nvSpPr>
          <p:cNvPr id="311" name="Google Shape;311;p20"/>
          <p:cNvSpPr/>
          <p:nvPr/>
        </p:nvSpPr>
        <p:spPr>
          <a:xfrm>
            <a:off x="8524800" y="3105000"/>
            <a:ext cx="2952000" cy="1046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decline at 350 VUs</a:t>
            </a:r>
            <a:endParaRPr b="0" sz="21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first to last window</a:t>
            </a:r>
            <a:endParaRPr b="0" sz="2100" u="none" strike="noStrike">
              <a:solidFill>
                <a:srgbClr val="000000"/>
              </a:solidFill>
              <a:latin typeface="Arial"/>
              <a:ea typeface="Arial"/>
              <a:cs typeface="Arial"/>
              <a:sym typeface="Arial"/>
            </a:endParaRPr>
          </a:p>
        </p:txBody>
      </p:sp>
      <p:sp>
        <p:nvSpPr>
          <p:cNvPr id="312" name="Google Shape;312;p20"/>
          <p:cNvSpPr/>
          <p:nvPr/>
        </p:nvSpPr>
        <p:spPr>
          <a:xfrm>
            <a:off x="8524800" y="4657680"/>
            <a:ext cx="2952000" cy="951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250" u="none" strike="noStrike">
                <a:solidFill>
                  <a:srgbClr val="087F8C"/>
                </a:solidFill>
                <a:latin typeface="Calibri"/>
                <a:ea typeface="Calibri"/>
                <a:cs typeface="Calibri"/>
                <a:sym typeface="Calibri"/>
              </a:rPr>
              <a:t>The team retained</a:t>
            </a:r>
            <a:endParaRPr b="0" sz="225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lang="en-US" sz="2250" u="none" strike="noStrike">
                <a:solidFill>
                  <a:srgbClr val="087F8C"/>
                </a:solidFill>
                <a:latin typeface="Calibri"/>
                <a:ea typeface="Calibri"/>
                <a:cs typeface="Calibri"/>
                <a:sym typeface="Calibri"/>
              </a:rPr>
              <a:t>300 VUs</a:t>
            </a:r>
            <a:endParaRPr b="0" sz="2250" u="none" strike="noStrike">
              <a:solidFill>
                <a:srgbClr val="000000"/>
              </a:solidFill>
              <a:latin typeface="Arial"/>
              <a:ea typeface="Arial"/>
              <a:cs typeface="Arial"/>
              <a:sym typeface="Arial"/>
            </a:endParaRPr>
          </a:p>
        </p:txBody>
      </p:sp>
      <p:sp>
        <p:nvSpPr>
          <p:cNvPr id="313" name="Google Shape;313;p20"/>
          <p:cNvSpPr/>
          <p:nvPr/>
        </p:nvSpPr>
        <p:spPr>
          <a:xfrm>
            <a:off x="666720" y="5924520"/>
            <a:ext cx="1038168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500" u="none" strike="noStrike">
                <a:solidFill>
                  <a:srgbClr val="56666C"/>
                </a:solidFill>
                <a:latin typeface="Calibri"/>
                <a:ea typeface="Calibri"/>
                <a:cs typeface="Calibri"/>
                <a:sym typeface="Calibri"/>
              </a:rPr>
              <a:t>Historical streamed-subjects experiment. A sustained run tests a different limit.</a:t>
            </a:r>
            <a:endParaRPr b="0" sz="1500" u="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318" name="Shape 318"/>
        <p:cNvGrpSpPr/>
        <p:nvPr/>
      </p:nvGrpSpPr>
      <p:grpSpPr>
        <a:xfrm>
          <a:off x="0" y="0"/>
          <a:ext cx="0" cy="0"/>
          <a:chOff x="0" y="0"/>
          <a:chExt cx="0" cy="0"/>
        </a:xfrm>
      </p:grpSpPr>
      <p:sp>
        <p:nvSpPr>
          <p:cNvPr id="319" name="Google Shape;319;p21"/>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u="none" strike="noStrike">
                <a:solidFill>
                  <a:srgbClr val="12252D"/>
                </a:solidFill>
                <a:latin typeface="Calibri"/>
                <a:ea typeface="Calibri"/>
                <a:cs typeface="Calibri"/>
                <a:sym typeface="Calibri"/>
              </a:rPr>
              <a:t>3D explorer: throughput over time</a:t>
            </a:r>
            <a:endParaRPr b="0" sz="3450" u="none" strike="noStrike">
              <a:solidFill>
                <a:srgbClr val="000000"/>
              </a:solidFill>
              <a:latin typeface="Arial"/>
              <a:ea typeface="Arial"/>
              <a:cs typeface="Arial"/>
              <a:sym typeface="Arial"/>
            </a:endParaRPr>
          </a:p>
        </p:txBody>
      </p:sp>
      <p:sp>
        <p:nvSpPr>
          <p:cNvPr id="320" name="Google Shape;320;p21"/>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350" u="none" strike="noStrike">
                <a:solidFill>
                  <a:srgbClr val="56666C"/>
                </a:solidFill>
                <a:latin typeface="Calibri"/>
                <a:ea typeface="Calibri"/>
                <a:cs typeface="Calibri"/>
                <a:sym typeface="Calibri"/>
              </a:rPr>
              <a:t>21</a:t>
            </a:r>
            <a:endParaRPr b="0" sz="1350" u="none" strike="noStrike">
              <a:solidFill>
                <a:srgbClr val="000000"/>
              </a:solidFill>
              <a:latin typeface="Arial"/>
              <a:ea typeface="Arial"/>
              <a:cs typeface="Arial"/>
              <a:sym typeface="Arial"/>
            </a:endParaRPr>
          </a:p>
        </p:txBody>
      </p:sp>
      <p:pic>
        <p:nvPicPr>
          <p:cNvPr id="321" name="Google Shape;321;p21"/>
          <p:cNvPicPr preferRelativeResize="0"/>
          <p:nvPr/>
        </p:nvPicPr>
        <p:blipFill rotWithShape="1">
          <a:blip r:embed="rId3">
            <a:alphaModFix/>
          </a:blip>
          <a:srcRect b="0" l="0" r="0" t="0"/>
          <a:stretch/>
        </p:blipFill>
        <p:spPr>
          <a:xfrm>
            <a:off x="999360" y="1352520"/>
            <a:ext cx="6763320" cy="4475880"/>
          </a:xfrm>
          <a:prstGeom prst="rect">
            <a:avLst/>
          </a:prstGeom>
          <a:noFill/>
          <a:ln>
            <a:noFill/>
          </a:ln>
        </p:spPr>
      </p:pic>
      <p:sp>
        <p:nvSpPr>
          <p:cNvPr id="322" name="Google Shape;322;p21"/>
          <p:cNvSpPr/>
          <p:nvPr/>
        </p:nvSpPr>
        <p:spPr>
          <a:xfrm>
            <a:off x="8715240" y="1695600"/>
            <a:ext cx="2714040" cy="523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250" u="none" strike="noStrike">
                <a:solidFill>
                  <a:srgbClr val="087F8C"/>
                </a:solidFill>
                <a:latin typeface="Calibri"/>
                <a:ea typeface="Calibri"/>
                <a:cs typeface="Calibri"/>
                <a:sym typeface="Calibri"/>
              </a:rPr>
              <a:t>check_workspace</a:t>
            </a:r>
            <a:endParaRPr b="0" sz="2250" u="none" strike="noStrike">
              <a:solidFill>
                <a:srgbClr val="000000"/>
              </a:solidFill>
              <a:latin typeface="Arial"/>
              <a:ea typeface="Arial"/>
              <a:cs typeface="Arial"/>
              <a:sym typeface="Arial"/>
            </a:endParaRPr>
          </a:p>
        </p:txBody>
      </p:sp>
      <p:sp>
        <p:nvSpPr>
          <p:cNvPr id="323" name="Google Shape;323;p21"/>
          <p:cNvSpPr/>
          <p:nvPr/>
        </p:nvSpPr>
        <p:spPr>
          <a:xfrm>
            <a:off x="8715240" y="2428920"/>
            <a:ext cx="271404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u="none" strike="noStrike">
                <a:solidFill>
                  <a:srgbClr val="12252D"/>
                </a:solidFill>
                <a:latin typeface="Calibri"/>
                <a:ea typeface="Calibri"/>
                <a:cs typeface="Calibri"/>
                <a:sym typeface="Calibri"/>
              </a:rPr>
              <a:t>271 runs</a:t>
            </a:r>
            <a:endParaRPr b="0" sz="202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2020" u="none" strike="noStrike">
                <a:solidFill>
                  <a:srgbClr val="12252D"/>
                </a:solidFill>
                <a:latin typeface="Calibri"/>
                <a:ea typeface="Calibri"/>
                <a:cs typeface="Calibri"/>
                <a:sym typeface="Calibri"/>
              </a:rPr>
              <a:t>23 Jul–31 Aug 2026</a:t>
            </a:r>
            <a:endParaRPr b="0" sz="2020" u="none" strike="noStrike">
              <a:solidFill>
                <a:srgbClr val="000000"/>
              </a:solidFill>
              <a:latin typeface="Arial"/>
              <a:ea typeface="Arial"/>
              <a:cs typeface="Arial"/>
              <a:sym typeface="Arial"/>
            </a:endParaRPr>
          </a:p>
        </p:txBody>
      </p:sp>
      <p:sp>
        <p:nvSpPr>
          <p:cNvPr id="324" name="Google Shape;324;p21"/>
          <p:cNvSpPr/>
          <p:nvPr/>
        </p:nvSpPr>
        <p:spPr>
          <a:xfrm>
            <a:off x="8715240" y="3581280"/>
            <a:ext cx="2714040" cy="128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Date</a:t>
            </a:r>
            <a:endParaRPr b="0" sz="21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Time of day (UTC)</a:t>
            </a:r>
            <a:endParaRPr b="0" sz="21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Total RPS</a:t>
            </a:r>
            <a:endParaRPr b="0" sz="2100" u="none" strike="noStrike">
              <a:solidFill>
                <a:srgbClr val="000000"/>
              </a:solidFill>
              <a:latin typeface="Arial"/>
              <a:ea typeface="Arial"/>
              <a:cs typeface="Arial"/>
              <a:sym typeface="Arial"/>
            </a:endParaRPr>
          </a:p>
        </p:txBody>
      </p:sp>
      <p:sp>
        <p:nvSpPr>
          <p:cNvPr id="325" name="Google Shape;325;p21"/>
          <p:cNvSpPr/>
          <p:nvPr/>
        </p:nvSpPr>
        <p:spPr>
          <a:xfrm>
            <a:off x="666720" y="5924520"/>
            <a:ext cx="1038168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500" u="none" strike="noStrike">
                <a:solidFill>
                  <a:srgbClr val="56666C"/>
                </a:solidFill>
                <a:latin typeface="Calibri"/>
                <a:ea typeface="Calibri"/>
                <a:cs typeface="Calibri"/>
                <a:sym typeface="Calibri"/>
              </a:rPr>
              <a:t>Points show runs. Wall averages and the interpolated surface help locate variation.</a:t>
            </a:r>
            <a:endParaRPr b="0" sz="1500" u="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330" name="Shape 330"/>
        <p:cNvGrpSpPr/>
        <p:nvPr/>
      </p:nvGrpSpPr>
      <p:grpSpPr>
        <a:xfrm>
          <a:off x="0" y="0"/>
          <a:ext cx="0" cy="0"/>
          <a:chOff x="0" y="0"/>
          <a:chExt cx="0" cy="0"/>
        </a:xfrm>
      </p:grpSpPr>
      <p:sp>
        <p:nvSpPr>
          <p:cNvPr id="331" name="Google Shape;331;p22"/>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u="none" strike="noStrike">
                <a:solidFill>
                  <a:srgbClr val="12252D"/>
                </a:solidFill>
                <a:latin typeface="Calibri"/>
                <a:ea typeface="Calibri"/>
                <a:cs typeface="Calibri"/>
                <a:sym typeface="Calibri"/>
              </a:rPr>
              <a:t>Run-to-run variation still matters</a:t>
            </a:r>
            <a:endParaRPr b="0" sz="3450" u="none" strike="noStrike">
              <a:solidFill>
                <a:srgbClr val="000000"/>
              </a:solidFill>
              <a:latin typeface="Arial"/>
              <a:ea typeface="Arial"/>
              <a:cs typeface="Arial"/>
              <a:sym typeface="Arial"/>
            </a:endParaRPr>
          </a:p>
        </p:txBody>
      </p:sp>
      <p:sp>
        <p:nvSpPr>
          <p:cNvPr id="332" name="Google Shape;332;p22"/>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350" u="none" strike="noStrike">
                <a:solidFill>
                  <a:srgbClr val="56666C"/>
                </a:solidFill>
                <a:latin typeface="Calibri"/>
                <a:ea typeface="Calibri"/>
                <a:cs typeface="Calibri"/>
                <a:sym typeface="Calibri"/>
              </a:rPr>
              <a:t>22</a:t>
            </a:r>
            <a:endParaRPr b="0" sz="1350" u="none" strike="noStrike">
              <a:solidFill>
                <a:srgbClr val="000000"/>
              </a:solidFill>
              <a:latin typeface="Arial"/>
              <a:ea typeface="Arial"/>
              <a:cs typeface="Arial"/>
              <a:sym typeface="Arial"/>
            </a:endParaRPr>
          </a:p>
        </p:txBody>
      </p:sp>
      <p:sp>
        <p:nvSpPr>
          <p:cNvPr id="333" name="Google Shape;333;p22"/>
          <p:cNvSpPr/>
          <p:nvPr/>
        </p:nvSpPr>
        <p:spPr>
          <a:xfrm>
            <a:off x="8477280" y="1952640"/>
            <a:ext cx="3047400" cy="90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4500" u="none" strike="noStrike">
                <a:solidFill>
                  <a:srgbClr val="087F8C"/>
                </a:solidFill>
                <a:latin typeface="Calibri"/>
                <a:ea typeface="Calibri"/>
                <a:cs typeface="Calibri"/>
                <a:sym typeface="Calibri"/>
              </a:rPr>
              <a:t>1,803</a:t>
            </a:r>
            <a:endParaRPr b="0" sz="4500" u="none" strike="noStrike">
              <a:solidFill>
                <a:srgbClr val="000000"/>
              </a:solidFill>
              <a:latin typeface="Arial"/>
              <a:ea typeface="Arial"/>
              <a:cs typeface="Arial"/>
              <a:sym typeface="Arial"/>
            </a:endParaRPr>
          </a:p>
        </p:txBody>
      </p:sp>
      <p:sp>
        <p:nvSpPr>
          <p:cNvPr id="334" name="Google Shape;334;p22"/>
          <p:cNvSpPr/>
          <p:nvPr/>
        </p:nvSpPr>
        <p:spPr>
          <a:xfrm>
            <a:off x="8524800" y="2962440"/>
            <a:ext cx="2999520" cy="999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scenario runs</a:t>
            </a:r>
            <a:endParaRPr b="0" sz="21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across 12 scenarios</a:t>
            </a:r>
            <a:endParaRPr b="0" sz="2100" u="none" strike="noStrike">
              <a:solidFill>
                <a:srgbClr val="000000"/>
              </a:solidFill>
              <a:latin typeface="Arial"/>
              <a:ea typeface="Arial"/>
              <a:cs typeface="Arial"/>
              <a:sym typeface="Arial"/>
            </a:endParaRPr>
          </a:p>
        </p:txBody>
      </p:sp>
      <p:sp>
        <p:nvSpPr>
          <p:cNvPr id="335" name="Google Shape;335;p22"/>
          <p:cNvSpPr/>
          <p:nvPr/>
        </p:nvSpPr>
        <p:spPr>
          <a:xfrm>
            <a:off x="8524800" y="4305240"/>
            <a:ext cx="2999520" cy="1189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u="none" strike="noStrike">
                <a:solidFill>
                  <a:srgbClr val="12252D"/>
                </a:solidFill>
                <a:latin typeface="Calibri"/>
                <a:ea typeface="Calibri"/>
                <a:cs typeface="Calibri"/>
                <a:sym typeface="Calibri"/>
              </a:rPr>
              <a:t>Changes in scripts</a:t>
            </a:r>
            <a:endParaRPr b="0" sz="202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2020" u="none" strike="noStrike">
                <a:solidFill>
                  <a:srgbClr val="12252D"/>
                </a:solidFill>
                <a:latin typeface="Calibri"/>
                <a:ea typeface="Calibri"/>
                <a:cs typeface="Calibri"/>
                <a:sym typeface="Calibri"/>
              </a:rPr>
              <a:t>or data state can</a:t>
            </a:r>
            <a:endParaRPr b="0" sz="202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2020" u="none" strike="noStrike">
                <a:solidFill>
                  <a:srgbClr val="12252D"/>
                </a:solidFill>
                <a:latin typeface="Calibri"/>
                <a:ea typeface="Calibri"/>
                <a:cs typeface="Calibri"/>
                <a:sym typeface="Calibri"/>
              </a:rPr>
              <a:t>create distinct groups</a:t>
            </a:r>
            <a:endParaRPr b="0" sz="2020" u="none" strike="noStrike">
              <a:solidFill>
                <a:srgbClr val="000000"/>
              </a:solidFill>
              <a:latin typeface="Arial"/>
              <a:ea typeface="Arial"/>
              <a:cs typeface="Arial"/>
              <a:sym typeface="Arial"/>
            </a:endParaRPr>
          </a:p>
        </p:txBody>
      </p:sp>
      <p:sp>
        <p:nvSpPr>
          <p:cNvPr id="336" name="Google Shape;336;p22"/>
          <p:cNvSpPr/>
          <p:nvPr/>
        </p:nvSpPr>
        <p:spPr>
          <a:xfrm>
            <a:off x="666720" y="5924520"/>
            <a:ext cx="1038168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500" u="none" strike="noStrike">
                <a:solidFill>
                  <a:srgbClr val="56666C"/>
                </a:solidFill>
                <a:latin typeface="Calibri"/>
                <a:ea typeface="Calibri"/>
                <a:cs typeface="Calibri"/>
                <a:sym typeface="Calibri"/>
              </a:rPr>
              <a:t>23 Jul–31 Aug 2026. CV describes spread, not a regression threshold.</a:t>
            </a:r>
            <a:endParaRPr b="0" sz="1500" u="none" strike="noStrike">
              <a:solidFill>
                <a:srgbClr val="000000"/>
              </a:solidFill>
              <a:latin typeface="Arial"/>
              <a:ea typeface="Arial"/>
              <a:cs typeface="Arial"/>
              <a:sym typeface="Arial"/>
            </a:endParaRPr>
          </a:p>
        </p:txBody>
      </p:sp>
      <p:pic>
        <p:nvPicPr>
          <p:cNvPr id="337" name="Google Shape;337;p22"/>
          <p:cNvPicPr preferRelativeResize="0"/>
          <p:nvPr/>
        </p:nvPicPr>
        <p:blipFill>
          <a:blip r:embed="rId3">
            <a:alphaModFix/>
          </a:blip>
          <a:stretch>
            <a:fillRect/>
          </a:stretch>
        </p:blipFill>
        <p:spPr>
          <a:xfrm>
            <a:off x="152400" y="1523280"/>
            <a:ext cx="8172479" cy="424592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342" name="Shape 342"/>
        <p:cNvGrpSpPr/>
        <p:nvPr/>
      </p:nvGrpSpPr>
      <p:grpSpPr>
        <a:xfrm>
          <a:off x="0" y="0"/>
          <a:ext cx="0" cy="0"/>
          <a:chOff x="0" y="0"/>
          <a:chExt cx="0" cy="0"/>
        </a:xfrm>
      </p:grpSpPr>
      <p:sp>
        <p:nvSpPr>
          <p:cNvPr id="343" name="Google Shape;343;p23"/>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u="none" strike="noStrike">
                <a:solidFill>
                  <a:srgbClr val="12252D"/>
                </a:solidFill>
                <a:latin typeface="Calibri"/>
                <a:ea typeface="Calibri"/>
                <a:cs typeface="Calibri"/>
                <a:sym typeface="Calibri"/>
              </a:rPr>
              <a:t>The same day, nearly the same connections</a:t>
            </a:r>
            <a:endParaRPr b="0" sz="3450" u="none" strike="noStrike">
              <a:solidFill>
                <a:srgbClr val="000000"/>
              </a:solidFill>
              <a:latin typeface="Arial"/>
              <a:ea typeface="Arial"/>
              <a:cs typeface="Arial"/>
              <a:sym typeface="Arial"/>
            </a:endParaRPr>
          </a:p>
        </p:txBody>
      </p:sp>
      <p:sp>
        <p:nvSpPr>
          <p:cNvPr id="344" name="Google Shape;344;p23"/>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350" u="none" strike="noStrike">
                <a:solidFill>
                  <a:srgbClr val="56666C"/>
                </a:solidFill>
                <a:latin typeface="Calibri"/>
                <a:ea typeface="Calibri"/>
                <a:cs typeface="Calibri"/>
                <a:sym typeface="Calibri"/>
              </a:rPr>
              <a:t>23</a:t>
            </a:r>
            <a:endParaRPr b="0" sz="1350" u="none" strike="noStrike">
              <a:solidFill>
                <a:srgbClr val="000000"/>
              </a:solidFill>
              <a:latin typeface="Arial"/>
              <a:ea typeface="Arial"/>
              <a:cs typeface="Arial"/>
              <a:sym typeface="Arial"/>
            </a:endParaRPr>
          </a:p>
        </p:txBody>
      </p:sp>
      <p:graphicFrame>
        <p:nvGraphicFramePr>
          <p:cNvPr id="345" name="Google Shape;345;p23"/>
          <p:cNvGraphicFramePr/>
          <p:nvPr/>
        </p:nvGraphicFramePr>
        <p:xfrm>
          <a:off x="666720" y="1762200"/>
          <a:ext cx="3000000" cy="3000000"/>
        </p:xfrm>
        <a:graphic>
          <a:graphicData uri="http://schemas.openxmlformats.org/drawingml/2006/table">
            <a:tbl>
              <a:tblPr>
                <a:noFill/>
                <a:tableStyleId>{B27AFFA7-D2A1-49AC-8F84-CA7D211AECD2}</a:tableStyleId>
              </a:tblPr>
              <a:tblGrid>
                <a:gridCol w="5143325"/>
                <a:gridCol w="2857325"/>
                <a:gridCol w="2857325"/>
              </a:tblGrid>
              <a:tr h="690475">
                <a:tc>
                  <a:txBody>
                    <a:bodyPr/>
                    <a:lstStyle/>
                    <a:p>
                      <a:pPr indent="0" lvl="0" marL="0" marR="0" rtl="0" algn="l">
                        <a:lnSpc>
                          <a:spcPct val="100000"/>
                        </a:lnSpc>
                        <a:spcBef>
                          <a:spcPts val="0"/>
                        </a:spcBef>
                        <a:spcAft>
                          <a:spcPts val="0"/>
                        </a:spcAft>
                        <a:buNone/>
                      </a:pPr>
                      <a:r>
                        <a:rPr b="1" lang="en-US" sz="2100" u="none" strike="noStrike">
                          <a:solidFill>
                            <a:srgbClr val="FFFFFF"/>
                          </a:solidFill>
                          <a:latin typeface="Calibri"/>
                          <a:ea typeface="Calibri"/>
                          <a:cs typeface="Calibri"/>
                          <a:sym typeface="Calibri"/>
                        </a:rPr>
                        <a:t>31 Aug 2026</a:t>
                      </a:r>
                      <a:endParaRPr b="0" sz="2100" u="none" strike="noStrike">
                        <a:solidFill>
                          <a:srgbClr val="FFFFFF"/>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10262F"/>
                    </a:solidFill>
                  </a:tcPr>
                </a:tc>
                <a:tc>
                  <a:txBody>
                    <a:bodyPr/>
                    <a:lstStyle/>
                    <a:p>
                      <a:pPr indent="0" lvl="0" marL="0" marR="0" rtl="0" algn="l">
                        <a:lnSpc>
                          <a:spcPct val="100000"/>
                        </a:lnSpc>
                        <a:spcBef>
                          <a:spcPts val="0"/>
                        </a:spcBef>
                        <a:spcAft>
                          <a:spcPts val="0"/>
                        </a:spcAft>
                        <a:buNone/>
                      </a:pPr>
                      <a:r>
                        <a:rPr b="1" lang="en-US" sz="2100" u="none" strike="noStrike">
                          <a:solidFill>
                            <a:srgbClr val="FFFFFF"/>
                          </a:solidFill>
                          <a:latin typeface="Calibri"/>
                          <a:ea typeface="Calibri"/>
                          <a:cs typeface="Calibri"/>
                          <a:sym typeface="Calibri"/>
                        </a:rPr>
                        <a:t>Higher RPS run</a:t>
                      </a:r>
                      <a:endParaRPr b="0" sz="2100" u="none" strike="noStrike">
                        <a:solidFill>
                          <a:srgbClr val="FFFFFF"/>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10262F"/>
                    </a:solidFill>
                  </a:tcPr>
                </a:tc>
                <a:tc>
                  <a:txBody>
                    <a:bodyPr/>
                    <a:lstStyle/>
                    <a:p>
                      <a:pPr indent="0" lvl="0" marL="0" marR="0" rtl="0" algn="l">
                        <a:lnSpc>
                          <a:spcPct val="100000"/>
                        </a:lnSpc>
                        <a:spcBef>
                          <a:spcPts val="0"/>
                        </a:spcBef>
                        <a:spcAft>
                          <a:spcPts val="0"/>
                        </a:spcAft>
                        <a:buNone/>
                      </a:pPr>
                      <a:r>
                        <a:rPr b="1" lang="en-US" sz="2100" u="none" strike="noStrike">
                          <a:solidFill>
                            <a:srgbClr val="FFFFFF"/>
                          </a:solidFill>
                          <a:latin typeface="Calibri"/>
                          <a:ea typeface="Calibri"/>
                          <a:cs typeface="Calibri"/>
                          <a:sym typeface="Calibri"/>
                        </a:rPr>
                        <a:t>Lower RPS run</a:t>
                      </a:r>
                      <a:endParaRPr b="0" sz="2100" u="none" strike="noStrike">
                        <a:solidFill>
                          <a:srgbClr val="FFFFFF"/>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10262F"/>
                    </a:solidFill>
                  </a:tcPr>
                </a:tc>
              </a:tr>
              <a:tr h="690475">
                <a:tc>
                  <a:txBody>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Average DB connections</a:t>
                      </a:r>
                      <a:endParaRPr b="0" sz="210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280.0</a:t>
                      </a:r>
                      <a:endParaRPr b="0" sz="210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279.7</a:t>
                      </a:r>
                      <a:endParaRPr b="0" sz="210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r>
              <a:tr h="690475">
                <a:tc>
                  <a:txBody>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CPU-related active sessions</a:t>
                      </a:r>
                      <a:endParaRPr b="0" sz="210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7.01 AAS</a:t>
                      </a:r>
                      <a:endParaRPr b="0" sz="210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16.88 AAS</a:t>
                      </a:r>
                      <a:endParaRPr b="0" sz="210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r>
              <a:tr h="690475">
                <a:tc>
                  <a:txBody>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Throughput</a:t>
                      </a:r>
                      <a:endParaRPr b="0" sz="210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2,378.2 RPS</a:t>
                      </a:r>
                      <a:endParaRPr b="0" sz="210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1,911.2 RPS</a:t>
                      </a:r>
                      <a:endParaRPr b="0" sz="210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r>
            </a:tbl>
          </a:graphicData>
        </a:graphic>
      </p:graphicFrame>
      <p:sp>
        <p:nvSpPr>
          <p:cNvPr id="346" name="Google Shape;346;p23"/>
          <p:cNvSpPr/>
          <p:nvPr/>
        </p:nvSpPr>
        <p:spPr>
          <a:xfrm>
            <a:off x="666720" y="4896000"/>
            <a:ext cx="10857960" cy="570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620" u="none" strike="noStrike">
                <a:solidFill>
                  <a:srgbClr val="087F8C"/>
                </a:solidFill>
                <a:latin typeface="Calibri"/>
                <a:ea typeface="Calibri"/>
                <a:cs typeface="Calibri"/>
                <a:sym typeface="Calibri"/>
              </a:rPr>
              <a:t>19.6% less throughput with higher CPU-related load</a:t>
            </a:r>
            <a:endParaRPr b="0" sz="2620" u="none" strike="noStrike">
              <a:solidFill>
                <a:srgbClr val="000000"/>
              </a:solidFill>
              <a:latin typeface="Arial"/>
              <a:ea typeface="Arial"/>
              <a:cs typeface="Arial"/>
              <a:sym typeface="Arial"/>
            </a:endParaRPr>
          </a:p>
        </p:txBody>
      </p:sp>
      <p:sp>
        <p:nvSpPr>
          <p:cNvPr id="347" name="Google Shape;347;p23"/>
          <p:cNvSpPr/>
          <p:nvPr/>
        </p:nvSpPr>
        <p:spPr>
          <a:xfrm>
            <a:off x="666720" y="5924520"/>
            <a:ext cx="1038168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500" u="none" strike="noStrike">
                <a:solidFill>
                  <a:srgbClr val="56666C"/>
                </a:solidFill>
                <a:latin typeface="Calibri"/>
                <a:ea typeface="Calibri"/>
                <a:cs typeface="Calibri"/>
                <a:sym typeface="Calibri"/>
              </a:rPr>
              <a:t>One-minute sampling. Connection count and active-session load measure different things.</a:t>
            </a:r>
            <a:endParaRPr b="0" sz="1500" u="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352" name="Shape 352"/>
        <p:cNvGrpSpPr/>
        <p:nvPr/>
      </p:nvGrpSpPr>
      <p:grpSpPr>
        <a:xfrm>
          <a:off x="0" y="0"/>
          <a:ext cx="0" cy="0"/>
          <a:chOff x="0" y="0"/>
          <a:chExt cx="0" cy="0"/>
        </a:xfrm>
      </p:grpSpPr>
      <p:sp>
        <p:nvSpPr>
          <p:cNvPr id="353" name="Google Shape;353;p24"/>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u="none" strike="noStrike">
                <a:solidFill>
                  <a:srgbClr val="12252D"/>
                </a:solidFill>
                <a:latin typeface="Calibri"/>
                <a:ea typeface="Calibri"/>
                <a:cs typeface="Calibri"/>
                <a:sym typeface="Calibri"/>
              </a:rPr>
              <a:t>Database overload</a:t>
            </a:r>
            <a:endParaRPr b="0" sz="3450" u="none" strike="noStrike">
              <a:solidFill>
                <a:srgbClr val="000000"/>
              </a:solidFill>
              <a:latin typeface="Arial"/>
              <a:ea typeface="Arial"/>
              <a:cs typeface="Arial"/>
              <a:sym typeface="Arial"/>
            </a:endParaRPr>
          </a:p>
        </p:txBody>
      </p:sp>
      <p:sp>
        <p:nvSpPr>
          <p:cNvPr id="354" name="Google Shape;354;p24"/>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350" u="none" strike="noStrike">
                <a:solidFill>
                  <a:srgbClr val="56666C"/>
                </a:solidFill>
                <a:latin typeface="Calibri"/>
                <a:ea typeface="Calibri"/>
                <a:cs typeface="Calibri"/>
                <a:sym typeface="Calibri"/>
              </a:rPr>
              <a:t>24</a:t>
            </a:r>
            <a:endParaRPr b="0" sz="1350" u="none" strike="noStrike">
              <a:solidFill>
                <a:srgbClr val="000000"/>
              </a:solidFill>
              <a:latin typeface="Arial"/>
              <a:ea typeface="Arial"/>
              <a:cs typeface="Arial"/>
              <a:sym typeface="Arial"/>
            </a:endParaRPr>
          </a:p>
        </p:txBody>
      </p:sp>
      <p:sp>
        <p:nvSpPr>
          <p:cNvPr id="355" name="Google Shape;355;p24"/>
          <p:cNvSpPr/>
          <p:nvPr/>
        </p:nvSpPr>
        <p:spPr>
          <a:xfrm>
            <a:off x="666720" y="180972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170" u="none" strike="noStrike">
                <a:solidFill>
                  <a:srgbClr val="087F8C"/>
                </a:solidFill>
                <a:latin typeface="Calibri"/>
                <a:ea typeface="Calibri"/>
                <a:cs typeface="Calibri"/>
                <a:sym typeface="Calibri"/>
              </a:rPr>
              <a:t>DBLoad</a:t>
            </a:r>
            <a:endParaRPr b="0" sz="2170" u="none" strike="noStrike">
              <a:solidFill>
                <a:srgbClr val="000000"/>
              </a:solidFill>
              <a:latin typeface="Arial"/>
              <a:ea typeface="Arial"/>
              <a:cs typeface="Arial"/>
              <a:sym typeface="Arial"/>
            </a:endParaRPr>
          </a:p>
        </p:txBody>
      </p:sp>
      <p:sp>
        <p:nvSpPr>
          <p:cNvPr id="356" name="Google Shape;356;p24"/>
          <p:cNvSpPr/>
          <p:nvPr/>
        </p:nvSpPr>
        <p:spPr>
          <a:xfrm>
            <a:off x="3524400" y="180972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Sessions doing work or waiting, averaged over the window</a:t>
            </a:r>
            <a:endParaRPr b="0" sz="2100" u="none" strike="noStrike">
              <a:solidFill>
                <a:srgbClr val="000000"/>
              </a:solidFill>
              <a:latin typeface="Arial"/>
              <a:ea typeface="Arial"/>
              <a:cs typeface="Arial"/>
              <a:sym typeface="Arial"/>
            </a:endParaRPr>
          </a:p>
        </p:txBody>
      </p:sp>
      <p:sp>
        <p:nvSpPr>
          <p:cNvPr id="357" name="Google Shape;357;p24"/>
          <p:cNvSpPr/>
          <p:nvPr/>
        </p:nvSpPr>
        <p:spPr>
          <a:xfrm>
            <a:off x="666720" y="280980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170" u="none" strike="noStrike">
                <a:solidFill>
                  <a:srgbClr val="087F8C"/>
                </a:solidFill>
                <a:latin typeface="Calibri"/>
                <a:ea typeface="Calibri"/>
                <a:cs typeface="Calibri"/>
                <a:sym typeface="Calibri"/>
              </a:rPr>
              <a:t>DBLoadCPU</a:t>
            </a:r>
            <a:endParaRPr b="0" sz="2170" u="none" strike="noStrike">
              <a:solidFill>
                <a:srgbClr val="000000"/>
              </a:solidFill>
              <a:latin typeface="Arial"/>
              <a:ea typeface="Arial"/>
              <a:cs typeface="Arial"/>
              <a:sym typeface="Arial"/>
            </a:endParaRPr>
          </a:p>
        </p:txBody>
      </p:sp>
      <p:sp>
        <p:nvSpPr>
          <p:cNvPr id="358" name="Google Shape;358;p24"/>
          <p:cNvSpPr/>
          <p:nvPr/>
        </p:nvSpPr>
        <p:spPr>
          <a:xfrm>
            <a:off x="3524400" y="280980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Sessions running on CPU or waiting for CPU</a:t>
            </a:r>
            <a:endParaRPr b="0" sz="2100" u="none" strike="noStrike">
              <a:solidFill>
                <a:srgbClr val="000000"/>
              </a:solidFill>
              <a:latin typeface="Arial"/>
              <a:ea typeface="Arial"/>
              <a:cs typeface="Arial"/>
              <a:sym typeface="Arial"/>
            </a:endParaRPr>
          </a:p>
        </p:txBody>
      </p:sp>
      <p:sp>
        <p:nvSpPr>
          <p:cNvPr id="359" name="Google Shape;359;p24"/>
          <p:cNvSpPr/>
          <p:nvPr/>
        </p:nvSpPr>
        <p:spPr>
          <a:xfrm>
            <a:off x="666720" y="380988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170" u="none" strike="noStrike">
                <a:solidFill>
                  <a:srgbClr val="087F8C"/>
                </a:solidFill>
                <a:latin typeface="Calibri"/>
                <a:ea typeface="Calibri"/>
                <a:cs typeface="Calibri"/>
                <a:sym typeface="Calibri"/>
              </a:rPr>
              <a:t>Other waits</a:t>
            </a:r>
            <a:endParaRPr b="0" sz="2170" u="none" strike="noStrike">
              <a:solidFill>
                <a:srgbClr val="000000"/>
              </a:solidFill>
              <a:latin typeface="Arial"/>
              <a:ea typeface="Arial"/>
              <a:cs typeface="Arial"/>
              <a:sym typeface="Arial"/>
            </a:endParaRPr>
          </a:p>
        </p:txBody>
      </p:sp>
      <p:sp>
        <p:nvSpPr>
          <p:cNvPr id="360" name="Google Shape;360;p24"/>
          <p:cNvSpPr/>
          <p:nvPr/>
        </p:nvSpPr>
        <p:spPr>
          <a:xfrm>
            <a:off x="3524400" y="380988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Locks, I/O and client waits point to different limits</a:t>
            </a:r>
            <a:endParaRPr b="0" sz="2100" u="none" strike="noStrike">
              <a:solidFill>
                <a:srgbClr val="000000"/>
              </a:solidFill>
              <a:latin typeface="Arial"/>
              <a:ea typeface="Arial"/>
              <a:cs typeface="Arial"/>
              <a:sym typeface="Arial"/>
            </a:endParaRPr>
          </a:p>
        </p:txBody>
      </p:sp>
      <p:sp>
        <p:nvSpPr>
          <p:cNvPr id="361" name="Google Shape;361;p24"/>
          <p:cNvSpPr/>
          <p:nvPr/>
        </p:nvSpPr>
        <p:spPr>
          <a:xfrm>
            <a:off x="666720" y="480996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170" u="none" strike="noStrike">
                <a:solidFill>
                  <a:srgbClr val="087F8C"/>
                </a:solidFill>
                <a:latin typeface="Calibri"/>
                <a:ea typeface="Calibri"/>
                <a:cs typeface="Calibri"/>
                <a:sym typeface="Calibri"/>
              </a:rPr>
              <a:t>Interpretation</a:t>
            </a:r>
            <a:endParaRPr b="0" sz="2170" u="none" strike="noStrike">
              <a:solidFill>
                <a:srgbClr val="000000"/>
              </a:solidFill>
              <a:latin typeface="Arial"/>
              <a:ea typeface="Arial"/>
              <a:cs typeface="Arial"/>
              <a:sym typeface="Arial"/>
            </a:endParaRPr>
          </a:p>
        </p:txBody>
      </p:sp>
      <p:sp>
        <p:nvSpPr>
          <p:cNvPr id="362" name="Google Shape;362;p24"/>
          <p:cNvSpPr/>
          <p:nvPr/>
        </p:nvSpPr>
        <p:spPr>
          <a:xfrm>
            <a:off x="3524400" y="480996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Lower RPS and rising CPU-related load reflect database overload</a:t>
            </a:r>
            <a:endParaRPr b="0" sz="2100" u="none" strike="noStrike">
              <a:solidFill>
                <a:srgbClr val="000000"/>
              </a:solidFill>
              <a:latin typeface="Arial"/>
              <a:ea typeface="Arial"/>
              <a:cs typeface="Arial"/>
              <a:sym typeface="Arial"/>
            </a:endParaRPr>
          </a:p>
        </p:txBody>
      </p:sp>
      <p:sp>
        <p:nvSpPr>
          <p:cNvPr id="363" name="Google Shape;363;p24"/>
          <p:cNvSpPr/>
          <p:nvPr/>
        </p:nvSpPr>
        <p:spPr>
          <a:xfrm>
            <a:off x="666720" y="5924520"/>
            <a:ext cx="1038168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500" u="none" strike="noStrike">
                <a:solidFill>
                  <a:srgbClr val="56666C"/>
                </a:solidFill>
                <a:latin typeface="Calibri"/>
                <a:ea typeface="Calibri"/>
                <a:cs typeface="Calibri"/>
                <a:sym typeface="Calibri"/>
              </a:rPr>
              <a:t>The configured RDS instance class cannot keep up with the test load.</a:t>
            </a:r>
            <a:endParaRPr b="0" sz="1500" u="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368" name="Shape 368"/>
        <p:cNvGrpSpPr/>
        <p:nvPr/>
      </p:nvGrpSpPr>
      <p:grpSpPr>
        <a:xfrm>
          <a:off x="0" y="0"/>
          <a:ext cx="0" cy="0"/>
          <a:chOff x="0" y="0"/>
          <a:chExt cx="0" cy="0"/>
        </a:xfrm>
      </p:grpSpPr>
      <p:sp>
        <p:nvSpPr>
          <p:cNvPr id="369" name="Google Shape;369;p25"/>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u="none" strike="noStrike">
                <a:solidFill>
                  <a:srgbClr val="12252D"/>
                </a:solidFill>
                <a:latin typeface="Calibri"/>
                <a:ea typeface="Calibri"/>
                <a:cs typeface="Calibri"/>
                <a:sym typeface="Calibri"/>
              </a:rPr>
              <a:t>Correctness and CPT pass rate measure different things</a:t>
            </a:r>
            <a:endParaRPr b="0" sz="3450" u="none" strike="noStrike">
              <a:solidFill>
                <a:srgbClr val="000000"/>
              </a:solidFill>
              <a:latin typeface="Arial"/>
              <a:ea typeface="Arial"/>
              <a:cs typeface="Arial"/>
              <a:sym typeface="Arial"/>
            </a:endParaRPr>
          </a:p>
        </p:txBody>
      </p:sp>
      <p:sp>
        <p:nvSpPr>
          <p:cNvPr id="370" name="Google Shape;370;p25"/>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350" u="none" strike="noStrike">
                <a:solidFill>
                  <a:srgbClr val="56666C"/>
                </a:solidFill>
                <a:latin typeface="Calibri"/>
                <a:ea typeface="Calibri"/>
                <a:cs typeface="Calibri"/>
                <a:sym typeface="Calibri"/>
              </a:rPr>
              <a:t>25</a:t>
            </a:r>
            <a:endParaRPr b="0" sz="1350" u="none" strike="noStrike">
              <a:solidFill>
                <a:srgbClr val="000000"/>
              </a:solidFill>
              <a:latin typeface="Arial"/>
              <a:ea typeface="Arial"/>
              <a:cs typeface="Arial"/>
              <a:sym typeface="Arial"/>
            </a:endParaRPr>
          </a:p>
        </p:txBody>
      </p:sp>
      <p:sp>
        <p:nvSpPr>
          <p:cNvPr id="371" name="Google Shape;371;p25"/>
          <p:cNvSpPr/>
          <p:nvPr/>
        </p:nvSpPr>
        <p:spPr>
          <a:xfrm>
            <a:off x="666720" y="1562040"/>
            <a:ext cx="10476720" cy="475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56666C"/>
                </a:solidFill>
                <a:latin typeface="Calibri"/>
                <a:ea typeface="Calibri"/>
                <a:cs typeface="Calibri"/>
                <a:sym typeface="Calibri"/>
              </a:rPr>
              <a:t>check_view</a:t>
            </a:r>
            <a:endParaRPr b="0" sz="2100" u="none" strike="noStrike">
              <a:solidFill>
                <a:srgbClr val="000000"/>
              </a:solidFill>
              <a:latin typeface="Arial"/>
              <a:ea typeface="Arial"/>
              <a:cs typeface="Arial"/>
              <a:sym typeface="Arial"/>
            </a:endParaRPr>
          </a:p>
        </p:txBody>
      </p:sp>
      <p:sp>
        <p:nvSpPr>
          <p:cNvPr id="372" name="Google Shape;372;p25"/>
          <p:cNvSpPr/>
          <p:nvPr/>
        </p:nvSpPr>
        <p:spPr>
          <a:xfrm>
            <a:off x="666720" y="2362320"/>
            <a:ext cx="4857120" cy="1046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5400" u="none" strike="noStrike">
                <a:solidFill>
                  <a:srgbClr val="087F8C"/>
                </a:solidFill>
                <a:latin typeface="Calibri"/>
                <a:ea typeface="Calibri"/>
                <a:cs typeface="Calibri"/>
                <a:sym typeface="Calibri"/>
              </a:rPr>
              <a:t>0.000%</a:t>
            </a:r>
            <a:endParaRPr b="0" sz="5400" u="none" strike="noStrike">
              <a:solidFill>
                <a:srgbClr val="000000"/>
              </a:solidFill>
              <a:latin typeface="Arial"/>
              <a:ea typeface="Arial"/>
              <a:cs typeface="Arial"/>
              <a:sym typeface="Arial"/>
            </a:endParaRPr>
          </a:p>
        </p:txBody>
      </p:sp>
      <p:sp>
        <p:nvSpPr>
          <p:cNvPr id="373" name="Google Shape;373;p25"/>
          <p:cNvSpPr/>
          <p:nvPr/>
        </p:nvSpPr>
        <p:spPr>
          <a:xfrm>
            <a:off x="666720" y="3552840"/>
            <a:ext cx="4857120" cy="999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250" u="none" strike="noStrike">
                <a:solidFill>
                  <a:srgbClr val="12252D"/>
                </a:solidFill>
                <a:latin typeface="Calibri"/>
                <a:ea typeface="Calibri"/>
                <a:cs typeface="Calibri"/>
                <a:sym typeface="Calibri"/>
              </a:rPr>
              <a:t>Mean response-check failure ratio</a:t>
            </a:r>
            <a:endParaRPr b="0" sz="2250" u="none" strike="noStrike">
              <a:solidFill>
                <a:srgbClr val="000000"/>
              </a:solidFill>
              <a:latin typeface="Arial"/>
              <a:ea typeface="Arial"/>
              <a:cs typeface="Arial"/>
              <a:sym typeface="Arial"/>
            </a:endParaRPr>
          </a:p>
        </p:txBody>
      </p:sp>
      <p:sp>
        <p:nvSpPr>
          <p:cNvPr id="374" name="Google Shape;374;p25"/>
          <p:cNvSpPr/>
          <p:nvPr/>
        </p:nvSpPr>
        <p:spPr>
          <a:xfrm>
            <a:off x="6381720" y="2362320"/>
            <a:ext cx="5047560" cy="1046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5400" u="none" strike="noStrike">
                <a:solidFill>
                  <a:srgbClr val="12252D"/>
                </a:solidFill>
                <a:latin typeface="Calibri"/>
                <a:ea typeface="Calibri"/>
                <a:cs typeface="Calibri"/>
                <a:sym typeface="Calibri"/>
              </a:rPr>
              <a:t>75.9%</a:t>
            </a:r>
            <a:endParaRPr b="0" sz="5400" u="none" strike="noStrike">
              <a:solidFill>
                <a:srgbClr val="000000"/>
              </a:solidFill>
              <a:latin typeface="Arial"/>
              <a:ea typeface="Arial"/>
              <a:cs typeface="Arial"/>
              <a:sym typeface="Arial"/>
            </a:endParaRPr>
          </a:p>
        </p:txBody>
      </p:sp>
      <p:sp>
        <p:nvSpPr>
          <p:cNvPr id="375" name="Google Shape;375;p25"/>
          <p:cNvSpPr/>
          <p:nvPr/>
        </p:nvSpPr>
        <p:spPr>
          <a:xfrm>
            <a:off x="6381720" y="3552840"/>
            <a:ext cx="5047560" cy="999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250" u="none" strike="noStrike">
                <a:solidFill>
                  <a:srgbClr val="12252D"/>
                </a:solidFill>
                <a:latin typeface="Calibri"/>
                <a:ea typeface="Calibri"/>
                <a:cs typeface="Calibri"/>
                <a:sym typeface="Calibri"/>
              </a:rPr>
              <a:t>Runs classified as a CPT pass</a:t>
            </a:r>
            <a:endParaRPr b="0" sz="2250" u="none" strike="noStrike">
              <a:solidFill>
                <a:srgbClr val="000000"/>
              </a:solidFill>
              <a:latin typeface="Arial"/>
              <a:ea typeface="Arial"/>
              <a:cs typeface="Arial"/>
              <a:sym typeface="Arial"/>
            </a:endParaRPr>
          </a:p>
        </p:txBody>
      </p:sp>
      <p:sp>
        <p:nvSpPr>
          <p:cNvPr id="376" name="Google Shape;376;p25"/>
          <p:cNvSpPr/>
          <p:nvPr/>
        </p:nvSpPr>
        <p:spPr>
          <a:xfrm>
            <a:off x="666720" y="5924520"/>
            <a:ext cx="1038168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500" u="none" strike="noStrike">
                <a:solidFill>
                  <a:srgbClr val="56666C"/>
                </a:solidFill>
                <a:latin typeface="Calibri"/>
                <a:ea typeface="Calibri"/>
                <a:cs typeface="Calibri"/>
                <a:sym typeface="Calibri"/>
              </a:rPr>
              <a:t>146 runs. A performance classifier can fail a run even when response checks pass.</a:t>
            </a:r>
            <a:endParaRPr b="0" sz="1500" u="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62F"/>
        </a:solidFill>
      </p:bgPr>
    </p:bg>
    <p:spTree>
      <p:nvGrpSpPr>
        <p:cNvPr id="381" name="Shape 381"/>
        <p:cNvGrpSpPr/>
        <p:nvPr/>
      </p:nvGrpSpPr>
      <p:grpSpPr>
        <a:xfrm>
          <a:off x="0" y="0"/>
          <a:ext cx="0" cy="0"/>
          <a:chOff x="0" y="0"/>
          <a:chExt cx="0" cy="0"/>
        </a:xfrm>
      </p:grpSpPr>
      <p:sp>
        <p:nvSpPr>
          <p:cNvPr id="382" name="Google Shape;382;p26"/>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350" u="none" strike="noStrike">
                <a:solidFill>
                  <a:srgbClr val="98A9B0"/>
                </a:solidFill>
                <a:latin typeface="Calibri"/>
                <a:ea typeface="Calibri"/>
                <a:cs typeface="Calibri"/>
                <a:sym typeface="Calibri"/>
              </a:rPr>
              <a:t>26</a:t>
            </a:r>
            <a:endParaRPr b="0" sz="1350" u="none" strike="noStrike">
              <a:solidFill>
                <a:srgbClr val="FFFFFF"/>
              </a:solidFill>
              <a:latin typeface="Arial"/>
              <a:ea typeface="Arial"/>
              <a:cs typeface="Arial"/>
              <a:sym typeface="Arial"/>
            </a:endParaRPr>
          </a:p>
        </p:txBody>
      </p:sp>
      <p:sp>
        <p:nvSpPr>
          <p:cNvPr id="383" name="Google Shape;383;p26"/>
          <p:cNvSpPr/>
          <p:nvPr/>
        </p:nvSpPr>
        <p:spPr>
          <a:xfrm>
            <a:off x="666720" y="685800"/>
            <a:ext cx="2094840" cy="1142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7050" u="none" strike="noStrike">
                <a:solidFill>
                  <a:srgbClr val="087F8C"/>
                </a:solidFill>
                <a:latin typeface="Calibri"/>
                <a:ea typeface="Calibri"/>
                <a:cs typeface="Calibri"/>
                <a:sym typeface="Calibri"/>
              </a:rPr>
              <a:t>04</a:t>
            </a:r>
            <a:endParaRPr b="0" sz="7050" u="none" strike="noStrike">
              <a:solidFill>
                <a:srgbClr val="FFFFFF"/>
              </a:solidFill>
              <a:latin typeface="Arial"/>
              <a:ea typeface="Arial"/>
              <a:cs typeface="Arial"/>
              <a:sym typeface="Arial"/>
            </a:endParaRPr>
          </a:p>
        </p:txBody>
      </p:sp>
      <p:sp>
        <p:nvSpPr>
          <p:cNvPr id="384" name="Google Shape;384;p26"/>
          <p:cNvSpPr/>
          <p:nvPr/>
        </p:nvSpPr>
        <p:spPr>
          <a:xfrm>
            <a:off x="666720" y="2143080"/>
            <a:ext cx="5428440" cy="180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4500" u="none" strike="noStrike">
                <a:solidFill>
                  <a:srgbClr val="FFFFFF"/>
                </a:solidFill>
                <a:latin typeface="Calibri"/>
                <a:ea typeface="Calibri"/>
                <a:cs typeface="Calibri"/>
                <a:sym typeface="Calibri"/>
              </a:rPr>
              <a:t>PR testing</a:t>
            </a:r>
            <a:endParaRPr b="0" sz="4500" u="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rPr b="1" lang="en-US" sz="4500" u="none" strike="noStrike">
                <a:solidFill>
                  <a:srgbClr val="FFFFFF"/>
                </a:solidFill>
                <a:latin typeface="Calibri"/>
                <a:ea typeface="Calibri"/>
                <a:cs typeface="Calibri"/>
                <a:sym typeface="Calibri"/>
              </a:rPr>
              <a:t>&amp; state</a:t>
            </a:r>
            <a:endParaRPr b="0" sz="4500" u="none" strike="noStrike">
              <a:solidFill>
                <a:srgbClr val="FFFFFF"/>
              </a:solidFill>
              <a:latin typeface="Arial"/>
              <a:ea typeface="Arial"/>
              <a:cs typeface="Arial"/>
              <a:sym typeface="Arial"/>
            </a:endParaRPr>
          </a:p>
        </p:txBody>
      </p:sp>
      <p:sp>
        <p:nvSpPr>
          <p:cNvPr id="385" name="Google Shape;385;p26"/>
          <p:cNvSpPr/>
          <p:nvPr/>
        </p:nvSpPr>
        <p:spPr>
          <a:xfrm>
            <a:off x="666720" y="4334040"/>
            <a:ext cx="5238000" cy="1142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E5EDEE"/>
                </a:solidFill>
                <a:latin typeface="Calibri"/>
                <a:ea typeface="Calibri"/>
                <a:cs typeface="Calibri"/>
                <a:sym typeface="Calibri"/>
              </a:rPr>
              <a:t>The right code and a compatible database must survive the test</a:t>
            </a:r>
            <a:endParaRPr b="0" sz="2100" u="none" strike="noStrike">
              <a:solidFill>
                <a:srgbClr val="FFFFFF"/>
              </a:solidFill>
              <a:latin typeface="Arial"/>
              <a:ea typeface="Arial"/>
              <a:cs typeface="Arial"/>
              <a:sym typeface="Arial"/>
            </a:endParaRPr>
          </a:p>
        </p:txBody>
      </p:sp>
      <p:sp>
        <p:nvSpPr>
          <p:cNvPr id="386" name="Google Shape;386;p26"/>
          <p:cNvSpPr/>
          <p:nvPr/>
        </p:nvSpPr>
        <p:spPr>
          <a:xfrm>
            <a:off x="7143840" y="1657440"/>
            <a:ext cx="57096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98A9B0"/>
                </a:solidFill>
                <a:latin typeface="Calibri"/>
                <a:ea typeface="Calibri"/>
                <a:cs typeface="Calibri"/>
                <a:sym typeface="Calibri"/>
              </a:rPr>
              <a:t>01</a:t>
            </a:r>
            <a:endParaRPr b="0" sz="2100" u="none" strike="noStrike">
              <a:solidFill>
                <a:srgbClr val="FFFFFF"/>
              </a:solidFill>
              <a:latin typeface="Arial"/>
              <a:ea typeface="Arial"/>
              <a:cs typeface="Arial"/>
              <a:sym typeface="Arial"/>
            </a:endParaRPr>
          </a:p>
        </p:txBody>
      </p:sp>
      <p:sp>
        <p:nvSpPr>
          <p:cNvPr id="387" name="Google Shape;387;p26"/>
          <p:cNvSpPr/>
          <p:nvPr/>
        </p:nvSpPr>
        <p:spPr>
          <a:xfrm>
            <a:off x="7858080" y="1657440"/>
            <a:ext cx="3523680" cy="618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250" u="none" strike="noStrike">
                <a:solidFill>
                  <a:srgbClr val="98A9B0"/>
                </a:solidFill>
                <a:latin typeface="Calibri"/>
                <a:ea typeface="Calibri"/>
                <a:cs typeface="Calibri"/>
                <a:sym typeface="Calibri"/>
              </a:rPr>
              <a:t>API types &amp; load models</a:t>
            </a:r>
            <a:endParaRPr b="0" sz="2250" u="none" strike="noStrike">
              <a:solidFill>
                <a:srgbClr val="FFFFFF"/>
              </a:solidFill>
              <a:latin typeface="Arial"/>
              <a:ea typeface="Arial"/>
              <a:cs typeface="Arial"/>
              <a:sym typeface="Arial"/>
            </a:endParaRPr>
          </a:p>
        </p:txBody>
      </p:sp>
      <p:sp>
        <p:nvSpPr>
          <p:cNvPr id="388" name="Google Shape;388;p26"/>
          <p:cNvSpPr/>
          <p:nvPr/>
        </p:nvSpPr>
        <p:spPr>
          <a:xfrm>
            <a:off x="7143840" y="2562120"/>
            <a:ext cx="57096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98A9B0"/>
                </a:solidFill>
                <a:latin typeface="Calibri"/>
                <a:ea typeface="Calibri"/>
                <a:cs typeface="Calibri"/>
                <a:sym typeface="Calibri"/>
              </a:rPr>
              <a:t>02</a:t>
            </a:r>
            <a:endParaRPr b="0" sz="2100" u="none" strike="noStrike">
              <a:solidFill>
                <a:srgbClr val="FFFFFF"/>
              </a:solidFill>
              <a:latin typeface="Arial"/>
              <a:ea typeface="Arial"/>
              <a:cs typeface="Arial"/>
              <a:sym typeface="Arial"/>
            </a:endParaRPr>
          </a:p>
        </p:txBody>
      </p:sp>
      <p:sp>
        <p:nvSpPr>
          <p:cNvPr id="389" name="Google Shape;389;p26"/>
          <p:cNvSpPr/>
          <p:nvPr/>
        </p:nvSpPr>
        <p:spPr>
          <a:xfrm>
            <a:off x="7858080" y="2562120"/>
            <a:ext cx="3523680" cy="618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250" u="none" strike="noStrike">
                <a:solidFill>
                  <a:srgbClr val="98A9B0"/>
                </a:solidFill>
                <a:latin typeface="Calibri"/>
                <a:ea typeface="Calibri"/>
                <a:cs typeface="Calibri"/>
                <a:sym typeface="Calibri"/>
              </a:rPr>
              <a:t>The original harness</a:t>
            </a:r>
            <a:endParaRPr b="0" sz="2250" u="none" strike="noStrike">
              <a:solidFill>
                <a:srgbClr val="FFFFFF"/>
              </a:solidFill>
              <a:latin typeface="Arial"/>
              <a:ea typeface="Arial"/>
              <a:cs typeface="Arial"/>
              <a:sym typeface="Arial"/>
            </a:endParaRPr>
          </a:p>
        </p:txBody>
      </p:sp>
      <p:sp>
        <p:nvSpPr>
          <p:cNvPr id="390" name="Google Shape;390;p26"/>
          <p:cNvSpPr/>
          <p:nvPr/>
        </p:nvSpPr>
        <p:spPr>
          <a:xfrm>
            <a:off x="7143840" y="3467160"/>
            <a:ext cx="57096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98A9B0"/>
                </a:solidFill>
                <a:latin typeface="Calibri"/>
                <a:ea typeface="Calibri"/>
                <a:cs typeface="Calibri"/>
                <a:sym typeface="Calibri"/>
              </a:rPr>
              <a:t>03</a:t>
            </a:r>
            <a:endParaRPr b="0" sz="2100" u="none" strike="noStrike">
              <a:solidFill>
                <a:srgbClr val="FFFFFF"/>
              </a:solidFill>
              <a:latin typeface="Arial"/>
              <a:ea typeface="Arial"/>
              <a:cs typeface="Arial"/>
              <a:sym typeface="Arial"/>
            </a:endParaRPr>
          </a:p>
        </p:txBody>
      </p:sp>
      <p:sp>
        <p:nvSpPr>
          <p:cNvPr id="391" name="Google Shape;391;p26"/>
          <p:cNvSpPr/>
          <p:nvPr/>
        </p:nvSpPr>
        <p:spPr>
          <a:xfrm>
            <a:off x="7858080" y="3467160"/>
            <a:ext cx="3523680" cy="618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250" u="none" strike="noStrike">
                <a:solidFill>
                  <a:srgbClr val="98A9B0"/>
                </a:solidFill>
                <a:latin typeface="Calibri"/>
                <a:ea typeface="Calibri"/>
                <a:cs typeface="Calibri"/>
                <a:sym typeface="Calibri"/>
              </a:rPr>
              <a:t>K6 &amp; result interpretation</a:t>
            </a:r>
            <a:endParaRPr b="0" sz="2250" u="none" strike="noStrike">
              <a:solidFill>
                <a:srgbClr val="FFFFFF"/>
              </a:solidFill>
              <a:latin typeface="Arial"/>
              <a:ea typeface="Arial"/>
              <a:cs typeface="Arial"/>
              <a:sym typeface="Arial"/>
            </a:endParaRPr>
          </a:p>
        </p:txBody>
      </p:sp>
      <p:sp>
        <p:nvSpPr>
          <p:cNvPr id="392" name="Google Shape;392;p26"/>
          <p:cNvSpPr/>
          <p:nvPr/>
        </p:nvSpPr>
        <p:spPr>
          <a:xfrm>
            <a:off x="7143840" y="4371840"/>
            <a:ext cx="57096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100" u="none" strike="noStrike">
                <a:solidFill>
                  <a:srgbClr val="FFFFFF"/>
                </a:solidFill>
                <a:latin typeface="Calibri"/>
                <a:ea typeface="Calibri"/>
                <a:cs typeface="Calibri"/>
                <a:sym typeface="Calibri"/>
              </a:rPr>
              <a:t>04</a:t>
            </a:r>
            <a:endParaRPr b="0" sz="2100" u="none" strike="noStrike">
              <a:solidFill>
                <a:srgbClr val="FFFFFF"/>
              </a:solidFill>
              <a:latin typeface="Arial"/>
              <a:ea typeface="Arial"/>
              <a:cs typeface="Arial"/>
              <a:sym typeface="Arial"/>
            </a:endParaRPr>
          </a:p>
        </p:txBody>
      </p:sp>
      <p:sp>
        <p:nvSpPr>
          <p:cNvPr id="393" name="Google Shape;393;p26"/>
          <p:cNvSpPr/>
          <p:nvPr/>
        </p:nvSpPr>
        <p:spPr>
          <a:xfrm>
            <a:off x="7858080" y="4371840"/>
            <a:ext cx="3523680" cy="618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250" u="none" strike="noStrike">
                <a:solidFill>
                  <a:srgbClr val="FFFFFF"/>
                </a:solidFill>
                <a:latin typeface="Calibri"/>
                <a:ea typeface="Calibri"/>
                <a:cs typeface="Calibri"/>
                <a:sym typeface="Calibri"/>
              </a:rPr>
              <a:t>PR testing &amp; state</a:t>
            </a:r>
            <a:endParaRPr b="0" sz="2250" u="none" strike="noStrike">
              <a:solidFill>
                <a:srgbClr val="FFFFFF"/>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398" name="Shape 398"/>
        <p:cNvGrpSpPr/>
        <p:nvPr/>
      </p:nvGrpSpPr>
      <p:grpSpPr>
        <a:xfrm>
          <a:off x="0" y="0"/>
          <a:ext cx="0" cy="0"/>
          <a:chOff x="0" y="0"/>
          <a:chExt cx="0" cy="0"/>
        </a:xfrm>
      </p:grpSpPr>
      <p:sp>
        <p:nvSpPr>
          <p:cNvPr id="399" name="Google Shape;399;p27"/>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u="none" strike="noStrike">
                <a:solidFill>
                  <a:srgbClr val="12252D"/>
                </a:solidFill>
                <a:latin typeface="Calibri"/>
                <a:ea typeface="Calibri"/>
                <a:cs typeface="Calibri"/>
                <a:sym typeface="Calibri"/>
              </a:rPr>
              <a:t>The PR poller automates the test cycle</a:t>
            </a:r>
            <a:endParaRPr b="0" sz="3450" u="none" strike="noStrike">
              <a:solidFill>
                <a:srgbClr val="000000"/>
              </a:solidFill>
              <a:latin typeface="Arial"/>
              <a:ea typeface="Arial"/>
              <a:cs typeface="Arial"/>
              <a:sym typeface="Arial"/>
            </a:endParaRPr>
          </a:p>
        </p:txBody>
      </p:sp>
      <p:sp>
        <p:nvSpPr>
          <p:cNvPr id="400" name="Google Shape;400;p27"/>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350" u="none" strike="noStrike">
                <a:solidFill>
                  <a:srgbClr val="56666C"/>
                </a:solidFill>
                <a:latin typeface="Calibri"/>
                <a:ea typeface="Calibri"/>
                <a:cs typeface="Calibri"/>
                <a:sym typeface="Calibri"/>
              </a:rPr>
              <a:t>27</a:t>
            </a:r>
            <a:endParaRPr b="0" sz="1350" u="none" strike="noStrike">
              <a:solidFill>
                <a:srgbClr val="000000"/>
              </a:solidFill>
              <a:latin typeface="Arial"/>
              <a:ea typeface="Arial"/>
              <a:cs typeface="Arial"/>
              <a:sym typeface="Arial"/>
            </a:endParaRPr>
          </a:p>
        </p:txBody>
      </p:sp>
      <p:sp>
        <p:nvSpPr>
          <p:cNvPr id="401" name="Google Shape;401;p27"/>
          <p:cNvSpPr/>
          <p:nvPr/>
        </p:nvSpPr>
        <p:spPr>
          <a:xfrm>
            <a:off x="666720" y="180972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170" u="none" strike="noStrike">
                <a:solidFill>
                  <a:srgbClr val="087F8C"/>
                </a:solidFill>
                <a:latin typeface="Calibri"/>
                <a:ea typeface="Calibri"/>
                <a:cs typeface="Calibri"/>
                <a:sym typeface="Calibri"/>
              </a:rPr>
              <a:t>Detect change</a:t>
            </a:r>
            <a:endParaRPr b="0" sz="2170" u="none" strike="noStrike">
              <a:solidFill>
                <a:srgbClr val="000000"/>
              </a:solidFill>
              <a:latin typeface="Arial"/>
              <a:ea typeface="Arial"/>
              <a:cs typeface="Arial"/>
              <a:sym typeface="Arial"/>
            </a:endParaRPr>
          </a:p>
        </p:txBody>
      </p:sp>
      <p:sp>
        <p:nvSpPr>
          <p:cNvPr id="402" name="Google Shape;402;p27"/>
          <p:cNvSpPr/>
          <p:nvPr/>
        </p:nvSpPr>
        <p:spPr>
          <a:xfrm>
            <a:off x="3524400" y="180972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Poll open PRs and identify a new revision</a:t>
            </a:r>
            <a:endParaRPr b="0" sz="2100" u="none" strike="noStrike">
              <a:solidFill>
                <a:srgbClr val="000000"/>
              </a:solidFill>
              <a:latin typeface="Arial"/>
              <a:ea typeface="Arial"/>
              <a:cs typeface="Arial"/>
              <a:sym typeface="Arial"/>
            </a:endParaRPr>
          </a:p>
        </p:txBody>
      </p:sp>
      <p:sp>
        <p:nvSpPr>
          <p:cNvPr id="403" name="Google Shape;403;p27"/>
          <p:cNvSpPr/>
          <p:nvPr/>
        </p:nvSpPr>
        <p:spPr>
          <a:xfrm>
            <a:off x="666720" y="280980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170" u="none" strike="noStrike">
                <a:solidFill>
                  <a:srgbClr val="087F8C"/>
                </a:solidFill>
                <a:latin typeface="Calibri"/>
                <a:ea typeface="Calibri"/>
                <a:cs typeface="Calibri"/>
                <a:sym typeface="Calibri"/>
              </a:rPr>
              <a:t>Prepare run</a:t>
            </a:r>
            <a:endParaRPr b="0" sz="2170" u="none" strike="noStrike">
              <a:solidFill>
                <a:srgbClr val="000000"/>
              </a:solidFill>
              <a:latin typeface="Arial"/>
              <a:ea typeface="Arial"/>
              <a:cs typeface="Arial"/>
              <a:sym typeface="Arial"/>
            </a:endParaRPr>
          </a:p>
        </p:txBody>
      </p:sp>
      <p:sp>
        <p:nvSpPr>
          <p:cNvPr id="404" name="Google Shape;404;p27"/>
          <p:cNvSpPr/>
          <p:nvPr/>
        </p:nvSpPr>
        <p:spPr>
          <a:xfrm>
            <a:off x="3524400" y="280980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Wait for the image and acquire the CPT lock</a:t>
            </a:r>
            <a:endParaRPr b="0" sz="2100" u="none" strike="noStrike">
              <a:solidFill>
                <a:srgbClr val="000000"/>
              </a:solidFill>
              <a:latin typeface="Arial"/>
              <a:ea typeface="Arial"/>
              <a:cs typeface="Arial"/>
              <a:sym typeface="Arial"/>
            </a:endParaRPr>
          </a:p>
        </p:txBody>
      </p:sp>
      <p:sp>
        <p:nvSpPr>
          <p:cNvPr id="405" name="Google Shape;405;p27"/>
          <p:cNvSpPr/>
          <p:nvPr/>
        </p:nvSpPr>
        <p:spPr>
          <a:xfrm>
            <a:off x="666720" y="380988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170" u="none" strike="noStrike">
                <a:solidFill>
                  <a:srgbClr val="087F8C"/>
                </a:solidFill>
                <a:latin typeface="Calibri"/>
                <a:ea typeface="Calibri"/>
                <a:cs typeface="Calibri"/>
                <a:sym typeface="Calibri"/>
              </a:rPr>
              <a:t>Test candidate</a:t>
            </a:r>
            <a:endParaRPr b="0" sz="2170" u="none" strike="noStrike">
              <a:solidFill>
                <a:srgbClr val="000000"/>
              </a:solidFill>
              <a:latin typeface="Arial"/>
              <a:ea typeface="Arial"/>
              <a:cs typeface="Arial"/>
              <a:sym typeface="Arial"/>
            </a:endParaRPr>
          </a:p>
        </p:txBody>
      </p:sp>
      <p:sp>
        <p:nvSpPr>
          <p:cNvPr id="406" name="Google Shape;406;p27"/>
          <p:cNvSpPr/>
          <p:nvPr/>
        </p:nvSpPr>
        <p:spPr>
          <a:xfrm>
            <a:off x="3524400" y="380988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Roll out the image and collect the scenario results</a:t>
            </a:r>
            <a:endParaRPr b="0" sz="2100" u="none" strike="noStrike">
              <a:solidFill>
                <a:srgbClr val="000000"/>
              </a:solidFill>
              <a:latin typeface="Arial"/>
              <a:ea typeface="Arial"/>
              <a:cs typeface="Arial"/>
              <a:sym typeface="Arial"/>
            </a:endParaRPr>
          </a:p>
        </p:txBody>
      </p:sp>
      <p:sp>
        <p:nvSpPr>
          <p:cNvPr id="407" name="Google Shape;407;p27"/>
          <p:cNvSpPr/>
          <p:nvPr/>
        </p:nvSpPr>
        <p:spPr>
          <a:xfrm>
            <a:off x="666720" y="480996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170" u="none" strike="noStrike">
                <a:solidFill>
                  <a:srgbClr val="087F8C"/>
                </a:solidFill>
                <a:latin typeface="Calibri"/>
                <a:ea typeface="Calibri"/>
                <a:cs typeface="Calibri"/>
                <a:sym typeface="Calibri"/>
              </a:rPr>
              <a:t>Restore baseline</a:t>
            </a:r>
            <a:endParaRPr b="0" sz="2170" u="none" strike="noStrike">
              <a:solidFill>
                <a:srgbClr val="000000"/>
              </a:solidFill>
              <a:latin typeface="Arial"/>
              <a:ea typeface="Arial"/>
              <a:cs typeface="Arial"/>
              <a:sym typeface="Arial"/>
            </a:endParaRPr>
          </a:p>
        </p:txBody>
      </p:sp>
      <p:sp>
        <p:nvSpPr>
          <p:cNvPr id="408" name="Google Shape;408;p27"/>
          <p:cNvSpPr/>
          <p:nvPr/>
        </p:nvSpPr>
        <p:spPr>
          <a:xfrm>
            <a:off x="3524400" y="480996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Record outcomes and restore the baseline image</a:t>
            </a:r>
            <a:endParaRPr b="0" sz="2100" u="none" strike="noStrike">
              <a:solidFill>
                <a:srgbClr val="000000"/>
              </a:solidFill>
              <a:latin typeface="Arial"/>
              <a:ea typeface="Arial"/>
              <a:cs typeface="Arial"/>
              <a:sym typeface="Arial"/>
            </a:endParaRPr>
          </a:p>
        </p:txBody>
      </p:sp>
      <p:sp>
        <p:nvSpPr>
          <p:cNvPr id="409" name="Google Shape;409;p27"/>
          <p:cNvSpPr/>
          <p:nvPr/>
        </p:nvSpPr>
        <p:spPr>
          <a:xfrm>
            <a:off x="666720" y="5924520"/>
            <a:ext cx="1038168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500" u="none" strike="noStrike">
                <a:solidFill>
                  <a:srgbClr val="56666C"/>
                </a:solidFill>
                <a:latin typeface="Calibri"/>
                <a:ea typeface="Calibri"/>
                <a:cs typeface="Calibri"/>
                <a:sym typeface="Calibri"/>
              </a:rPr>
              <a:t>A temporary image uses persistent infrastructure and database state.</a:t>
            </a:r>
            <a:endParaRPr b="0" sz="1500" u="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414" name="Shape 414"/>
        <p:cNvGrpSpPr/>
        <p:nvPr/>
      </p:nvGrpSpPr>
      <p:grpSpPr>
        <a:xfrm>
          <a:off x="0" y="0"/>
          <a:ext cx="0" cy="0"/>
          <a:chOff x="0" y="0"/>
          <a:chExt cx="0" cy="0"/>
        </a:xfrm>
      </p:grpSpPr>
      <p:sp>
        <p:nvSpPr>
          <p:cNvPr id="415" name="Google Shape;415;p28"/>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u="none" strike="noStrike">
                <a:solidFill>
                  <a:srgbClr val="12252D"/>
                </a:solidFill>
                <a:latin typeface="Calibri"/>
                <a:ea typeface="Calibri"/>
                <a:cs typeface="Calibri"/>
                <a:sym typeface="Calibri"/>
              </a:rPr>
              <a:t>GitOps reconciliation in plain language</a:t>
            </a:r>
            <a:endParaRPr b="0" sz="3450" u="none" strike="noStrike">
              <a:solidFill>
                <a:srgbClr val="000000"/>
              </a:solidFill>
              <a:latin typeface="Arial"/>
              <a:ea typeface="Arial"/>
              <a:cs typeface="Arial"/>
              <a:sym typeface="Arial"/>
            </a:endParaRPr>
          </a:p>
        </p:txBody>
      </p:sp>
      <p:sp>
        <p:nvSpPr>
          <p:cNvPr id="416" name="Google Shape;416;p28"/>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350" u="none" strike="noStrike">
                <a:solidFill>
                  <a:srgbClr val="56666C"/>
                </a:solidFill>
                <a:latin typeface="Calibri"/>
                <a:ea typeface="Calibri"/>
                <a:cs typeface="Calibri"/>
                <a:sym typeface="Calibri"/>
              </a:rPr>
              <a:t>28</a:t>
            </a:r>
            <a:endParaRPr b="0" sz="1350" u="none" strike="noStrike">
              <a:solidFill>
                <a:srgbClr val="000000"/>
              </a:solidFill>
              <a:latin typeface="Arial"/>
              <a:ea typeface="Arial"/>
              <a:cs typeface="Arial"/>
              <a:sym typeface="Arial"/>
            </a:endParaRPr>
          </a:p>
        </p:txBody>
      </p:sp>
      <p:sp>
        <p:nvSpPr>
          <p:cNvPr id="417" name="Google Shape;417;p28"/>
          <p:cNvSpPr/>
          <p:nvPr/>
        </p:nvSpPr>
        <p:spPr>
          <a:xfrm>
            <a:off x="666720" y="1733400"/>
            <a:ext cx="10762560" cy="66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000" u="none" strike="noStrike">
                <a:solidFill>
                  <a:srgbClr val="087F8C"/>
                </a:solidFill>
                <a:latin typeface="Calibri"/>
                <a:ea typeface="Calibri"/>
                <a:cs typeface="Calibri"/>
                <a:sym typeface="Calibri"/>
              </a:rPr>
              <a:t>The platform continually checks desired state</a:t>
            </a:r>
            <a:endParaRPr b="0" sz="3000" u="none" strike="noStrike">
              <a:solidFill>
                <a:srgbClr val="000000"/>
              </a:solidFill>
              <a:latin typeface="Arial"/>
              <a:ea typeface="Arial"/>
              <a:cs typeface="Arial"/>
              <a:sym typeface="Arial"/>
            </a:endParaRPr>
          </a:p>
        </p:txBody>
      </p:sp>
      <p:sp>
        <p:nvSpPr>
          <p:cNvPr id="418" name="Google Shape;418;p28"/>
          <p:cNvSpPr/>
          <p:nvPr/>
        </p:nvSpPr>
        <p:spPr>
          <a:xfrm>
            <a:off x="666720" y="2781360"/>
            <a:ext cx="4857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400" u="none" strike="noStrike">
                <a:solidFill>
                  <a:srgbClr val="087F8C"/>
                </a:solidFill>
                <a:latin typeface="Calibri"/>
                <a:ea typeface="Calibri"/>
                <a:cs typeface="Calibri"/>
                <a:sym typeface="Calibri"/>
              </a:rPr>
              <a:t>Desired state</a:t>
            </a:r>
            <a:endParaRPr b="0" sz="2400" u="none" strike="noStrike">
              <a:solidFill>
                <a:srgbClr val="000000"/>
              </a:solidFill>
              <a:latin typeface="Arial"/>
              <a:ea typeface="Arial"/>
              <a:cs typeface="Arial"/>
              <a:sym typeface="Arial"/>
            </a:endParaRPr>
          </a:p>
        </p:txBody>
      </p:sp>
      <p:sp>
        <p:nvSpPr>
          <p:cNvPr id="419" name="Google Shape;419;p28"/>
          <p:cNvSpPr/>
          <p:nvPr/>
        </p:nvSpPr>
        <p:spPr>
          <a:xfrm>
            <a:off x="666720" y="3333600"/>
            <a:ext cx="4857120" cy="1618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The declared image and configuration</a:t>
            </a:r>
            <a:endParaRPr b="0" sz="21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sz="21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Controllers keep the live system aligned with this declaration.</a:t>
            </a:r>
            <a:endParaRPr b="0" sz="2100" u="none" strike="noStrike">
              <a:solidFill>
                <a:srgbClr val="000000"/>
              </a:solidFill>
              <a:latin typeface="Arial"/>
              <a:ea typeface="Arial"/>
              <a:cs typeface="Arial"/>
              <a:sym typeface="Arial"/>
            </a:endParaRPr>
          </a:p>
        </p:txBody>
      </p:sp>
      <p:sp>
        <p:nvSpPr>
          <p:cNvPr id="420" name="Google Shape;420;p28"/>
          <p:cNvSpPr/>
          <p:nvPr/>
        </p:nvSpPr>
        <p:spPr>
          <a:xfrm>
            <a:off x="6381720" y="2781360"/>
            <a:ext cx="504756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400" u="none" strike="noStrike">
                <a:solidFill>
                  <a:srgbClr val="087F8C"/>
                </a:solidFill>
                <a:latin typeface="Calibri"/>
                <a:ea typeface="Calibri"/>
                <a:cs typeface="Calibri"/>
                <a:sym typeface="Calibri"/>
              </a:rPr>
              <a:t>Live state</a:t>
            </a:r>
            <a:endParaRPr b="0" sz="2400" u="none" strike="noStrike">
              <a:solidFill>
                <a:srgbClr val="000000"/>
              </a:solidFill>
              <a:latin typeface="Arial"/>
              <a:ea typeface="Arial"/>
              <a:cs typeface="Arial"/>
              <a:sym typeface="Arial"/>
            </a:endParaRPr>
          </a:p>
        </p:txBody>
      </p:sp>
      <p:sp>
        <p:nvSpPr>
          <p:cNvPr id="421" name="Google Shape;421;p28"/>
          <p:cNvSpPr/>
          <p:nvPr/>
        </p:nvSpPr>
        <p:spPr>
          <a:xfrm>
            <a:off x="6381720" y="3333600"/>
            <a:ext cx="5047560" cy="1618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The image currently running in pods</a:t>
            </a:r>
            <a:endParaRPr b="0" sz="21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sz="21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A change to a managed child can be overwritten as drift.</a:t>
            </a:r>
            <a:endParaRPr b="0" sz="2100" u="none" strike="noStrike">
              <a:solidFill>
                <a:srgbClr val="000000"/>
              </a:solidFill>
              <a:latin typeface="Arial"/>
              <a:ea typeface="Arial"/>
              <a:cs typeface="Arial"/>
              <a:sym typeface="Arial"/>
            </a:endParaRPr>
          </a:p>
        </p:txBody>
      </p:sp>
      <p:sp>
        <p:nvSpPr>
          <p:cNvPr id="422" name="Google Shape;422;p28"/>
          <p:cNvSpPr/>
          <p:nvPr/>
        </p:nvSpPr>
        <p:spPr>
          <a:xfrm>
            <a:off x="666720" y="5924520"/>
            <a:ext cx="1038168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500" u="none" strike="noStrike">
                <a:solidFill>
                  <a:srgbClr val="56666C"/>
                </a:solidFill>
                <a:latin typeface="Calibri"/>
                <a:ea typeface="Calibri"/>
                <a:cs typeface="Calibri"/>
                <a:sym typeface="Calibri"/>
              </a:rPr>
              <a:t>In this setup, the parent application resource controls the generated Deployment.</a:t>
            </a:r>
            <a:endParaRPr b="0" sz="1500" u="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427" name="Shape 427"/>
        <p:cNvGrpSpPr/>
        <p:nvPr/>
      </p:nvGrpSpPr>
      <p:grpSpPr>
        <a:xfrm>
          <a:off x="0" y="0"/>
          <a:ext cx="0" cy="0"/>
          <a:chOff x="0" y="0"/>
          <a:chExt cx="0" cy="0"/>
        </a:xfrm>
      </p:grpSpPr>
      <p:sp>
        <p:nvSpPr>
          <p:cNvPr id="428" name="Google Shape;428;p29"/>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u="none" strike="noStrike">
                <a:solidFill>
                  <a:srgbClr val="12252D"/>
                </a:solidFill>
                <a:latin typeface="Calibri"/>
                <a:ea typeface="Calibri"/>
                <a:cs typeface="Calibri"/>
                <a:sym typeface="Calibri"/>
              </a:rPr>
              <a:t>The rollout fix changed the source of truth</a:t>
            </a:r>
            <a:endParaRPr b="0" sz="3450" u="none" strike="noStrike">
              <a:solidFill>
                <a:srgbClr val="000000"/>
              </a:solidFill>
              <a:latin typeface="Arial"/>
              <a:ea typeface="Arial"/>
              <a:cs typeface="Arial"/>
              <a:sym typeface="Arial"/>
            </a:endParaRPr>
          </a:p>
        </p:txBody>
      </p:sp>
      <p:sp>
        <p:nvSpPr>
          <p:cNvPr id="429" name="Google Shape;429;p29"/>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350" u="none" strike="noStrike">
                <a:solidFill>
                  <a:srgbClr val="56666C"/>
                </a:solidFill>
                <a:latin typeface="Calibri"/>
                <a:ea typeface="Calibri"/>
                <a:cs typeface="Calibri"/>
                <a:sym typeface="Calibri"/>
              </a:rPr>
              <a:t>29</a:t>
            </a:r>
            <a:endParaRPr b="0" sz="1350" u="none" strike="noStrike">
              <a:solidFill>
                <a:srgbClr val="000000"/>
              </a:solidFill>
              <a:latin typeface="Arial"/>
              <a:ea typeface="Arial"/>
              <a:cs typeface="Arial"/>
              <a:sym typeface="Arial"/>
            </a:endParaRPr>
          </a:p>
        </p:txBody>
      </p:sp>
      <p:sp>
        <p:nvSpPr>
          <p:cNvPr id="430" name="Google Shape;430;p29"/>
          <p:cNvSpPr/>
          <p:nvPr/>
        </p:nvSpPr>
        <p:spPr>
          <a:xfrm>
            <a:off x="3905280" y="1809720"/>
            <a:ext cx="3333240" cy="456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250" u="none" strike="noStrike">
                <a:solidFill>
                  <a:srgbClr val="087F8C"/>
                </a:solidFill>
                <a:latin typeface="Calibri"/>
                <a:ea typeface="Calibri"/>
                <a:cs typeface="Calibri"/>
                <a:sym typeface="Calibri"/>
              </a:rPr>
              <a:t>Earlier behavior</a:t>
            </a:r>
            <a:endParaRPr b="0" sz="2250" u="none" strike="noStrike">
              <a:solidFill>
                <a:srgbClr val="000000"/>
              </a:solidFill>
              <a:latin typeface="Arial"/>
              <a:ea typeface="Arial"/>
              <a:cs typeface="Arial"/>
              <a:sym typeface="Arial"/>
            </a:endParaRPr>
          </a:p>
        </p:txBody>
      </p:sp>
      <p:sp>
        <p:nvSpPr>
          <p:cNvPr id="431" name="Google Shape;431;p29"/>
          <p:cNvSpPr/>
          <p:nvPr/>
        </p:nvSpPr>
        <p:spPr>
          <a:xfrm>
            <a:off x="3905280" y="2314440"/>
            <a:ext cx="3333240" cy="2647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950" u="none" strike="noStrike">
                <a:solidFill>
                  <a:srgbClr val="12252D"/>
                </a:solidFill>
                <a:latin typeface="Calibri"/>
                <a:ea typeface="Calibri"/>
                <a:cs typeface="Calibri"/>
                <a:sym typeface="Calibri"/>
              </a:rPr>
              <a:t>The pipeline patched the child Deployment.</a:t>
            </a:r>
            <a:endParaRPr b="0" sz="195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sz="21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1950" u="none" strike="noStrike">
                <a:solidFill>
                  <a:srgbClr val="12252D"/>
                </a:solidFill>
                <a:latin typeface="Calibri"/>
                <a:ea typeface="Calibri"/>
                <a:cs typeface="Calibri"/>
                <a:sym typeface="Calibri"/>
              </a:rPr>
              <a:t>The controller restored the baseline while testing continued.</a:t>
            </a:r>
            <a:endParaRPr b="0" sz="1950" u="none" strike="noStrike">
              <a:solidFill>
                <a:srgbClr val="000000"/>
              </a:solidFill>
              <a:latin typeface="Arial"/>
              <a:ea typeface="Arial"/>
              <a:cs typeface="Arial"/>
              <a:sym typeface="Arial"/>
            </a:endParaRPr>
          </a:p>
        </p:txBody>
      </p:sp>
      <p:sp>
        <p:nvSpPr>
          <p:cNvPr id="432" name="Google Shape;432;p29"/>
          <p:cNvSpPr/>
          <p:nvPr/>
        </p:nvSpPr>
        <p:spPr>
          <a:xfrm>
            <a:off x="7715160" y="1809720"/>
            <a:ext cx="3714480" cy="456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250" u="none" strike="noStrike">
                <a:solidFill>
                  <a:srgbClr val="087F8C"/>
                </a:solidFill>
                <a:latin typeface="Calibri"/>
                <a:ea typeface="Calibri"/>
                <a:cs typeface="Calibri"/>
                <a:sym typeface="Calibri"/>
              </a:rPr>
              <a:t>Implemented change</a:t>
            </a:r>
            <a:endParaRPr b="0" sz="2250" u="none" strike="noStrike">
              <a:solidFill>
                <a:srgbClr val="000000"/>
              </a:solidFill>
              <a:latin typeface="Arial"/>
              <a:ea typeface="Arial"/>
              <a:cs typeface="Arial"/>
              <a:sym typeface="Arial"/>
            </a:endParaRPr>
          </a:p>
        </p:txBody>
      </p:sp>
      <p:sp>
        <p:nvSpPr>
          <p:cNvPr id="433" name="Google Shape;433;p29"/>
          <p:cNvSpPr/>
          <p:nvPr/>
        </p:nvSpPr>
        <p:spPr>
          <a:xfrm>
            <a:off x="7715160" y="2314440"/>
            <a:ext cx="3714480" cy="2647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950" u="none" strike="noStrike">
                <a:solidFill>
                  <a:srgbClr val="12252D"/>
                </a:solidFill>
                <a:latin typeface="Calibri"/>
                <a:ea typeface="Calibri"/>
                <a:cs typeface="Calibri"/>
                <a:sym typeface="Calibri"/>
              </a:rPr>
              <a:t>Patch the owning application resource first.</a:t>
            </a:r>
            <a:endParaRPr b="0" sz="195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sz="21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1950" u="none" strike="noStrike">
                <a:solidFill>
                  <a:srgbClr val="12252D"/>
                </a:solidFill>
                <a:latin typeface="Calibri"/>
                <a:ea typeface="Calibri"/>
                <a:cs typeface="Calibri"/>
                <a:sym typeface="Calibri"/>
              </a:rPr>
              <a:t>Restore both resources and fail the build when the final image check detects drift.</a:t>
            </a:r>
            <a:endParaRPr b="0" sz="1950" u="none" strike="noStrike">
              <a:solidFill>
                <a:srgbClr val="000000"/>
              </a:solidFill>
              <a:latin typeface="Arial"/>
              <a:ea typeface="Arial"/>
              <a:cs typeface="Arial"/>
              <a:sym typeface="Arial"/>
            </a:endParaRPr>
          </a:p>
        </p:txBody>
      </p:sp>
      <p:sp>
        <p:nvSpPr>
          <p:cNvPr id="434" name="Google Shape;434;p29"/>
          <p:cNvSpPr/>
          <p:nvPr/>
        </p:nvSpPr>
        <p:spPr>
          <a:xfrm>
            <a:off x="666720" y="5238720"/>
            <a:ext cx="10858320" cy="571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620" u="none" strike="noStrike">
                <a:solidFill>
                  <a:srgbClr val="087F8C"/>
                </a:solidFill>
                <a:latin typeface="Calibri"/>
                <a:ea typeface="Calibri"/>
                <a:cs typeface="Calibri"/>
                <a:sym typeface="Calibri"/>
              </a:rPr>
              <a:t>The configured image and tested image varied</a:t>
            </a:r>
            <a:endParaRPr b="0" sz="2620" u="none" strike="noStrike">
              <a:solidFill>
                <a:srgbClr val="000000"/>
              </a:solidFill>
              <a:latin typeface="Arial"/>
              <a:ea typeface="Arial"/>
              <a:cs typeface="Arial"/>
              <a:sym typeface="Arial"/>
            </a:endParaRPr>
          </a:p>
        </p:txBody>
      </p:sp>
      <p:sp>
        <p:nvSpPr>
          <p:cNvPr id="435" name="Google Shape;435;p29"/>
          <p:cNvSpPr/>
          <p:nvPr/>
        </p:nvSpPr>
        <p:spPr>
          <a:xfrm>
            <a:off x="666720" y="5924520"/>
            <a:ext cx="1038168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500" u="none" strike="noStrike">
                <a:solidFill>
                  <a:srgbClr val="56666C"/>
                </a:solidFill>
                <a:latin typeface="Calibri"/>
                <a:ea typeface="Calibri"/>
                <a:cs typeface="Calibri"/>
                <a:sym typeface="Calibri"/>
              </a:rPr>
              <a:t>A final image check is a guard. Tracking pod image identity throughout is stronger.</a:t>
            </a:r>
            <a:endParaRPr b="0" sz="1500" u="none" strike="noStrike">
              <a:solidFill>
                <a:srgbClr val="000000"/>
              </a:solidFill>
              <a:latin typeface="Arial"/>
              <a:ea typeface="Arial"/>
              <a:cs typeface="Arial"/>
              <a:sym typeface="Arial"/>
            </a:endParaRPr>
          </a:p>
        </p:txBody>
      </p:sp>
      <p:sp>
        <p:nvSpPr>
          <p:cNvPr id="436" name="Google Shape;436;p29"/>
          <p:cNvSpPr/>
          <p:nvPr/>
        </p:nvSpPr>
        <p:spPr>
          <a:xfrm>
            <a:off x="666720" y="1809720"/>
            <a:ext cx="2952360" cy="456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250" u="none" strike="noStrike">
                <a:solidFill>
                  <a:srgbClr val="087F8C"/>
                </a:solidFill>
                <a:latin typeface="Calibri"/>
                <a:ea typeface="Calibri"/>
                <a:cs typeface="Calibri"/>
                <a:sym typeface="Calibri"/>
              </a:rPr>
              <a:t>Management hierarchy</a:t>
            </a:r>
            <a:endParaRPr b="0" sz="2250" u="none" strike="noStrike">
              <a:solidFill>
                <a:srgbClr val="000000"/>
              </a:solidFill>
              <a:latin typeface="Arial"/>
              <a:ea typeface="Arial"/>
              <a:cs typeface="Arial"/>
              <a:sym typeface="Arial"/>
            </a:endParaRPr>
          </a:p>
        </p:txBody>
      </p:sp>
      <p:sp>
        <p:nvSpPr>
          <p:cNvPr id="437" name="Google Shape;437;p29"/>
          <p:cNvSpPr/>
          <p:nvPr/>
        </p:nvSpPr>
        <p:spPr>
          <a:xfrm>
            <a:off x="666720" y="2314440"/>
            <a:ext cx="2952360" cy="280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00" u="none" strike="noStrike">
                <a:solidFill>
                  <a:srgbClr val="12252D"/>
                </a:solidFill>
                <a:latin typeface="Calibri"/>
                <a:ea typeface="Calibri"/>
                <a:cs typeface="Calibri"/>
                <a:sym typeface="Calibri"/>
              </a:rPr>
              <a:t>app-interface configuration</a:t>
            </a:r>
            <a:endParaRPr b="0" sz="1800" u="none" strike="noStrike">
              <a:solidFill>
                <a:srgbClr val="000000"/>
              </a:solidFill>
              <a:latin typeface="Arial"/>
              <a:ea typeface="Arial"/>
              <a:cs typeface="Arial"/>
              <a:sym typeface="Arial"/>
            </a:endParaRPr>
          </a:p>
          <a:p>
            <a:pPr indent="0" lvl="0" marL="0" marR="0" rtl="0" algn="l">
              <a:lnSpc>
                <a:spcPct val="100000"/>
              </a:lnSpc>
              <a:spcBef>
                <a:spcPts val="1001"/>
              </a:spcBef>
              <a:spcAft>
                <a:spcPts val="0"/>
              </a:spcAft>
              <a:buNone/>
            </a:pPr>
            <a:r>
              <a:rPr b="0" lang="en-US" sz="1800" u="none" strike="noStrike">
                <a:solidFill>
                  <a:srgbClr val="12252D"/>
                </a:solidFill>
                <a:latin typeface="Calibri"/>
                <a:ea typeface="Calibri"/>
                <a:cs typeface="Calibri"/>
                <a:sym typeface="Calibri"/>
              </a:rPr>
              <a:t>Qontract-reconcile deployment</a:t>
            </a:r>
            <a:endParaRPr b="0" sz="1800" u="none" strike="noStrike">
              <a:solidFill>
                <a:srgbClr val="000000"/>
              </a:solidFill>
              <a:latin typeface="Arial"/>
              <a:ea typeface="Arial"/>
              <a:cs typeface="Arial"/>
              <a:sym typeface="Arial"/>
            </a:endParaRPr>
          </a:p>
          <a:p>
            <a:pPr indent="0" lvl="0" marL="0" marR="0" rtl="0" algn="l">
              <a:lnSpc>
                <a:spcPct val="100000"/>
              </a:lnSpc>
              <a:spcBef>
                <a:spcPts val="1001"/>
              </a:spcBef>
              <a:spcAft>
                <a:spcPts val="0"/>
              </a:spcAft>
              <a:buNone/>
            </a:pPr>
            <a:r>
              <a:rPr b="0" lang="en-US" sz="1800" u="none" strike="noStrike">
                <a:solidFill>
                  <a:srgbClr val="12252D"/>
                </a:solidFill>
                <a:latin typeface="Calibri"/>
                <a:ea typeface="Calibri"/>
                <a:cs typeface="Calibri"/>
                <a:sym typeface="Calibri"/>
              </a:rPr>
              <a:t>ClowdApp</a:t>
            </a:r>
            <a:endParaRPr b="0" sz="1800" u="none" strike="noStrike">
              <a:solidFill>
                <a:srgbClr val="000000"/>
              </a:solidFill>
              <a:latin typeface="Arial"/>
              <a:ea typeface="Arial"/>
              <a:cs typeface="Arial"/>
              <a:sym typeface="Arial"/>
            </a:endParaRPr>
          </a:p>
          <a:p>
            <a:pPr indent="0" lvl="0" marL="0" marR="0" rtl="0" algn="l">
              <a:lnSpc>
                <a:spcPct val="100000"/>
              </a:lnSpc>
              <a:spcBef>
                <a:spcPts val="1001"/>
              </a:spcBef>
              <a:spcAft>
                <a:spcPts val="0"/>
              </a:spcAft>
              <a:buNone/>
            </a:pPr>
            <a:r>
              <a:rPr b="0" lang="en-US" sz="1800" u="none" strike="noStrike">
                <a:solidFill>
                  <a:srgbClr val="12252D"/>
                </a:solidFill>
                <a:latin typeface="Calibri"/>
                <a:ea typeface="Calibri"/>
                <a:cs typeface="Calibri"/>
                <a:sym typeface="Calibri"/>
              </a:rPr>
              <a:t>Clowder-managed Deployments</a:t>
            </a:r>
            <a:endParaRPr b="0" sz="1800" u="none" strike="noStrike">
              <a:solidFill>
                <a:srgbClr val="000000"/>
              </a:solidFill>
              <a:latin typeface="Arial"/>
              <a:ea typeface="Arial"/>
              <a:cs typeface="Arial"/>
              <a:sym typeface="Arial"/>
            </a:endParaRPr>
          </a:p>
          <a:p>
            <a:pPr indent="0" lvl="0" marL="0" marR="0" rtl="0" algn="l">
              <a:lnSpc>
                <a:spcPct val="100000"/>
              </a:lnSpc>
              <a:spcBef>
                <a:spcPts val="1001"/>
              </a:spcBef>
              <a:spcAft>
                <a:spcPts val="0"/>
              </a:spcAft>
              <a:buNone/>
            </a:pPr>
            <a:r>
              <a:rPr b="0" lang="en-US" sz="1800" u="none" strike="noStrike">
                <a:solidFill>
                  <a:srgbClr val="12252D"/>
                </a:solidFill>
                <a:latin typeface="Calibri"/>
                <a:ea typeface="Calibri"/>
                <a:cs typeface="Calibri"/>
                <a:sym typeface="Calibri"/>
              </a:rPr>
              <a:t>Pods</a:t>
            </a:r>
            <a:endParaRPr b="0" sz="1800" u="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442" name="Shape 442"/>
        <p:cNvGrpSpPr/>
        <p:nvPr/>
      </p:nvGrpSpPr>
      <p:grpSpPr>
        <a:xfrm>
          <a:off x="0" y="0"/>
          <a:ext cx="0" cy="0"/>
          <a:chOff x="0" y="0"/>
          <a:chExt cx="0" cy="0"/>
        </a:xfrm>
      </p:grpSpPr>
      <p:sp>
        <p:nvSpPr>
          <p:cNvPr id="443" name="Google Shape;443;p30"/>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u="none" strike="noStrike">
                <a:solidFill>
                  <a:srgbClr val="12252D"/>
                </a:solidFill>
                <a:latin typeface="Calibri"/>
                <a:ea typeface="Calibri"/>
                <a:cs typeface="Calibri"/>
                <a:sym typeface="Calibri"/>
              </a:rPr>
              <a:t>What is a database migration?</a:t>
            </a:r>
            <a:endParaRPr b="0" sz="3450" u="none" strike="noStrike">
              <a:solidFill>
                <a:srgbClr val="000000"/>
              </a:solidFill>
              <a:latin typeface="Arial"/>
              <a:ea typeface="Arial"/>
              <a:cs typeface="Arial"/>
              <a:sym typeface="Arial"/>
            </a:endParaRPr>
          </a:p>
        </p:txBody>
      </p:sp>
      <p:sp>
        <p:nvSpPr>
          <p:cNvPr id="444" name="Google Shape;444;p30"/>
          <p:cNvSpPr/>
          <p:nvPr/>
        </p:nvSpPr>
        <p:spPr>
          <a:xfrm>
            <a:off x="666720" y="1685880"/>
            <a:ext cx="10857960" cy="76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550" u="none" strike="noStrike">
                <a:solidFill>
                  <a:srgbClr val="087F8C"/>
                </a:solidFill>
                <a:latin typeface="Calibri"/>
                <a:ea typeface="Calibri"/>
                <a:cs typeface="Calibri"/>
                <a:sym typeface="Calibri"/>
              </a:rPr>
              <a:t>A versioned change to database structure or stored data</a:t>
            </a:r>
            <a:endParaRPr b="0" sz="2550" u="none" strike="noStrike">
              <a:solidFill>
                <a:srgbClr val="000000"/>
              </a:solidFill>
              <a:latin typeface="Arial"/>
              <a:ea typeface="Arial"/>
              <a:cs typeface="Arial"/>
              <a:sym typeface="Arial"/>
            </a:endParaRPr>
          </a:p>
        </p:txBody>
      </p:sp>
      <p:sp>
        <p:nvSpPr>
          <p:cNvPr id="445" name="Google Shape;445;p30"/>
          <p:cNvSpPr/>
          <p:nvPr/>
        </p:nvSpPr>
        <p:spPr>
          <a:xfrm>
            <a:off x="666720" y="2562120"/>
            <a:ext cx="1085796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Example: a new feature needs a resource type</a:t>
            </a:r>
            <a:endParaRPr b="0" sz="2100" u="none" strike="noStrike">
              <a:solidFill>
                <a:srgbClr val="000000"/>
              </a:solidFill>
              <a:latin typeface="Arial"/>
              <a:ea typeface="Arial"/>
              <a:cs typeface="Arial"/>
              <a:sym typeface="Arial"/>
            </a:endParaRPr>
          </a:p>
        </p:txBody>
      </p:sp>
      <p:graphicFrame>
        <p:nvGraphicFramePr>
          <p:cNvPr id="446" name="Google Shape;446;p30"/>
          <p:cNvGraphicFramePr/>
          <p:nvPr/>
        </p:nvGraphicFramePr>
        <p:xfrm>
          <a:off x="666720" y="3067200"/>
          <a:ext cx="3000000" cy="3000000"/>
        </p:xfrm>
        <a:graphic>
          <a:graphicData uri="http://schemas.openxmlformats.org/drawingml/2006/table">
            <a:tbl>
              <a:tblPr>
                <a:noFill/>
                <a:tableStyleId>{B27AFFA7-D2A1-49AC-8F84-CA7D211AECD2}</a:tableStyleId>
              </a:tblPr>
              <a:tblGrid>
                <a:gridCol w="3381125"/>
                <a:gridCol w="3476525"/>
                <a:gridCol w="4000325"/>
              </a:tblGrid>
              <a:tr h="904675">
                <a:tc>
                  <a:txBody>
                    <a:bodyPr/>
                    <a:lstStyle/>
                    <a:p>
                      <a:pPr indent="0" lvl="0" marL="0" marR="0" rtl="0" algn="l">
                        <a:lnSpc>
                          <a:spcPct val="100000"/>
                        </a:lnSpc>
                        <a:spcBef>
                          <a:spcPts val="0"/>
                        </a:spcBef>
                        <a:spcAft>
                          <a:spcPts val="0"/>
                        </a:spcAft>
                        <a:buNone/>
                      </a:pPr>
                      <a:r>
                        <a:rPr b="1" lang="en-US" sz="1950" u="none" strike="noStrike">
                          <a:solidFill>
                            <a:srgbClr val="FFFFFF"/>
                          </a:solidFill>
                          <a:latin typeface="Calibri"/>
                          <a:ea typeface="Calibri"/>
                          <a:cs typeface="Calibri"/>
                          <a:sym typeface="Calibri"/>
                        </a:rPr>
                        <a:t>Before</a:t>
                      </a:r>
                      <a:endParaRPr b="0" sz="1950" u="none" strike="noStrike">
                        <a:solidFill>
                          <a:srgbClr val="FFFFFF"/>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10262F"/>
                    </a:solidFill>
                  </a:tcPr>
                </a:tc>
                <a:tc>
                  <a:txBody>
                    <a:bodyPr/>
                    <a:lstStyle/>
                    <a:p>
                      <a:pPr indent="0" lvl="0" marL="0" marR="0" rtl="0" algn="l">
                        <a:lnSpc>
                          <a:spcPct val="100000"/>
                        </a:lnSpc>
                        <a:spcBef>
                          <a:spcPts val="0"/>
                        </a:spcBef>
                        <a:spcAft>
                          <a:spcPts val="0"/>
                        </a:spcAft>
                        <a:buNone/>
                      </a:pPr>
                      <a:r>
                        <a:rPr b="1" lang="en-US" sz="1950" u="none" strike="noStrike">
                          <a:solidFill>
                            <a:srgbClr val="FFFFFF"/>
                          </a:solidFill>
                          <a:latin typeface="Calibri"/>
                          <a:ea typeface="Calibri"/>
                          <a:cs typeface="Calibri"/>
                          <a:sym typeface="Calibri"/>
                        </a:rPr>
                        <a:t>Migration</a:t>
                      </a:r>
                      <a:endParaRPr b="0" sz="1950" u="none" strike="noStrike">
                        <a:solidFill>
                          <a:srgbClr val="FFFFFF"/>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10262F"/>
                    </a:solidFill>
                  </a:tcPr>
                </a:tc>
                <a:tc>
                  <a:txBody>
                    <a:bodyPr/>
                    <a:lstStyle/>
                    <a:p>
                      <a:pPr indent="0" lvl="0" marL="0" marR="0" rtl="0" algn="l">
                        <a:lnSpc>
                          <a:spcPct val="100000"/>
                        </a:lnSpc>
                        <a:spcBef>
                          <a:spcPts val="0"/>
                        </a:spcBef>
                        <a:spcAft>
                          <a:spcPts val="0"/>
                        </a:spcAft>
                        <a:buNone/>
                      </a:pPr>
                      <a:r>
                        <a:rPr b="1" lang="en-US" sz="1950" u="none" strike="noStrike">
                          <a:solidFill>
                            <a:srgbClr val="FFFFFF"/>
                          </a:solidFill>
                          <a:latin typeface="Calibri"/>
                          <a:ea typeface="Calibri"/>
                          <a:cs typeface="Calibri"/>
                          <a:sym typeface="Calibri"/>
                        </a:rPr>
                        <a:t>After</a:t>
                      </a:r>
                      <a:endParaRPr b="0" sz="1950" u="none" strike="noStrike">
                        <a:solidFill>
                          <a:srgbClr val="FFFFFF"/>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10262F"/>
                    </a:solidFill>
                  </a:tcPr>
                </a:tc>
              </a:tr>
              <a:tr h="904675">
                <a:tc>
                  <a:txBody>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resources table:</a:t>
                      </a:r>
                      <a:endParaRPr b="0" sz="21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id, name</a:t>
                      </a:r>
                      <a:endParaRPr b="0" sz="210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Add a</a:t>
                      </a:r>
                      <a:endParaRPr b="0" sz="21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resource_type column</a:t>
                      </a:r>
                      <a:endParaRPr b="0" sz="210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resources table:</a:t>
                      </a:r>
                      <a:endParaRPr b="0" sz="21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id, name, resource_type</a:t>
                      </a:r>
                      <a:endParaRPr b="0" sz="210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r>
            </a:tbl>
          </a:graphicData>
        </a:graphic>
      </p:graphicFrame>
      <p:sp>
        <p:nvSpPr>
          <p:cNvPr id="447" name="Google Shape;447;p30"/>
          <p:cNvSpPr/>
          <p:nvPr/>
        </p:nvSpPr>
        <p:spPr>
          <a:xfrm>
            <a:off x="666720" y="5229360"/>
            <a:ext cx="10857960" cy="523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250" u="none" strike="noStrike">
                <a:solidFill>
                  <a:srgbClr val="087F8C"/>
                </a:solidFill>
                <a:latin typeface="Calibri"/>
                <a:ea typeface="Calibri"/>
                <a:cs typeface="Calibri"/>
                <a:sym typeface="Calibri"/>
              </a:rPr>
              <a:t>Migration tools track which changes have already run</a:t>
            </a:r>
            <a:endParaRPr b="0" sz="2250" u="none" strike="noStrike">
              <a:solidFill>
                <a:srgbClr val="000000"/>
              </a:solidFill>
              <a:latin typeface="Arial"/>
              <a:ea typeface="Arial"/>
              <a:cs typeface="Arial"/>
              <a:sym typeface="Arial"/>
            </a:endParaRPr>
          </a:p>
        </p:txBody>
      </p:sp>
      <p:sp>
        <p:nvSpPr>
          <p:cNvPr id="448" name="Google Shape;448;p30"/>
          <p:cNvSpPr/>
          <p:nvPr/>
        </p:nvSpPr>
        <p:spPr>
          <a:xfrm>
            <a:off x="666720" y="5924520"/>
            <a:ext cx="1038168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500" u="none" strike="noStrike">
                <a:solidFill>
                  <a:srgbClr val="56666C"/>
                </a:solidFill>
                <a:latin typeface="Calibri"/>
                <a:ea typeface="Calibri"/>
                <a:cs typeface="Calibri"/>
                <a:sym typeface="Calibri"/>
              </a:rPr>
              <a:t>Schema = tables, columns and rules. Migrations can also update existing records.</a:t>
            </a:r>
            <a:endParaRPr b="0" sz="1500" u="none" strike="noStrike">
              <a:solidFill>
                <a:srgbClr val="000000"/>
              </a:solidFill>
              <a:latin typeface="Arial"/>
              <a:ea typeface="Arial"/>
              <a:cs typeface="Arial"/>
              <a:sym typeface="Arial"/>
            </a:endParaRPr>
          </a:p>
        </p:txBody>
      </p:sp>
      <p:sp>
        <p:nvSpPr>
          <p:cNvPr id="449" name="Google Shape;449;p30"/>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350" u="none" strike="noStrike">
                <a:solidFill>
                  <a:srgbClr val="56666C"/>
                </a:solidFill>
                <a:latin typeface="Calibri"/>
                <a:ea typeface="Calibri"/>
                <a:cs typeface="Calibri"/>
                <a:sym typeface="Calibri"/>
              </a:rPr>
              <a:t>30</a:t>
            </a:r>
            <a:endParaRPr b="0" sz="1350" u="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454" name="Shape 454"/>
        <p:cNvGrpSpPr/>
        <p:nvPr/>
      </p:nvGrpSpPr>
      <p:grpSpPr>
        <a:xfrm>
          <a:off x="0" y="0"/>
          <a:ext cx="0" cy="0"/>
          <a:chOff x="0" y="0"/>
          <a:chExt cx="0" cy="0"/>
        </a:xfrm>
      </p:grpSpPr>
      <p:sp>
        <p:nvSpPr>
          <p:cNvPr id="455" name="Google Shape;455;p31"/>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u="none" strike="noStrike">
                <a:solidFill>
                  <a:srgbClr val="12252D"/>
                </a:solidFill>
                <a:latin typeface="Calibri"/>
                <a:ea typeface="Calibri"/>
                <a:cs typeface="Calibri"/>
                <a:sym typeface="Calibri"/>
              </a:rPr>
              <a:t>Database migrations outlive an image rollback</a:t>
            </a:r>
            <a:endParaRPr b="0" sz="3450" u="none" strike="noStrike">
              <a:solidFill>
                <a:srgbClr val="000000"/>
              </a:solidFill>
              <a:latin typeface="Arial"/>
              <a:ea typeface="Arial"/>
              <a:cs typeface="Arial"/>
              <a:sym typeface="Arial"/>
            </a:endParaRPr>
          </a:p>
        </p:txBody>
      </p:sp>
      <p:sp>
        <p:nvSpPr>
          <p:cNvPr id="456" name="Google Shape;456;p31"/>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350" u="none" strike="noStrike">
                <a:solidFill>
                  <a:srgbClr val="56666C"/>
                </a:solidFill>
                <a:latin typeface="Calibri"/>
                <a:ea typeface="Calibri"/>
                <a:cs typeface="Calibri"/>
                <a:sym typeface="Calibri"/>
              </a:rPr>
              <a:t>31</a:t>
            </a:r>
            <a:endParaRPr b="0" sz="1350" u="none" strike="noStrike">
              <a:solidFill>
                <a:srgbClr val="000000"/>
              </a:solidFill>
              <a:latin typeface="Arial"/>
              <a:ea typeface="Arial"/>
              <a:cs typeface="Arial"/>
              <a:sym typeface="Arial"/>
            </a:endParaRPr>
          </a:p>
        </p:txBody>
      </p:sp>
      <p:graphicFrame>
        <p:nvGraphicFramePr>
          <p:cNvPr id="457" name="Google Shape;457;p31"/>
          <p:cNvGraphicFramePr/>
          <p:nvPr/>
        </p:nvGraphicFramePr>
        <p:xfrm>
          <a:off x="666720" y="1762200"/>
          <a:ext cx="3000000" cy="3000000"/>
        </p:xfrm>
        <a:graphic>
          <a:graphicData uri="http://schemas.openxmlformats.org/drawingml/2006/table">
            <a:tbl>
              <a:tblPr>
                <a:noFill/>
                <a:tableStyleId>{B27AFFA7-D2A1-49AC-8F84-CA7D211AECD2}</a:tableStyleId>
              </a:tblPr>
              <a:tblGrid>
                <a:gridCol w="3524050"/>
                <a:gridCol w="3333600"/>
                <a:gridCol w="4000325"/>
              </a:tblGrid>
              <a:tr h="714250">
                <a:tc>
                  <a:txBody>
                    <a:bodyPr/>
                    <a:lstStyle/>
                    <a:p>
                      <a:pPr indent="0" lvl="0" marL="0" marR="0" rtl="0" algn="l">
                        <a:lnSpc>
                          <a:spcPct val="100000"/>
                        </a:lnSpc>
                        <a:spcBef>
                          <a:spcPts val="0"/>
                        </a:spcBef>
                        <a:spcAft>
                          <a:spcPts val="0"/>
                        </a:spcAft>
                        <a:buNone/>
                      </a:pPr>
                      <a:r>
                        <a:rPr b="1" lang="en-US" sz="2020" u="none" strike="noStrike">
                          <a:solidFill>
                            <a:srgbClr val="FFFFFF"/>
                          </a:solidFill>
                          <a:latin typeface="Calibri"/>
                          <a:ea typeface="Calibri"/>
                          <a:cs typeface="Calibri"/>
                          <a:sym typeface="Calibri"/>
                        </a:rPr>
                        <a:t>Stage</a:t>
                      </a:r>
                      <a:endParaRPr b="0" sz="2020" u="none" strike="noStrike">
                        <a:solidFill>
                          <a:srgbClr val="FFFFFF"/>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10262F"/>
                    </a:solidFill>
                  </a:tcPr>
                </a:tc>
                <a:tc>
                  <a:txBody>
                    <a:bodyPr/>
                    <a:lstStyle/>
                    <a:p>
                      <a:pPr indent="0" lvl="0" marL="0" marR="0" rtl="0" algn="l">
                        <a:lnSpc>
                          <a:spcPct val="100000"/>
                        </a:lnSpc>
                        <a:spcBef>
                          <a:spcPts val="0"/>
                        </a:spcBef>
                        <a:spcAft>
                          <a:spcPts val="0"/>
                        </a:spcAft>
                        <a:buNone/>
                      </a:pPr>
                      <a:r>
                        <a:rPr b="1" lang="en-US" sz="2020" u="none" strike="noStrike">
                          <a:solidFill>
                            <a:srgbClr val="FFFFFF"/>
                          </a:solidFill>
                          <a:latin typeface="Calibri"/>
                          <a:ea typeface="Calibri"/>
                          <a:cs typeface="Calibri"/>
                          <a:sym typeface="Calibri"/>
                        </a:rPr>
                        <a:t>Application</a:t>
                      </a:r>
                      <a:endParaRPr b="0" sz="2020" u="none" strike="noStrike">
                        <a:solidFill>
                          <a:srgbClr val="FFFFFF"/>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10262F"/>
                    </a:solidFill>
                  </a:tcPr>
                </a:tc>
                <a:tc>
                  <a:txBody>
                    <a:bodyPr/>
                    <a:lstStyle/>
                    <a:p>
                      <a:pPr indent="0" lvl="0" marL="0" marR="0" rtl="0" algn="l">
                        <a:lnSpc>
                          <a:spcPct val="100000"/>
                        </a:lnSpc>
                        <a:spcBef>
                          <a:spcPts val="0"/>
                        </a:spcBef>
                        <a:spcAft>
                          <a:spcPts val="0"/>
                        </a:spcAft>
                        <a:buNone/>
                      </a:pPr>
                      <a:r>
                        <a:rPr b="1" lang="en-US" sz="2020" u="none" strike="noStrike">
                          <a:solidFill>
                            <a:srgbClr val="FFFFFF"/>
                          </a:solidFill>
                          <a:latin typeface="Calibri"/>
                          <a:ea typeface="Calibri"/>
                          <a:cs typeface="Calibri"/>
                          <a:sym typeface="Calibri"/>
                        </a:rPr>
                        <a:t>Persistent database</a:t>
                      </a:r>
                      <a:endParaRPr b="0" sz="2020" u="none" strike="noStrike">
                        <a:solidFill>
                          <a:srgbClr val="FFFFFF"/>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10262F"/>
                    </a:solidFill>
                  </a:tcPr>
                </a:tc>
              </a:tr>
              <a:tr h="714250">
                <a:tc>
                  <a:txBody>
                    <a:bodyPr/>
                    <a:lstStyle/>
                    <a:p>
                      <a:pPr indent="0" lvl="0" marL="0" marR="0" rtl="0" algn="l">
                        <a:lnSpc>
                          <a:spcPct val="100000"/>
                        </a:lnSpc>
                        <a:spcBef>
                          <a:spcPts val="0"/>
                        </a:spcBef>
                        <a:spcAft>
                          <a:spcPts val="0"/>
                        </a:spcAft>
                        <a:buNone/>
                      </a:pPr>
                      <a:r>
                        <a:rPr b="0" lang="en-US" sz="2020" u="none" strike="noStrike">
                          <a:solidFill>
                            <a:srgbClr val="12252D"/>
                          </a:solidFill>
                          <a:latin typeface="Calibri"/>
                          <a:ea typeface="Calibri"/>
                          <a:cs typeface="Calibri"/>
                          <a:sym typeface="Calibri"/>
                        </a:rPr>
                        <a:t>Before the PR test</a:t>
                      </a:r>
                      <a:endParaRPr b="0" sz="202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2020" u="none" strike="noStrike">
                          <a:solidFill>
                            <a:srgbClr val="12252D"/>
                          </a:solidFill>
                          <a:latin typeface="Calibri"/>
                          <a:ea typeface="Calibri"/>
                          <a:cs typeface="Calibri"/>
                          <a:sym typeface="Calibri"/>
                        </a:rPr>
                        <a:t>Baseline image</a:t>
                      </a:r>
                      <a:endParaRPr b="0" sz="202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2020" u="none" strike="noStrike">
                          <a:solidFill>
                            <a:srgbClr val="12252D"/>
                          </a:solidFill>
                          <a:latin typeface="Calibri"/>
                          <a:ea typeface="Calibri"/>
                          <a:cs typeface="Calibri"/>
                          <a:sym typeface="Calibri"/>
                        </a:rPr>
                        <a:t>Baseline schema</a:t>
                      </a:r>
                      <a:endParaRPr b="0" sz="202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r>
              <a:tr h="714250">
                <a:tc>
                  <a:txBody>
                    <a:bodyPr/>
                    <a:lstStyle/>
                    <a:p>
                      <a:pPr indent="0" lvl="0" marL="0" marR="0" rtl="0" algn="l">
                        <a:lnSpc>
                          <a:spcPct val="100000"/>
                        </a:lnSpc>
                        <a:spcBef>
                          <a:spcPts val="0"/>
                        </a:spcBef>
                        <a:spcAft>
                          <a:spcPts val="0"/>
                        </a:spcAft>
                        <a:buNone/>
                      </a:pPr>
                      <a:r>
                        <a:rPr b="0" lang="en-US" sz="2020" u="none" strike="noStrike">
                          <a:solidFill>
                            <a:srgbClr val="12252D"/>
                          </a:solidFill>
                          <a:latin typeface="Calibri"/>
                          <a:ea typeface="Calibri"/>
                          <a:cs typeface="Calibri"/>
                          <a:sym typeface="Calibri"/>
                        </a:rPr>
                        <a:t>During the PR test</a:t>
                      </a:r>
                      <a:endParaRPr b="0" sz="202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2020" u="none" strike="noStrike">
                          <a:solidFill>
                            <a:srgbClr val="12252D"/>
                          </a:solidFill>
                          <a:latin typeface="Calibri"/>
                          <a:ea typeface="Calibri"/>
                          <a:cs typeface="Calibri"/>
                          <a:sym typeface="Calibri"/>
                        </a:rPr>
                        <a:t>Candidate image</a:t>
                      </a:r>
                      <a:endParaRPr b="0" sz="202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2020" u="none" strike="noStrike">
                          <a:solidFill>
                            <a:srgbClr val="12252D"/>
                          </a:solidFill>
                          <a:latin typeface="Calibri"/>
                          <a:ea typeface="Calibri"/>
                          <a:cs typeface="Calibri"/>
                          <a:sym typeface="Calibri"/>
                        </a:rPr>
                        <a:t>Migration advances schema</a:t>
                      </a:r>
                      <a:endParaRPr b="0" sz="202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r>
              <a:tr h="714250">
                <a:tc>
                  <a:txBody>
                    <a:bodyPr/>
                    <a:lstStyle/>
                    <a:p>
                      <a:pPr indent="0" lvl="0" marL="0" marR="0" rtl="0" algn="l">
                        <a:lnSpc>
                          <a:spcPct val="100000"/>
                        </a:lnSpc>
                        <a:spcBef>
                          <a:spcPts val="0"/>
                        </a:spcBef>
                        <a:spcAft>
                          <a:spcPts val="0"/>
                        </a:spcAft>
                        <a:buNone/>
                      </a:pPr>
                      <a:r>
                        <a:rPr b="0" lang="en-US" sz="2020" u="none" strike="noStrike">
                          <a:solidFill>
                            <a:srgbClr val="12252D"/>
                          </a:solidFill>
                          <a:latin typeface="Calibri"/>
                          <a:ea typeface="Calibri"/>
                          <a:cs typeface="Calibri"/>
                          <a:sym typeface="Calibri"/>
                        </a:rPr>
                        <a:t>After image rollback</a:t>
                      </a:r>
                      <a:endParaRPr b="0" sz="202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2020" u="none" strike="noStrike">
                          <a:solidFill>
                            <a:srgbClr val="12252D"/>
                          </a:solidFill>
                          <a:latin typeface="Calibri"/>
                          <a:ea typeface="Calibri"/>
                          <a:cs typeface="Calibri"/>
                          <a:sym typeface="Calibri"/>
                        </a:rPr>
                        <a:t>Baseline image again</a:t>
                      </a:r>
                      <a:endParaRPr b="0" sz="202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c>
                  <a:txBody>
                    <a:bodyPr/>
                    <a:lstStyle/>
                    <a:p>
                      <a:pPr indent="0" lvl="0" marL="0" marR="0" rtl="0" algn="l">
                        <a:lnSpc>
                          <a:spcPct val="100000"/>
                        </a:lnSpc>
                        <a:spcBef>
                          <a:spcPts val="0"/>
                        </a:spcBef>
                        <a:spcAft>
                          <a:spcPts val="0"/>
                        </a:spcAft>
                        <a:buNone/>
                      </a:pPr>
                      <a:r>
                        <a:rPr b="0" lang="en-US" sz="2020" u="none" strike="noStrike">
                          <a:solidFill>
                            <a:srgbClr val="12252D"/>
                          </a:solidFill>
                          <a:latin typeface="Calibri"/>
                          <a:ea typeface="Calibri"/>
                          <a:cs typeface="Calibri"/>
                          <a:sym typeface="Calibri"/>
                        </a:rPr>
                        <a:t>Advanced schema remains</a:t>
                      </a:r>
                      <a:endParaRPr b="0" sz="2020" u="none" strike="noStrike">
                        <a:solidFill>
                          <a:srgbClr val="000000"/>
                        </a:solidFill>
                        <a:latin typeface="Arial"/>
                        <a:ea typeface="Arial"/>
                        <a:cs typeface="Arial"/>
                        <a:sym typeface="Arial"/>
                      </a:endParaRPr>
                    </a:p>
                  </a:txBody>
                  <a:tcPr marT="45725" marB="45725" marR="91450" marL="91450" anchor="ctr">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AF7"/>
                    </a:solidFill>
                  </a:tcPr>
                </a:tc>
              </a:tr>
            </a:tbl>
          </a:graphicData>
        </a:graphic>
      </p:graphicFrame>
      <p:sp>
        <p:nvSpPr>
          <p:cNvPr id="458" name="Google Shape;458;p31"/>
          <p:cNvSpPr/>
          <p:nvPr/>
        </p:nvSpPr>
        <p:spPr>
          <a:xfrm>
            <a:off x="666720" y="4971960"/>
            <a:ext cx="10857960" cy="570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780" u="none" strike="noStrike">
                <a:solidFill>
                  <a:srgbClr val="C55D36"/>
                </a:solidFill>
                <a:latin typeface="Calibri"/>
                <a:ea typeface="Calibri"/>
                <a:cs typeface="Calibri"/>
                <a:sym typeface="Calibri"/>
              </a:rPr>
              <a:t>Image rollback does not restore database state</a:t>
            </a:r>
            <a:endParaRPr b="0" sz="2780" u="none" strike="noStrike">
              <a:solidFill>
                <a:srgbClr val="000000"/>
              </a:solidFill>
              <a:latin typeface="Arial"/>
              <a:ea typeface="Arial"/>
              <a:cs typeface="Arial"/>
              <a:sym typeface="Arial"/>
            </a:endParaRPr>
          </a:p>
        </p:txBody>
      </p:sp>
      <p:sp>
        <p:nvSpPr>
          <p:cNvPr id="459" name="Google Shape;459;p31"/>
          <p:cNvSpPr/>
          <p:nvPr/>
        </p:nvSpPr>
        <p:spPr>
          <a:xfrm>
            <a:off x="666720" y="5924520"/>
            <a:ext cx="1038168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500" u="none" strike="noStrike">
                <a:solidFill>
                  <a:srgbClr val="56666C"/>
                </a:solidFill>
                <a:latin typeface="Calibri"/>
                <a:ea typeface="Calibri"/>
                <a:cs typeface="Calibri"/>
                <a:sym typeface="Calibri"/>
              </a:rPr>
              <a:t>Old code may expect a column or constraint that the new schema has changed.</a:t>
            </a:r>
            <a:endParaRPr b="0" sz="1500" u="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464" name="Shape 464"/>
        <p:cNvGrpSpPr/>
        <p:nvPr/>
      </p:nvGrpSpPr>
      <p:grpSpPr>
        <a:xfrm>
          <a:off x="0" y="0"/>
          <a:ext cx="0" cy="0"/>
          <a:chOff x="0" y="0"/>
          <a:chExt cx="0" cy="0"/>
        </a:xfrm>
      </p:grpSpPr>
      <p:sp>
        <p:nvSpPr>
          <p:cNvPr id="465" name="Google Shape;465;p32"/>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u="none" strike="noStrike">
                <a:solidFill>
                  <a:srgbClr val="12252D"/>
                </a:solidFill>
                <a:latin typeface="Calibri"/>
                <a:ea typeface="Calibri"/>
                <a:cs typeface="Calibri"/>
                <a:sym typeface="Calibri"/>
              </a:rPr>
              <a:t>Current mitigation and the next design choice</a:t>
            </a:r>
            <a:endParaRPr b="0" sz="3450" u="none" strike="noStrike">
              <a:solidFill>
                <a:srgbClr val="000000"/>
              </a:solidFill>
              <a:latin typeface="Arial"/>
              <a:ea typeface="Arial"/>
              <a:cs typeface="Arial"/>
              <a:sym typeface="Arial"/>
            </a:endParaRPr>
          </a:p>
        </p:txBody>
      </p:sp>
      <p:sp>
        <p:nvSpPr>
          <p:cNvPr id="466" name="Google Shape;466;p32"/>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350" u="none" strike="noStrike">
                <a:solidFill>
                  <a:srgbClr val="56666C"/>
                </a:solidFill>
                <a:latin typeface="Calibri"/>
                <a:ea typeface="Calibri"/>
                <a:cs typeface="Calibri"/>
                <a:sym typeface="Calibri"/>
              </a:rPr>
              <a:t>32</a:t>
            </a:r>
            <a:endParaRPr b="0" sz="1350" u="none" strike="noStrike">
              <a:solidFill>
                <a:srgbClr val="000000"/>
              </a:solidFill>
              <a:latin typeface="Arial"/>
              <a:ea typeface="Arial"/>
              <a:cs typeface="Arial"/>
              <a:sym typeface="Arial"/>
            </a:endParaRPr>
          </a:p>
        </p:txBody>
      </p:sp>
      <p:sp>
        <p:nvSpPr>
          <p:cNvPr id="467" name="Google Shape;467;p32"/>
          <p:cNvSpPr/>
          <p:nvPr/>
        </p:nvSpPr>
        <p:spPr>
          <a:xfrm>
            <a:off x="666720" y="1762200"/>
            <a:ext cx="495216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400" u="none" strike="noStrike">
                <a:solidFill>
                  <a:srgbClr val="087F8C"/>
                </a:solidFill>
                <a:latin typeface="Calibri"/>
                <a:ea typeface="Calibri"/>
                <a:cs typeface="Calibri"/>
                <a:sym typeface="Calibri"/>
              </a:rPr>
              <a:t>Current mitigation</a:t>
            </a:r>
            <a:endParaRPr b="0" sz="2400" u="none" strike="noStrike">
              <a:solidFill>
                <a:srgbClr val="000000"/>
              </a:solidFill>
              <a:latin typeface="Arial"/>
              <a:ea typeface="Arial"/>
              <a:cs typeface="Arial"/>
              <a:sym typeface="Arial"/>
            </a:endParaRPr>
          </a:p>
        </p:txBody>
      </p:sp>
      <p:sp>
        <p:nvSpPr>
          <p:cNvPr id="468" name="Google Shape;468;p32"/>
          <p:cNvSpPr/>
          <p:nvPr/>
        </p:nvSpPr>
        <p:spPr>
          <a:xfrm>
            <a:off x="666720" y="2314440"/>
            <a:ext cx="4952160" cy="1618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Skip PR CPTs that touch migration files.</a:t>
            </a:r>
            <a:endParaRPr b="0" sz="21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sz="21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After merge, advance the pinned schema or migration version in central app-interface configuration.</a:t>
            </a:r>
            <a:endParaRPr b="0" sz="2100" u="none" strike="noStrike">
              <a:solidFill>
                <a:srgbClr val="000000"/>
              </a:solidFill>
              <a:latin typeface="Arial"/>
              <a:ea typeface="Arial"/>
              <a:cs typeface="Arial"/>
              <a:sym typeface="Arial"/>
            </a:endParaRPr>
          </a:p>
        </p:txBody>
      </p:sp>
      <p:sp>
        <p:nvSpPr>
          <p:cNvPr id="469" name="Google Shape;469;p32"/>
          <p:cNvSpPr/>
          <p:nvPr/>
        </p:nvSpPr>
        <p:spPr>
          <a:xfrm>
            <a:off x="6381720" y="1762200"/>
            <a:ext cx="504756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400" u="none" strike="noStrike">
                <a:solidFill>
                  <a:srgbClr val="087F8C"/>
                </a:solidFill>
                <a:latin typeface="Calibri"/>
                <a:ea typeface="Calibri"/>
                <a:cs typeface="Calibri"/>
                <a:sym typeface="Calibri"/>
              </a:rPr>
              <a:t>Future options</a:t>
            </a:r>
            <a:endParaRPr b="0" sz="2400" u="none" strike="noStrike">
              <a:solidFill>
                <a:srgbClr val="000000"/>
              </a:solidFill>
              <a:latin typeface="Arial"/>
              <a:ea typeface="Arial"/>
              <a:cs typeface="Arial"/>
              <a:sym typeface="Arial"/>
            </a:endParaRPr>
          </a:p>
        </p:txBody>
      </p:sp>
      <p:sp>
        <p:nvSpPr>
          <p:cNvPr id="470" name="Google Shape;470;p32"/>
          <p:cNvSpPr/>
          <p:nvPr/>
        </p:nvSpPr>
        <p:spPr>
          <a:xfrm>
            <a:off x="6381720" y="2314440"/>
            <a:ext cx="5047560" cy="1618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Use an isolated database for each candidate.</a:t>
            </a:r>
            <a:endParaRPr b="0" sz="21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sz="21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Or take a database snapshot before the CPT and restore it afterward.</a:t>
            </a:r>
            <a:endParaRPr b="0" sz="2100" u="none" strike="noStrike">
              <a:solidFill>
                <a:srgbClr val="000000"/>
              </a:solidFill>
              <a:latin typeface="Arial"/>
              <a:ea typeface="Arial"/>
              <a:cs typeface="Arial"/>
              <a:sym typeface="Arial"/>
            </a:endParaRPr>
          </a:p>
        </p:txBody>
      </p:sp>
      <p:sp>
        <p:nvSpPr>
          <p:cNvPr id="471" name="Google Shape;471;p32"/>
          <p:cNvSpPr/>
          <p:nvPr/>
        </p:nvSpPr>
        <p:spPr>
          <a:xfrm>
            <a:off x="666720" y="4952880"/>
            <a:ext cx="10857960" cy="589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550" u="none" strike="noStrike">
                <a:solidFill>
                  <a:srgbClr val="C55D36"/>
                </a:solidFill>
                <a:latin typeface="Calibri"/>
                <a:ea typeface="Calibri"/>
                <a:cs typeface="Calibri"/>
                <a:sym typeface="Calibri"/>
              </a:rPr>
              <a:t>Skipped schema PRs leave a performance-coverage gap</a:t>
            </a:r>
            <a:endParaRPr b="0" sz="2550" u="none" strike="noStrike">
              <a:solidFill>
                <a:srgbClr val="000000"/>
              </a:solidFill>
              <a:latin typeface="Arial"/>
              <a:ea typeface="Arial"/>
              <a:cs typeface="Arial"/>
              <a:sym typeface="Arial"/>
            </a:endParaRPr>
          </a:p>
        </p:txBody>
      </p:sp>
      <p:sp>
        <p:nvSpPr>
          <p:cNvPr id="472" name="Google Shape;472;p32"/>
          <p:cNvSpPr/>
          <p:nvPr/>
        </p:nvSpPr>
        <p:spPr>
          <a:xfrm>
            <a:off x="666720" y="5924520"/>
            <a:ext cx="1038168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500" u="none" strike="noStrike">
                <a:solidFill>
                  <a:srgbClr val="56666C"/>
                </a:solidFill>
                <a:latin typeface="Calibri"/>
                <a:ea typeface="Calibri"/>
                <a:cs typeface="Calibri"/>
                <a:sym typeface="Calibri"/>
              </a:rPr>
              <a:t>Future options are proposals. The skip-and-pin approach is the current mitigation.</a:t>
            </a:r>
            <a:endParaRPr b="0" sz="1500" u="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477" name="Shape 477"/>
        <p:cNvGrpSpPr/>
        <p:nvPr/>
      </p:nvGrpSpPr>
      <p:grpSpPr>
        <a:xfrm>
          <a:off x="0" y="0"/>
          <a:ext cx="0" cy="0"/>
          <a:chOff x="0" y="0"/>
          <a:chExt cx="0" cy="0"/>
        </a:xfrm>
      </p:grpSpPr>
      <p:sp>
        <p:nvSpPr>
          <p:cNvPr id="478" name="Google Shape;478;p33"/>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u="none" strike="noStrike">
                <a:solidFill>
                  <a:srgbClr val="12252D"/>
                </a:solidFill>
                <a:latin typeface="Calibri"/>
                <a:ea typeface="Calibri"/>
                <a:cs typeface="Calibri"/>
                <a:sym typeface="Calibri"/>
              </a:rPr>
              <a:t>API CPT missed a consumer regression</a:t>
            </a:r>
            <a:endParaRPr b="0" sz="3450" u="none" strike="noStrike">
              <a:solidFill>
                <a:srgbClr val="000000"/>
              </a:solidFill>
              <a:latin typeface="Arial"/>
              <a:ea typeface="Arial"/>
              <a:cs typeface="Arial"/>
              <a:sym typeface="Arial"/>
            </a:endParaRPr>
          </a:p>
        </p:txBody>
      </p:sp>
      <p:sp>
        <p:nvSpPr>
          <p:cNvPr id="479" name="Google Shape;479;p33"/>
          <p:cNvSpPr/>
          <p:nvPr/>
        </p:nvSpPr>
        <p:spPr>
          <a:xfrm>
            <a:off x="666720" y="180972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170" u="none" strike="noStrike">
                <a:solidFill>
                  <a:srgbClr val="087F8C"/>
                </a:solidFill>
                <a:latin typeface="Calibri"/>
                <a:ea typeface="Calibri"/>
                <a:cs typeface="Calibri"/>
                <a:sym typeface="Calibri"/>
              </a:rPr>
              <a:t>DB change</a:t>
            </a:r>
            <a:endParaRPr b="0" sz="2170" u="none" strike="noStrike">
              <a:solidFill>
                <a:srgbClr val="000000"/>
              </a:solidFill>
              <a:latin typeface="Arial"/>
              <a:ea typeface="Arial"/>
              <a:cs typeface="Arial"/>
              <a:sym typeface="Arial"/>
            </a:endParaRPr>
          </a:p>
        </p:txBody>
      </p:sp>
      <p:sp>
        <p:nvSpPr>
          <p:cNvPr id="480" name="Google Shape;480;p33"/>
          <p:cNvSpPr/>
          <p:nvPr/>
        </p:nvSpPr>
        <p:spPr>
          <a:xfrm>
            <a:off x="3524400" y="180972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A schema-related release changed the Kafka consumer’s SQL read path</a:t>
            </a:r>
            <a:endParaRPr b="0" sz="2100" u="none" strike="noStrike">
              <a:solidFill>
                <a:srgbClr val="000000"/>
              </a:solidFill>
              <a:latin typeface="Arial"/>
              <a:ea typeface="Arial"/>
              <a:cs typeface="Arial"/>
              <a:sym typeface="Arial"/>
            </a:endParaRPr>
          </a:p>
        </p:txBody>
      </p:sp>
      <p:sp>
        <p:nvSpPr>
          <p:cNvPr id="481" name="Google Shape;481;p33"/>
          <p:cNvSpPr/>
          <p:nvPr/>
        </p:nvSpPr>
        <p:spPr>
          <a:xfrm>
            <a:off x="666720" y="280980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170" u="none" strike="noStrike">
                <a:solidFill>
                  <a:srgbClr val="087F8C"/>
                </a:solidFill>
                <a:latin typeface="Calibri"/>
                <a:ea typeface="Calibri"/>
                <a:cs typeface="Calibri"/>
                <a:sym typeface="Calibri"/>
              </a:rPr>
              <a:t>API CPT</a:t>
            </a:r>
            <a:endParaRPr b="0" sz="2170" u="none" strike="noStrike">
              <a:solidFill>
                <a:srgbClr val="000000"/>
              </a:solidFill>
              <a:latin typeface="Arial"/>
              <a:ea typeface="Arial"/>
              <a:cs typeface="Arial"/>
              <a:sym typeface="Arial"/>
            </a:endParaRPr>
          </a:p>
        </p:txBody>
      </p:sp>
      <p:sp>
        <p:nvSpPr>
          <p:cNvPr id="482" name="Google Shape;482;p33"/>
          <p:cNvSpPr/>
          <p:nvPr/>
        </p:nvSpPr>
        <p:spPr>
          <a:xfrm>
            <a:off x="3524400" y="280980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The tested API scenarios showed no regression</a:t>
            </a:r>
            <a:endParaRPr b="0" sz="2100" u="none" strike="noStrike">
              <a:solidFill>
                <a:srgbClr val="000000"/>
              </a:solidFill>
              <a:latin typeface="Arial"/>
              <a:ea typeface="Arial"/>
              <a:cs typeface="Arial"/>
              <a:sym typeface="Arial"/>
            </a:endParaRPr>
          </a:p>
        </p:txBody>
      </p:sp>
      <p:sp>
        <p:nvSpPr>
          <p:cNvPr id="483" name="Google Shape;483;p33"/>
          <p:cNvSpPr/>
          <p:nvPr/>
        </p:nvSpPr>
        <p:spPr>
          <a:xfrm>
            <a:off x="666720" y="380988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170" u="none" strike="noStrike">
                <a:solidFill>
                  <a:srgbClr val="087F8C"/>
                </a:solidFill>
                <a:latin typeface="Calibri"/>
                <a:ea typeface="Calibri"/>
                <a:cs typeface="Calibri"/>
                <a:sym typeface="Calibri"/>
              </a:rPr>
              <a:t>Consumer impact</a:t>
            </a:r>
            <a:endParaRPr b="0" sz="2170" u="none" strike="noStrike">
              <a:solidFill>
                <a:srgbClr val="000000"/>
              </a:solidFill>
              <a:latin typeface="Arial"/>
              <a:ea typeface="Arial"/>
              <a:cs typeface="Arial"/>
              <a:sym typeface="Arial"/>
            </a:endParaRPr>
          </a:p>
        </p:txBody>
      </p:sp>
      <p:sp>
        <p:nvSpPr>
          <p:cNvPr id="484" name="Google Shape;484;p33"/>
          <p:cNvSpPr/>
          <p:nvPr/>
        </p:nvSpPr>
        <p:spPr>
          <a:xfrm>
            <a:off x="3524400" y="380988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The query scanned and sorted a large history table without a matching index</a:t>
            </a:r>
            <a:endParaRPr b="0" sz="2100" u="none" strike="noStrike">
              <a:solidFill>
                <a:srgbClr val="000000"/>
              </a:solidFill>
              <a:latin typeface="Arial"/>
              <a:ea typeface="Arial"/>
              <a:cs typeface="Arial"/>
              <a:sym typeface="Arial"/>
            </a:endParaRPr>
          </a:p>
        </p:txBody>
      </p:sp>
      <p:sp>
        <p:nvSpPr>
          <p:cNvPr id="485" name="Google Shape;485;p33"/>
          <p:cNvSpPr/>
          <p:nvPr/>
        </p:nvSpPr>
        <p:spPr>
          <a:xfrm>
            <a:off x="666720" y="480996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170" u="none" strike="noStrike">
                <a:solidFill>
                  <a:srgbClr val="087F8C"/>
                </a:solidFill>
                <a:latin typeface="Calibri"/>
                <a:ea typeface="Calibri"/>
                <a:cs typeface="Calibri"/>
                <a:sym typeface="Calibri"/>
              </a:rPr>
              <a:t>Coverage gap</a:t>
            </a:r>
            <a:endParaRPr b="0" sz="2170" u="none" strike="noStrike">
              <a:solidFill>
                <a:srgbClr val="000000"/>
              </a:solidFill>
              <a:latin typeface="Arial"/>
              <a:ea typeface="Arial"/>
              <a:cs typeface="Arial"/>
              <a:sym typeface="Arial"/>
            </a:endParaRPr>
          </a:p>
        </p:txBody>
      </p:sp>
      <p:sp>
        <p:nvSpPr>
          <p:cNvPr id="486" name="Google Shape;486;p33"/>
          <p:cNvSpPr/>
          <p:nvPr/>
        </p:nvSpPr>
        <p:spPr>
          <a:xfrm>
            <a:off x="3524400" y="480996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Consumer processing slowed and Kafka backlog grew</a:t>
            </a:r>
            <a:endParaRPr b="0" sz="2100" u="none" strike="noStrike">
              <a:solidFill>
                <a:srgbClr val="000000"/>
              </a:solidFill>
              <a:latin typeface="Arial"/>
              <a:ea typeface="Arial"/>
              <a:cs typeface="Arial"/>
              <a:sym typeface="Arial"/>
            </a:endParaRPr>
          </a:p>
        </p:txBody>
      </p:sp>
      <p:sp>
        <p:nvSpPr>
          <p:cNvPr id="487" name="Google Shape;487;p33"/>
          <p:cNvSpPr/>
          <p:nvPr/>
        </p:nvSpPr>
        <p:spPr>
          <a:xfrm>
            <a:off x="666720" y="5924520"/>
            <a:ext cx="1038168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500" u="none" strike="noStrike">
                <a:solidFill>
                  <a:srgbClr val="56666C"/>
                </a:solidFill>
                <a:latin typeface="Calibri"/>
                <a:ea typeface="Calibri"/>
                <a:cs typeface="Calibri"/>
                <a:sym typeface="Calibri"/>
              </a:rPr>
              <a:t>CPT coverage needs a representative consumer workload and Kafka lag checks.</a:t>
            </a:r>
            <a:endParaRPr b="0" sz="1500" u="none" strike="noStrike">
              <a:solidFill>
                <a:srgbClr val="000000"/>
              </a:solidFill>
              <a:latin typeface="Arial"/>
              <a:ea typeface="Arial"/>
              <a:cs typeface="Arial"/>
              <a:sym typeface="Arial"/>
            </a:endParaRPr>
          </a:p>
        </p:txBody>
      </p:sp>
      <p:sp>
        <p:nvSpPr>
          <p:cNvPr id="488" name="Google Shape;488;p33"/>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350" u="none" strike="noStrike">
                <a:solidFill>
                  <a:srgbClr val="56666C"/>
                </a:solidFill>
                <a:latin typeface="Calibri"/>
                <a:ea typeface="Calibri"/>
                <a:cs typeface="Calibri"/>
                <a:sym typeface="Calibri"/>
              </a:rPr>
              <a:t>33</a:t>
            </a:r>
            <a:endParaRPr b="0" sz="1350" u="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7"/>
        </a:solidFill>
      </p:bgPr>
    </p:bg>
    <p:spTree>
      <p:nvGrpSpPr>
        <p:cNvPr id="493" name="Shape 493"/>
        <p:cNvGrpSpPr/>
        <p:nvPr/>
      </p:nvGrpSpPr>
      <p:grpSpPr>
        <a:xfrm>
          <a:off x="0" y="0"/>
          <a:ext cx="0" cy="0"/>
          <a:chOff x="0" y="0"/>
          <a:chExt cx="0" cy="0"/>
        </a:xfrm>
      </p:grpSpPr>
      <p:sp>
        <p:nvSpPr>
          <p:cNvPr id="494" name="Google Shape;494;p34"/>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u="none" strike="noStrike">
                <a:solidFill>
                  <a:srgbClr val="12252D"/>
                </a:solidFill>
                <a:latin typeface="Calibri"/>
                <a:ea typeface="Calibri"/>
                <a:cs typeface="Calibri"/>
                <a:sym typeface="Calibri"/>
              </a:rPr>
              <a:t>A comparable CPT run has an explicit contract</a:t>
            </a:r>
            <a:endParaRPr b="0" sz="3450" u="none" strike="noStrike">
              <a:solidFill>
                <a:srgbClr val="000000"/>
              </a:solidFill>
              <a:latin typeface="Arial"/>
              <a:ea typeface="Arial"/>
              <a:cs typeface="Arial"/>
              <a:sym typeface="Arial"/>
            </a:endParaRPr>
          </a:p>
        </p:txBody>
      </p:sp>
      <p:sp>
        <p:nvSpPr>
          <p:cNvPr id="495" name="Google Shape;495;p34"/>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350" u="none" strike="noStrike">
                <a:solidFill>
                  <a:srgbClr val="56666C"/>
                </a:solidFill>
                <a:latin typeface="Calibri"/>
                <a:ea typeface="Calibri"/>
                <a:cs typeface="Calibri"/>
                <a:sym typeface="Calibri"/>
              </a:rPr>
              <a:t>34</a:t>
            </a:r>
            <a:endParaRPr b="0" sz="1350" u="none" strike="noStrike">
              <a:solidFill>
                <a:srgbClr val="000000"/>
              </a:solidFill>
              <a:latin typeface="Arial"/>
              <a:ea typeface="Arial"/>
              <a:cs typeface="Arial"/>
              <a:sym typeface="Arial"/>
            </a:endParaRPr>
          </a:p>
        </p:txBody>
      </p:sp>
      <p:sp>
        <p:nvSpPr>
          <p:cNvPr id="496" name="Google Shape;496;p34"/>
          <p:cNvSpPr/>
          <p:nvPr/>
        </p:nvSpPr>
        <p:spPr>
          <a:xfrm>
            <a:off x="666720" y="180972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170" u="none" strike="noStrike">
                <a:solidFill>
                  <a:srgbClr val="087F8C"/>
                </a:solidFill>
                <a:latin typeface="Calibri"/>
                <a:ea typeface="Calibri"/>
                <a:cs typeface="Calibri"/>
                <a:sym typeface="Calibri"/>
              </a:rPr>
              <a:t>Identity</a:t>
            </a:r>
            <a:endParaRPr b="0" sz="2170" u="none" strike="noStrike">
              <a:solidFill>
                <a:srgbClr val="000000"/>
              </a:solidFill>
              <a:latin typeface="Arial"/>
              <a:ea typeface="Arial"/>
              <a:cs typeface="Arial"/>
              <a:sym typeface="Arial"/>
            </a:endParaRPr>
          </a:p>
        </p:txBody>
      </p:sp>
      <p:sp>
        <p:nvSpPr>
          <p:cNvPr id="497" name="Google Shape;497;p34"/>
          <p:cNvSpPr/>
          <p:nvPr/>
        </p:nvSpPr>
        <p:spPr>
          <a:xfrm>
            <a:off x="3524400" y="180972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Actual image, schema pin and test-script version</a:t>
            </a:r>
            <a:endParaRPr b="0" sz="2100" u="none" strike="noStrike">
              <a:solidFill>
                <a:srgbClr val="000000"/>
              </a:solidFill>
              <a:latin typeface="Arial"/>
              <a:ea typeface="Arial"/>
              <a:cs typeface="Arial"/>
              <a:sym typeface="Arial"/>
            </a:endParaRPr>
          </a:p>
        </p:txBody>
      </p:sp>
      <p:sp>
        <p:nvSpPr>
          <p:cNvPr id="498" name="Google Shape;498;p34"/>
          <p:cNvSpPr/>
          <p:nvPr/>
        </p:nvSpPr>
        <p:spPr>
          <a:xfrm>
            <a:off x="666720" y="280980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170" u="none" strike="noStrike">
                <a:solidFill>
                  <a:srgbClr val="087F8C"/>
                </a:solidFill>
                <a:latin typeface="Calibri"/>
                <a:ea typeface="Calibri"/>
                <a:cs typeface="Calibri"/>
                <a:sym typeface="Calibri"/>
              </a:rPr>
              <a:t>Workload</a:t>
            </a:r>
            <a:endParaRPr b="0" sz="2170" u="none" strike="noStrike">
              <a:solidFill>
                <a:srgbClr val="000000"/>
              </a:solidFill>
              <a:latin typeface="Arial"/>
              <a:ea typeface="Arial"/>
              <a:cs typeface="Arial"/>
              <a:sym typeface="Arial"/>
            </a:endParaRPr>
          </a:p>
        </p:txBody>
      </p:sp>
      <p:sp>
        <p:nvSpPr>
          <p:cNvPr id="499" name="Google Shape;499;p34"/>
          <p:cNvSpPr/>
          <p:nvPr/>
        </p:nvSpPr>
        <p:spPr>
          <a:xfrm>
            <a:off x="3524400" y="280980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Executor, VUs or arrival rate, pacing and result cardinality</a:t>
            </a:r>
            <a:endParaRPr b="0" sz="2100" u="none" strike="noStrike">
              <a:solidFill>
                <a:srgbClr val="000000"/>
              </a:solidFill>
              <a:latin typeface="Arial"/>
              <a:ea typeface="Arial"/>
              <a:cs typeface="Arial"/>
              <a:sym typeface="Arial"/>
            </a:endParaRPr>
          </a:p>
        </p:txBody>
      </p:sp>
      <p:sp>
        <p:nvSpPr>
          <p:cNvPr id="500" name="Google Shape;500;p34"/>
          <p:cNvSpPr/>
          <p:nvPr/>
        </p:nvSpPr>
        <p:spPr>
          <a:xfrm>
            <a:off x="666720" y="380988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170" u="none" strike="noStrike">
                <a:solidFill>
                  <a:srgbClr val="087F8C"/>
                </a:solidFill>
                <a:latin typeface="Calibri"/>
                <a:ea typeface="Calibri"/>
                <a:cs typeface="Calibri"/>
                <a:sym typeface="Calibri"/>
              </a:rPr>
              <a:t>State</a:t>
            </a:r>
            <a:endParaRPr b="0" sz="2170" u="none" strike="noStrike">
              <a:solidFill>
                <a:srgbClr val="000000"/>
              </a:solidFill>
              <a:latin typeface="Arial"/>
              <a:ea typeface="Arial"/>
              <a:cs typeface="Arial"/>
              <a:sym typeface="Arial"/>
            </a:endParaRPr>
          </a:p>
        </p:txBody>
      </p:sp>
      <p:sp>
        <p:nvSpPr>
          <p:cNvPr id="501" name="Google Shape;501;p34"/>
          <p:cNvSpPr/>
          <p:nvPr/>
        </p:nvSpPr>
        <p:spPr>
          <a:xfrm>
            <a:off x="3524400" y="380988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Dataset, warm-up, isolation and application resource settings</a:t>
            </a:r>
            <a:endParaRPr b="0" sz="2100" u="none" strike="noStrike">
              <a:solidFill>
                <a:srgbClr val="000000"/>
              </a:solidFill>
              <a:latin typeface="Arial"/>
              <a:ea typeface="Arial"/>
              <a:cs typeface="Arial"/>
              <a:sym typeface="Arial"/>
            </a:endParaRPr>
          </a:p>
        </p:txBody>
      </p:sp>
      <p:sp>
        <p:nvSpPr>
          <p:cNvPr id="502" name="Google Shape;502;p34"/>
          <p:cNvSpPr/>
          <p:nvPr/>
        </p:nvSpPr>
        <p:spPr>
          <a:xfrm>
            <a:off x="666720" y="4809960"/>
            <a:ext cx="2571120" cy="456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170" u="none" strike="noStrike">
                <a:solidFill>
                  <a:srgbClr val="087F8C"/>
                </a:solidFill>
                <a:latin typeface="Calibri"/>
                <a:ea typeface="Calibri"/>
                <a:cs typeface="Calibri"/>
                <a:sym typeface="Calibri"/>
              </a:rPr>
              <a:t>Decision</a:t>
            </a:r>
            <a:endParaRPr b="0" sz="2170" u="none" strike="noStrike">
              <a:solidFill>
                <a:srgbClr val="000000"/>
              </a:solidFill>
              <a:latin typeface="Arial"/>
              <a:ea typeface="Arial"/>
              <a:cs typeface="Arial"/>
              <a:sym typeface="Arial"/>
            </a:endParaRPr>
          </a:p>
        </p:txBody>
      </p:sp>
      <p:sp>
        <p:nvSpPr>
          <p:cNvPr id="503" name="Google Shape;503;p34"/>
          <p:cNvSpPr/>
          <p:nvPr/>
        </p:nvSpPr>
        <p:spPr>
          <a:xfrm>
            <a:off x="3524400" y="4809960"/>
            <a:ext cx="7809840" cy="8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u="none" strike="noStrike">
                <a:solidFill>
                  <a:srgbClr val="12252D"/>
                </a:solidFill>
                <a:latin typeface="Calibri"/>
                <a:ea typeface="Calibri"/>
                <a:cs typeface="Calibri"/>
                <a:sym typeface="Calibri"/>
              </a:rPr>
              <a:t>Correctness checks, latency targets and repeated baseline comparison</a:t>
            </a:r>
            <a:endParaRPr b="0" sz="2100" u="none" strike="noStrike">
              <a:solidFill>
                <a:srgbClr val="000000"/>
              </a:solidFill>
              <a:latin typeface="Arial"/>
              <a:ea typeface="Arial"/>
              <a:cs typeface="Arial"/>
              <a:sym typeface="Arial"/>
            </a:endParaRPr>
          </a:p>
        </p:txBody>
      </p:sp>
      <p:sp>
        <p:nvSpPr>
          <p:cNvPr id="504" name="Google Shape;504;p34"/>
          <p:cNvSpPr/>
          <p:nvPr/>
        </p:nvSpPr>
        <p:spPr>
          <a:xfrm>
            <a:off x="666720" y="5924520"/>
            <a:ext cx="10381680" cy="428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500" u="none" strike="noStrike">
                <a:solidFill>
                  <a:srgbClr val="56666C"/>
                </a:solidFill>
                <a:latin typeface="Calibri"/>
                <a:ea typeface="Calibri"/>
                <a:cs typeface="Calibri"/>
                <a:sym typeface="Calibri"/>
              </a:rPr>
              <a:t>Pod restarts reset processes. Persistent database data requires its own reset strategy.</a:t>
            </a:r>
            <a:endParaRPr b="0" sz="1500" u="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62F"/>
        </a:solidFill>
      </p:bgPr>
    </p:bg>
    <p:spTree>
      <p:nvGrpSpPr>
        <p:cNvPr id="509" name="Shape 509"/>
        <p:cNvGrpSpPr/>
        <p:nvPr/>
      </p:nvGrpSpPr>
      <p:grpSpPr>
        <a:xfrm>
          <a:off x="0" y="0"/>
          <a:ext cx="0" cy="0"/>
          <a:chOff x="0" y="0"/>
          <a:chExt cx="0" cy="0"/>
        </a:xfrm>
      </p:grpSpPr>
      <p:sp>
        <p:nvSpPr>
          <p:cNvPr id="510" name="Google Shape;510;p35"/>
          <p:cNvSpPr/>
          <p:nvPr/>
        </p:nvSpPr>
        <p:spPr>
          <a:xfrm>
            <a:off x="666720" y="514440"/>
            <a:ext cx="10838880" cy="856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u="none" strike="noStrike">
                <a:solidFill>
                  <a:srgbClr val="FFFFFF"/>
                </a:solidFill>
                <a:latin typeface="Calibri"/>
                <a:ea typeface="Calibri"/>
                <a:cs typeface="Calibri"/>
                <a:sym typeface="Calibri"/>
              </a:rPr>
              <a:t>What makes an API load test trustworthy?</a:t>
            </a:r>
            <a:endParaRPr b="0" sz="3450" u="none" strike="noStrike">
              <a:solidFill>
                <a:srgbClr val="FFFFFF"/>
              </a:solidFill>
              <a:latin typeface="Arial"/>
              <a:ea typeface="Arial"/>
              <a:cs typeface="Arial"/>
              <a:sym typeface="Arial"/>
            </a:endParaRPr>
          </a:p>
        </p:txBody>
      </p:sp>
      <p:sp>
        <p:nvSpPr>
          <p:cNvPr id="511" name="Google Shape;511;p35"/>
          <p:cNvSpPr/>
          <p:nvPr/>
        </p:nvSpPr>
        <p:spPr>
          <a:xfrm>
            <a:off x="11144160" y="6410160"/>
            <a:ext cx="380160" cy="227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350" u="none" strike="noStrike">
                <a:solidFill>
                  <a:srgbClr val="98A9B0"/>
                </a:solidFill>
                <a:latin typeface="Calibri"/>
                <a:ea typeface="Calibri"/>
                <a:cs typeface="Calibri"/>
                <a:sym typeface="Calibri"/>
              </a:rPr>
              <a:t>35</a:t>
            </a:r>
            <a:endParaRPr b="0" sz="1350" u="none" strike="noStrike">
              <a:solidFill>
                <a:srgbClr val="FFFFFF"/>
              </a:solidFill>
              <a:latin typeface="Arial"/>
              <a:ea typeface="Arial"/>
              <a:cs typeface="Arial"/>
              <a:sym typeface="Arial"/>
            </a:endParaRPr>
          </a:p>
        </p:txBody>
      </p:sp>
      <p:sp>
        <p:nvSpPr>
          <p:cNvPr id="512" name="Google Shape;512;p35"/>
          <p:cNvSpPr/>
          <p:nvPr/>
        </p:nvSpPr>
        <p:spPr>
          <a:xfrm>
            <a:off x="666720" y="1924200"/>
            <a:ext cx="10762560" cy="570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850" u="none" strike="noStrike">
                <a:solidFill>
                  <a:srgbClr val="FFFFFF"/>
                </a:solidFill>
                <a:latin typeface="Calibri"/>
                <a:ea typeface="Calibri"/>
                <a:cs typeface="Calibri"/>
                <a:sym typeface="Calibri"/>
              </a:rPr>
              <a:t>A clear unit of completed work</a:t>
            </a:r>
            <a:endParaRPr b="0" sz="2850" u="none" strike="noStrike">
              <a:solidFill>
                <a:srgbClr val="FFFFFF"/>
              </a:solidFill>
              <a:latin typeface="Arial"/>
              <a:ea typeface="Arial"/>
              <a:cs typeface="Arial"/>
              <a:sym typeface="Arial"/>
            </a:endParaRPr>
          </a:p>
        </p:txBody>
      </p:sp>
      <p:sp>
        <p:nvSpPr>
          <p:cNvPr id="513" name="Google Shape;513;p35"/>
          <p:cNvSpPr/>
          <p:nvPr/>
        </p:nvSpPr>
        <p:spPr>
          <a:xfrm>
            <a:off x="666720" y="2838600"/>
            <a:ext cx="10762560" cy="570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850" u="none" strike="noStrike">
                <a:solidFill>
                  <a:srgbClr val="FFFFFF"/>
                </a:solidFill>
                <a:latin typeface="Calibri"/>
                <a:ea typeface="Calibri"/>
                <a:cs typeface="Calibri"/>
                <a:sym typeface="Calibri"/>
              </a:rPr>
              <a:t>A client that can generate the intended load</a:t>
            </a:r>
            <a:endParaRPr b="0" sz="2850" u="none" strike="noStrike">
              <a:solidFill>
                <a:srgbClr val="FFFFFF"/>
              </a:solidFill>
              <a:latin typeface="Arial"/>
              <a:ea typeface="Arial"/>
              <a:cs typeface="Arial"/>
              <a:sym typeface="Arial"/>
            </a:endParaRPr>
          </a:p>
        </p:txBody>
      </p:sp>
      <p:sp>
        <p:nvSpPr>
          <p:cNvPr id="514" name="Google Shape;514;p35"/>
          <p:cNvSpPr/>
          <p:nvPr/>
        </p:nvSpPr>
        <p:spPr>
          <a:xfrm>
            <a:off x="666720" y="3753000"/>
            <a:ext cx="10762560" cy="570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850" u="none" strike="noStrike">
                <a:solidFill>
                  <a:srgbClr val="FFFFFF"/>
                </a:solidFill>
                <a:latin typeface="Calibri"/>
                <a:ea typeface="Calibri"/>
                <a:cs typeface="Calibri"/>
                <a:sym typeface="Calibri"/>
              </a:rPr>
              <a:t>The intended image and a compatible database</a:t>
            </a:r>
            <a:endParaRPr b="0" sz="2850" u="none" strike="noStrike">
              <a:solidFill>
                <a:srgbClr val="FFFFFF"/>
              </a:solidFill>
              <a:latin typeface="Arial"/>
              <a:ea typeface="Arial"/>
              <a:cs typeface="Arial"/>
              <a:sym typeface="Arial"/>
            </a:endParaRPr>
          </a:p>
        </p:txBody>
      </p:sp>
      <p:sp>
        <p:nvSpPr>
          <p:cNvPr id="515" name="Google Shape;515;p35"/>
          <p:cNvSpPr/>
          <p:nvPr/>
        </p:nvSpPr>
        <p:spPr>
          <a:xfrm>
            <a:off x="666720" y="4667400"/>
            <a:ext cx="10762560" cy="570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850" u="none" strike="noStrike">
                <a:solidFill>
                  <a:srgbClr val="FFFFFF"/>
                </a:solidFill>
                <a:latin typeface="Calibri"/>
                <a:ea typeface="Calibri"/>
                <a:cs typeface="Calibri"/>
                <a:sym typeface="Calibri"/>
              </a:rPr>
              <a:t>A baseline with comparable workload and state</a:t>
            </a:r>
            <a:endParaRPr b="0" sz="2850" u="none" strike="noStrike">
              <a:solidFill>
                <a:srgbClr val="FFFFFF"/>
              </a:solidFill>
              <a:latin typeface="Arial"/>
              <a:ea typeface="Arial"/>
              <a:cs typeface="Arial"/>
              <a:sym typeface="Arial"/>
            </a:endParaRPr>
          </a:p>
        </p:txBody>
      </p:sp>
      <p:sp>
        <p:nvSpPr>
          <p:cNvPr id="516" name="Google Shape;516;p35"/>
          <p:cNvSpPr/>
          <p:nvPr/>
        </p:nvSpPr>
        <p:spPr>
          <a:xfrm>
            <a:off x="666720" y="5781600"/>
            <a:ext cx="7619400" cy="399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u="none" strike="noStrike">
                <a:solidFill>
                  <a:srgbClr val="98A9B0"/>
                </a:solidFill>
                <a:latin typeface="Calibri"/>
                <a:ea typeface="Calibri"/>
                <a:cs typeface="Calibri"/>
                <a:sym typeface="Calibri"/>
              </a:rPr>
              <a:t>Discussion</a:t>
            </a:r>
            <a:endParaRPr b="0" sz="2020" u="none" strike="noStrike">
              <a:solidFill>
                <a:srgbClr val="FFFFFF"/>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h49aa48c39031df0_2_0"/>
          <p:cNvSpPr txBox="1"/>
          <p:nvPr>
            <p:ph type="title"/>
          </p:nvPr>
        </p:nvSpPr>
        <p:spPr>
          <a:xfrm>
            <a:off x="609480" y="273600"/>
            <a:ext cx="10972200" cy="1144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US"/>
              <a:t>Links/Appendix</a:t>
            </a:r>
            <a:endParaRPr/>
          </a:p>
        </p:txBody>
      </p:sp>
      <p:sp>
        <p:nvSpPr>
          <p:cNvPr id="523" name="Google Shape;523;h49aa48c39031df0_2_0"/>
          <p:cNvSpPr txBox="1"/>
          <p:nvPr>
            <p:ph idx="1" type="body"/>
          </p:nvPr>
        </p:nvSpPr>
        <p:spPr>
          <a:xfrm>
            <a:off x="609480" y="1604520"/>
            <a:ext cx="10972200" cy="3976800"/>
          </a:xfrm>
          <a:prstGeom prst="rect">
            <a:avLst/>
          </a:prstGeom>
        </p:spPr>
        <p:txBody>
          <a:bodyPr anchorCtr="0" anchor="t" bIns="0" lIns="0" spcFirstLastPara="1" rIns="0" wrap="square" tIns="0">
            <a:normAutofit lnSpcReduction="10000"/>
          </a:bodyPr>
          <a:lstStyle/>
          <a:p>
            <a:pPr indent="0" lvl="0" marL="0" rtl="0" algn="l">
              <a:spcBef>
                <a:spcPts val="1417"/>
              </a:spcBef>
              <a:spcAft>
                <a:spcPts val="0"/>
              </a:spcAft>
              <a:buNone/>
            </a:pPr>
            <a:r>
              <a:rPr lang="en-US"/>
              <a:t>Project Kessel - </a:t>
            </a:r>
            <a:r>
              <a:rPr lang="en-US" u="sng">
                <a:solidFill>
                  <a:schemeClr val="hlink"/>
                </a:solidFill>
                <a:hlinkClick r:id="rId3"/>
              </a:rPr>
              <a:t>https://github.com/project-kessel/</a:t>
            </a:r>
            <a:endParaRPr/>
          </a:p>
          <a:p>
            <a:pPr indent="0" lvl="0" marL="0" rtl="0" algn="l">
              <a:spcBef>
                <a:spcPts val="1417"/>
              </a:spcBef>
              <a:spcAft>
                <a:spcPts val="0"/>
              </a:spcAft>
              <a:buNone/>
            </a:pPr>
            <a:r>
              <a:rPr lang="en-US"/>
              <a:t>SpiceDB - </a:t>
            </a:r>
            <a:r>
              <a:rPr lang="en-US" u="sng">
                <a:solidFill>
                  <a:schemeClr val="hlink"/>
                </a:solidFill>
                <a:hlinkClick r:id="rId4"/>
              </a:rPr>
              <a:t>https://github.com/authzed/spicedb</a:t>
            </a:r>
            <a:endParaRPr/>
          </a:p>
          <a:p>
            <a:pPr indent="0" lvl="0" marL="0" rtl="0" algn="l">
              <a:spcBef>
                <a:spcPts val="1417"/>
              </a:spcBef>
              <a:spcAft>
                <a:spcPts val="0"/>
              </a:spcAft>
              <a:buNone/>
            </a:pPr>
            <a:r>
              <a:rPr lang="en-US"/>
              <a:t>AuthZed spiceDB blog - </a:t>
            </a:r>
            <a:r>
              <a:rPr lang="en-US" u="sng">
                <a:solidFill>
                  <a:schemeClr val="hlink"/>
                </a:solidFill>
                <a:hlinkClick r:id="rId5"/>
              </a:rPr>
              <a:t>https://authzed.com/blog/google-scale-authorization</a:t>
            </a:r>
            <a:r>
              <a:rPr lang="en-US"/>
              <a:t> </a:t>
            </a:r>
            <a:endParaRPr/>
          </a:p>
          <a:p>
            <a:pPr indent="0" lvl="0" marL="0" rtl="0" algn="l">
              <a:spcBef>
                <a:spcPts val="1417"/>
              </a:spcBef>
              <a:spcAft>
                <a:spcPts val="0"/>
              </a:spcAft>
              <a:buNone/>
            </a:pPr>
            <a:r>
              <a:rPr lang="en-US"/>
              <a:t>Grafana K6 - </a:t>
            </a:r>
            <a:r>
              <a:rPr lang="en-US" u="sng">
                <a:solidFill>
                  <a:schemeClr val="hlink"/>
                </a:solidFill>
                <a:hlinkClick r:id="rId6"/>
              </a:rPr>
              <a:t>https://grafana.com/docs/k6/latest/using-k6/protocols/grpc/</a:t>
            </a:r>
            <a:r>
              <a:rPr lang="en-US"/>
              <a:t> </a:t>
            </a:r>
            <a:endParaRPr/>
          </a:p>
          <a:p>
            <a:pPr indent="0" lvl="0" marL="0" rtl="0" algn="l">
              <a:spcBef>
                <a:spcPts val="1417"/>
              </a:spcBef>
              <a:spcAft>
                <a:spcPts val="0"/>
              </a:spcAft>
              <a:buNone/>
            </a:pPr>
            <a:r>
              <a:rPr lang="en-US"/>
              <a:t>RDS Waits - </a:t>
            </a:r>
            <a:r>
              <a:rPr lang="en-US" u="sng">
                <a:solidFill>
                  <a:schemeClr val="hlink"/>
                </a:solidFill>
                <a:hlinkClick r:id="rId7"/>
              </a:rPr>
              <a:t>https://docs.aws.amazon.com/AmazonRDS/latest/UserGuide/USER_PerfInsights.Cloudwatch.html</a:t>
            </a:r>
            <a:r>
              <a:rPr lang="en-US"/>
              <a:t>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2026-10-09T14:08:38Z</dcterms:created>
  <dc:creator>Walnut Exporter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Converted Presentation</vt:lpwstr>
  </property>
</Properties>
</file>