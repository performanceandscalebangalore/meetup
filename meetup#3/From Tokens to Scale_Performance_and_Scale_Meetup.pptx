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10287000" cx="18288000"/>
  <p:notesSz cx="10287000" cy="18288000"/>
  <p:embeddedFontLst>
    <p:embeddedFont>
      <p:font typeface="IBM Plex Sans"/>
      <p:regular r:id="rId19"/>
      <p:bold r:id="rId20"/>
      <p:italic r:id="rId21"/>
      <p:boldItalic r:id="rId22"/>
    </p:embeddedFont>
    <p:embeddedFont>
      <p:font typeface="IBM Plex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ic3kqtFb8TAtTiFfoIfm/U0VRd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BMPlexSans-bold.fntdata"/><Relationship Id="rId22" Type="http://schemas.openxmlformats.org/officeDocument/2006/relationships/font" Target="fonts/IBMPlexSans-boldItalic.fntdata"/><Relationship Id="rId21" Type="http://schemas.openxmlformats.org/officeDocument/2006/relationships/font" Target="fonts/IBMPlexSans-italic.fntdata"/><Relationship Id="rId24" Type="http://schemas.openxmlformats.org/officeDocument/2006/relationships/font" Target="fonts/IBMPlexMono-bold.fntdata"/><Relationship Id="rId23" Type="http://schemas.openxmlformats.org/officeDocument/2006/relationships/font" Target="fonts/IBMPlexMon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BMPlexMono-boldItalic.fntdata"/><Relationship Id="rId25" Type="http://schemas.openxmlformats.org/officeDocument/2006/relationships/font" Target="fonts/IBMPlexMono-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IBMPlexSans-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14825" y="1371600"/>
            <a:ext cx="6858325" cy="6858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28700" y="8686800"/>
            <a:ext cx="8229600" cy="82296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Introduce yourselves and the session: how the whole inference stack, from model to router, decides what users feel. Walk the five chapters on the right. Thank Red Hat for hosting.</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Training is paid once; inference runs 24x7 and is what users feel. Walk the four stages quickly, land on Inference. Then the hook: same model, same hardware, yet one user gets an instant answer and the next one waits. Pause. Promise the answer by the end.</a:t>
            </a:r>
            <a:endParaRPr/>
          </a:p>
        </p:txBody>
      </p:sp>
      <p:sp>
        <p:nvSpPr>
          <p:cNvPr id="55" name="Google Shape;5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If the model is fast, why is the chat still slow? Point at the histogram: the dashboard reports the mean, the user lives in the tail. Then the four floors: every request crosses routing, runtime, accelerator and model; the time hides in one of them. Land the closing line: performance engineering tells you which floor to fix first.</a:t>
            </a:r>
            <a:endParaRPr/>
          </a:p>
        </p:txBody>
      </p:sp>
      <p:sp>
        <p:nvSpPr>
          <p:cNvPr id="116" name="Google Shape;11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the box we measure: IBM Z, Spyre AIU cards, vLLM with the Spyre plugin, Granite / Llama / Mistral. Every request does two different jobs. Prefill reads the whole prompt once: compute-bound, sets TTFT. Decode writes the answer token by token: memory-bound, sets TPOT and ITL. The KV cache is the book left open between them. Under each phase: the vLLM features on Spyre today, per the open-source vllm-spyre releases. Multi-modal (vision), structured outputs and Granite 4 hybrid models landed in 2.0; chunked prefill and prefix caching are on by default. FP8 quantized Granite and Llama models are verified; runs on IBM Z (s390x). The plugin is now published as sendnn-inference. Partial: hybrid KV cache. Granite 4 hybrid models run, but the Spyre platform currently collapses the hybrid KV layout into one group; efficient per-shape allocation is still open upstream. Also partial: sampling still runs on the host CPU; Spyre-optimized samplers landed in 2.6.1, on-device sampling is in progress. Sliding-window attention for Granite SWA models landed in 2.5.</a:t>
            </a:r>
            <a:endParaRPr/>
          </a:p>
        </p:txBody>
      </p:sp>
      <p:sp>
        <p:nvSpPr>
          <p:cNvPr id="189" name="Google Shape;18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One picture, the whole harness. Text and vision requests in on the left, the IBM Z + Spyre instance in the middle, an LLM-as-a-judge checking answer quality on the right, vllm bench serve driving load. Hardware and profiling metrics are captured during the same run, so every latency number lines up with what the cards were doing. Right column: the six numbers we report, each tied to the phase from the previous slide, always at mean, p99 and max.</a:t>
            </a:r>
            <a:endParaRPr/>
          </a:p>
        </p:txBody>
      </p:sp>
      <p:sp>
        <p:nvSpPr>
          <p:cNvPr id="274" name="Google Shape;27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588e6ac8f2e1014_0_7:notes"/>
          <p:cNvSpPr/>
          <p:nvPr>
            <p:ph idx="2" type="sldImg"/>
          </p:nvPr>
        </p:nvSpPr>
        <p:spPr>
          <a:xfrm>
            <a:off x="1714825" y="1371600"/>
            <a:ext cx="6858300" cy="6858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h588e6ac8f2e1014_0_7:notes"/>
          <p:cNvSpPr txBox="1"/>
          <p:nvPr>
            <p:ph idx="1" type="body"/>
          </p:nvPr>
        </p:nvSpPr>
        <p:spPr>
          <a:xfrm>
            <a:off x="1028700" y="8686800"/>
            <a:ext cx="8229600" cy="82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588e6ac8f2e1014_0_3:notes"/>
          <p:cNvSpPr/>
          <p:nvPr>
            <p:ph idx="2" type="sldImg"/>
          </p:nvPr>
        </p:nvSpPr>
        <p:spPr>
          <a:xfrm>
            <a:off x="1714825" y="1371600"/>
            <a:ext cx="6858300" cy="6858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588e6ac8f2e1014_0_3:notes"/>
          <p:cNvSpPr txBox="1"/>
          <p:nvPr>
            <p:ph idx="1" type="body"/>
          </p:nvPr>
        </p:nvSpPr>
        <p:spPr>
          <a:xfrm>
            <a:off x="1028700" y="8686800"/>
            <a:ext cx="8229600" cy="82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How the router decides. The Endpoint Picker runs five plugins on every request. Context-length filters pods by token range. Precise prefix cache follows live KV-block events from vLLM over ZMQ. Queue, active-request and load-aware scorers keep hot pods from being buried. Each plugin gives a score, weights combine them, highest wins. Our best configuration, g5_ctx3_pfx3_q1, weights context-length 3, prefix cache 3, queue 1, and turns active-request and load-aware off. Against Kubernetes round-robin: about 2.5x faster mean TTFT and 1.5x higher output throughput. Exact figures stay internal. We then scaled out: 6 vLLM instances with 4 Spyre cards each across 2 LPARs, HAProxy round-robin versus llm-d routing directly across LPARs (backup slide). The catch: those weights are hand-tuned and drift with traffic. Next slide: an XGBoost model predicts TTFT and TPOT per pod, and requests carrying an SLO go to a pod with headroom.</a:t>
            </a:r>
            <a:endParaRPr/>
          </a:p>
        </p:txBody>
      </p:sp>
      <p:sp>
        <p:nvSpPr>
          <p:cNvPr id="335" name="Google Shape;33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4" name="Google Shape;43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Why a performance team matters. Open with the IBM number: when fraud models sit off-platform, delay and timeouts can leave up to 80% of transactions unevaluated. Then the table: every workload fails on a different metric, the same metrics we measured. Close with how we work on IBM Z: measure the whole path, believe the tail, replay real traces before deciding, and route with intent.</a:t>
            </a:r>
            <a:endParaRPr/>
          </a:p>
        </p:txBody>
      </p:sp>
      <p:sp>
        <p:nvSpPr>
          <p:cNvPr id="435" name="Google Shape;43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Leave this up during Q&amp;A if useful. Middle column is where to start: run vLLM on Spyre and measure it with vllm bench serve. Right column: route it with llm-d: the scheduler plugins, the KV-cache manager behind precise prefix caching, the Gateway API Inference Extension, and predicted-latency scheduling. All links are clickable in the shared deck.</a:t>
            </a:r>
            <a:endParaRPr/>
          </a:p>
        </p:txBody>
      </p:sp>
      <p:sp>
        <p:nvSpPr>
          <p:cNvPr id="494" name="Google Shape;49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Close the loop on the opening question: your model is fast, but is your service? Then the ask, on the right. Our next step is a competitive study: the same workloads and metrics on IBM Spyre versus x86 servers with NVIDIA or AMD GPUs, expanded across use cases. Bring us your workload, build it with us in the open, and come back to this meetup with your own results. Thank Red Hat for hosting.</a:t>
            </a:r>
            <a:endParaRPr/>
          </a:p>
        </p:txBody>
      </p:sp>
      <p:sp>
        <p:nvSpPr>
          <p:cNvPr id="555" name="Google Shape;55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Backup. Use if someone asks what Spyre is or where it fits. The image shows the split: Telum and Telum II on-chip AI for predictive models; Spyre PCIe cards and the AI drawer for generative and agentic workloads. Figures are from IBM public material: 32 AI cores, 25.6B transistors, 5 nm, 75 W PCIe card, 128 GB LPDDR5, up to 48 cards in z17 / LinuxONE 5, 300+ TOPS per card. GA 28 Oct 2025 on z17 and LinuxONE 5. Bottom row: the enterprise use cases IBM positions Spyre for.</a:t>
            </a:r>
            <a:endParaRPr/>
          </a:p>
        </p:txBody>
      </p:sp>
      <p:sp>
        <p:nvSpPr>
          <p:cNvPr id="599" name="Google Shape;599;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3" name="Google Shape;66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Backup. The controlled experiment: only the router changes. Left, the Kubernetes baseline: a ClusterIP service splits traffic about 50/50 across two identical vLLM pods. Right, llm-d: Istio Gateway, InferencePool, then the Endpoint Picker scores every pod; a small-context pod serves 0 to 4K tokens and a large-context pod 4K to 32K. Same IBM Granite model, tensor parallel 4, Spyre cards and shared model storage on OpenShift.</a:t>
            </a:r>
            <a:endParaRPr/>
          </a:p>
        </p:txBody>
      </p:sp>
      <p:sp>
        <p:nvSpPr>
          <p:cNvPr id="664" name="Google Shape;66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5" name="Google Shape;695;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Backup. Scale-out on IBM Z. Two SUT LPARs, each with 9 IFLs and 3 vLLM instances of 4 Spyre cards: 6 instances, 24 Spyre cards, 18 IFLs. Setup 1 puts HAProxy on the driver LPAR, round-robin or least-connections, with no LLM awareness; each LPAR then has its own local llm-d. Setup 2 runs llm-d on the driver and routes directly to all 6 vLLM instances across LPARs with static weights, removing the intra-LPAR hop. Next step: replace static weights with XGBoost-predicted latency.</a:t>
            </a:r>
            <a:endParaRPr/>
          </a:p>
        </p:txBody>
      </p:sp>
      <p:sp>
        <p:nvSpPr>
          <p:cNvPr id="696" name="Google Shape;696;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40" Type="http://schemas.openxmlformats.org/officeDocument/2006/relationships/hyperlink" Target="https://github.com/llm-d/llm-d-kv-cache-manager" TargetMode="External"/><Relationship Id="rId20" Type="http://schemas.openxmlformats.org/officeDocument/2006/relationships/hyperlink" Target="https://docs.vllm.ai/" TargetMode="External"/><Relationship Id="rId42" Type="http://schemas.openxmlformats.org/officeDocument/2006/relationships/hyperlink" Target="https://gateway-api-inference-extension.sigs.k8s.io/" TargetMode="External"/><Relationship Id="rId41" Type="http://schemas.openxmlformats.org/officeDocument/2006/relationships/hyperlink" Target="https://gateway-api-inference-extension.sigs.k8s.io/" TargetMode="External"/><Relationship Id="rId22" Type="http://schemas.openxmlformats.org/officeDocument/2006/relationships/hyperlink" Target="https://github.com/vllm-project/vllm" TargetMode="External"/><Relationship Id="rId44" Type="http://schemas.openxmlformats.org/officeDocument/2006/relationships/hyperlink" Target="https://developers.redhat.com/articles/2026/06/11/intelligent-inference-scheduling-llm-d-red-hat-ai" TargetMode="External"/><Relationship Id="rId21" Type="http://schemas.openxmlformats.org/officeDocument/2006/relationships/hyperlink" Target="https://github.com/vllm-project/vllm" TargetMode="External"/><Relationship Id="rId43" Type="http://schemas.openxmlformats.org/officeDocument/2006/relationships/hyperlink" Target="https://developers.redhat.com/articles/2026/06/11/intelligent-inference-scheduling-llm-d-red-hat-ai" TargetMode="External"/><Relationship Id="rId24" Type="http://schemas.openxmlformats.org/officeDocument/2006/relationships/hyperlink" Target="https://docs.vllm.ai/en/latest/cli/bench/serve.html" TargetMode="External"/><Relationship Id="rId23" Type="http://schemas.openxmlformats.org/officeDocument/2006/relationships/hyperlink" Target="https://docs.vllm.ai/en/latest/cli/bench/serve.html" TargetMode="External"/><Relationship Id="rId45"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www.ibm.com/support/z-content-solutions/spyre-accelerator-z-and-linuxone/" TargetMode="External"/><Relationship Id="rId4" Type="http://schemas.openxmlformats.org/officeDocument/2006/relationships/hyperlink" Target="https://www.ibm.com/support/z-content-solutions/spyre-accelerator-z-and-linuxone/" TargetMode="External"/><Relationship Id="rId9" Type="http://schemas.openxmlformats.org/officeDocument/2006/relationships/hyperlink" Target="https://newsroom.ibm.com/" TargetMode="External"/><Relationship Id="rId26" Type="http://schemas.openxmlformats.org/officeDocument/2006/relationships/hyperlink" Target="https://pytorch.org/docs/stable/profiler.html" TargetMode="External"/><Relationship Id="rId25" Type="http://schemas.openxmlformats.org/officeDocument/2006/relationships/hyperlink" Target="https://pytorch.org/docs/stable/profiler.html" TargetMode="External"/><Relationship Id="rId28" Type="http://schemas.openxmlformats.org/officeDocument/2006/relationships/hyperlink" Target="https://catalog.redhat.com/en/software/containers/rhaiis/vllm-spyre-rhel9/68b960a75c295acd34072136" TargetMode="External"/><Relationship Id="rId27" Type="http://schemas.openxmlformats.org/officeDocument/2006/relationships/hyperlink" Target="https://catalog.redhat.com/en/software/containers/rhaiis/vllm-spyre-rhel9/68b960a75c295acd34072136" TargetMode="External"/><Relationship Id="rId5" Type="http://schemas.openxmlformats.org/officeDocument/2006/relationships/hyperlink" Target="https://research.ibm.com/blog/building-the-ibm-spyre-accelerator" TargetMode="External"/><Relationship Id="rId6" Type="http://schemas.openxmlformats.org/officeDocument/2006/relationships/hyperlink" Target="https://research.ibm.com/blog/building-the-ibm-spyre-accelerator" TargetMode="External"/><Relationship Id="rId29" Type="http://schemas.openxmlformats.org/officeDocument/2006/relationships/hyperlink" Target="https://github.com/llm-d/llm-d" TargetMode="External"/><Relationship Id="rId7" Type="http://schemas.openxmlformats.org/officeDocument/2006/relationships/hyperlink" Target="https://www.ibm.com/support/z-content-solutions/journey-to-ai-on-z/" TargetMode="External"/><Relationship Id="rId8" Type="http://schemas.openxmlformats.org/officeDocument/2006/relationships/hyperlink" Target="https://www.ibm.com/support/z-content-solutions/journey-to-ai-on-z/" TargetMode="External"/><Relationship Id="rId31" Type="http://schemas.openxmlformats.org/officeDocument/2006/relationships/hyperlink" Target="https://llm-d.ai/blog/intelligent-inference-scheduling-with-llm-d" TargetMode="External"/><Relationship Id="rId30" Type="http://schemas.openxmlformats.org/officeDocument/2006/relationships/hyperlink" Target="https://github.com/llm-d/llm-d" TargetMode="External"/><Relationship Id="rId11" Type="http://schemas.openxmlformats.org/officeDocument/2006/relationships/hyperlink" Target="https://www.ibm.com/products/z17" TargetMode="External"/><Relationship Id="rId33" Type="http://schemas.openxmlformats.org/officeDocument/2006/relationships/hyperlink" Target="https://llm-d.ai/blog/predicted-latency-based-scheduling-for-llms" TargetMode="External"/><Relationship Id="rId10" Type="http://schemas.openxmlformats.org/officeDocument/2006/relationships/hyperlink" Target="https://newsroom.ibm.com/" TargetMode="External"/><Relationship Id="rId32" Type="http://schemas.openxmlformats.org/officeDocument/2006/relationships/hyperlink" Target="https://llm-d.ai/blog/intelligent-inference-scheduling-with-llm-d" TargetMode="External"/><Relationship Id="rId13" Type="http://schemas.openxmlformats.org/officeDocument/2006/relationships/hyperlink" Target="https://huggingface.co/ibm-granite" TargetMode="External"/><Relationship Id="rId35" Type="http://schemas.openxmlformats.org/officeDocument/2006/relationships/hyperlink" Target="https://llm-d.ai/docs/well-lit-paths/foundations/predicted-latency" TargetMode="External"/><Relationship Id="rId12" Type="http://schemas.openxmlformats.org/officeDocument/2006/relationships/hyperlink" Target="https://www.ibm.com/products/z17" TargetMode="External"/><Relationship Id="rId34" Type="http://schemas.openxmlformats.org/officeDocument/2006/relationships/hyperlink" Target="https://llm-d.ai/blog/predicted-latency-based-scheduling-for-llms" TargetMode="External"/><Relationship Id="rId15" Type="http://schemas.openxmlformats.org/officeDocument/2006/relationships/hyperlink" Target="https://github.com/vllm-project/vllm-spyre" TargetMode="External"/><Relationship Id="rId37" Type="http://schemas.openxmlformats.org/officeDocument/2006/relationships/hyperlink" Target="https://github.com/llm-d/llm-d-inference-scheduler" TargetMode="External"/><Relationship Id="rId14" Type="http://schemas.openxmlformats.org/officeDocument/2006/relationships/hyperlink" Target="https://huggingface.co/ibm-granite" TargetMode="External"/><Relationship Id="rId36" Type="http://schemas.openxmlformats.org/officeDocument/2006/relationships/hyperlink" Target="https://llm-d.ai/docs/well-lit-paths/foundations/predicted-latency" TargetMode="External"/><Relationship Id="rId17" Type="http://schemas.openxmlformats.org/officeDocument/2006/relationships/hyperlink" Target="https://docs.vllm.ai/projects/spyre" TargetMode="External"/><Relationship Id="rId39" Type="http://schemas.openxmlformats.org/officeDocument/2006/relationships/hyperlink" Target="https://github.com/llm-d/llm-d-kv-cache-manager" TargetMode="External"/><Relationship Id="rId16" Type="http://schemas.openxmlformats.org/officeDocument/2006/relationships/hyperlink" Target="https://github.com/vllm-project/vllm-spyre" TargetMode="External"/><Relationship Id="rId38" Type="http://schemas.openxmlformats.org/officeDocument/2006/relationships/hyperlink" Target="https://github.com/llm-d/llm-d-inference-scheduler" TargetMode="External"/><Relationship Id="rId19" Type="http://schemas.openxmlformats.org/officeDocument/2006/relationships/hyperlink" Target="https://docs.vllm.ai/" TargetMode="External"/><Relationship Id="rId18" Type="http://schemas.openxmlformats.org/officeDocument/2006/relationships/hyperlink" Target="https://docs.vllm.ai/projects/spyr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descr="preencoded.png" id="12" name="Google Shape;12;p1"/>
          <p:cNvPicPr preferRelativeResize="0"/>
          <p:nvPr/>
        </p:nvPicPr>
        <p:blipFill rotWithShape="1">
          <a:blip r:embed="rId3">
            <a:alphaModFix/>
          </a:blip>
          <a:srcRect b="0" l="0" r="0" t="0"/>
          <a:stretch/>
        </p:blipFill>
        <p:spPr>
          <a:xfrm>
            <a:off x="914384" y="762000"/>
            <a:ext cx="760181" cy="838150"/>
          </a:xfrm>
          <a:prstGeom prst="rect">
            <a:avLst/>
          </a:prstGeom>
          <a:noFill/>
          <a:ln>
            <a:noFill/>
          </a:ln>
        </p:spPr>
      </p:pic>
      <p:sp>
        <p:nvSpPr>
          <p:cNvPr id="13" name="Google Shape;13;p1"/>
          <p:cNvSpPr/>
          <p:nvPr/>
        </p:nvSpPr>
        <p:spPr>
          <a:xfrm>
            <a:off x="1941215" y="952500"/>
            <a:ext cx="19017" cy="457150"/>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1"/>
          <p:cNvSpPr/>
          <p:nvPr/>
        </p:nvSpPr>
        <p:spPr>
          <a:xfrm>
            <a:off x="2226882" y="1032867"/>
            <a:ext cx="735125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BANGALORE PERFORMANCE &amp; SCALE MEETUP · 2026</a:t>
            </a:r>
            <a:endParaRPr sz="1800">
              <a:solidFill>
                <a:schemeClr val="dk1"/>
              </a:solidFill>
              <a:latin typeface="Calibri"/>
              <a:ea typeface="Calibri"/>
              <a:cs typeface="Calibri"/>
              <a:sym typeface="Calibri"/>
            </a:endParaRPr>
          </a:p>
        </p:txBody>
      </p:sp>
      <p:sp>
        <p:nvSpPr>
          <p:cNvPr id="15" name="Google Shape;15;p1"/>
          <p:cNvSpPr/>
          <p:nvPr/>
        </p:nvSpPr>
        <p:spPr>
          <a:xfrm>
            <a:off x="914384" y="2378025"/>
            <a:ext cx="7995551" cy="1333484"/>
          </a:xfrm>
          <a:prstGeom prst="rect">
            <a:avLst/>
          </a:prstGeom>
          <a:noFill/>
          <a:ln>
            <a:noFill/>
          </a:ln>
        </p:spPr>
        <p:txBody>
          <a:bodyPr anchorCtr="0" anchor="t" bIns="25400" lIns="25400" spcFirstLastPara="1" rIns="25400" wrap="square" tIns="25400">
            <a:normAutofit/>
          </a:bodyPr>
          <a:lstStyle/>
          <a:p>
            <a:pPr indent="0" lvl="0" marL="0" marR="0" rtl="0" algn="l">
              <a:lnSpc>
                <a:spcPct val="76981"/>
              </a:lnSpc>
              <a:spcBef>
                <a:spcPts val="0"/>
              </a:spcBef>
              <a:spcAft>
                <a:spcPts val="0"/>
              </a:spcAft>
              <a:buClr>
                <a:srgbClr val="161616"/>
              </a:buClr>
              <a:buSzPts val="10200"/>
              <a:buFont typeface="IBM Plex Sans"/>
              <a:buNone/>
            </a:pPr>
            <a:r>
              <a:rPr b="1" lang="en-US" spc="-255" sz="10200">
                <a:solidFill>
                  <a:srgbClr val="161616"/>
                </a:solidFill>
                <a:latin typeface="IBM Plex Sans"/>
                <a:ea typeface="IBM Plex Sans"/>
                <a:cs typeface="IBM Plex Sans"/>
                <a:sym typeface="IBM Plex Sans"/>
              </a:rPr>
              <a:t>From Tokens</a:t>
            </a:r>
            <a:endParaRPr sz="10200">
              <a:solidFill>
                <a:schemeClr val="dk1"/>
              </a:solidFill>
              <a:latin typeface="Calibri"/>
              <a:ea typeface="Calibri"/>
              <a:cs typeface="Calibri"/>
              <a:sym typeface="Calibri"/>
            </a:endParaRPr>
          </a:p>
        </p:txBody>
      </p:sp>
      <p:sp>
        <p:nvSpPr>
          <p:cNvPr id="16" name="Google Shape;16;p1"/>
          <p:cNvSpPr/>
          <p:nvPr/>
        </p:nvSpPr>
        <p:spPr>
          <a:xfrm>
            <a:off x="914384" y="3673409"/>
            <a:ext cx="4991729" cy="1333484"/>
          </a:xfrm>
          <a:prstGeom prst="rect">
            <a:avLst/>
          </a:prstGeom>
          <a:noFill/>
          <a:ln>
            <a:noFill/>
          </a:ln>
        </p:spPr>
        <p:txBody>
          <a:bodyPr anchorCtr="0" anchor="t" bIns="25400" lIns="25400" spcFirstLastPara="1" rIns="25400" wrap="square" tIns="25400">
            <a:normAutofit/>
          </a:bodyPr>
          <a:lstStyle/>
          <a:p>
            <a:pPr indent="0" lvl="0" marL="0" marR="0" rtl="0" algn="l">
              <a:lnSpc>
                <a:spcPct val="76981"/>
              </a:lnSpc>
              <a:spcBef>
                <a:spcPts val="0"/>
              </a:spcBef>
              <a:spcAft>
                <a:spcPts val="0"/>
              </a:spcAft>
              <a:buClr>
                <a:srgbClr val="0F62FE"/>
              </a:buClr>
              <a:buSzPts val="10200"/>
              <a:buFont typeface="IBM Plex Sans"/>
              <a:buNone/>
            </a:pPr>
            <a:r>
              <a:rPr b="1" lang="en-US" spc="-255" sz="10200">
                <a:solidFill>
                  <a:srgbClr val="0F62FE"/>
                </a:solidFill>
                <a:latin typeface="IBM Plex Sans"/>
                <a:ea typeface="IBM Plex Sans"/>
                <a:cs typeface="IBM Plex Sans"/>
                <a:sym typeface="IBM Plex Sans"/>
              </a:rPr>
              <a:t>to Scale</a:t>
            </a:r>
            <a:endParaRPr sz="10200">
              <a:solidFill>
                <a:schemeClr val="dk1"/>
              </a:solidFill>
              <a:latin typeface="Calibri"/>
              <a:ea typeface="Calibri"/>
              <a:cs typeface="Calibri"/>
              <a:sym typeface="Calibri"/>
            </a:endParaRPr>
          </a:p>
        </p:txBody>
      </p:sp>
      <p:sp>
        <p:nvSpPr>
          <p:cNvPr id="17" name="Google Shape;17;p1"/>
          <p:cNvSpPr/>
          <p:nvPr/>
        </p:nvSpPr>
        <p:spPr>
          <a:xfrm>
            <a:off x="914384" y="5235443"/>
            <a:ext cx="9614536" cy="979190"/>
          </a:xfrm>
          <a:prstGeom prst="rect">
            <a:avLst/>
          </a:prstGeom>
          <a:noFill/>
          <a:ln>
            <a:noFill/>
          </a:ln>
        </p:spPr>
        <p:txBody>
          <a:bodyPr anchorCtr="0" anchor="t" bIns="25400" lIns="25400" spcFirstLastPara="1" rIns="25400" wrap="square" tIns="25400">
            <a:normAutofit/>
          </a:bodyPr>
          <a:lstStyle/>
          <a:p>
            <a:pPr indent="0" lvl="0" marL="0" marR="0" rtl="0" algn="l">
              <a:lnSpc>
                <a:spcPct val="99910"/>
              </a:lnSpc>
              <a:spcBef>
                <a:spcPts val="0"/>
              </a:spcBef>
              <a:spcAft>
                <a:spcPts val="0"/>
              </a:spcAft>
              <a:buClr>
                <a:srgbClr val="525252"/>
              </a:buClr>
              <a:buSzPts val="2850"/>
              <a:buFont typeface="IBM Plex Sans"/>
              <a:buNone/>
            </a:pPr>
            <a:r>
              <a:rPr lang="en-US" sz="2850">
                <a:solidFill>
                  <a:srgbClr val="525252"/>
                </a:solidFill>
                <a:latin typeface="IBM Plex Sans"/>
                <a:ea typeface="IBM Plex Sans"/>
                <a:cs typeface="IBM Plex Sans"/>
                <a:sym typeface="IBM Plex Sans"/>
              </a:rPr>
              <a:t>Full-stack LLM inference performance with AI accelerators, vLLM and llm-d</a:t>
            </a:r>
            <a:endParaRPr sz="2850">
              <a:solidFill>
                <a:schemeClr val="dk1"/>
              </a:solidFill>
              <a:latin typeface="Calibri"/>
              <a:ea typeface="Calibri"/>
              <a:cs typeface="Calibri"/>
              <a:sym typeface="Calibri"/>
            </a:endParaRPr>
          </a:p>
        </p:txBody>
      </p:sp>
      <p:sp>
        <p:nvSpPr>
          <p:cNvPr id="18" name="Google Shape;18;p1"/>
          <p:cNvSpPr/>
          <p:nvPr/>
        </p:nvSpPr>
        <p:spPr>
          <a:xfrm>
            <a:off x="914384" y="6954408"/>
            <a:ext cx="1119000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pc="144" sz="1800">
                <a:solidFill>
                  <a:srgbClr val="6F6F6F"/>
                </a:solidFill>
                <a:latin typeface="IBM Plex Mono"/>
                <a:ea typeface="IBM Plex Mono"/>
                <a:cs typeface="IBM Plex Mono"/>
                <a:sym typeface="IBM Plex Mono"/>
              </a:rPr>
              <a:t>PRESENTED BY</a:t>
            </a:r>
            <a:endParaRPr sz="1800">
              <a:solidFill>
                <a:schemeClr val="dk1"/>
              </a:solidFill>
              <a:latin typeface="Calibri"/>
              <a:ea typeface="Calibri"/>
              <a:cs typeface="Calibri"/>
              <a:sym typeface="Calibri"/>
            </a:endParaRPr>
          </a:p>
        </p:txBody>
      </p:sp>
      <p:sp>
        <p:nvSpPr>
          <p:cNvPr id="19" name="Google Shape;19;p1"/>
          <p:cNvSpPr/>
          <p:nvPr/>
        </p:nvSpPr>
        <p:spPr>
          <a:xfrm>
            <a:off x="914384" y="7422224"/>
            <a:ext cx="5343525" cy="461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550"/>
              <a:buFont typeface="IBM Plex Sans"/>
              <a:buNone/>
            </a:pPr>
            <a:r>
              <a:rPr b="1" lang="en-US" sz="2550">
                <a:solidFill>
                  <a:srgbClr val="161616"/>
                </a:solidFill>
                <a:latin typeface="IBM Plex Sans"/>
                <a:ea typeface="IBM Plex Sans"/>
                <a:cs typeface="IBM Plex Sans"/>
                <a:sym typeface="IBM Plex Sans"/>
              </a:rPr>
              <a:t>Sai Sampath Bethu</a:t>
            </a:r>
            <a:endParaRPr sz="2550">
              <a:solidFill>
                <a:schemeClr val="dk1"/>
              </a:solidFill>
              <a:latin typeface="Calibri"/>
              <a:ea typeface="Calibri"/>
              <a:cs typeface="Calibri"/>
              <a:sym typeface="Calibri"/>
            </a:endParaRPr>
          </a:p>
        </p:txBody>
      </p:sp>
      <p:sp>
        <p:nvSpPr>
          <p:cNvPr id="20" name="Google Shape;20;p1"/>
          <p:cNvSpPr/>
          <p:nvPr/>
        </p:nvSpPr>
        <p:spPr>
          <a:xfrm>
            <a:off x="914384" y="7902691"/>
            <a:ext cx="5343525"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950"/>
              <a:buFont typeface="IBM Plex Sans"/>
              <a:buNone/>
            </a:pPr>
            <a:r>
              <a:rPr lang="en-US" sz="1950">
                <a:solidFill>
                  <a:srgbClr val="525252"/>
                </a:solidFill>
                <a:latin typeface="IBM Plex Sans"/>
                <a:ea typeface="IBM Plex Sans"/>
                <a:cs typeface="IBM Plex Sans"/>
                <a:sym typeface="IBM Plex Sans"/>
              </a:rPr>
              <a:t>Z AI Performance Analyst</a:t>
            </a:r>
            <a:endParaRPr sz="1950">
              <a:solidFill>
                <a:schemeClr val="dk1"/>
              </a:solidFill>
              <a:latin typeface="Calibri"/>
              <a:ea typeface="Calibri"/>
              <a:cs typeface="Calibri"/>
              <a:sym typeface="Calibri"/>
            </a:endParaRPr>
          </a:p>
        </p:txBody>
      </p:sp>
      <p:sp>
        <p:nvSpPr>
          <p:cNvPr id="21" name="Google Shape;21;p1"/>
          <p:cNvSpPr/>
          <p:nvPr/>
        </p:nvSpPr>
        <p:spPr>
          <a:xfrm>
            <a:off x="914384" y="8282617"/>
            <a:ext cx="534352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Sai.Sampath.Bethu@ibm.com</a:t>
            </a:r>
            <a:endParaRPr sz="1800">
              <a:solidFill>
                <a:schemeClr val="dk1"/>
              </a:solidFill>
              <a:latin typeface="Calibri"/>
              <a:ea typeface="Calibri"/>
              <a:cs typeface="Calibri"/>
              <a:sym typeface="Calibri"/>
            </a:endParaRPr>
          </a:p>
        </p:txBody>
      </p:sp>
      <p:sp>
        <p:nvSpPr>
          <p:cNvPr id="22" name="Google Shape;22;p1"/>
          <p:cNvSpPr/>
          <p:nvPr/>
        </p:nvSpPr>
        <p:spPr>
          <a:xfrm>
            <a:off x="6229284" y="7422224"/>
            <a:ext cx="5343616" cy="461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550"/>
              <a:buFont typeface="IBM Plex Sans"/>
              <a:buNone/>
            </a:pPr>
            <a:r>
              <a:rPr b="1" lang="en-US" sz="2550">
                <a:solidFill>
                  <a:srgbClr val="161616"/>
                </a:solidFill>
                <a:latin typeface="IBM Plex Sans"/>
                <a:ea typeface="IBM Plex Sans"/>
                <a:cs typeface="IBM Plex Sans"/>
                <a:sym typeface="IBM Plex Sans"/>
              </a:rPr>
              <a:t>Shilpa Menon</a:t>
            </a:r>
            <a:endParaRPr sz="2550">
              <a:solidFill>
                <a:schemeClr val="dk1"/>
              </a:solidFill>
              <a:latin typeface="Calibri"/>
              <a:ea typeface="Calibri"/>
              <a:cs typeface="Calibri"/>
              <a:sym typeface="Calibri"/>
            </a:endParaRPr>
          </a:p>
        </p:txBody>
      </p:sp>
      <p:sp>
        <p:nvSpPr>
          <p:cNvPr id="23" name="Google Shape;23;p1"/>
          <p:cNvSpPr/>
          <p:nvPr/>
        </p:nvSpPr>
        <p:spPr>
          <a:xfrm>
            <a:off x="6229284" y="7902691"/>
            <a:ext cx="5343616"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950"/>
              <a:buFont typeface="IBM Plex Sans"/>
              <a:buNone/>
            </a:pPr>
            <a:r>
              <a:rPr lang="en-US" sz="1950">
                <a:solidFill>
                  <a:srgbClr val="525252"/>
                </a:solidFill>
                <a:latin typeface="IBM Plex Sans"/>
                <a:ea typeface="IBM Plex Sans"/>
                <a:cs typeface="IBM Plex Sans"/>
                <a:sym typeface="IBM Plex Sans"/>
              </a:rPr>
              <a:t>OCP AI Performance Analyst</a:t>
            </a:r>
            <a:endParaRPr sz="1950">
              <a:solidFill>
                <a:schemeClr val="dk1"/>
              </a:solidFill>
              <a:latin typeface="Calibri"/>
              <a:ea typeface="Calibri"/>
              <a:cs typeface="Calibri"/>
              <a:sym typeface="Calibri"/>
            </a:endParaRPr>
          </a:p>
        </p:txBody>
      </p:sp>
      <p:sp>
        <p:nvSpPr>
          <p:cNvPr id="24" name="Google Shape;24;p1"/>
          <p:cNvSpPr/>
          <p:nvPr/>
        </p:nvSpPr>
        <p:spPr>
          <a:xfrm>
            <a:off x="6229284" y="8282617"/>
            <a:ext cx="5343616"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Shilpa.Menon@ibm.com</a:t>
            </a:r>
            <a:endParaRPr sz="1800">
              <a:solidFill>
                <a:schemeClr val="dk1"/>
              </a:solidFill>
              <a:latin typeface="Calibri"/>
              <a:ea typeface="Calibri"/>
              <a:cs typeface="Calibri"/>
              <a:sym typeface="Calibri"/>
            </a:endParaRPr>
          </a:p>
        </p:txBody>
      </p:sp>
      <p:sp>
        <p:nvSpPr>
          <p:cNvPr id="25" name="Google Shape;25;p1"/>
          <p:cNvSpPr/>
          <p:nvPr/>
        </p:nvSpPr>
        <p:spPr>
          <a:xfrm>
            <a:off x="914384" y="8921833"/>
            <a:ext cx="10172734" cy="1587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1"/>
          <p:cNvSpPr/>
          <p:nvPr/>
        </p:nvSpPr>
        <p:spPr>
          <a:xfrm>
            <a:off x="914384" y="9241400"/>
            <a:ext cx="477926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950"/>
              <a:buFont typeface="IBM Plex Sans"/>
              <a:buNone/>
            </a:pPr>
            <a:r>
              <a:rPr lang="en-US" sz="1950">
                <a:solidFill>
                  <a:srgbClr val="393939"/>
                </a:solidFill>
                <a:latin typeface="IBM Plex Sans"/>
                <a:ea typeface="IBM Plex Sans"/>
                <a:cs typeface="IBM Plex Sans"/>
                <a:sym typeface="IBM Plex Sans"/>
              </a:rPr>
              <a:t>Saturday, 10 October 2026 · Bengaluru</a:t>
            </a:r>
            <a:endParaRPr sz="1950">
              <a:solidFill>
                <a:schemeClr val="dk1"/>
              </a:solidFill>
              <a:latin typeface="Calibri"/>
              <a:ea typeface="Calibri"/>
              <a:cs typeface="Calibri"/>
              <a:sym typeface="Calibri"/>
            </a:endParaRPr>
          </a:p>
        </p:txBody>
      </p:sp>
      <p:sp>
        <p:nvSpPr>
          <p:cNvPr id="27" name="Google Shape;27;p1"/>
          <p:cNvSpPr/>
          <p:nvPr/>
        </p:nvSpPr>
        <p:spPr>
          <a:xfrm>
            <a:off x="8397462" y="9254629"/>
            <a:ext cx="153870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pc="144" sz="1800">
                <a:solidFill>
                  <a:srgbClr val="6F6F6F"/>
                </a:solidFill>
                <a:latin typeface="IBM Plex Mono"/>
                <a:ea typeface="IBM Plex Mono"/>
                <a:cs typeface="IBM Plex Mono"/>
                <a:sym typeface="IBM Plex Mono"/>
              </a:rPr>
              <a:t>HOSTED BY</a:t>
            </a:r>
            <a:endParaRPr sz="1800">
              <a:solidFill>
                <a:schemeClr val="dk1"/>
              </a:solidFill>
              <a:latin typeface="Calibri"/>
              <a:ea typeface="Calibri"/>
              <a:cs typeface="Calibri"/>
              <a:sym typeface="Calibri"/>
            </a:endParaRPr>
          </a:p>
        </p:txBody>
      </p:sp>
      <p:sp>
        <p:nvSpPr>
          <p:cNvPr id="28" name="Google Shape;28;p1"/>
          <p:cNvSpPr/>
          <p:nvPr/>
        </p:nvSpPr>
        <p:spPr>
          <a:xfrm>
            <a:off x="9948665" y="9204359"/>
            <a:ext cx="1214653"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E0000"/>
              </a:buClr>
              <a:buSzPts val="2400"/>
              <a:buFont typeface="IBM Plex Sans"/>
              <a:buNone/>
            </a:pPr>
            <a:r>
              <a:rPr b="1" lang="en-US" sz="2400">
                <a:solidFill>
                  <a:srgbClr val="EE0000"/>
                </a:solidFill>
                <a:latin typeface="IBM Plex Sans"/>
                <a:ea typeface="IBM Plex Sans"/>
                <a:cs typeface="IBM Plex Sans"/>
                <a:sym typeface="IBM Plex Sans"/>
              </a:rPr>
              <a:t>Red Hat</a:t>
            </a:r>
            <a:endParaRPr sz="2400">
              <a:solidFill>
                <a:schemeClr val="dk1"/>
              </a:solidFill>
              <a:latin typeface="Calibri"/>
              <a:ea typeface="Calibri"/>
              <a:cs typeface="Calibri"/>
              <a:sym typeface="Calibri"/>
            </a:endParaRPr>
          </a:p>
        </p:txBody>
      </p:sp>
      <p:sp>
        <p:nvSpPr>
          <p:cNvPr id="29" name="Google Shape;29;p1"/>
          <p:cNvSpPr/>
          <p:nvPr/>
        </p:nvSpPr>
        <p:spPr>
          <a:xfrm>
            <a:off x="12001500" y="0"/>
            <a:ext cx="6286501" cy="10287000"/>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1"/>
          <p:cNvSpPr/>
          <p:nvPr/>
        </p:nvSpPr>
        <p:spPr>
          <a:xfrm>
            <a:off x="12611035" y="1984540"/>
            <a:ext cx="5219456"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pc="180" sz="1800">
                <a:solidFill>
                  <a:srgbClr val="78A9FF"/>
                </a:solidFill>
                <a:latin typeface="IBM Plex Mono"/>
                <a:ea typeface="IBM Plex Mono"/>
                <a:cs typeface="IBM Plex Mono"/>
                <a:sym typeface="IBM Plex Mono"/>
              </a:rPr>
              <a:t>IN THIS TALK</a:t>
            </a:r>
            <a:endParaRPr sz="1800">
              <a:solidFill>
                <a:schemeClr val="dk1"/>
              </a:solidFill>
              <a:latin typeface="Calibri"/>
              <a:ea typeface="Calibri"/>
              <a:cs typeface="Calibri"/>
              <a:sym typeface="Calibri"/>
            </a:endParaRPr>
          </a:p>
        </p:txBody>
      </p:sp>
      <p:sp>
        <p:nvSpPr>
          <p:cNvPr id="31" name="Google Shape;31;p1"/>
          <p:cNvSpPr/>
          <p:nvPr/>
        </p:nvSpPr>
        <p:spPr>
          <a:xfrm>
            <a:off x="12611035" y="2471374"/>
            <a:ext cx="5067433" cy="9525"/>
          </a:xfrm>
          <a:prstGeom prst="rect">
            <a:avLst/>
          </a:prstGeom>
          <a:solidFill>
            <a:srgbClr val="FFFFFF">
              <a:alpha val="1803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1"/>
          <p:cNvSpPr/>
          <p:nvPr/>
        </p:nvSpPr>
        <p:spPr>
          <a:xfrm>
            <a:off x="12611035" y="2667165"/>
            <a:ext cx="685734" cy="7789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2100"/>
              <a:buFont typeface="IBM Plex Mono"/>
              <a:buNone/>
            </a:pPr>
            <a:r>
              <a:rPr lang="en-US" sz="2100">
                <a:solidFill>
                  <a:srgbClr val="78A9FF"/>
                </a:solidFill>
                <a:latin typeface="IBM Plex Mono"/>
                <a:ea typeface="IBM Plex Mono"/>
                <a:cs typeface="IBM Plex Mono"/>
                <a:sym typeface="IBM Plex Mono"/>
              </a:rPr>
              <a:t>01</a:t>
            </a:r>
            <a:endParaRPr sz="2100">
              <a:solidFill>
                <a:schemeClr val="dk1"/>
              </a:solidFill>
              <a:latin typeface="Calibri"/>
              <a:ea typeface="Calibri"/>
              <a:cs typeface="Calibri"/>
              <a:sym typeface="Calibri"/>
            </a:endParaRPr>
          </a:p>
        </p:txBody>
      </p:sp>
      <p:sp>
        <p:nvSpPr>
          <p:cNvPr id="33" name="Google Shape;33;p1"/>
          <p:cNvSpPr/>
          <p:nvPr/>
        </p:nvSpPr>
        <p:spPr>
          <a:xfrm>
            <a:off x="13334835" y="2667165"/>
            <a:ext cx="4473941" cy="7789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IBM Plex Sans"/>
              <a:buNone/>
            </a:pPr>
            <a:r>
              <a:rPr b="1" lang="en-US" sz="2250">
                <a:solidFill>
                  <a:srgbClr val="FFFFFF"/>
                </a:solidFill>
                <a:latin typeface="IBM Plex Sans"/>
                <a:ea typeface="IBM Plex Sans"/>
                <a:cs typeface="IBM Plex Sans"/>
                <a:sym typeface="IBM Plex Sans"/>
              </a:rPr>
              <a:t>Why a fast model isn't a fast service</a:t>
            </a:r>
            <a:endParaRPr sz="2250">
              <a:solidFill>
                <a:schemeClr val="dk1"/>
              </a:solidFill>
              <a:latin typeface="Calibri"/>
              <a:ea typeface="Calibri"/>
              <a:cs typeface="Calibri"/>
              <a:sym typeface="Calibri"/>
            </a:endParaRPr>
          </a:p>
        </p:txBody>
      </p:sp>
      <p:sp>
        <p:nvSpPr>
          <p:cNvPr id="34" name="Google Shape;34;p1"/>
          <p:cNvSpPr/>
          <p:nvPr/>
        </p:nvSpPr>
        <p:spPr>
          <a:xfrm>
            <a:off x="13334835" y="3446033"/>
            <a:ext cx="477799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AI lifecycle · where the time hides</a:t>
            </a:r>
            <a:endParaRPr sz="1800">
              <a:solidFill>
                <a:schemeClr val="dk1"/>
              </a:solidFill>
              <a:latin typeface="Calibri"/>
              <a:ea typeface="Calibri"/>
              <a:cs typeface="Calibri"/>
              <a:sym typeface="Calibri"/>
            </a:endParaRPr>
          </a:p>
        </p:txBody>
      </p:sp>
      <p:sp>
        <p:nvSpPr>
          <p:cNvPr id="35" name="Google Shape;35;p1"/>
          <p:cNvSpPr/>
          <p:nvPr/>
        </p:nvSpPr>
        <p:spPr>
          <a:xfrm>
            <a:off x="12611035" y="3932866"/>
            <a:ext cx="5067433" cy="9525"/>
          </a:xfrm>
          <a:prstGeom prst="rect">
            <a:avLst/>
          </a:prstGeom>
          <a:solidFill>
            <a:srgbClr val="FFFFFF">
              <a:alpha val="1803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1"/>
          <p:cNvSpPr/>
          <p:nvPr/>
        </p:nvSpPr>
        <p:spPr>
          <a:xfrm>
            <a:off x="12611035" y="4128658"/>
            <a:ext cx="685734"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2100"/>
              <a:buFont typeface="IBM Plex Mono"/>
              <a:buNone/>
            </a:pPr>
            <a:r>
              <a:rPr lang="en-US" sz="2100">
                <a:solidFill>
                  <a:srgbClr val="78A9FF"/>
                </a:solidFill>
                <a:latin typeface="IBM Plex Mono"/>
                <a:ea typeface="IBM Plex Mono"/>
                <a:cs typeface="IBM Plex Mono"/>
                <a:sym typeface="IBM Plex Mono"/>
              </a:rPr>
              <a:t>02</a:t>
            </a:r>
            <a:endParaRPr sz="2100">
              <a:solidFill>
                <a:schemeClr val="dk1"/>
              </a:solidFill>
              <a:latin typeface="Calibri"/>
              <a:ea typeface="Calibri"/>
              <a:cs typeface="Calibri"/>
              <a:sym typeface="Calibri"/>
            </a:endParaRPr>
          </a:p>
        </p:txBody>
      </p:sp>
      <p:sp>
        <p:nvSpPr>
          <p:cNvPr id="37" name="Google Shape;37;p1"/>
          <p:cNvSpPr/>
          <p:nvPr/>
        </p:nvSpPr>
        <p:spPr>
          <a:xfrm>
            <a:off x="13334835" y="4128658"/>
            <a:ext cx="4777995"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IBM Plex Sans"/>
              <a:buNone/>
            </a:pPr>
            <a:r>
              <a:rPr b="1" lang="en-US" sz="2250">
                <a:solidFill>
                  <a:srgbClr val="FFFFFF"/>
                </a:solidFill>
                <a:latin typeface="IBM Plex Sans"/>
                <a:ea typeface="IBM Plex Sans"/>
                <a:cs typeface="IBM Plex Sans"/>
                <a:sym typeface="IBM Plex Sans"/>
              </a:rPr>
              <a:t>Inside one Spyre instance</a:t>
            </a:r>
            <a:endParaRPr sz="2250">
              <a:solidFill>
                <a:schemeClr val="dk1"/>
              </a:solidFill>
              <a:latin typeface="Calibri"/>
              <a:ea typeface="Calibri"/>
              <a:cs typeface="Calibri"/>
              <a:sym typeface="Calibri"/>
            </a:endParaRPr>
          </a:p>
        </p:txBody>
      </p:sp>
      <p:sp>
        <p:nvSpPr>
          <p:cNvPr id="38" name="Google Shape;38;p1"/>
          <p:cNvSpPr/>
          <p:nvPr/>
        </p:nvSpPr>
        <p:spPr>
          <a:xfrm>
            <a:off x="13334835" y="4537108"/>
            <a:ext cx="477799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IBM Z + Spyre + vLLM · prefill &amp; decode</a:t>
            </a:r>
            <a:endParaRPr sz="1800">
              <a:solidFill>
                <a:schemeClr val="dk1"/>
              </a:solidFill>
              <a:latin typeface="Calibri"/>
              <a:ea typeface="Calibri"/>
              <a:cs typeface="Calibri"/>
              <a:sym typeface="Calibri"/>
            </a:endParaRPr>
          </a:p>
        </p:txBody>
      </p:sp>
      <p:sp>
        <p:nvSpPr>
          <p:cNvPr id="39" name="Google Shape;39;p1"/>
          <p:cNvSpPr/>
          <p:nvPr/>
        </p:nvSpPr>
        <p:spPr>
          <a:xfrm>
            <a:off x="12611035" y="5023942"/>
            <a:ext cx="5067433" cy="9525"/>
          </a:xfrm>
          <a:prstGeom prst="rect">
            <a:avLst/>
          </a:prstGeom>
          <a:solidFill>
            <a:srgbClr val="FFFFFF">
              <a:alpha val="1803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1"/>
          <p:cNvSpPr/>
          <p:nvPr/>
        </p:nvSpPr>
        <p:spPr>
          <a:xfrm>
            <a:off x="12611035" y="5219733"/>
            <a:ext cx="685734"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2100"/>
              <a:buFont typeface="IBM Plex Mono"/>
              <a:buNone/>
            </a:pPr>
            <a:r>
              <a:rPr lang="en-US" sz="2100">
                <a:solidFill>
                  <a:srgbClr val="78A9FF"/>
                </a:solidFill>
                <a:latin typeface="IBM Plex Mono"/>
                <a:ea typeface="IBM Plex Mono"/>
                <a:cs typeface="IBM Plex Mono"/>
                <a:sym typeface="IBM Plex Mono"/>
              </a:rPr>
              <a:t>03</a:t>
            </a:r>
            <a:endParaRPr sz="2100">
              <a:solidFill>
                <a:schemeClr val="dk1"/>
              </a:solidFill>
              <a:latin typeface="Calibri"/>
              <a:ea typeface="Calibri"/>
              <a:cs typeface="Calibri"/>
              <a:sym typeface="Calibri"/>
            </a:endParaRPr>
          </a:p>
        </p:txBody>
      </p:sp>
      <p:sp>
        <p:nvSpPr>
          <p:cNvPr id="41" name="Google Shape;41;p1"/>
          <p:cNvSpPr/>
          <p:nvPr/>
        </p:nvSpPr>
        <p:spPr>
          <a:xfrm>
            <a:off x="13334835" y="5219733"/>
            <a:ext cx="4777995"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IBM Plex Sans"/>
              <a:buNone/>
            </a:pPr>
            <a:r>
              <a:rPr b="1" lang="en-US" sz="2250">
                <a:solidFill>
                  <a:srgbClr val="FFFFFF"/>
                </a:solidFill>
                <a:latin typeface="IBM Plex Sans"/>
                <a:ea typeface="IBM Plex Sans"/>
                <a:cs typeface="IBM Plex Sans"/>
                <a:sym typeface="IBM Plex Sans"/>
              </a:rPr>
              <a:t>Measuring it, down to the silicon</a:t>
            </a:r>
            <a:endParaRPr sz="2250">
              <a:solidFill>
                <a:schemeClr val="dk1"/>
              </a:solidFill>
              <a:latin typeface="Calibri"/>
              <a:ea typeface="Calibri"/>
              <a:cs typeface="Calibri"/>
              <a:sym typeface="Calibri"/>
            </a:endParaRPr>
          </a:p>
        </p:txBody>
      </p:sp>
      <p:sp>
        <p:nvSpPr>
          <p:cNvPr id="42" name="Google Shape;42;p1"/>
          <p:cNvSpPr/>
          <p:nvPr/>
        </p:nvSpPr>
        <p:spPr>
          <a:xfrm>
            <a:off x="13334835" y="5628184"/>
            <a:ext cx="477799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User metrics · AIU counters · one clock</a:t>
            </a:r>
            <a:endParaRPr sz="1800">
              <a:solidFill>
                <a:schemeClr val="dk1"/>
              </a:solidFill>
              <a:latin typeface="Calibri"/>
              <a:ea typeface="Calibri"/>
              <a:cs typeface="Calibri"/>
              <a:sym typeface="Calibri"/>
            </a:endParaRPr>
          </a:p>
        </p:txBody>
      </p:sp>
      <p:sp>
        <p:nvSpPr>
          <p:cNvPr id="43" name="Google Shape;43;p1"/>
          <p:cNvSpPr/>
          <p:nvPr/>
        </p:nvSpPr>
        <p:spPr>
          <a:xfrm>
            <a:off x="12611035" y="6115017"/>
            <a:ext cx="5067433" cy="9525"/>
          </a:xfrm>
          <a:prstGeom prst="rect">
            <a:avLst/>
          </a:prstGeom>
          <a:solidFill>
            <a:srgbClr val="FFFFFF">
              <a:alpha val="1803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1"/>
          <p:cNvSpPr/>
          <p:nvPr/>
        </p:nvSpPr>
        <p:spPr>
          <a:xfrm>
            <a:off x="12611035" y="6310809"/>
            <a:ext cx="685734"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2100"/>
              <a:buFont typeface="IBM Plex Mono"/>
              <a:buNone/>
            </a:pPr>
            <a:r>
              <a:rPr lang="en-US" sz="2100">
                <a:solidFill>
                  <a:srgbClr val="78A9FF"/>
                </a:solidFill>
                <a:latin typeface="IBM Plex Mono"/>
                <a:ea typeface="IBM Plex Mono"/>
                <a:cs typeface="IBM Plex Mono"/>
                <a:sym typeface="IBM Plex Mono"/>
              </a:rPr>
              <a:t>04</a:t>
            </a:r>
            <a:endParaRPr sz="2100">
              <a:solidFill>
                <a:schemeClr val="dk1"/>
              </a:solidFill>
              <a:latin typeface="Calibri"/>
              <a:ea typeface="Calibri"/>
              <a:cs typeface="Calibri"/>
              <a:sym typeface="Calibri"/>
            </a:endParaRPr>
          </a:p>
        </p:txBody>
      </p:sp>
      <p:sp>
        <p:nvSpPr>
          <p:cNvPr id="45" name="Google Shape;45;p1"/>
          <p:cNvSpPr/>
          <p:nvPr/>
        </p:nvSpPr>
        <p:spPr>
          <a:xfrm>
            <a:off x="13334835" y="6310809"/>
            <a:ext cx="4777995"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IBM Plex Sans"/>
              <a:buNone/>
            </a:pPr>
            <a:r>
              <a:rPr b="1" lang="en-US" sz="2250">
                <a:solidFill>
                  <a:srgbClr val="FFFFFF"/>
                </a:solidFill>
                <a:latin typeface="IBM Plex Sans"/>
                <a:ea typeface="IBM Plex Sans"/>
                <a:cs typeface="IBM Plex Sans"/>
                <a:sym typeface="IBM Plex Sans"/>
              </a:rPr>
              <a:t>Scaling out with llm-d</a:t>
            </a:r>
            <a:endParaRPr sz="2250">
              <a:solidFill>
                <a:schemeClr val="dk1"/>
              </a:solidFill>
              <a:latin typeface="Calibri"/>
              <a:ea typeface="Calibri"/>
              <a:cs typeface="Calibri"/>
              <a:sym typeface="Calibri"/>
            </a:endParaRPr>
          </a:p>
        </p:txBody>
      </p:sp>
      <p:sp>
        <p:nvSpPr>
          <p:cNvPr id="46" name="Google Shape;46;p1"/>
          <p:cNvSpPr/>
          <p:nvPr/>
        </p:nvSpPr>
        <p:spPr>
          <a:xfrm>
            <a:off x="13334835" y="6719260"/>
            <a:ext cx="477799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Results · plugins · predicted latency</a:t>
            </a:r>
            <a:endParaRPr sz="1800">
              <a:solidFill>
                <a:schemeClr val="dk1"/>
              </a:solidFill>
              <a:latin typeface="Calibri"/>
              <a:ea typeface="Calibri"/>
              <a:cs typeface="Calibri"/>
              <a:sym typeface="Calibri"/>
            </a:endParaRPr>
          </a:p>
        </p:txBody>
      </p:sp>
      <p:sp>
        <p:nvSpPr>
          <p:cNvPr id="47" name="Google Shape;47;p1"/>
          <p:cNvSpPr/>
          <p:nvPr/>
        </p:nvSpPr>
        <p:spPr>
          <a:xfrm>
            <a:off x="12611035" y="8297168"/>
            <a:ext cx="5067433" cy="9525"/>
          </a:xfrm>
          <a:prstGeom prst="rect">
            <a:avLst/>
          </a:prstGeom>
          <a:solidFill>
            <a:srgbClr val="FFFFFF">
              <a:alpha val="1803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1"/>
          <p:cNvSpPr/>
          <p:nvPr/>
        </p:nvSpPr>
        <p:spPr>
          <a:xfrm>
            <a:off x="12611035" y="7206093"/>
            <a:ext cx="5067433" cy="9525"/>
          </a:xfrm>
          <a:prstGeom prst="rect">
            <a:avLst/>
          </a:prstGeom>
          <a:solidFill>
            <a:srgbClr val="FFFFFF">
              <a:alpha val="1803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1"/>
          <p:cNvSpPr/>
          <p:nvPr/>
        </p:nvSpPr>
        <p:spPr>
          <a:xfrm>
            <a:off x="12611035" y="7401884"/>
            <a:ext cx="685734"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2100"/>
              <a:buFont typeface="IBM Plex Mono"/>
              <a:buNone/>
            </a:pPr>
            <a:r>
              <a:rPr lang="en-US" sz="2100">
                <a:solidFill>
                  <a:srgbClr val="78A9FF"/>
                </a:solidFill>
                <a:latin typeface="IBM Plex Mono"/>
                <a:ea typeface="IBM Plex Mono"/>
                <a:cs typeface="IBM Plex Mono"/>
                <a:sym typeface="IBM Plex Mono"/>
              </a:rPr>
              <a:t>05</a:t>
            </a:r>
            <a:endParaRPr sz="2100">
              <a:solidFill>
                <a:schemeClr val="dk1"/>
              </a:solidFill>
              <a:latin typeface="Calibri"/>
              <a:ea typeface="Calibri"/>
              <a:cs typeface="Calibri"/>
              <a:sym typeface="Calibri"/>
            </a:endParaRPr>
          </a:p>
        </p:txBody>
      </p:sp>
      <p:sp>
        <p:nvSpPr>
          <p:cNvPr id="50" name="Google Shape;50;p1"/>
          <p:cNvSpPr/>
          <p:nvPr/>
        </p:nvSpPr>
        <p:spPr>
          <a:xfrm>
            <a:off x="13334835" y="7401884"/>
            <a:ext cx="4777995"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IBM Plex Sans"/>
              <a:buNone/>
            </a:pPr>
            <a:r>
              <a:rPr b="1" lang="en-US" sz="2250">
                <a:solidFill>
                  <a:srgbClr val="FFFFFF"/>
                </a:solidFill>
                <a:latin typeface="IBM Plex Sans"/>
                <a:ea typeface="IBM Plex Sans"/>
                <a:cs typeface="IBM Plex Sans"/>
                <a:sym typeface="IBM Plex Sans"/>
              </a:rPr>
              <a:t>Real-world impact, together</a:t>
            </a:r>
            <a:endParaRPr sz="2250">
              <a:solidFill>
                <a:schemeClr val="dk1"/>
              </a:solidFill>
              <a:latin typeface="Calibri"/>
              <a:ea typeface="Calibri"/>
              <a:cs typeface="Calibri"/>
              <a:sym typeface="Calibri"/>
            </a:endParaRPr>
          </a:p>
        </p:txBody>
      </p:sp>
      <p:sp>
        <p:nvSpPr>
          <p:cNvPr id="51" name="Google Shape;51;p1"/>
          <p:cNvSpPr/>
          <p:nvPr/>
        </p:nvSpPr>
        <p:spPr>
          <a:xfrm>
            <a:off x="13334835" y="7810335"/>
            <a:ext cx="477799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Why performance pays · collaboration</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56" name="Shape 56"/>
        <p:cNvGrpSpPr/>
        <p:nvPr/>
      </p:nvGrpSpPr>
      <p:grpSpPr>
        <a:xfrm>
          <a:off x="0" y="0"/>
          <a:ext cx="0" cy="0"/>
          <a:chOff x="0" y="0"/>
          <a:chExt cx="0" cy="0"/>
        </a:xfrm>
      </p:grpSpPr>
      <p:sp>
        <p:nvSpPr>
          <p:cNvPr id="57" name="Google Shape;57;p2"/>
          <p:cNvSpPr/>
          <p:nvPr/>
        </p:nvSpPr>
        <p:spPr>
          <a:xfrm>
            <a:off x="914384" y="571500"/>
            <a:ext cx="181051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01 · WHERE THIS TALK FITS</a:t>
            </a:r>
            <a:endParaRPr sz="1800">
              <a:solidFill>
                <a:schemeClr val="dk1"/>
              </a:solidFill>
              <a:latin typeface="Calibri"/>
              <a:ea typeface="Calibri"/>
              <a:cs typeface="Calibri"/>
              <a:sym typeface="Calibri"/>
            </a:endParaRPr>
          </a:p>
        </p:txBody>
      </p:sp>
      <p:sp>
        <p:nvSpPr>
          <p:cNvPr id="58" name="Google Shape;58;p2"/>
          <p:cNvSpPr/>
          <p:nvPr/>
        </p:nvSpPr>
        <p:spPr>
          <a:xfrm>
            <a:off x="914384" y="982100"/>
            <a:ext cx="18105157" cy="666734"/>
          </a:xfrm>
          <a:prstGeom prst="rect">
            <a:avLst/>
          </a:prstGeom>
          <a:noFill/>
          <a:ln>
            <a:noFill/>
          </a:ln>
        </p:spPr>
        <p:txBody>
          <a:bodyPr anchorCtr="0" anchor="t" bIns="25400" lIns="25400" spcFirstLastPara="1" rIns="25400" wrap="square" tIns="25400">
            <a:normAutofit/>
          </a:bodyPr>
          <a:lstStyle/>
          <a:p>
            <a:pPr indent="0" lvl="0" marL="0" marR="0" rtl="0" algn="l">
              <a:lnSpc>
                <a:spcPct val="84255"/>
              </a:lnSpc>
              <a:spcBef>
                <a:spcPts val="0"/>
              </a:spcBef>
              <a:spcAft>
                <a:spcPts val="0"/>
              </a:spcAft>
              <a:buClr>
                <a:srgbClr val="161616"/>
              </a:buClr>
              <a:buSzPts val="4500"/>
              <a:buFont typeface="IBM Plex Sans"/>
              <a:buNone/>
            </a:pPr>
            <a:r>
              <a:rPr b="1" lang="en-US" spc="-45" sz="4500">
                <a:solidFill>
                  <a:srgbClr val="161616"/>
                </a:solidFill>
                <a:latin typeface="IBM Plex Sans"/>
                <a:ea typeface="IBM Plex Sans"/>
                <a:cs typeface="IBM Plex Sans"/>
                <a:sym typeface="IBM Plex Sans"/>
              </a:rPr>
              <a:t>Where inference fits in the AI lifecycle</a:t>
            </a:r>
            <a:endParaRPr sz="4500">
              <a:solidFill>
                <a:schemeClr val="dk1"/>
              </a:solidFill>
              <a:latin typeface="Calibri"/>
              <a:ea typeface="Calibri"/>
              <a:cs typeface="Calibri"/>
              <a:sym typeface="Calibri"/>
            </a:endParaRPr>
          </a:p>
        </p:txBody>
      </p:sp>
      <p:sp>
        <p:nvSpPr>
          <p:cNvPr id="59" name="Google Shape;59;p2"/>
          <p:cNvSpPr/>
          <p:nvPr/>
        </p:nvSpPr>
        <p:spPr>
          <a:xfrm>
            <a:off x="914384" y="1705984"/>
            <a:ext cx="18105157"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2250"/>
              <a:buFont typeface="IBM Plex Sans"/>
              <a:buNone/>
            </a:pPr>
            <a:r>
              <a:rPr lang="en-US" sz="2250">
                <a:solidFill>
                  <a:srgbClr val="525252"/>
                </a:solidFill>
                <a:latin typeface="IBM Plex Sans"/>
                <a:ea typeface="IBM Plex Sans"/>
                <a:cs typeface="IBM Plex Sans"/>
                <a:sym typeface="IBM Plex Sans"/>
              </a:rPr>
              <a:t>Training builds the model once. Inference runs it for every user, every second.</a:t>
            </a:r>
            <a:endParaRPr sz="2250">
              <a:solidFill>
                <a:schemeClr val="dk1"/>
              </a:solidFill>
              <a:latin typeface="Calibri"/>
              <a:ea typeface="Calibri"/>
              <a:cs typeface="Calibri"/>
              <a:sym typeface="Calibri"/>
            </a:endParaRPr>
          </a:p>
        </p:txBody>
      </p:sp>
      <p:sp>
        <p:nvSpPr>
          <p:cNvPr id="60" name="Google Shape;60;p2"/>
          <p:cNvSpPr/>
          <p:nvPr/>
        </p:nvSpPr>
        <p:spPr>
          <a:xfrm>
            <a:off x="914384" y="2381167"/>
            <a:ext cx="448013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pc="108" sz="1800">
                <a:solidFill>
                  <a:srgbClr val="525252"/>
                </a:solidFill>
                <a:latin typeface="IBM Plex Mono"/>
                <a:ea typeface="IBM Plex Mono"/>
                <a:cs typeface="IBM Plex Mono"/>
                <a:sym typeface="IBM Plex Mono"/>
              </a:rPr>
              <a:t>BUILD THE MODEL · PAID ONCE</a:t>
            </a:r>
            <a:endParaRPr sz="1800">
              <a:solidFill>
                <a:schemeClr val="dk1"/>
              </a:solidFill>
              <a:latin typeface="Calibri"/>
              <a:ea typeface="Calibri"/>
              <a:cs typeface="Calibri"/>
              <a:sym typeface="Calibri"/>
            </a:endParaRPr>
          </a:p>
        </p:txBody>
      </p:sp>
      <p:sp>
        <p:nvSpPr>
          <p:cNvPr id="61" name="Google Shape;61;p2"/>
          <p:cNvSpPr/>
          <p:nvPr/>
        </p:nvSpPr>
        <p:spPr>
          <a:xfrm>
            <a:off x="5139614" y="2519826"/>
            <a:ext cx="8062020" cy="19017"/>
          </a:xfrm>
          <a:prstGeom prst="rect">
            <a:avLst/>
          </a:prstGeom>
          <a:solidFill>
            <a:srgbClr val="A8A8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2"/>
          <p:cNvSpPr/>
          <p:nvPr/>
        </p:nvSpPr>
        <p:spPr>
          <a:xfrm>
            <a:off x="13430167" y="2381167"/>
            <a:ext cx="381637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pc="108" sz="1800">
                <a:solidFill>
                  <a:srgbClr val="0F62FE"/>
                </a:solidFill>
                <a:latin typeface="IBM Plex Mono"/>
                <a:ea typeface="IBM Plex Mono"/>
                <a:cs typeface="IBM Plex Mono"/>
                <a:sym typeface="IBM Plex Mono"/>
              </a:rPr>
              <a:t>RUN IT · PAID PER TOKEN</a:t>
            </a:r>
            <a:endParaRPr sz="1800">
              <a:solidFill>
                <a:schemeClr val="dk1"/>
              </a:solidFill>
              <a:latin typeface="Calibri"/>
              <a:ea typeface="Calibri"/>
              <a:cs typeface="Calibri"/>
              <a:sym typeface="Calibri"/>
            </a:endParaRPr>
          </a:p>
        </p:txBody>
      </p:sp>
      <p:sp>
        <p:nvSpPr>
          <p:cNvPr id="63" name="Google Shape;63;p2"/>
          <p:cNvSpPr/>
          <p:nvPr/>
        </p:nvSpPr>
        <p:spPr>
          <a:xfrm>
            <a:off x="17051984" y="2515030"/>
            <a:ext cx="321634" cy="28525"/>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2"/>
          <p:cNvSpPr/>
          <p:nvPr/>
        </p:nvSpPr>
        <p:spPr>
          <a:xfrm>
            <a:off x="914384" y="2810785"/>
            <a:ext cx="3943367" cy="436033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2"/>
          <p:cNvSpPr/>
          <p:nvPr/>
        </p:nvSpPr>
        <p:spPr>
          <a:xfrm>
            <a:off x="914384" y="2810785"/>
            <a:ext cx="3943367" cy="201926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6" name="Google Shape;66;p2"/>
          <p:cNvPicPr preferRelativeResize="0"/>
          <p:nvPr/>
        </p:nvPicPr>
        <p:blipFill rotWithShape="1">
          <a:blip r:embed="rId3">
            <a:alphaModFix/>
          </a:blip>
          <a:srcRect b="0" l="0" r="0" t="0"/>
          <a:stretch/>
        </p:blipFill>
        <p:spPr>
          <a:xfrm>
            <a:off x="1397744" y="2925052"/>
            <a:ext cx="2976563" cy="1905000"/>
          </a:xfrm>
          <a:prstGeom prst="rect">
            <a:avLst/>
          </a:prstGeom>
          <a:noFill/>
          <a:ln>
            <a:noFill/>
          </a:ln>
        </p:spPr>
      </p:pic>
      <p:sp>
        <p:nvSpPr>
          <p:cNvPr id="67" name="Google Shape;67;p2"/>
          <p:cNvSpPr/>
          <p:nvPr/>
        </p:nvSpPr>
        <p:spPr>
          <a:xfrm>
            <a:off x="1181034" y="5117869"/>
            <a:ext cx="373443"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950"/>
              <a:buFont typeface="IBM Plex Mono"/>
              <a:buNone/>
            </a:pPr>
            <a:r>
              <a:rPr lang="en-US" sz="1950">
                <a:solidFill>
                  <a:srgbClr val="0F62FE"/>
                </a:solidFill>
                <a:latin typeface="IBM Plex Mono"/>
                <a:ea typeface="IBM Plex Mono"/>
                <a:cs typeface="IBM Plex Mono"/>
                <a:sym typeface="IBM Plex Mono"/>
              </a:rPr>
              <a:t>01</a:t>
            </a:r>
            <a:endParaRPr sz="1950">
              <a:solidFill>
                <a:schemeClr val="dk1"/>
              </a:solidFill>
              <a:latin typeface="Calibri"/>
              <a:ea typeface="Calibri"/>
              <a:cs typeface="Calibri"/>
              <a:sym typeface="Calibri"/>
            </a:endParaRPr>
          </a:p>
        </p:txBody>
      </p:sp>
      <p:sp>
        <p:nvSpPr>
          <p:cNvPr id="68" name="Google Shape;68;p2"/>
          <p:cNvSpPr/>
          <p:nvPr/>
        </p:nvSpPr>
        <p:spPr>
          <a:xfrm>
            <a:off x="1611561" y="5001452"/>
            <a:ext cx="863832" cy="50905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850"/>
              <a:buFont typeface="IBM Plex Sans"/>
              <a:buNone/>
            </a:pPr>
            <a:r>
              <a:rPr b="1" lang="en-US" sz="2850">
                <a:solidFill>
                  <a:srgbClr val="161616"/>
                </a:solidFill>
                <a:latin typeface="IBM Plex Sans"/>
                <a:ea typeface="IBM Plex Sans"/>
                <a:cs typeface="IBM Plex Sans"/>
                <a:sym typeface="IBM Plex Sans"/>
              </a:rPr>
              <a:t>Data</a:t>
            </a:r>
            <a:endParaRPr sz="2850">
              <a:solidFill>
                <a:schemeClr val="dk1"/>
              </a:solidFill>
              <a:latin typeface="Calibri"/>
              <a:ea typeface="Calibri"/>
              <a:cs typeface="Calibri"/>
              <a:sym typeface="Calibri"/>
            </a:endParaRPr>
          </a:p>
        </p:txBody>
      </p:sp>
      <p:sp>
        <p:nvSpPr>
          <p:cNvPr id="69" name="Google Shape;69;p2"/>
          <p:cNvSpPr/>
          <p:nvPr/>
        </p:nvSpPr>
        <p:spPr>
          <a:xfrm>
            <a:off x="1181034" y="5548561"/>
            <a:ext cx="3512368" cy="681864"/>
          </a:xfrm>
          <a:prstGeom prst="rect">
            <a:avLst/>
          </a:prstGeom>
          <a:noFill/>
          <a:ln>
            <a:noFill/>
          </a:ln>
        </p:spPr>
        <p:txBody>
          <a:bodyPr anchorCtr="0" anchor="t" bIns="25400" lIns="25400" spcFirstLastPara="1" rIns="25400" wrap="square" tIns="25400">
            <a:normAutofit/>
          </a:bodyPr>
          <a:lstStyle/>
          <a:p>
            <a:pPr indent="0" lvl="0" marL="0" marR="0" rtl="0" algn="l">
              <a:lnSpc>
                <a:spcPct val="99738"/>
              </a:lnSpc>
              <a:spcBef>
                <a:spcPts val="0"/>
              </a:spcBef>
              <a:spcAft>
                <a:spcPts val="0"/>
              </a:spcAft>
              <a:buClr>
                <a:srgbClr val="525252"/>
              </a:buClr>
              <a:buSzPts val="1950"/>
              <a:buFont typeface="IBM Plex Sans"/>
              <a:buNone/>
            </a:pPr>
            <a:r>
              <a:rPr lang="en-US" sz="1950">
                <a:solidFill>
                  <a:srgbClr val="525252"/>
                </a:solidFill>
                <a:latin typeface="IBM Plex Sans"/>
                <a:ea typeface="IBM Plex Sans"/>
                <a:cs typeface="IBM Plex Sans"/>
                <a:sym typeface="IBM Plex Sans"/>
              </a:rPr>
              <a:t>Collect, clean and tokenize the corpus</a:t>
            </a:r>
            <a:endParaRPr sz="1950">
              <a:solidFill>
                <a:schemeClr val="dk1"/>
              </a:solidFill>
              <a:latin typeface="Calibri"/>
              <a:ea typeface="Calibri"/>
              <a:cs typeface="Calibri"/>
              <a:sym typeface="Calibri"/>
            </a:endParaRPr>
          </a:p>
        </p:txBody>
      </p:sp>
      <p:sp>
        <p:nvSpPr>
          <p:cNvPr id="70" name="Google Shape;70;p2"/>
          <p:cNvSpPr/>
          <p:nvPr/>
        </p:nvSpPr>
        <p:spPr>
          <a:xfrm>
            <a:off x="1181034" y="6344626"/>
            <a:ext cx="3410066"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2"/>
          <p:cNvSpPr/>
          <p:nvPr/>
        </p:nvSpPr>
        <p:spPr>
          <a:xfrm>
            <a:off x="1181034" y="6464218"/>
            <a:ext cx="3512368" cy="334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Bottleneck: I/O &amp; preprocessing</a:t>
            </a:r>
            <a:endParaRPr sz="1800">
              <a:solidFill>
                <a:schemeClr val="dk1"/>
              </a:solidFill>
              <a:latin typeface="Calibri"/>
              <a:ea typeface="Calibri"/>
              <a:cs typeface="Calibri"/>
              <a:sym typeface="Calibri"/>
            </a:endParaRPr>
          </a:p>
        </p:txBody>
      </p:sp>
      <p:sp>
        <p:nvSpPr>
          <p:cNvPr id="72" name="Google Shape;72;p2"/>
          <p:cNvSpPr/>
          <p:nvPr/>
        </p:nvSpPr>
        <p:spPr>
          <a:xfrm>
            <a:off x="5086284" y="2810785"/>
            <a:ext cx="3943449" cy="436033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2"/>
          <p:cNvSpPr/>
          <p:nvPr/>
        </p:nvSpPr>
        <p:spPr>
          <a:xfrm>
            <a:off x="5086284" y="2810785"/>
            <a:ext cx="3943449" cy="1905000"/>
          </a:xfrm>
          <a:prstGeom prst="rect">
            <a:avLst/>
          </a:prstGeom>
          <a:solidFill>
            <a:srgbClr val="F6F2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4" name="Google Shape;74;p2"/>
          <p:cNvPicPr preferRelativeResize="0"/>
          <p:nvPr/>
        </p:nvPicPr>
        <p:blipFill rotWithShape="1">
          <a:blip r:embed="rId4">
            <a:alphaModFix/>
          </a:blip>
          <a:srcRect b="0" l="-2" r="-2" t="0"/>
          <a:stretch/>
        </p:blipFill>
        <p:spPr>
          <a:xfrm>
            <a:off x="5879455" y="2810785"/>
            <a:ext cx="2357024" cy="1904917"/>
          </a:xfrm>
          <a:prstGeom prst="rect">
            <a:avLst/>
          </a:prstGeom>
          <a:noFill/>
          <a:ln>
            <a:noFill/>
          </a:ln>
        </p:spPr>
      </p:pic>
      <p:sp>
        <p:nvSpPr>
          <p:cNvPr id="75" name="Google Shape;75;p2"/>
          <p:cNvSpPr/>
          <p:nvPr/>
        </p:nvSpPr>
        <p:spPr>
          <a:xfrm>
            <a:off x="5352934" y="5003602"/>
            <a:ext cx="373443"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3FFC"/>
              </a:buClr>
              <a:buSzPts val="1950"/>
              <a:buFont typeface="IBM Plex Mono"/>
              <a:buNone/>
            </a:pPr>
            <a:r>
              <a:rPr lang="en-US" sz="1950">
                <a:solidFill>
                  <a:srgbClr val="8A3FFC"/>
                </a:solidFill>
                <a:latin typeface="IBM Plex Mono"/>
                <a:ea typeface="IBM Plex Mono"/>
                <a:cs typeface="IBM Plex Mono"/>
                <a:sym typeface="IBM Plex Mono"/>
              </a:rPr>
              <a:t>02</a:t>
            </a:r>
            <a:endParaRPr sz="1950">
              <a:solidFill>
                <a:schemeClr val="dk1"/>
              </a:solidFill>
              <a:latin typeface="Calibri"/>
              <a:ea typeface="Calibri"/>
              <a:cs typeface="Calibri"/>
              <a:sym typeface="Calibri"/>
            </a:endParaRPr>
          </a:p>
        </p:txBody>
      </p:sp>
      <p:sp>
        <p:nvSpPr>
          <p:cNvPr id="76" name="Google Shape;76;p2"/>
          <p:cNvSpPr/>
          <p:nvPr/>
        </p:nvSpPr>
        <p:spPr>
          <a:xfrm>
            <a:off x="5783461" y="4887185"/>
            <a:ext cx="1492043" cy="50905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850"/>
              <a:buFont typeface="IBM Plex Sans"/>
              <a:buNone/>
            </a:pPr>
            <a:r>
              <a:rPr b="1" lang="en-US" sz="2850">
                <a:solidFill>
                  <a:srgbClr val="161616"/>
                </a:solidFill>
                <a:latin typeface="IBM Plex Sans"/>
                <a:ea typeface="IBM Plex Sans"/>
                <a:cs typeface="IBM Plex Sans"/>
                <a:sym typeface="IBM Plex Sans"/>
              </a:rPr>
              <a:t>Training</a:t>
            </a:r>
            <a:endParaRPr sz="2850">
              <a:solidFill>
                <a:schemeClr val="dk1"/>
              </a:solidFill>
              <a:latin typeface="Calibri"/>
              <a:ea typeface="Calibri"/>
              <a:cs typeface="Calibri"/>
              <a:sym typeface="Calibri"/>
            </a:endParaRPr>
          </a:p>
        </p:txBody>
      </p:sp>
      <p:sp>
        <p:nvSpPr>
          <p:cNvPr id="77" name="Google Shape;77;p2"/>
          <p:cNvSpPr/>
          <p:nvPr/>
        </p:nvSpPr>
        <p:spPr>
          <a:xfrm>
            <a:off x="5352934" y="5434294"/>
            <a:ext cx="3512453" cy="681864"/>
          </a:xfrm>
          <a:prstGeom prst="rect">
            <a:avLst/>
          </a:prstGeom>
          <a:noFill/>
          <a:ln>
            <a:noFill/>
          </a:ln>
        </p:spPr>
        <p:txBody>
          <a:bodyPr anchorCtr="0" anchor="t" bIns="25400" lIns="25400" spcFirstLastPara="1" rIns="25400" wrap="square" tIns="25400">
            <a:normAutofit/>
          </a:bodyPr>
          <a:lstStyle/>
          <a:p>
            <a:pPr indent="0" lvl="0" marL="0" marR="0" rtl="0" algn="l">
              <a:lnSpc>
                <a:spcPct val="99738"/>
              </a:lnSpc>
              <a:spcBef>
                <a:spcPts val="0"/>
              </a:spcBef>
              <a:spcAft>
                <a:spcPts val="0"/>
              </a:spcAft>
              <a:buClr>
                <a:srgbClr val="525252"/>
              </a:buClr>
              <a:buSzPts val="1950"/>
              <a:buFont typeface="IBM Plex Sans"/>
              <a:buNone/>
            </a:pPr>
            <a:r>
              <a:rPr lang="en-US" sz="1950">
                <a:solidFill>
                  <a:srgbClr val="525252"/>
                </a:solidFill>
                <a:latin typeface="IBM Plex Sans"/>
                <a:ea typeface="IBM Plex Sans"/>
                <a:cs typeface="IBM Plex Sans"/>
                <a:sym typeface="IBM Plex Sans"/>
              </a:rPr>
              <a:t>Learn the weights from scratch</a:t>
            </a:r>
            <a:endParaRPr sz="1950">
              <a:solidFill>
                <a:schemeClr val="dk1"/>
              </a:solidFill>
              <a:latin typeface="Calibri"/>
              <a:ea typeface="Calibri"/>
              <a:cs typeface="Calibri"/>
              <a:sym typeface="Calibri"/>
            </a:endParaRPr>
          </a:p>
        </p:txBody>
      </p:sp>
      <p:sp>
        <p:nvSpPr>
          <p:cNvPr id="78" name="Google Shape;78;p2"/>
          <p:cNvSpPr/>
          <p:nvPr/>
        </p:nvSpPr>
        <p:spPr>
          <a:xfrm>
            <a:off x="5352934" y="6230359"/>
            <a:ext cx="3410149"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2"/>
          <p:cNvSpPr/>
          <p:nvPr/>
        </p:nvSpPr>
        <p:spPr>
          <a:xfrm>
            <a:off x="5352934" y="6349951"/>
            <a:ext cx="3512453" cy="630734"/>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Bottleneck: raw FLOPs, for weeks</a:t>
            </a:r>
            <a:endParaRPr sz="1800">
              <a:solidFill>
                <a:schemeClr val="dk1"/>
              </a:solidFill>
              <a:latin typeface="Calibri"/>
              <a:ea typeface="Calibri"/>
              <a:cs typeface="Calibri"/>
              <a:sym typeface="Calibri"/>
            </a:endParaRPr>
          </a:p>
        </p:txBody>
      </p:sp>
      <p:sp>
        <p:nvSpPr>
          <p:cNvPr id="80" name="Google Shape;80;p2"/>
          <p:cNvSpPr/>
          <p:nvPr/>
        </p:nvSpPr>
        <p:spPr>
          <a:xfrm>
            <a:off x="9258267" y="2810785"/>
            <a:ext cx="3943367" cy="436033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2"/>
          <p:cNvSpPr/>
          <p:nvPr/>
        </p:nvSpPr>
        <p:spPr>
          <a:xfrm>
            <a:off x="9258267" y="2810785"/>
            <a:ext cx="3943367" cy="19050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2" name="Google Shape;82;p2"/>
          <p:cNvPicPr preferRelativeResize="0"/>
          <p:nvPr/>
        </p:nvPicPr>
        <p:blipFill rotWithShape="1">
          <a:blip r:embed="rId5">
            <a:alphaModFix/>
          </a:blip>
          <a:srcRect b="0" l="-2" r="-2" t="0"/>
          <a:stretch/>
        </p:blipFill>
        <p:spPr>
          <a:xfrm>
            <a:off x="9672092" y="2810785"/>
            <a:ext cx="3115717" cy="1904917"/>
          </a:xfrm>
          <a:prstGeom prst="rect">
            <a:avLst/>
          </a:prstGeom>
          <a:noFill/>
          <a:ln>
            <a:noFill/>
          </a:ln>
        </p:spPr>
      </p:pic>
      <p:sp>
        <p:nvSpPr>
          <p:cNvPr id="83" name="Google Shape;83;p2"/>
          <p:cNvSpPr/>
          <p:nvPr/>
        </p:nvSpPr>
        <p:spPr>
          <a:xfrm>
            <a:off x="9524918" y="5003602"/>
            <a:ext cx="373443"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950"/>
              <a:buFont typeface="IBM Plex Mono"/>
              <a:buNone/>
            </a:pPr>
            <a:r>
              <a:rPr lang="en-US" sz="1950">
                <a:solidFill>
                  <a:srgbClr val="198038"/>
                </a:solidFill>
                <a:latin typeface="IBM Plex Mono"/>
                <a:ea typeface="IBM Plex Mono"/>
                <a:cs typeface="IBM Plex Mono"/>
                <a:sym typeface="IBM Plex Mono"/>
              </a:rPr>
              <a:t>03</a:t>
            </a:r>
            <a:endParaRPr sz="1950">
              <a:solidFill>
                <a:schemeClr val="dk1"/>
              </a:solidFill>
              <a:latin typeface="Calibri"/>
              <a:ea typeface="Calibri"/>
              <a:cs typeface="Calibri"/>
              <a:sym typeface="Calibri"/>
            </a:endParaRPr>
          </a:p>
        </p:txBody>
      </p:sp>
      <p:sp>
        <p:nvSpPr>
          <p:cNvPr id="84" name="Google Shape;84;p2"/>
          <p:cNvSpPr/>
          <p:nvPr/>
        </p:nvSpPr>
        <p:spPr>
          <a:xfrm>
            <a:off x="9955445" y="4887185"/>
            <a:ext cx="2137065" cy="50905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850"/>
              <a:buFont typeface="IBM Plex Sans"/>
              <a:buNone/>
            </a:pPr>
            <a:r>
              <a:rPr b="1" lang="en-US" sz="2850">
                <a:solidFill>
                  <a:srgbClr val="161616"/>
                </a:solidFill>
                <a:latin typeface="IBM Plex Sans"/>
                <a:ea typeface="IBM Plex Sans"/>
                <a:cs typeface="IBM Plex Sans"/>
                <a:sym typeface="IBM Plex Sans"/>
              </a:rPr>
              <a:t>Fine-tuning</a:t>
            </a:r>
            <a:endParaRPr sz="2850">
              <a:solidFill>
                <a:schemeClr val="dk1"/>
              </a:solidFill>
              <a:latin typeface="Calibri"/>
              <a:ea typeface="Calibri"/>
              <a:cs typeface="Calibri"/>
              <a:sym typeface="Calibri"/>
            </a:endParaRPr>
          </a:p>
        </p:txBody>
      </p:sp>
      <p:sp>
        <p:nvSpPr>
          <p:cNvPr id="85" name="Google Shape;85;p2"/>
          <p:cNvSpPr/>
          <p:nvPr/>
        </p:nvSpPr>
        <p:spPr>
          <a:xfrm>
            <a:off x="9524918" y="5434294"/>
            <a:ext cx="3512368" cy="681864"/>
          </a:xfrm>
          <a:prstGeom prst="rect">
            <a:avLst/>
          </a:prstGeom>
          <a:noFill/>
          <a:ln>
            <a:noFill/>
          </a:ln>
        </p:spPr>
        <p:txBody>
          <a:bodyPr anchorCtr="0" anchor="t" bIns="25400" lIns="25400" spcFirstLastPara="1" rIns="25400" wrap="square" tIns="25400">
            <a:normAutofit/>
          </a:bodyPr>
          <a:lstStyle/>
          <a:p>
            <a:pPr indent="0" lvl="0" marL="0" marR="0" rtl="0" algn="l">
              <a:lnSpc>
                <a:spcPct val="99738"/>
              </a:lnSpc>
              <a:spcBef>
                <a:spcPts val="0"/>
              </a:spcBef>
              <a:spcAft>
                <a:spcPts val="0"/>
              </a:spcAft>
              <a:buClr>
                <a:srgbClr val="525252"/>
              </a:buClr>
              <a:buSzPts val="1950"/>
              <a:buFont typeface="IBM Plex Sans"/>
              <a:buNone/>
            </a:pPr>
            <a:r>
              <a:rPr lang="en-US" sz="1950">
                <a:solidFill>
                  <a:srgbClr val="525252"/>
                </a:solidFill>
                <a:latin typeface="IBM Plex Sans"/>
                <a:ea typeface="IBM Plex Sans"/>
                <a:cs typeface="IBM Plex Sans"/>
                <a:sym typeface="IBM Plex Sans"/>
              </a:rPr>
              <a:t>Adapt the model to a domain or task</a:t>
            </a:r>
            <a:endParaRPr sz="1950">
              <a:solidFill>
                <a:schemeClr val="dk1"/>
              </a:solidFill>
              <a:latin typeface="Calibri"/>
              <a:ea typeface="Calibri"/>
              <a:cs typeface="Calibri"/>
              <a:sym typeface="Calibri"/>
            </a:endParaRPr>
          </a:p>
        </p:txBody>
      </p:sp>
      <p:sp>
        <p:nvSpPr>
          <p:cNvPr id="86" name="Google Shape;86;p2"/>
          <p:cNvSpPr/>
          <p:nvPr/>
        </p:nvSpPr>
        <p:spPr>
          <a:xfrm>
            <a:off x="9524918" y="6230359"/>
            <a:ext cx="3410066"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2"/>
          <p:cNvSpPr/>
          <p:nvPr/>
        </p:nvSpPr>
        <p:spPr>
          <a:xfrm>
            <a:off x="9524918" y="6349951"/>
            <a:ext cx="3512368" cy="630734"/>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Bottleneck: adapter memory, data</a:t>
            </a:r>
            <a:endParaRPr sz="1800">
              <a:solidFill>
                <a:schemeClr val="dk1"/>
              </a:solidFill>
              <a:latin typeface="Calibri"/>
              <a:ea typeface="Calibri"/>
              <a:cs typeface="Calibri"/>
              <a:sym typeface="Calibri"/>
            </a:endParaRPr>
          </a:p>
        </p:txBody>
      </p:sp>
      <p:sp>
        <p:nvSpPr>
          <p:cNvPr id="88" name="Google Shape;88;p2"/>
          <p:cNvSpPr/>
          <p:nvPr/>
        </p:nvSpPr>
        <p:spPr>
          <a:xfrm>
            <a:off x="13430167" y="2810785"/>
            <a:ext cx="3943449" cy="4360334"/>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2"/>
          <p:cNvSpPr/>
          <p:nvPr/>
        </p:nvSpPr>
        <p:spPr>
          <a:xfrm>
            <a:off x="13430167" y="2810785"/>
            <a:ext cx="3943449" cy="1905000"/>
          </a:xfrm>
          <a:prstGeom prst="rect">
            <a:avLst/>
          </a:prstGeom>
          <a:solidFill>
            <a:srgbClr val="0A1E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0" name="Google Shape;90;p2"/>
          <p:cNvPicPr preferRelativeResize="0"/>
          <p:nvPr/>
        </p:nvPicPr>
        <p:blipFill rotWithShape="1">
          <a:blip r:embed="rId6">
            <a:alphaModFix/>
          </a:blip>
          <a:srcRect b="0" l="-1" r="-1" t="0"/>
          <a:stretch/>
        </p:blipFill>
        <p:spPr>
          <a:xfrm>
            <a:off x="13950322" y="2810785"/>
            <a:ext cx="2903141" cy="1904917"/>
          </a:xfrm>
          <a:prstGeom prst="rect">
            <a:avLst/>
          </a:prstGeom>
          <a:noFill/>
          <a:ln>
            <a:noFill/>
          </a:ln>
        </p:spPr>
      </p:pic>
      <p:sp>
        <p:nvSpPr>
          <p:cNvPr id="91" name="Google Shape;91;p2"/>
          <p:cNvSpPr/>
          <p:nvPr/>
        </p:nvSpPr>
        <p:spPr>
          <a:xfrm>
            <a:off x="15616122" y="2944069"/>
            <a:ext cx="1624211" cy="4106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2"/>
          <p:cNvSpPr/>
          <p:nvPr/>
        </p:nvSpPr>
        <p:spPr>
          <a:xfrm>
            <a:off x="15749472" y="3001219"/>
            <a:ext cx="1433711" cy="334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b="1" lang="en-US" spc="108" sz="1800">
                <a:solidFill>
                  <a:srgbClr val="FFFFFF"/>
                </a:solidFill>
                <a:latin typeface="IBM Plex Mono"/>
                <a:ea typeface="IBM Plex Mono"/>
                <a:cs typeface="IBM Plex Mono"/>
                <a:sym typeface="IBM Plex Mono"/>
              </a:rPr>
              <a:t>THIS TALK</a:t>
            </a:r>
            <a:endParaRPr sz="1800">
              <a:solidFill>
                <a:schemeClr val="dk1"/>
              </a:solidFill>
              <a:latin typeface="Calibri"/>
              <a:ea typeface="Calibri"/>
              <a:cs typeface="Calibri"/>
              <a:sym typeface="Calibri"/>
            </a:endParaRPr>
          </a:p>
        </p:txBody>
      </p:sp>
      <p:sp>
        <p:nvSpPr>
          <p:cNvPr id="93" name="Google Shape;93;p2"/>
          <p:cNvSpPr/>
          <p:nvPr/>
        </p:nvSpPr>
        <p:spPr>
          <a:xfrm>
            <a:off x="13696819" y="5003602"/>
            <a:ext cx="373443"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950"/>
              <a:buFont typeface="IBM Plex Mono"/>
              <a:buNone/>
            </a:pPr>
            <a:r>
              <a:rPr lang="en-US" sz="1950">
                <a:solidFill>
                  <a:srgbClr val="78A9FF"/>
                </a:solidFill>
                <a:latin typeface="IBM Plex Mono"/>
                <a:ea typeface="IBM Plex Mono"/>
                <a:cs typeface="IBM Plex Mono"/>
                <a:sym typeface="IBM Plex Mono"/>
              </a:rPr>
              <a:t>04</a:t>
            </a:r>
            <a:endParaRPr sz="1950">
              <a:solidFill>
                <a:schemeClr val="dk1"/>
              </a:solidFill>
              <a:latin typeface="Calibri"/>
              <a:ea typeface="Calibri"/>
              <a:cs typeface="Calibri"/>
              <a:sym typeface="Calibri"/>
            </a:endParaRPr>
          </a:p>
        </p:txBody>
      </p:sp>
      <p:sp>
        <p:nvSpPr>
          <p:cNvPr id="94" name="Google Shape;94;p2"/>
          <p:cNvSpPr/>
          <p:nvPr/>
        </p:nvSpPr>
        <p:spPr>
          <a:xfrm>
            <a:off x="14127345" y="4887185"/>
            <a:ext cx="1797364" cy="50905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850"/>
              <a:buFont typeface="IBM Plex Sans"/>
              <a:buNone/>
            </a:pPr>
            <a:r>
              <a:rPr b="1" lang="en-US" sz="2850">
                <a:solidFill>
                  <a:srgbClr val="FFFFFF"/>
                </a:solidFill>
                <a:latin typeface="IBM Plex Sans"/>
                <a:ea typeface="IBM Plex Sans"/>
                <a:cs typeface="IBM Plex Sans"/>
                <a:sym typeface="IBM Plex Sans"/>
              </a:rPr>
              <a:t>Inference</a:t>
            </a:r>
            <a:endParaRPr sz="2850">
              <a:solidFill>
                <a:schemeClr val="dk1"/>
              </a:solidFill>
              <a:latin typeface="Calibri"/>
              <a:ea typeface="Calibri"/>
              <a:cs typeface="Calibri"/>
              <a:sym typeface="Calibri"/>
            </a:endParaRPr>
          </a:p>
        </p:txBody>
      </p:sp>
      <p:sp>
        <p:nvSpPr>
          <p:cNvPr id="95" name="Google Shape;95;p2"/>
          <p:cNvSpPr/>
          <p:nvPr/>
        </p:nvSpPr>
        <p:spPr>
          <a:xfrm>
            <a:off x="13696819" y="5434294"/>
            <a:ext cx="3512453" cy="681864"/>
          </a:xfrm>
          <a:prstGeom prst="rect">
            <a:avLst/>
          </a:prstGeom>
          <a:noFill/>
          <a:ln>
            <a:noFill/>
          </a:ln>
        </p:spPr>
        <p:txBody>
          <a:bodyPr anchorCtr="0" anchor="t" bIns="25400" lIns="25400" spcFirstLastPara="1" rIns="25400" wrap="square" tIns="25400">
            <a:normAutofit/>
          </a:bodyPr>
          <a:lstStyle/>
          <a:p>
            <a:pPr indent="0" lvl="0" marL="0" marR="0" rtl="0" algn="l">
              <a:lnSpc>
                <a:spcPct val="99738"/>
              </a:lnSpc>
              <a:spcBef>
                <a:spcPts val="0"/>
              </a:spcBef>
              <a:spcAft>
                <a:spcPts val="0"/>
              </a:spcAft>
              <a:buClr>
                <a:srgbClr val="D0E2FF"/>
              </a:buClr>
              <a:buSzPts val="1950"/>
              <a:buFont typeface="IBM Plex Sans"/>
              <a:buNone/>
            </a:pPr>
            <a:r>
              <a:rPr lang="en-US" sz="1950">
                <a:solidFill>
                  <a:srgbClr val="D0E2FF"/>
                </a:solidFill>
                <a:latin typeface="IBM Plex Sans"/>
                <a:ea typeface="IBM Plex Sans"/>
                <a:cs typeface="IBM Plex Sans"/>
                <a:sym typeface="IBM Plex Sans"/>
              </a:rPr>
              <a:t>Answer every user request, live</a:t>
            </a:r>
            <a:endParaRPr sz="1950">
              <a:solidFill>
                <a:schemeClr val="dk1"/>
              </a:solidFill>
              <a:latin typeface="Calibri"/>
              <a:ea typeface="Calibri"/>
              <a:cs typeface="Calibri"/>
              <a:sym typeface="Calibri"/>
            </a:endParaRPr>
          </a:p>
        </p:txBody>
      </p:sp>
      <p:sp>
        <p:nvSpPr>
          <p:cNvPr id="96" name="Google Shape;96;p2"/>
          <p:cNvSpPr/>
          <p:nvPr/>
        </p:nvSpPr>
        <p:spPr>
          <a:xfrm>
            <a:off x="13696819" y="6230359"/>
            <a:ext cx="3410149" cy="9525"/>
          </a:xfrm>
          <a:prstGeom prst="rect">
            <a:avLst/>
          </a:prstGeom>
          <a:solidFill>
            <a:srgbClr val="FFFFFF">
              <a:alpha val="2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2"/>
          <p:cNvSpPr/>
          <p:nvPr/>
        </p:nvSpPr>
        <p:spPr>
          <a:xfrm>
            <a:off x="13696819" y="6349951"/>
            <a:ext cx="3512453" cy="630734"/>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Sans"/>
              <a:buNone/>
            </a:pPr>
            <a:r>
              <a:rPr lang="en-US" sz="1800">
                <a:solidFill>
                  <a:srgbClr val="FFFFFF"/>
                </a:solidFill>
                <a:latin typeface="IBM Plex Sans"/>
                <a:ea typeface="IBM Plex Sans"/>
                <a:cs typeface="IBM Plex Sans"/>
                <a:sym typeface="IBM Plex Sans"/>
              </a:rPr>
              <a:t>Bottleneck: latency, the tail, cost/token</a:t>
            </a:r>
            <a:endParaRPr sz="1800">
              <a:solidFill>
                <a:schemeClr val="dk1"/>
              </a:solidFill>
              <a:latin typeface="Calibri"/>
              <a:ea typeface="Calibri"/>
              <a:cs typeface="Calibri"/>
              <a:sym typeface="Calibri"/>
            </a:endParaRPr>
          </a:p>
        </p:txBody>
      </p:sp>
      <p:sp>
        <p:nvSpPr>
          <p:cNvPr id="98" name="Google Shape;98;p2"/>
          <p:cNvSpPr/>
          <p:nvPr/>
        </p:nvSpPr>
        <p:spPr>
          <a:xfrm>
            <a:off x="914384" y="7513423"/>
            <a:ext cx="298672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pc="108" sz="1800">
                <a:solidFill>
                  <a:srgbClr val="0F62FE"/>
                </a:solidFill>
                <a:latin typeface="IBM Plex Mono"/>
                <a:ea typeface="IBM Plex Mono"/>
                <a:cs typeface="IBM Plex Mono"/>
                <a:sym typeface="IBM Plex Mono"/>
              </a:rPr>
              <a:t>EVERY USER EXPECTS</a:t>
            </a:r>
            <a:endParaRPr sz="1800">
              <a:solidFill>
                <a:schemeClr val="dk1"/>
              </a:solidFill>
              <a:latin typeface="Calibri"/>
              <a:ea typeface="Calibri"/>
              <a:cs typeface="Calibri"/>
              <a:sym typeface="Calibri"/>
            </a:endParaRPr>
          </a:p>
        </p:txBody>
      </p:sp>
      <p:sp>
        <p:nvSpPr>
          <p:cNvPr id="99" name="Google Shape;99;p2"/>
          <p:cNvSpPr/>
          <p:nvPr/>
        </p:nvSpPr>
        <p:spPr>
          <a:xfrm>
            <a:off x="3858121" y="7399652"/>
            <a:ext cx="2179836" cy="523875"/>
          </a:xfrm>
          <a:prstGeom prst="rect">
            <a:avLst/>
          </a:prstGeom>
          <a:solidFill>
            <a:srgbClr val="FFFFFF"/>
          </a:solidFill>
          <a:ln cap="flat" cmpd="sng" w="9525">
            <a:solidFill>
              <a:srgbClr val="E0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2"/>
          <p:cNvSpPr/>
          <p:nvPr/>
        </p:nvSpPr>
        <p:spPr>
          <a:xfrm>
            <a:off x="4072963" y="7500193"/>
            <a:ext cx="1826353"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A fast first word</a:t>
            </a:r>
            <a:endParaRPr sz="1950">
              <a:solidFill>
                <a:schemeClr val="dk1"/>
              </a:solidFill>
              <a:latin typeface="Calibri"/>
              <a:ea typeface="Calibri"/>
              <a:cs typeface="Calibri"/>
              <a:sym typeface="Calibri"/>
            </a:endParaRPr>
          </a:p>
        </p:txBody>
      </p:sp>
      <p:sp>
        <p:nvSpPr>
          <p:cNvPr id="101" name="Google Shape;101;p2"/>
          <p:cNvSpPr/>
          <p:nvPr/>
        </p:nvSpPr>
        <p:spPr>
          <a:xfrm>
            <a:off x="6190341" y="7399652"/>
            <a:ext cx="2466330" cy="523875"/>
          </a:xfrm>
          <a:prstGeom prst="rect">
            <a:avLst/>
          </a:prstGeom>
          <a:solidFill>
            <a:srgbClr val="FFFFFF"/>
          </a:solidFill>
          <a:ln cap="flat" cmpd="sng" w="9525">
            <a:solidFill>
              <a:srgbClr val="E0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2"/>
          <p:cNvSpPr/>
          <p:nvPr/>
        </p:nvSpPr>
        <p:spPr>
          <a:xfrm>
            <a:off x="6405182" y="7500193"/>
            <a:ext cx="2112847"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Smooth streaming</a:t>
            </a:r>
            <a:endParaRPr sz="1950">
              <a:solidFill>
                <a:schemeClr val="dk1"/>
              </a:solidFill>
              <a:latin typeface="Calibri"/>
              <a:ea typeface="Calibri"/>
              <a:cs typeface="Calibri"/>
              <a:sym typeface="Calibri"/>
            </a:endParaRPr>
          </a:p>
        </p:txBody>
      </p:sp>
      <p:sp>
        <p:nvSpPr>
          <p:cNvPr id="103" name="Google Shape;103;p2"/>
          <p:cNvSpPr/>
          <p:nvPr/>
        </p:nvSpPr>
        <p:spPr>
          <a:xfrm>
            <a:off x="8809055" y="7399652"/>
            <a:ext cx="2218945" cy="523875"/>
          </a:xfrm>
          <a:prstGeom prst="rect">
            <a:avLst/>
          </a:prstGeom>
          <a:solidFill>
            <a:srgbClr val="FFFFFF"/>
          </a:solidFill>
          <a:ln cap="flat" cmpd="sng" w="9525">
            <a:solidFill>
              <a:srgbClr val="E0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2"/>
          <p:cNvSpPr/>
          <p:nvPr/>
        </p:nvSpPr>
        <p:spPr>
          <a:xfrm>
            <a:off x="9023896" y="7500193"/>
            <a:ext cx="1865461"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No slow outliers</a:t>
            </a:r>
            <a:endParaRPr sz="1950">
              <a:solidFill>
                <a:schemeClr val="dk1"/>
              </a:solidFill>
              <a:latin typeface="Calibri"/>
              <a:ea typeface="Calibri"/>
              <a:cs typeface="Calibri"/>
              <a:sym typeface="Calibri"/>
            </a:endParaRPr>
          </a:p>
        </p:txBody>
      </p:sp>
      <p:sp>
        <p:nvSpPr>
          <p:cNvPr id="105" name="Google Shape;105;p2"/>
          <p:cNvSpPr/>
          <p:nvPr/>
        </p:nvSpPr>
        <p:spPr>
          <a:xfrm>
            <a:off x="11180383" y="7399652"/>
            <a:ext cx="2924969" cy="523875"/>
          </a:xfrm>
          <a:prstGeom prst="rect">
            <a:avLst/>
          </a:prstGeom>
          <a:solidFill>
            <a:srgbClr val="FFFFFF"/>
          </a:solidFill>
          <a:ln cap="flat" cmpd="sng" w="9525">
            <a:solidFill>
              <a:srgbClr val="E0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2"/>
          <p:cNvSpPr/>
          <p:nvPr/>
        </p:nvSpPr>
        <p:spPr>
          <a:xfrm>
            <a:off x="11395224" y="7500193"/>
            <a:ext cx="2583035"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Lower cost per answer</a:t>
            </a:r>
            <a:endParaRPr sz="1950">
              <a:solidFill>
                <a:schemeClr val="dk1"/>
              </a:solidFill>
              <a:latin typeface="Calibri"/>
              <a:ea typeface="Calibri"/>
              <a:cs typeface="Calibri"/>
              <a:sym typeface="Calibri"/>
            </a:endParaRPr>
          </a:p>
        </p:txBody>
      </p:sp>
      <p:sp>
        <p:nvSpPr>
          <p:cNvPr id="107" name="Google Shape;107;p2"/>
          <p:cNvSpPr/>
          <p:nvPr/>
        </p:nvSpPr>
        <p:spPr>
          <a:xfrm>
            <a:off x="914384" y="8133044"/>
            <a:ext cx="16459234" cy="815909"/>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2"/>
          <p:cNvSpPr/>
          <p:nvPr/>
        </p:nvSpPr>
        <p:spPr>
          <a:xfrm>
            <a:off x="1257267" y="8355790"/>
            <a:ext cx="14586281"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IBM Plex Sans"/>
              <a:buNone/>
            </a:pPr>
            <a:r>
              <a:rPr lang="en-US" sz="2250">
                <a:solidFill>
                  <a:srgbClr val="FFFFFF"/>
                </a:solidFill>
                <a:latin typeface="IBM Plex Sans"/>
                <a:ea typeface="IBM Plex Sans"/>
                <a:cs typeface="IBM Plex Sans"/>
                <a:sym typeface="IBM Plex Sans"/>
              </a:rPr>
              <a:t>Same model, same hardware. Why does one user get an instant answer and the next one waits?</a:t>
            </a:r>
            <a:endParaRPr sz="2250">
              <a:solidFill>
                <a:schemeClr val="dk1"/>
              </a:solidFill>
              <a:latin typeface="Calibri"/>
              <a:ea typeface="Calibri"/>
              <a:cs typeface="Calibri"/>
              <a:sym typeface="Calibri"/>
            </a:endParaRPr>
          </a:p>
        </p:txBody>
      </p:sp>
      <p:sp>
        <p:nvSpPr>
          <p:cNvPr id="109" name="Google Shape;109;p2"/>
          <p:cNvSpPr/>
          <p:nvPr/>
        </p:nvSpPr>
        <p:spPr>
          <a:xfrm>
            <a:off x="14822289" y="8342561"/>
            <a:ext cx="2429289"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2400"/>
              <a:buFont typeface="IBM Plex Sans"/>
              <a:buNone/>
            </a:pPr>
            <a:r>
              <a:rPr b="1" lang="en-US" sz="2400">
                <a:solidFill>
                  <a:srgbClr val="78A9FF"/>
                </a:solidFill>
                <a:latin typeface="IBM Plex Sans"/>
                <a:ea typeface="IBM Plex Sans"/>
                <a:cs typeface="IBM Plex Sans"/>
                <a:sym typeface="IBM Plex Sans"/>
              </a:rPr>
              <a:t>Let's find out →</a:t>
            </a:r>
            <a:endParaRPr sz="2400">
              <a:solidFill>
                <a:schemeClr val="dk1"/>
              </a:solidFill>
              <a:latin typeface="Calibri"/>
              <a:ea typeface="Calibri"/>
              <a:cs typeface="Calibri"/>
              <a:sym typeface="Calibri"/>
            </a:endParaRPr>
          </a:p>
        </p:txBody>
      </p:sp>
      <p:pic>
        <p:nvPicPr>
          <p:cNvPr descr="preencoded.png" id="110" name="Google Shape;110;p2"/>
          <p:cNvPicPr preferRelativeResize="0"/>
          <p:nvPr/>
        </p:nvPicPr>
        <p:blipFill rotWithShape="1">
          <a:blip r:embed="rId7">
            <a:alphaModFix/>
          </a:blip>
          <a:srcRect b="0" l="0" r="0" t="0"/>
          <a:stretch/>
        </p:blipFill>
        <p:spPr>
          <a:xfrm>
            <a:off x="914384" y="9677467"/>
            <a:ext cx="310968" cy="342883"/>
          </a:xfrm>
          <a:prstGeom prst="rect">
            <a:avLst/>
          </a:prstGeom>
          <a:noFill/>
          <a:ln>
            <a:noFill/>
          </a:ln>
        </p:spPr>
      </p:pic>
      <p:sp>
        <p:nvSpPr>
          <p:cNvPr id="111" name="Google Shape;111;p2"/>
          <p:cNvSpPr/>
          <p:nvPr/>
        </p:nvSpPr>
        <p:spPr>
          <a:xfrm>
            <a:off x="1415852" y="9700700"/>
            <a:ext cx="77482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Bangalore Performance &amp; Scale Meetup 2026 · From Tokens to Scale</a:t>
            </a:r>
            <a:endParaRPr sz="1800">
              <a:solidFill>
                <a:schemeClr val="dk1"/>
              </a:solidFill>
              <a:latin typeface="Calibri"/>
              <a:ea typeface="Calibri"/>
              <a:cs typeface="Calibri"/>
              <a:sym typeface="Calibri"/>
            </a:endParaRPr>
          </a:p>
        </p:txBody>
      </p:sp>
      <p:sp>
        <p:nvSpPr>
          <p:cNvPr id="112" name="Google Shape;112;p2"/>
          <p:cNvSpPr/>
          <p:nvPr/>
        </p:nvSpPr>
        <p:spPr>
          <a:xfrm>
            <a:off x="17099360" y="9700700"/>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z="1800">
                <a:solidFill>
                  <a:srgbClr val="6F6F6F"/>
                </a:solidFill>
                <a:latin typeface="IBM Plex Mono"/>
                <a:ea typeface="IBM Plex Mono"/>
                <a:cs typeface="IBM Plex Mono"/>
                <a:sym typeface="IBM Plex Mono"/>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3"/>
          <p:cNvSpPr/>
          <p:nvPr/>
        </p:nvSpPr>
        <p:spPr>
          <a:xfrm>
            <a:off x="914384" y="571500"/>
            <a:ext cx="181051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01 · WHY THIS TALK EXISTS</a:t>
            </a:r>
            <a:endParaRPr sz="1800">
              <a:solidFill>
                <a:schemeClr val="dk1"/>
              </a:solidFill>
              <a:latin typeface="Calibri"/>
              <a:ea typeface="Calibri"/>
              <a:cs typeface="Calibri"/>
              <a:sym typeface="Calibri"/>
            </a:endParaRPr>
          </a:p>
        </p:txBody>
      </p:sp>
      <p:sp>
        <p:nvSpPr>
          <p:cNvPr id="119" name="Google Shape;119;p3"/>
          <p:cNvSpPr/>
          <p:nvPr/>
        </p:nvSpPr>
        <p:spPr>
          <a:xfrm>
            <a:off x="914384" y="982100"/>
            <a:ext cx="18105157" cy="666734"/>
          </a:xfrm>
          <a:prstGeom prst="rect">
            <a:avLst/>
          </a:prstGeom>
          <a:noFill/>
          <a:ln>
            <a:noFill/>
          </a:ln>
        </p:spPr>
        <p:txBody>
          <a:bodyPr anchorCtr="0" anchor="t" bIns="25400" lIns="25400" spcFirstLastPara="1" rIns="25400" wrap="square" tIns="25400">
            <a:normAutofit/>
          </a:bodyPr>
          <a:lstStyle/>
          <a:p>
            <a:pPr indent="0" lvl="0" marL="0" marR="0" rtl="0" algn="l">
              <a:lnSpc>
                <a:spcPct val="84255"/>
              </a:lnSpc>
              <a:spcBef>
                <a:spcPts val="0"/>
              </a:spcBef>
              <a:spcAft>
                <a:spcPts val="0"/>
              </a:spcAft>
              <a:buClr>
                <a:srgbClr val="161616"/>
              </a:buClr>
              <a:buSzPts val="4500"/>
              <a:buFont typeface="IBM Plex Sans"/>
              <a:buNone/>
            </a:pPr>
            <a:r>
              <a:rPr b="1" lang="en-US" spc="-45" sz="4500">
                <a:solidFill>
                  <a:srgbClr val="161616"/>
                </a:solidFill>
                <a:latin typeface="IBM Plex Sans"/>
                <a:ea typeface="IBM Plex Sans"/>
                <a:cs typeface="IBM Plex Sans"/>
                <a:sym typeface="IBM Plex Sans"/>
              </a:rPr>
              <a:t>A fast model is not a fast service</a:t>
            </a:r>
            <a:endParaRPr sz="4500">
              <a:solidFill>
                <a:schemeClr val="dk1"/>
              </a:solidFill>
              <a:latin typeface="Calibri"/>
              <a:ea typeface="Calibri"/>
              <a:cs typeface="Calibri"/>
              <a:sym typeface="Calibri"/>
            </a:endParaRPr>
          </a:p>
        </p:txBody>
      </p:sp>
      <p:sp>
        <p:nvSpPr>
          <p:cNvPr id="120" name="Google Shape;120;p3"/>
          <p:cNvSpPr/>
          <p:nvPr/>
        </p:nvSpPr>
        <p:spPr>
          <a:xfrm>
            <a:off x="914384" y="1877384"/>
            <a:ext cx="871733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pc="108" sz="1800">
                <a:solidFill>
                  <a:srgbClr val="525252"/>
                </a:solidFill>
                <a:latin typeface="IBM Plex Mono"/>
                <a:ea typeface="IBM Plex Mono"/>
                <a:cs typeface="IBM Plex Mono"/>
                <a:sym typeface="IBM Plex Mono"/>
              </a:rPr>
              <a:t>SAME SYSTEM · SAME MINUTE · TWO STORIES</a:t>
            </a:r>
            <a:endParaRPr sz="1800">
              <a:solidFill>
                <a:schemeClr val="dk1"/>
              </a:solidFill>
              <a:latin typeface="Calibri"/>
              <a:ea typeface="Calibri"/>
              <a:cs typeface="Calibri"/>
              <a:sym typeface="Calibri"/>
            </a:endParaRPr>
          </a:p>
        </p:txBody>
      </p:sp>
      <p:sp>
        <p:nvSpPr>
          <p:cNvPr id="121" name="Google Shape;121;p3"/>
          <p:cNvSpPr/>
          <p:nvPr/>
        </p:nvSpPr>
        <p:spPr>
          <a:xfrm>
            <a:off x="914384" y="2364218"/>
            <a:ext cx="3867134" cy="1881684"/>
          </a:xfrm>
          <a:prstGeom prst="rect">
            <a:avLst/>
          </a:prstGeom>
          <a:solidFill>
            <a:srgbClr val="DEFBE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3"/>
          <p:cNvSpPr/>
          <p:nvPr/>
        </p:nvSpPr>
        <p:spPr>
          <a:xfrm>
            <a:off x="1142917" y="2554718"/>
            <a:ext cx="3751073"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6027"/>
              </a:buClr>
              <a:buSzPts val="1800"/>
              <a:buFont typeface="IBM Plex Mono"/>
              <a:buNone/>
            </a:pPr>
            <a:r>
              <a:rPr b="1" lang="en-US" sz="1800">
                <a:solidFill>
                  <a:srgbClr val="0E6027"/>
                </a:solidFill>
                <a:latin typeface="IBM Plex Mono"/>
                <a:ea typeface="IBM Plex Mono"/>
                <a:cs typeface="IBM Plex Mono"/>
                <a:sym typeface="IBM Plex Mono"/>
              </a:rPr>
              <a:t>THE DASHBOARD</a:t>
            </a:r>
            <a:endParaRPr sz="1800">
              <a:solidFill>
                <a:schemeClr val="dk1"/>
              </a:solidFill>
              <a:latin typeface="Calibri"/>
              <a:ea typeface="Calibri"/>
              <a:cs typeface="Calibri"/>
              <a:sym typeface="Calibri"/>
            </a:endParaRPr>
          </a:p>
        </p:txBody>
      </p:sp>
      <p:sp>
        <p:nvSpPr>
          <p:cNvPr id="123" name="Google Shape;123;p3"/>
          <p:cNvSpPr/>
          <p:nvPr/>
        </p:nvSpPr>
        <p:spPr>
          <a:xfrm>
            <a:off x="1142917" y="2908184"/>
            <a:ext cx="3751073" cy="535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44317"/>
              </a:buClr>
              <a:buSzPts val="3000"/>
              <a:buFont typeface="IBM Plex Sans"/>
              <a:buNone/>
            </a:pPr>
            <a:r>
              <a:rPr b="1" lang="en-US" sz="3000">
                <a:solidFill>
                  <a:srgbClr val="044317"/>
                </a:solidFill>
                <a:latin typeface="IBM Plex Sans"/>
                <a:ea typeface="IBM Plex Sans"/>
                <a:cs typeface="IBM Plex Sans"/>
                <a:sym typeface="IBM Plex Sans"/>
              </a:rPr>
              <a:t>Healthy.</a:t>
            </a:r>
            <a:endParaRPr sz="3000">
              <a:solidFill>
                <a:schemeClr val="dk1"/>
              </a:solidFill>
              <a:latin typeface="Calibri"/>
              <a:ea typeface="Calibri"/>
              <a:cs typeface="Calibri"/>
              <a:sym typeface="Calibri"/>
            </a:endParaRPr>
          </a:p>
        </p:txBody>
      </p:sp>
      <p:sp>
        <p:nvSpPr>
          <p:cNvPr id="124" name="Google Shape;124;p3"/>
          <p:cNvSpPr/>
          <p:nvPr/>
        </p:nvSpPr>
        <p:spPr>
          <a:xfrm>
            <a:off x="1142917" y="3462735"/>
            <a:ext cx="3512368" cy="630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6027"/>
              </a:buClr>
              <a:buSzPts val="1800"/>
              <a:buFont typeface="IBM Plex Sans"/>
              <a:buNone/>
            </a:pPr>
            <a:r>
              <a:rPr lang="en-US" sz="1800">
                <a:solidFill>
                  <a:srgbClr val="0E6027"/>
                </a:solidFill>
                <a:latin typeface="IBM Plex Sans"/>
                <a:ea typeface="IBM Plex Sans"/>
                <a:cs typeface="IBM Plex Sans"/>
                <a:sym typeface="IBM Plex Sans"/>
              </a:rPr>
              <a:t>Average tokens/s up. Every panel green.</a:t>
            </a:r>
            <a:endParaRPr sz="1800">
              <a:solidFill>
                <a:schemeClr val="dk1"/>
              </a:solidFill>
              <a:latin typeface="Calibri"/>
              <a:ea typeface="Calibri"/>
              <a:cs typeface="Calibri"/>
              <a:sym typeface="Calibri"/>
            </a:endParaRPr>
          </a:p>
        </p:txBody>
      </p:sp>
      <p:sp>
        <p:nvSpPr>
          <p:cNvPr id="125" name="Google Shape;125;p3"/>
          <p:cNvSpPr/>
          <p:nvPr/>
        </p:nvSpPr>
        <p:spPr>
          <a:xfrm>
            <a:off x="4972017" y="2364218"/>
            <a:ext cx="3867216" cy="1881684"/>
          </a:xfrm>
          <a:prstGeom prst="rect">
            <a:avLst/>
          </a:prstGeom>
          <a:solidFill>
            <a:srgbClr val="FF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3"/>
          <p:cNvSpPr/>
          <p:nvPr/>
        </p:nvSpPr>
        <p:spPr>
          <a:xfrm>
            <a:off x="5200551" y="2554718"/>
            <a:ext cx="3751163"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2191F"/>
              </a:buClr>
              <a:buSzPts val="1800"/>
              <a:buFont typeface="IBM Plex Mono"/>
              <a:buNone/>
            </a:pPr>
            <a:r>
              <a:rPr b="1" lang="en-US" sz="1800">
                <a:solidFill>
                  <a:srgbClr val="A2191F"/>
                </a:solidFill>
                <a:latin typeface="IBM Plex Mono"/>
                <a:ea typeface="IBM Plex Mono"/>
                <a:cs typeface="IBM Plex Mono"/>
                <a:sym typeface="IBM Plex Mono"/>
              </a:rPr>
              <a:t>THE USER</a:t>
            </a:r>
            <a:endParaRPr sz="1800">
              <a:solidFill>
                <a:schemeClr val="dk1"/>
              </a:solidFill>
              <a:latin typeface="Calibri"/>
              <a:ea typeface="Calibri"/>
              <a:cs typeface="Calibri"/>
              <a:sym typeface="Calibri"/>
            </a:endParaRPr>
          </a:p>
        </p:txBody>
      </p:sp>
      <p:sp>
        <p:nvSpPr>
          <p:cNvPr id="127" name="Google Shape;127;p3"/>
          <p:cNvSpPr/>
          <p:nvPr/>
        </p:nvSpPr>
        <p:spPr>
          <a:xfrm>
            <a:off x="5200551" y="2908184"/>
            <a:ext cx="3751163" cy="535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50E13"/>
              </a:buClr>
              <a:buSzPts val="3000"/>
              <a:buFont typeface="IBM Plex Sans"/>
              <a:buNone/>
            </a:pPr>
            <a:r>
              <a:rPr b="1" lang="en-US" sz="3000">
                <a:solidFill>
                  <a:srgbClr val="750E13"/>
                </a:solidFill>
                <a:latin typeface="IBM Plex Sans"/>
                <a:ea typeface="IBM Plex Sans"/>
                <a:cs typeface="IBM Plex Sans"/>
                <a:sym typeface="IBM Plex Sans"/>
              </a:rPr>
              <a:t>Still waiting.</a:t>
            </a:r>
            <a:endParaRPr sz="3000">
              <a:solidFill>
                <a:schemeClr val="dk1"/>
              </a:solidFill>
              <a:latin typeface="Calibri"/>
              <a:ea typeface="Calibri"/>
              <a:cs typeface="Calibri"/>
              <a:sym typeface="Calibri"/>
            </a:endParaRPr>
          </a:p>
        </p:txBody>
      </p:sp>
      <p:sp>
        <p:nvSpPr>
          <p:cNvPr id="128" name="Google Shape;128;p3"/>
          <p:cNvSpPr/>
          <p:nvPr/>
        </p:nvSpPr>
        <p:spPr>
          <a:xfrm>
            <a:off x="5200551" y="3462735"/>
            <a:ext cx="3512453" cy="630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2191F"/>
              </a:buClr>
              <a:buSzPts val="1800"/>
              <a:buFont typeface="IBM Plex Sans"/>
              <a:buNone/>
            </a:pPr>
            <a:r>
              <a:rPr lang="en-US" sz="1800">
                <a:solidFill>
                  <a:srgbClr val="A2191F"/>
                </a:solidFill>
                <a:latin typeface="IBM Plex Sans"/>
                <a:ea typeface="IBM Plex Sans"/>
                <a:cs typeface="IBM Plex Sans"/>
                <a:sym typeface="IBM Plex Sans"/>
              </a:rPr>
              <a:t>Stuck in the p99 tail, the one they remember.</a:t>
            </a:r>
            <a:endParaRPr sz="1800">
              <a:solidFill>
                <a:schemeClr val="dk1"/>
              </a:solidFill>
              <a:latin typeface="Calibri"/>
              <a:ea typeface="Calibri"/>
              <a:cs typeface="Calibri"/>
              <a:sym typeface="Calibri"/>
            </a:endParaRPr>
          </a:p>
        </p:txBody>
      </p:sp>
      <p:sp>
        <p:nvSpPr>
          <p:cNvPr id="129" name="Google Shape;129;p3"/>
          <p:cNvSpPr/>
          <p:nvPr/>
        </p:nvSpPr>
        <p:spPr>
          <a:xfrm>
            <a:off x="914384" y="7312918"/>
            <a:ext cx="7924850" cy="15875"/>
          </a:xfrm>
          <a:prstGeom prst="rect">
            <a:avLst/>
          </a:prstGeom>
          <a:solidFill>
            <a:srgbClr val="161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3"/>
          <p:cNvSpPr/>
          <p:nvPr/>
        </p:nvSpPr>
        <p:spPr>
          <a:xfrm>
            <a:off x="952417" y="6152803"/>
            <a:ext cx="419117" cy="1160115"/>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3"/>
          <p:cNvSpPr/>
          <p:nvPr/>
        </p:nvSpPr>
        <p:spPr>
          <a:xfrm>
            <a:off x="1447684" y="4771678"/>
            <a:ext cx="419199" cy="254124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3"/>
          <p:cNvSpPr/>
          <p:nvPr/>
        </p:nvSpPr>
        <p:spPr>
          <a:xfrm>
            <a:off x="1943034" y="5103151"/>
            <a:ext cx="419117" cy="2209767"/>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3"/>
          <p:cNvSpPr/>
          <p:nvPr/>
        </p:nvSpPr>
        <p:spPr>
          <a:xfrm>
            <a:off x="2438301" y="5655634"/>
            <a:ext cx="419199" cy="1657284"/>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3"/>
          <p:cNvSpPr/>
          <p:nvPr/>
        </p:nvSpPr>
        <p:spPr>
          <a:xfrm>
            <a:off x="2933651" y="6097571"/>
            <a:ext cx="419117" cy="1215347"/>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3"/>
          <p:cNvSpPr/>
          <p:nvPr/>
        </p:nvSpPr>
        <p:spPr>
          <a:xfrm>
            <a:off x="3428917" y="6429045"/>
            <a:ext cx="419199" cy="883874"/>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3"/>
          <p:cNvSpPr/>
          <p:nvPr/>
        </p:nvSpPr>
        <p:spPr>
          <a:xfrm>
            <a:off x="3924267" y="6650055"/>
            <a:ext cx="419117" cy="662864"/>
          </a:xfrm>
          <a:prstGeom prst="rect">
            <a:avLst/>
          </a:prstGeom>
          <a:solidFill>
            <a:srgbClr val="78A9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3"/>
          <p:cNvSpPr/>
          <p:nvPr/>
        </p:nvSpPr>
        <p:spPr>
          <a:xfrm>
            <a:off x="4419534" y="6815750"/>
            <a:ext cx="419199" cy="497169"/>
          </a:xfrm>
          <a:prstGeom prst="rect">
            <a:avLst/>
          </a:prstGeom>
          <a:solidFill>
            <a:srgbClr val="78A9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3"/>
          <p:cNvSpPr/>
          <p:nvPr/>
        </p:nvSpPr>
        <p:spPr>
          <a:xfrm>
            <a:off x="4914884" y="6926213"/>
            <a:ext cx="419117" cy="386705"/>
          </a:xfrm>
          <a:prstGeom prst="rect">
            <a:avLst/>
          </a:prstGeom>
          <a:solidFill>
            <a:srgbClr val="78A9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3"/>
          <p:cNvSpPr/>
          <p:nvPr/>
        </p:nvSpPr>
        <p:spPr>
          <a:xfrm>
            <a:off x="5410151" y="7009144"/>
            <a:ext cx="419199" cy="303775"/>
          </a:xfrm>
          <a:prstGeom prst="rect">
            <a:avLst/>
          </a:prstGeom>
          <a:solidFill>
            <a:srgbClr val="FA4D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3"/>
          <p:cNvSpPr/>
          <p:nvPr/>
        </p:nvSpPr>
        <p:spPr>
          <a:xfrm>
            <a:off x="5905500" y="7064375"/>
            <a:ext cx="419117" cy="248543"/>
          </a:xfrm>
          <a:prstGeom prst="rect">
            <a:avLst/>
          </a:prstGeom>
          <a:solidFill>
            <a:srgbClr val="FA4D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3"/>
          <p:cNvSpPr/>
          <p:nvPr/>
        </p:nvSpPr>
        <p:spPr>
          <a:xfrm>
            <a:off x="6400767" y="7091991"/>
            <a:ext cx="419199" cy="220927"/>
          </a:xfrm>
          <a:prstGeom prst="rect">
            <a:avLst/>
          </a:prstGeom>
          <a:solidFill>
            <a:srgbClr val="FA4D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3"/>
          <p:cNvSpPr/>
          <p:nvPr/>
        </p:nvSpPr>
        <p:spPr>
          <a:xfrm>
            <a:off x="6896117" y="7119607"/>
            <a:ext cx="419117" cy="193311"/>
          </a:xfrm>
          <a:prstGeom prst="rect">
            <a:avLst/>
          </a:prstGeom>
          <a:solidFill>
            <a:srgbClr val="DA1E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3"/>
          <p:cNvSpPr/>
          <p:nvPr/>
        </p:nvSpPr>
        <p:spPr>
          <a:xfrm>
            <a:off x="7391384" y="7119607"/>
            <a:ext cx="419199" cy="193311"/>
          </a:xfrm>
          <a:prstGeom prst="rect">
            <a:avLst/>
          </a:prstGeom>
          <a:solidFill>
            <a:srgbClr val="DA1E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3"/>
          <p:cNvSpPr/>
          <p:nvPr/>
        </p:nvSpPr>
        <p:spPr>
          <a:xfrm>
            <a:off x="7886734" y="7147223"/>
            <a:ext cx="419117" cy="165695"/>
          </a:xfrm>
          <a:prstGeom prst="rect">
            <a:avLst/>
          </a:prstGeom>
          <a:solidFill>
            <a:srgbClr val="DA1E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3"/>
          <p:cNvSpPr/>
          <p:nvPr/>
        </p:nvSpPr>
        <p:spPr>
          <a:xfrm>
            <a:off x="8382001" y="7147223"/>
            <a:ext cx="419199" cy="165695"/>
          </a:xfrm>
          <a:prstGeom prst="rect">
            <a:avLst/>
          </a:prstGeom>
          <a:solidFill>
            <a:srgbClr val="DA1E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3"/>
          <p:cNvSpPr/>
          <p:nvPr/>
        </p:nvSpPr>
        <p:spPr>
          <a:xfrm>
            <a:off x="2420028" y="4493535"/>
            <a:ext cx="26458" cy="2819384"/>
          </a:xfrm>
          <a:prstGeom prst="rect">
            <a:avLst/>
          </a:prstGeom>
          <a:solidFill>
            <a:srgbClr val="1980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3"/>
          <p:cNvSpPr/>
          <p:nvPr/>
        </p:nvSpPr>
        <p:spPr>
          <a:xfrm>
            <a:off x="2553395" y="4512634"/>
            <a:ext cx="62471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Mono"/>
              <a:buNone/>
            </a:pPr>
            <a:r>
              <a:rPr b="1" lang="en-US" sz="1800">
                <a:solidFill>
                  <a:srgbClr val="198038"/>
                </a:solidFill>
                <a:latin typeface="IBM Plex Mono"/>
                <a:ea typeface="IBM Plex Mono"/>
                <a:cs typeface="IBM Plex Mono"/>
                <a:sym typeface="IBM Plex Mono"/>
              </a:rPr>
              <a:t>mean</a:t>
            </a:r>
            <a:endParaRPr sz="1800">
              <a:solidFill>
                <a:schemeClr val="dk1"/>
              </a:solidFill>
              <a:latin typeface="Calibri"/>
              <a:ea typeface="Calibri"/>
              <a:cs typeface="Calibri"/>
              <a:sym typeface="Calibri"/>
            </a:endParaRPr>
          </a:p>
        </p:txBody>
      </p:sp>
      <p:sp>
        <p:nvSpPr>
          <p:cNvPr id="148" name="Google Shape;148;p3"/>
          <p:cNvSpPr/>
          <p:nvPr/>
        </p:nvSpPr>
        <p:spPr>
          <a:xfrm>
            <a:off x="7729720" y="5693668"/>
            <a:ext cx="26458" cy="1619250"/>
          </a:xfrm>
          <a:prstGeom prst="rect">
            <a:avLst/>
          </a:prstGeom>
          <a:solidFill>
            <a:srgbClr val="DA1E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3"/>
          <p:cNvSpPr/>
          <p:nvPr/>
        </p:nvSpPr>
        <p:spPr>
          <a:xfrm>
            <a:off x="7056520" y="5293569"/>
            <a:ext cx="196098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A1E28"/>
              </a:buClr>
              <a:buSzPts val="1800"/>
              <a:buFont typeface="IBM Plex Mono"/>
              <a:buNone/>
            </a:pPr>
            <a:r>
              <a:rPr b="1" lang="en-US" sz="1800">
                <a:solidFill>
                  <a:srgbClr val="DA1E28"/>
                </a:solidFill>
                <a:latin typeface="IBM Plex Mono"/>
                <a:ea typeface="IBM Plex Mono"/>
                <a:cs typeface="IBM Plex Mono"/>
                <a:sym typeface="IBM Plex Mono"/>
              </a:rPr>
              <a:t>p99 = the SLA</a:t>
            </a:r>
            <a:endParaRPr sz="1800">
              <a:solidFill>
                <a:schemeClr val="dk1"/>
              </a:solidFill>
              <a:latin typeface="Calibri"/>
              <a:ea typeface="Calibri"/>
              <a:cs typeface="Calibri"/>
              <a:sym typeface="Calibri"/>
            </a:endParaRPr>
          </a:p>
        </p:txBody>
      </p:sp>
      <p:sp>
        <p:nvSpPr>
          <p:cNvPr id="150" name="Google Shape;150;p3"/>
          <p:cNvSpPr/>
          <p:nvPr/>
        </p:nvSpPr>
        <p:spPr>
          <a:xfrm>
            <a:off x="914384" y="7424043"/>
            <a:ext cx="367858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Requests by latency (illustrative)</a:t>
            </a:r>
            <a:endParaRPr sz="1800">
              <a:solidFill>
                <a:schemeClr val="dk1"/>
              </a:solidFill>
              <a:latin typeface="Calibri"/>
              <a:ea typeface="Calibri"/>
              <a:cs typeface="Calibri"/>
              <a:sym typeface="Calibri"/>
            </a:endParaRPr>
          </a:p>
        </p:txBody>
      </p:sp>
      <p:sp>
        <p:nvSpPr>
          <p:cNvPr id="151" name="Google Shape;151;p3"/>
          <p:cNvSpPr/>
          <p:nvPr/>
        </p:nvSpPr>
        <p:spPr>
          <a:xfrm>
            <a:off x="7872678" y="7424043"/>
            <a:ext cx="1042756"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slower →</a:t>
            </a:r>
            <a:endParaRPr sz="1800">
              <a:solidFill>
                <a:schemeClr val="dk1"/>
              </a:solidFill>
              <a:latin typeface="Calibri"/>
              <a:ea typeface="Calibri"/>
              <a:cs typeface="Calibri"/>
              <a:sym typeface="Calibri"/>
            </a:endParaRPr>
          </a:p>
        </p:txBody>
      </p:sp>
      <p:sp>
        <p:nvSpPr>
          <p:cNvPr id="152" name="Google Shape;152;p3"/>
          <p:cNvSpPr/>
          <p:nvPr/>
        </p:nvSpPr>
        <p:spPr>
          <a:xfrm>
            <a:off x="9448767" y="1877384"/>
            <a:ext cx="871733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pc="108" sz="1800">
                <a:solidFill>
                  <a:srgbClr val="525252"/>
                </a:solidFill>
                <a:latin typeface="IBM Plex Mono"/>
                <a:ea typeface="IBM Plex Mono"/>
                <a:cs typeface="IBM Plex Mono"/>
                <a:sym typeface="IBM Plex Mono"/>
              </a:rPr>
              <a:t>EVERY REQUEST CROSSES FOUR FLOORS</a:t>
            </a:r>
            <a:endParaRPr sz="1800">
              <a:solidFill>
                <a:schemeClr val="dk1"/>
              </a:solidFill>
              <a:latin typeface="Calibri"/>
              <a:ea typeface="Calibri"/>
              <a:cs typeface="Calibri"/>
              <a:sym typeface="Calibri"/>
            </a:endParaRPr>
          </a:p>
        </p:txBody>
      </p:sp>
      <p:sp>
        <p:nvSpPr>
          <p:cNvPr id="153" name="Google Shape;153;p3"/>
          <p:cNvSpPr/>
          <p:nvPr/>
        </p:nvSpPr>
        <p:spPr>
          <a:xfrm>
            <a:off x="10286835" y="2364218"/>
            <a:ext cx="37719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pc="108" sz="1800">
                <a:solidFill>
                  <a:srgbClr val="6F6F6F"/>
                </a:solidFill>
                <a:latin typeface="IBM Plex Mono"/>
                <a:ea typeface="IBM Plex Mono"/>
                <a:cs typeface="IBM Plex Mono"/>
                <a:sym typeface="IBM Plex Mono"/>
              </a:rPr>
              <a:t>LAYER</a:t>
            </a:r>
            <a:endParaRPr sz="1800">
              <a:solidFill>
                <a:schemeClr val="dk1"/>
              </a:solidFill>
              <a:latin typeface="Calibri"/>
              <a:ea typeface="Calibri"/>
              <a:cs typeface="Calibri"/>
              <a:sym typeface="Calibri"/>
            </a:endParaRPr>
          </a:p>
        </p:txBody>
      </p:sp>
      <p:sp>
        <p:nvSpPr>
          <p:cNvPr id="154" name="Google Shape;154;p3"/>
          <p:cNvSpPr/>
          <p:nvPr/>
        </p:nvSpPr>
        <p:spPr>
          <a:xfrm>
            <a:off x="13944452" y="2364218"/>
            <a:ext cx="377208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2191F"/>
              </a:buClr>
              <a:buSzPts val="1800"/>
              <a:buFont typeface="IBM Plex Mono"/>
              <a:buNone/>
            </a:pPr>
            <a:r>
              <a:rPr b="1" lang="en-US" spc="108" sz="1800">
                <a:solidFill>
                  <a:srgbClr val="A2191F"/>
                </a:solidFill>
                <a:latin typeface="IBM Plex Mono"/>
                <a:ea typeface="IBM Plex Mono"/>
                <a:cs typeface="IBM Plex Mono"/>
                <a:sym typeface="IBM Plex Mono"/>
              </a:rPr>
              <a:t>WHERE THE TIME HIDES</a:t>
            </a:r>
            <a:endParaRPr b="1" sz="1800">
              <a:solidFill>
                <a:schemeClr val="dk1"/>
              </a:solidFill>
              <a:latin typeface="Calibri"/>
              <a:ea typeface="Calibri"/>
              <a:cs typeface="Calibri"/>
              <a:sym typeface="Calibri"/>
            </a:endParaRPr>
          </a:p>
        </p:txBody>
      </p:sp>
      <p:sp>
        <p:nvSpPr>
          <p:cNvPr id="155" name="Google Shape;155;p3"/>
          <p:cNvSpPr/>
          <p:nvPr/>
        </p:nvSpPr>
        <p:spPr>
          <a:xfrm>
            <a:off x="9448767" y="2736701"/>
            <a:ext cx="7924850" cy="15875"/>
          </a:xfrm>
          <a:prstGeom prst="rect">
            <a:avLst/>
          </a:prstGeom>
          <a:solidFill>
            <a:srgbClr val="161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3"/>
          <p:cNvSpPr/>
          <p:nvPr/>
        </p:nvSpPr>
        <p:spPr>
          <a:xfrm>
            <a:off x="9448767" y="3883835"/>
            <a:ext cx="792485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3"/>
          <p:cNvSpPr/>
          <p:nvPr/>
        </p:nvSpPr>
        <p:spPr>
          <a:xfrm>
            <a:off x="9448767" y="3013439"/>
            <a:ext cx="609534" cy="609534"/>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3"/>
          <p:cNvSpPr/>
          <p:nvPr/>
        </p:nvSpPr>
        <p:spPr>
          <a:xfrm>
            <a:off x="9410667" y="3013439"/>
            <a:ext cx="685734" cy="647634"/>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2100"/>
              <a:buFont typeface="IBM Plex Mono"/>
              <a:buNone/>
            </a:pPr>
            <a:r>
              <a:rPr b="1" lang="en-US" sz="2100">
                <a:solidFill>
                  <a:srgbClr val="FFFFFF"/>
                </a:solidFill>
                <a:latin typeface="IBM Plex Mono"/>
                <a:ea typeface="IBM Plex Mono"/>
                <a:cs typeface="IBM Plex Mono"/>
                <a:sym typeface="IBM Plex Mono"/>
              </a:rPr>
              <a:t>4</a:t>
            </a:r>
            <a:endParaRPr sz="2100">
              <a:solidFill>
                <a:schemeClr val="dk1"/>
              </a:solidFill>
              <a:latin typeface="Calibri"/>
              <a:ea typeface="Calibri"/>
              <a:cs typeface="Calibri"/>
              <a:sym typeface="Calibri"/>
            </a:endParaRPr>
          </a:p>
        </p:txBody>
      </p:sp>
      <p:sp>
        <p:nvSpPr>
          <p:cNvPr id="159" name="Google Shape;159;p3"/>
          <p:cNvSpPr/>
          <p:nvPr/>
        </p:nvSpPr>
        <p:spPr>
          <a:xfrm>
            <a:off x="10286835" y="2962093"/>
            <a:ext cx="3771991"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400"/>
              <a:buFont typeface="IBM Plex Sans"/>
              <a:buNone/>
            </a:pPr>
            <a:r>
              <a:rPr b="1" lang="en-US" sz="2400">
                <a:solidFill>
                  <a:srgbClr val="161616"/>
                </a:solidFill>
                <a:latin typeface="IBM Plex Sans"/>
                <a:ea typeface="IBM Plex Sans"/>
                <a:cs typeface="IBM Plex Sans"/>
                <a:sym typeface="IBM Plex Sans"/>
              </a:rPr>
              <a:t>Routing</a:t>
            </a:r>
            <a:endParaRPr sz="2400">
              <a:solidFill>
                <a:schemeClr val="dk1"/>
              </a:solidFill>
              <a:latin typeface="Calibri"/>
              <a:ea typeface="Calibri"/>
              <a:cs typeface="Calibri"/>
              <a:sym typeface="Calibri"/>
            </a:endParaRPr>
          </a:p>
        </p:txBody>
      </p:sp>
      <p:sp>
        <p:nvSpPr>
          <p:cNvPr id="160" name="Google Shape;160;p3"/>
          <p:cNvSpPr/>
          <p:nvPr/>
        </p:nvSpPr>
        <p:spPr>
          <a:xfrm>
            <a:off x="10286835" y="3377985"/>
            <a:ext cx="37719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Sans"/>
              <a:buNone/>
            </a:pPr>
            <a:r>
              <a:rPr lang="en-US" sz="1800">
                <a:solidFill>
                  <a:srgbClr val="525252"/>
                </a:solidFill>
                <a:latin typeface="IBM Plex Sans"/>
                <a:ea typeface="IBM Plex Sans"/>
                <a:cs typeface="IBM Plex Sans"/>
                <a:sym typeface="IBM Plex Sans"/>
              </a:rPr>
              <a:t>llm-d · Kubernetes / LPAR</a:t>
            </a:r>
            <a:endParaRPr sz="1800">
              <a:solidFill>
                <a:schemeClr val="dk1"/>
              </a:solidFill>
              <a:latin typeface="Calibri"/>
              <a:ea typeface="Calibri"/>
              <a:cs typeface="Calibri"/>
              <a:sym typeface="Calibri"/>
            </a:endParaRPr>
          </a:p>
        </p:txBody>
      </p:sp>
      <p:sp>
        <p:nvSpPr>
          <p:cNvPr id="161" name="Google Shape;161;p3"/>
          <p:cNvSpPr/>
          <p:nvPr/>
        </p:nvSpPr>
        <p:spPr>
          <a:xfrm>
            <a:off x="13944452" y="2995414"/>
            <a:ext cx="3532040" cy="68368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2191F"/>
              </a:buClr>
              <a:buSzPts val="1950"/>
              <a:buFont typeface="IBM Plex Sans"/>
              <a:buNone/>
            </a:pPr>
            <a:r>
              <a:rPr b="1" lang="en-US" sz="1950">
                <a:solidFill>
                  <a:srgbClr val="A2191F"/>
                </a:solidFill>
                <a:latin typeface="IBM Plex Sans"/>
                <a:ea typeface="IBM Plex Sans"/>
                <a:cs typeface="IBM Plex Sans"/>
                <a:sym typeface="IBM Plex Sans"/>
              </a:rPr>
              <a:t>Cold cache, wrong pod, long queue</a:t>
            </a:r>
            <a:endParaRPr b="1" sz="1950">
              <a:solidFill>
                <a:schemeClr val="dk1"/>
              </a:solidFill>
              <a:latin typeface="Calibri"/>
              <a:ea typeface="Calibri"/>
              <a:cs typeface="Calibri"/>
              <a:sym typeface="Calibri"/>
            </a:endParaRPr>
          </a:p>
        </p:txBody>
      </p:sp>
      <p:sp>
        <p:nvSpPr>
          <p:cNvPr id="162" name="Google Shape;162;p3"/>
          <p:cNvSpPr/>
          <p:nvPr/>
        </p:nvSpPr>
        <p:spPr>
          <a:xfrm>
            <a:off x="9448767" y="5020386"/>
            <a:ext cx="792485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3"/>
          <p:cNvSpPr/>
          <p:nvPr/>
        </p:nvSpPr>
        <p:spPr>
          <a:xfrm>
            <a:off x="9448767" y="4149990"/>
            <a:ext cx="609534" cy="609534"/>
          </a:xfrm>
          <a:prstGeom prst="rect">
            <a:avLst/>
          </a:prstGeom>
          <a:solidFill>
            <a:srgbClr val="002D9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3"/>
          <p:cNvSpPr/>
          <p:nvPr/>
        </p:nvSpPr>
        <p:spPr>
          <a:xfrm>
            <a:off x="9410667" y="4149990"/>
            <a:ext cx="685734" cy="647634"/>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2100"/>
              <a:buFont typeface="IBM Plex Mono"/>
              <a:buNone/>
            </a:pPr>
            <a:r>
              <a:rPr b="1" lang="en-US" sz="2100">
                <a:solidFill>
                  <a:srgbClr val="FFFFFF"/>
                </a:solidFill>
                <a:latin typeface="IBM Plex Mono"/>
                <a:ea typeface="IBM Plex Mono"/>
                <a:cs typeface="IBM Plex Mono"/>
                <a:sym typeface="IBM Plex Mono"/>
              </a:rPr>
              <a:t>3</a:t>
            </a:r>
            <a:endParaRPr sz="2100">
              <a:solidFill>
                <a:schemeClr val="dk1"/>
              </a:solidFill>
              <a:latin typeface="Calibri"/>
              <a:ea typeface="Calibri"/>
              <a:cs typeface="Calibri"/>
              <a:sym typeface="Calibri"/>
            </a:endParaRPr>
          </a:p>
        </p:txBody>
      </p:sp>
      <p:sp>
        <p:nvSpPr>
          <p:cNvPr id="165" name="Google Shape;165;p3"/>
          <p:cNvSpPr/>
          <p:nvPr/>
        </p:nvSpPr>
        <p:spPr>
          <a:xfrm>
            <a:off x="10286835" y="4098644"/>
            <a:ext cx="3771991"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400"/>
              <a:buFont typeface="IBM Plex Sans"/>
              <a:buNone/>
            </a:pPr>
            <a:r>
              <a:rPr b="1" lang="en-US" sz="2400">
                <a:solidFill>
                  <a:srgbClr val="161616"/>
                </a:solidFill>
                <a:latin typeface="IBM Plex Sans"/>
                <a:ea typeface="IBM Plex Sans"/>
                <a:cs typeface="IBM Plex Sans"/>
                <a:sym typeface="IBM Plex Sans"/>
              </a:rPr>
              <a:t>Runtime</a:t>
            </a:r>
            <a:endParaRPr sz="2400">
              <a:solidFill>
                <a:schemeClr val="dk1"/>
              </a:solidFill>
              <a:latin typeface="Calibri"/>
              <a:ea typeface="Calibri"/>
              <a:cs typeface="Calibri"/>
              <a:sym typeface="Calibri"/>
            </a:endParaRPr>
          </a:p>
        </p:txBody>
      </p:sp>
      <p:sp>
        <p:nvSpPr>
          <p:cNvPr id="166" name="Google Shape;166;p3"/>
          <p:cNvSpPr/>
          <p:nvPr/>
        </p:nvSpPr>
        <p:spPr>
          <a:xfrm>
            <a:off x="10286835" y="4514536"/>
            <a:ext cx="37719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Sans"/>
              <a:buNone/>
            </a:pPr>
            <a:r>
              <a:rPr lang="en-US" sz="1800">
                <a:solidFill>
                  <a:srgbClr val="525252"/>
                </a:solidFill>
                <a:latin typeface="IBM Plex Sans"/>
                <a:ea typeface="IBM Plex Sans"/>
                <a:cs typeface="IBM Plex Sans"/>
                <a:sym typeface="IBM Plex Sans"/>
              </a:rPr>
              <a:t>vLLM · batching · KV cache</a:t>
            </a:r>
            <a:endParaRPr sz="1800">
              <a:solidFill>
                <a:schemeClr val="dk1"/>
              </a:solidFill>
              <a:latin typeface="Calibri"/>
              <a:ea typeface="Calibri"/>
              <a:cs typeface="Calibri"/>
              <a:sym typeface="Calibri"/>
            </a:endParaRPr>
          </a:p>
        </p:txBody>
      </p:sp>
      <p:sp>
        <p:nvSpPr>
          <p:cNvPr id="167" name="Google Shape;167;p3"/>
          <p:cNvSpPr/>
          <p:nvPr/>
        </p:nvSpPr>
        <p:spPr>
          <a:xfrm>
            <a:off x="13944452" y="4131965"/>
            <a:ext cx="3532040" cy="68368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2191F"/>
              </a:buClr>
              <a:buSzPts val="1950"/>
              <a:buFont typeface="IBM Plex Sans"/>
              <a:buNone/>
            </a:pPr>
            <a:r>
              <a:rPr b="1" lang="en-US" sz="1950">
                <a:solidFill>
                  <a:srgbClr val="A2191F"/>
                </a:solidFill>
                <a:latin typeface="IBM Plex Sans"/>
                <a:ea typeface="IBM Plex Sans"/>
                <a:cs typeface="IBM Plex Sans"/>
                <a:sym typeface="IBM Plex Sans"/>
              </a:rPr>
              <a:t>Scheduling, KV-cache pressure</a:t>
            </a:r>
            <a:endParaRPr b="1" sz="1950">
              <a:solidFill>
                <a:schemeClr val="dk1"/>
              </a:solidFill>
              <a:latin typeface="Calibri"/>
              <a:ea typeface="Calibri"/>
              <a:cs typeface="Calibri"/>
              <a:sym typeface="Calibri"/>
            </a:endParaRPr>
          </a:p>
        </p:txBody>
      </p:sp>
      <p:sp>
        <p:nvSpPr>
          <p:cNvPr id="168" name="Google Shape;168;p3"/>
          <p:cNvSpPr/>
          <p:nvPr/>
        </p:nvSpPr>
        <p:spPr>
          <a:xfrm>
            <a:off x="9448767" y="6156937"/>
            <a:ext cx="792485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3"/>
          <p:cNvSpPr/>
          <p:nvPr/>
        </p:nvSpPr>
        <p:spPr>
          <a:xfrm>
            <a:off x="9448767" y="5286541"/>
            <a:ext cx="609534" cy="609534"/>
          </a:xfrm>
          <a:prstGeom prst="rect">
            <a:avLst/>
          </a:prstGeom>
          <a:solidFill>
            <a:srgbClr val="0043C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3"/>
          <p:cNvSpPr/>
          <p:nvPr/>
        </p:nvSpPr>
        <p:spPr>
          <a:xfrm>
            <a:off x="9410667" y="5286541"/>
            <a:ext cx="685734" cy="647634"/>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2100"/>
              <a:buFont typeface="IBM Plex Mono"/>
              <a:buNone/>
            </a:pPr>
            <a:r>
              <a:rPr b="1" lang="en-US" sz="2100">
                <a:solidFill>
                  <a:srgbClr val="FFFFFF"/>
                </a:solidFill>
                <a:latin typeface="IBM Plex Mono"/>
                <a:ea typeface="IBM Plex Mono"/>
                <a:cs typeface="IBM Plex Mono"/>
                <a:sym typeface="IBM Plex Mono"/>
              </a:rPr>
              <a:t>2</a:t>
            </a:r>
            <a:endParaRPr sz="2100">
              <a:solidFill>
                <a:schemeClr val="dk1"/>
              </a:solidFill>
              <a:latin typeface="Calibri"/>
              <a:ea typeface="Calibri"/>
              <a:cs typeface="Calibri"/>
              <a:sym typeface="Calibri"/>
            </a:endParaRPr>
          </a:p>
        </p:txBody>
      </p:sp>
      <p:sp>
        <p:nvSpPr>
          <p:cNvPr id="171" name="Google Shape;171;p3"/>
          <p:cNvSpPr/>
          <p:nvPr/>
        </p:nvSpPr>
        <p:spPr>
          <a:xfrm>
            <a:off x="10286835" y="5235195"/>
            <a:ext cx="3771991"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400"/>
              <a:buFont typeface="IBM Plex Sans"/>
              <a:buNone/>
            </a:pPr>
            <a:r>
              <a:rPr b="1" lang="en-US" sz="2400">
                <a:solidFill>
                  <a:srgbClr val="161616"/>
                </a:solidFill>
                <a:latin typeface="IBM Plex Sans"/>
                <a:ea typeface="IBM Plex Sans"/>
                <a:cs typeface="IBM Plex Sans"/>
                <a:sym typeface="IBM Plex Sans"/>
              </a:rPr>
              <a:t>Accelerator</a:t>
            </a:r>
            <a:endParaRPr sz="2400">
              <a:solidFill>
                <a:schemeClr val="dk1"/>
              </a:solidFill>
              <a:latin typeface="Calibri"/>
              <a:ea typeface="Calibri"/>
              <a:cs typeface="Calibri"/>
              <a:sym typeface="Calibri"/>
            </a:endParaRPr>
          </a:p>
        </p:txBody>
      </p:sp>
      <p:sp>
        <p:nvSpPr>
          <p:cNvPr id="172" name="Google Shape;172;p3"/>
          <p:cNvSpPr/>
          <p:nvPr/>
        </p:nvSpPr>
        <p:spPr>
          <a:xfrm>
            <a:off x="10286835" y="5651087"/>
            <a:ext cx="37719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Sans"/>
              <a:buNone/>
            </a:pPr>
            <a:r>
              <a:rPr lang="en-US" sz="1800">
                <a:solidFill>
                  <a:srgbClr val="525252"/>
                </a:solidFill>
                <a:latin typeface="IBM Plex Sans"/>
                <a:ea typeface="IBM Plex Sans"/>
                <a:cs typeface="IBM Plex Sans"/>
                <a:sym typeface="IBM Plex Sans"/>
              </a:rPr>
              <a:t>IBM Spyre + host CPU / memory</a:t>
            </a:r>
            <a:endParaRPr sz="1800">
              <a:solidFill>
                <a:schemeClr val="dk1"/>
              </a:solidFill>
              <a:latin typeface="Calibri"/>
              <a:ea typeface="Calibri"/>
              <a:cs typeface="Calibri"/>
              <a:sym typeface="Calibri"/>
            </a:endParaRPr>
          </a:p>
        </p:txBody>
      </p:sp>
      <p:sp>
        <p:nvSpPr>
          <p:cNvPr id="173" name="Google Shape;173;p3"/>
          <p:cNvSpPr/>
          <p:nvPr/>
        </p:nvSpPr>
        <p:spPr>
          <a:xfrm>
            <a:off x="13944452" y="5268516"/>
            <a:ext cx="3532040" cy="68368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2191F"/>
              </a:buClr>
              <a:buSzPts val="1950"/>
              <a:buFont typeface="IBM Plex Sans"/>
              <a:buNone/>
            </a:pPr>
            <a:r>
              <a:rPr b="1" lang="en-US" sz="1950">
                <a:solidFill>
                  <a:srgbClr val="A2191F"/>
                </a:solidFill>
                <a:latin typeface="IBM Plex Sans"/>
                <a:ea typeface="IBM Plex Sans"/>
                <a:cs typeface="IBM Plex Sans"/>
                <a:sym typeface="IBM Plex Sans"/>
              </a:rPr>
              <a:t>Utilization, memory bandwidth</a:t>
            </a:r>
            <a:endParaRPr b="1" sz="1950">
              <a:solidFill>
                <a:schemeClr val="dk1"/>
              </a:solidFill>
              <a:latin typeface="Calibri"/>
              <a:ea typeface="Calibri"/>
              <a:cs typeface="Calibri"/>
              <a:sym typeface="Calibri"/>
            </a:endParaRPr>
          </a:p>
        </p:txBody>
      </p:sp>
      <p:sp>
        <p:nvSpPr>
          <p:cNvPr id="174" name="Google Shape;174;p3"/>
          <p:cNvSpPr/>
          <p:nvPr/>
        </p:nvSpPr>
        <p:spPr>
          <a:xfrm>
            <a:off x="9448767" y="7293488"/>
            <a:ext cx="792485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3"/>
          <p:cNvSpPr/>
          <p:nvPr/>
        </p:nvSpPr>
        <p:spPr>
          <a:xfrm>
            <a:off x="9448767" y="6423092"/>
            <a:ext cx="609534" cy="609534"/>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3"/>
          <p:cNvSpPr/>
          <p:nvPr/>
        </p:nvSpPr>
        <p:spPr>
          <a:xfrm>
            <a:off x="9410667" y="6423092"/>
            <a:ext cx="685734" cy="647634"/>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2100"/>
              <a:buFont typeface="IBM Plex Mono"/>
              <a:buNone/>
            </a:pPr>
            <a:r>
              <a:rPr b="1" lang="en-US" sz="2100">
                <a:solidFill>
                  <a:srgbClr val="FFFFFF"/>
                </a:solidFill>
                <a:latin typeface="IBM Plex Mono"/>
                <a:ea typeface="IBM Plex Mono"/>
                <a:cs typeface="IBM Plex Mono"/>
                <a:sym typeface="IBM Plex Mono"/>
              </a:rPr>
              <a:t>1</a:t>
            </a:r>
            <a:endParaRPr sz="2100">
              <a:solidFill>
                <a:schemeClr val="dk1"/>
              </a:solidFill>
              <a:latin typeface="Calibri"/>
              <a:ea typeface="Calibri"/>
              <a:cs typeface="Calibri"/>
              <a:sym typeface="Calibri"/>
            </a:endParaRPr>
          </a:p>
        </p:txBody>
      </p:sp>
      <p:sp>
        <p:nvSpPr>
          <p:cNvPr id="177" name="Google Shape;177;p3"/>
          <p:cNvSpPr/>
          <p:nvPr/>
        </p:nvSpPr>
        <p:spPr>
          <a:xfrm>
            <a:off x="10286835" y="6371746"/>
            <a:ext cx="3771991"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400"/>
              <a:buFont typeface="IBM Plex Sans"/>
              <a:buNone/>
            </a:pPr>
            <a:r>
              <a:rPr b="1" lang="en-US" sz="2400">
                <a:solidFill>
                  <a:srgbClr val="161616"/>
                </a:solidFill>
                <a:latin typeface="IBM Plex Sans"/>
                <a:ea typeface="IBM Plex Sans"/>
                <a:cs typeface="IBM Plex Sans"/>
                <a:sym typeface="IBM Plex Sans"/>
              </a:rPr>
              <a:t>Model</a:t>
            </a:r>
            <a:endParaRPr sz="2400">
              <a:solidFill>
                <a:schemeClr val="dk1"/>
              </a:solidFill>
              <a:latin typeface="Calibri"/>
              <a:ea typeface="Calibri"/>
              <a:cs typeface="Calibri"/>
              <a:sym typeface="Calibri"/>
            </a:endParaRPr>
          </a:p>
        </p:txBody>
      </p:sp>
      <p:sp>
        <p:nvSpPr>
          <p:cNvPr id="178" name="Google Shape;178;p3"/>
          <p:cNvSpPr/>
          <p:nvPr/>
        </p:nvSpPr>
        <p:spPr>
          <a:xfrm>
            <a:off x="10286835" y="6787637"/>
            <a:ext cx="37719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Sans"/>
              <a:buNone/>
            </a:pPr>
            <a:r>
              <a:rPr lang="en-US" sz="1800">
                <a:solidFill>
                  <a:srgbClr val="525252"/>
                </a:solidFill>
                <a:latin typeface="IBM Plex Sans"/>
                <a:ea typeface="IBM Plex Sans"/>
                <a:cs typeface="IBM Plex Sans"/>
                <a:sym typeface="IBM Plex Sans"/>
              </a:rPr>
              <a:t>Granite · Llama · Mistral</a:t>
            </a:r>
            <a:endParaRPr sz="1800">
              <a:solidFill>
                <a:schemeClr val="dk1"/>
              </a:solidFill>
              <a:latin typeface="Calibri"/>
              <a:ea typeface="Calibri"/>
              <a:cs typeface="Calibri"/>
              <a:sym typeface="Calibri"/>
            </a:endParaRPr>
          </a:p>
        </p:txBody>
      </p:sp>
      <p:sp>
        <p:nvSpPr>
          <p:cNvPr id="179" name="Google Shape;179;p3"/>
          <p:cNvSpPr/>
          <p:nvPr/>
        </p:nvSpPr>
        <p:spPr>
          <a:xfrm>
            <a:off x="13944452" y="6566463"/>
            <a:ext cx="3772082"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2191F"/>
              </a:buClr>
              <a:buSzPts val="1950"/>
              <a:buFont typeface="IBM Plex Sans"/>
              <a:buNone/>
            </a:pPr>
            <a:r>
              <a:rPr b="1" lang="en-US" sz="1950">
                <a:solidFill>
                  <a:srgbClr val="A2191F"/>
                </a:solidFill>
                <a:latin typeface="IBM Plex Sans"/>
                <a:ea typeface="IBM Plex Sans"/>
                <a:cs typeface="IBM Plex Sans"/>
                <a:sym typeface="IBM Plex Sans"/>
              </a:rPr>
              <a:t>Precision vs answer quality</a:t>
            </a:r>
            <a:endParaRPr b="1" sz="1950">
              <a:solidFill>
                <a:schemeClr val="dk1"/>
              </a:solidFill>
              <a:latin typeface="Calibri"/>
              <a:ea typeface="Calibri"/>
              <a:cs typeface="Calibri"/>
              <a:sym typeface="Calibri"/>
            </a:endParaRPr>
          </a:p>
        </p:txBody>
      </p:sp>
      <p:sp>
        <p:nvSpPr>
          <p:cNvPr id="180" name="Google Shape;180;p3"/>
          <p:cNvSpPr/>
          <p:nvPr/>
        </p:nvSpPr>
        <p:spPr>
          <a:xfrm>
            <a:off x="914384" y="7948911"/>
            <a:ext cx="16459234" cy="825500"/>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3"/>
          <p:cNvSpPr/>
          <p:nvPr/>
        </p:nvSpPr>
        <p:spPr>
          <a:xfrm>
            <a:off x="1219150" y="8139411"/>
            <a:ext cx="12179275" cy="482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700"/>
              <a:buFont typeface="IBM Plex Sans"/>
              <a:buNone/>
            </a:pPr>
            <a:r>
              <a:rPr b="1" lang="en-US" spc="-27" sz="2700">
                <a:solidFill>
                  <a:srgbClr val="FFFFFF"/>
                </a:solidFill>
                <a:latin typeface="IBM Plex Sans"/>
                <a:ea typeface="IBM Plex Sans"/>
                <a:cs typeface="IBM Plex Sans"/>
                <a:sym typeface="IBM Plex Sans"/>
              </a:rPr>
              <a:t>Performance engineering helps identify where the bottlenecks reside —</a:t>
            </a:r>
            <a:endParaRPr sz="2700">
              <a:solidFill>
                <a:schemeClr val="dk1"/>
              </a:solidFill>
              <a:latin typeface="Calibri"/>
              <a:ea typeface="Calibri"/>
              <a:cs typeface="Calibri"/>
              <a:sym typeface="Calibri"/>
            </a:endParaRPr>
          </a:p>
        </p:txBody>
      </p:sp>
      <p:sp>
        <p:nvSpPr>
          <p:cNvPr id="182" name="Google Shape;182;p3"/>
          <p:cNvSpPr/>
          <p:nvPr/>
        </p:nvSpPr>
        <p:spPr>
          <a:xfrm>
            <a:off x="12424503" y="8139411"/>
            <a:ext cx="4918604" cy="482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2700"/>
              <a:buFont typeface="IBM Plex Sans"/>
              <a:buNone/>
            </a:pPr>
            <a:r>
              <a:rPr b="1" lang="en-US" spc="-27" sz="2700">
                <a:solidFill>
                  <a:srgbClr val="78A9FF"/>
                </a:solidFill>
                <a:latin typeface="IBM Plex Sans"/>
                <a:ea typeface="IBM Plex Sans"/>
                <a:cs typeface="IBM Plex Sans"/>
                <a:sym typeface="IBM Plex Sans"/>
              </a:rPr>
              <a:t> so you fix the right floor first.</a:t>
            </a:r>
            <a:endParaRPr sz="2700">
              <a:solidFill>
                <a:schemeClr val="dk1"/>
              </a:solidFill>
              <a:latin typeface="Calibri"/>
              <a:ea typeface="Calibri"/>
              <a:cs typeface="Calibri"/>
              <a:sym typeface="Calibri"/>
            </a:endParaRPr>
          </a:p>
        </p:txBody>
      </p:sp>
      <p:pic>
        <p:nvPicPr>
          <p:cNvPr descr="preencoded.png" id="183" name="Google Shape;183;p3"/>
          <p:cNvPicPr preferRelativeResize="0"/>
          <p:nvPr/>
        </p:nvPicPr>
        <p:blipFill rotWithShape="1">
          <a:blip r:embed="rId3">
            <a:alphaModFix/>
          </a:blip>
          <a:srcRect b="0" l="0" r="0" t="0"/>
          <a:stretch/>
        </p:blipFill>
        <p:spPr>
          <a:xfrm>
            <a:off x="914384" y="9677467"/>
            <a:ext cx="310968" cy="342883"/>
          </a:xfrm>
          <a:prstGeom prst="rect">
            <a:avLst/>
          </a:prstGeom>
          <a:noFill/>
          <a:ln>
            <a:noFill/>
          </a:ln>
        </p:spPr>
      </p:pic>
      <p:sp>
        <p:nvSpPr>
          <p:cNvPr id="184" name="Google Shape;184;p3"/>
          <p:cNvSpPr/>
          <p:nvPr/>
        </p:nvSpPr>
        <p:spPr>
          <a:xfrm>
            <a:off x="1415852" y="9700700"/>
            <a:ext cx="77482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Bangalore Performance &amp; Scale Meetup 2026 · From Tokens to Scale</a:t>
            </a:r>
            <a:endParaRPr sz="1800">
              <a:solidFill>
                <a:schemeClr val="dk1"/>
              </a:solidFill>
              <a:latin typeface="Calibri"/>
              <a:ea typeface="Calibri"/>
              <a:cs typeface="Calibri"/>
              <a:sym typeface="Calibri"/>
            </a:endParaRPr>
          </a:p>
        </p:txBody>
      </p:sp>
      <p:sp>
        <p:nvSpPr>
          <p:cNvPr id="185" name="Google Shape;185;p3"/>
          <p:cNvSpPr/>
          <p:nvPr/>
        </p:nvSpPr>
        <p:spPr>
          <a:xfrm>
            <a:off x="17099360" y="9700700"/>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z="1800">
                <a:solidFill>
                  <a:srgbClr val="6F6F6F"/>
                </a:solidFill>
                <a:latin typeface="IBM Plex Mono"/>
                <a:ea typeface="IBM Plex Mono"/>
                <a:cs typeface="IBM Plex Mono"/>
                <a:sym typeface="IBM Plex Mono"/>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4"/>
          <p:cNvSpPr/>
          <p:nvPr/>
        </p:nvSpPr>
        <p:spPr>
          <a:xfrm>
            <a:off x="914384" y="571500"/>
            <a:ext cx="181051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02 · INSIDE ONE SPYRE INSTANCE · THE BOX WE MEASURE</a:t>
            </a:r>
            <a:endParaRPr sz="1800">
              <a:solidFill>
                <a:schemeClr val="dk1"/>
              </a:solidFill>
              <a:latin typeface="Calibri"/>
              <a:ea typeface="Calibri"/>
              <a:cs typeface="Calibri"/>
              <a:sym typeface="Calibri"/>
            </a:endParaRPr>
          </a:p>
        </p:txBody>
      </p:sp>
      <p:sp>
        <p:nvSpPr>
          <p:cNvPr id="192" name="Google Shape;192;p4"/>
          <p:cNvSpPr/>
          <p:nvPr/>
        </p:nvSpPr>
        <p:spPr>
          <a:xfrm>
            <a:off x="914384" y="982100"/>
            <a:ext cx="18105157" cy="666734"/>
          </a:xfrm>
          <a:prstGeom prst="rect">
            <a:avLst/>
          </a:prstGeom>
          <a:noFill/>
          <a:ln>
            <a:noFill/>
          </a:ln>
        </p:spPr>
        <p:txBody>
          <a:bodyPr anchorCtr="0" anchor="t" bIns="25400" lIns="25400" spcFirstLastPara="1" rIns="25400" wrap="square" tIns="25400">
            <a:normAutofit/>
          </a:bodyPr>
          <a:lstStyle/>
          <a:p>
            <a:pPr indent="0" lvl="0" marL="0" marR="0" rtl="0" algn="l">
              <a:lnSpc>
                <a:spcPct val="84255"/>
              </a:lnSpc>
              <a:spcBef>
                <a:spcPts val="0"/>
              </a:spcBef>
              <a:spcAft>
                <a:spcPts val="0"/>
              </a:spcAft>
              <a:buClr>
                <a:srgbClr val="161616"/>
              </a:buClr>
              <a:buSzPts val="4500"/>
              <a:buFont typeface="IBM Plex Sans"/>
              <a:buNone/>
            </a:pPr>
            <a:r>
              <a:rPr b="1" lang="en-US" spc="-45" sz="4500">
                <a:solidFill>
                  <a:srgbClr val="161616"/>
                </a:solidFill>
                <a:latin typeface="IBM Plex Sans"/>
                <a:ea typeface="IBM Plex Sans"/>
                <a:cs typeface="IBM Plex Sans"/>
                <a:sym typeface="IBM Plex Sans"/>
              </a:rPr>
              <a:t>One request, two jobs: prefill reads, decode writes</a:t>
            </a:r>
            <a:endParaRPr sz="4500">
              <a:solidFill>
                <a:schemeClr val="dk1"/>
              </a:solidFill>
              <a:latin typeface="Calibri"/>
              <a:ea typeface="Calibri"/>
              <a:cs typeface="Calibri"/>
              <a:sym typeface="Calibri"/>
            </a:endParaRPr>
          </a:p>
        </p:txBody>
      </p:sp>
      <p:sp>
        <p:nvSpPr>
          <p:cNvPr id="193" name="Google Shape;193;p4"/>
          <p:cNvSpPr/>
          <p:nvPr/>
        </p:nvSpPr>
        <p:spPr>
          <a:xfrm>
            <a:off x="914384" y="1953617"/>
            <a:ext cx="4953000" cy="7418999"/>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4"/>
          <p:cNvSpPr/>
          <p:nvPr/>
        </p:nvSpPr>
        <p:spPr>
          <a:xfrm>
            <a:off x="914384" y="1953617"/>
            <a:ext cx="4953000" cy="3630083"/>
          </a:xfrm>
          <a:prstGeom prst="rect">
            <a:avLst/>
          </a:prstGeom>
          <a:solidFill>
            <a:srgbClr val="FFFFFF"/>
          </a:solidFill>
          <a:ln cap="flat" cmpd="sng" w="9525">
            <a:solidFill>
              <a:srgbClr val="E0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5" name="Google Shape;195;p4"/>
          <p:cNvPicPr preferRelativeResize="0"/>
          <p:nvPr/>
        </p:nvPicPr>
        <p:blipFill rotWithShape="1">
          <a:blip r:embed="rId3">
            <a:alphaModFix/>
          </a:blip>
          <a:srcRect b="0" l="0" r="0" t="0"/>
          <a:stretch/>
        </p:blipFill>
        <p:spPr>
          <a:xfrm>
            <a:off x="1390634" y="2125596"/>
            <a:ext cx="4000500" cy="3286125"/>
          </a:xfrm>
          <a:prstGeom prst="rect">
            <a:avLst/>
          </a:prstGeom>
          <a:noFill/>
          <a:ln>
            <a:noFill/>
          </a:ln>
        </p:spPr>
      </p:pic>
      <p:sp>
        <p:nvSpPr>
          <p:cNvPr id="196" name="Google Shape;196;p4"/>
          <p:cNvSpPr/>
          <p:nvPr/>
        </p:nvSpPr>
        <p:spPr>
          <a:xfrm>
            <a:off x="1181034" y="5812268"/>
            <a:ext cx="1504950" cy="6646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HOST</a:t>
            </a:r>
            <a:endParaRPr sz="1800">
              <a:solidFill>
                <a:schemeClr val="dk1"/>
              </a:solidFill>
              <a:latin typeface="Calibri"/>
              <a:ea typeface="Calibri"/>
              <a:cs typeface="Calibri"/>
              <a:sym typeface="Calibri"/>
            </a:endParaRPr>
          </a:p>
        </p:txBody>
      </p:sp>
      <p:sp>
        <p:nvSpPr>
          <p:cNvPr id="197" name="Google Shape;197;p4"/>
          <p:cNvSpPr/>
          <p:nvPr/>
        </p:nvSpPr>
        <p:spPr>
          <a:xfrm>
            <a:off x="2724051" y="5793218"/>
            <a:ext cx="2962983" cy="68368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IBM z17 / LinuxONE 5 · LPAR</a:t>
            </a:r>
            <a:endParaRPr sz="1950">
              <a:solidFill>
                <a:schemeClr val="dk1"/>
              </a:solidFill>
              <a:latin typeface="Calibri"/>
              <a:ea typeface="Calibri"/>
              <a:cs typeface="Calibri"/>
              <a:sym typeface="Calibri"/>
            </a:endParaRPr>
          </a:p>
        </p:txBody>
      </p:sp>
      <p:sp>
        <p:nvSpPr>
          <p:cNvPr id="198" name="Google Shape;198;p4"/>
          <p:cNvSpPr/>
          <p:nvPr/>
        </p:nvSpPr>
        <p:spPr>
          <a:xfrm>
            <a:off x="1181034" y="6572118"/>
            <a:ext cx="1504950" cy="6646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CARDS</a:t>
            </a:r>
            <a:endParaRPr sz="1800">
              <a:solidFill>
                <a:schemeClr val="dk1"/>
              </a:solidFill>
              <a:latin typeface="Calibri"/>
              <a:ea typeface="Calibri"/>
              <a:cs typeface="Calibri"/>
              <a:sym typeface="Calibri"/>
            </a:endParaRPr>
          </a:p>
        </p:txBody>
      </p:sp>
      <p:sp>
        <p:nvSpPr>
          <p:cNvPr id="199" name="Google Shape;199;p4"/>
          <p:cNvSpPr/>
          <p:nvPr/>
        </p:nvSpPr>
        <p:spPr>
          <a:xfrm>
            <a:off x="2724051" y="6553068"/>
            <a:ext cx="2962983" cy="68368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IBM Spyre cards, tensor parallel</a:t>
            </a:r>
            <a:endParaRPr sz="1950">
              <a:solidFill>
                <a:schemeClr val="dk1"/>
              </a:solidFill>
              <a:latin typeface="Calibri"/>
              <a:ea typeface="Calibri"/>
              <a:cs typeface="Calibri"/>
              <a:sym typeface="Calibri"/>
            </a:endParaRPr>
          </a:p>
        </p:txBody>
      </p:sp>
      <p:sp>
        <p:nvSpPr>
          <p:cNvPr id="200" name="Google Shape;200;p4"/>
          <p:cNvSpPr/>
          <p:nvPr/>
        </p:nvSpPr>
        <p:spPr>
          <a:xfrm>
            <a:off x="1181034" y="7331968"/>
            <a:ext cx="1571625" cy="34184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RUNTIME</a:t>
            </a:r>
            <a:endParaRPr sz="1800">
              <a:solidFill>
                <a:schemeClr val="dk1"/>
              </a:solidFill>
              <a:latin typeface="Calibri"/>
              <a:ea typeface="Calibri"/>
              <a:cs typeface="Calibri"/>
              <a:sym typeface="Calibri"/>
            </a:endParaRPr>
          </a:p>
        </p:txBody>
      </p:sp>
      <p:sp>
        <p:nvSpPr>
          <p:cNvPr id="201" name="Google Shape;201;p4"/>
          <p:cNvSpPr/>
          <p:nvPr/>
        </p:nvSpPr>
        <p:spPr>
          <a:xfrm>
            <a:off x="2724051" y="7312918"/>
            <a:ext cx="3164351"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vLLM + Spyre plugin</a:t>
            </a:r>
            <a:endParaRPr sz="1950">
              <a:solidFill>
                <a:schemeClr val="dk1"/>
              </a:solidFill>
              <a:latin typeface="Calibri"/>
              <a:ea typeface="Calibri"/>
              <a:cs typeface="Calibri"/>
              <a:sym typeface="Calibri"/>
            </a:endParaRPr>
          </a:p>
        </p:txBody>
      </p:sp>
      <p:sp>
        <p:nvSpPr>
          <p:cNvPr id="202" name="Google Shape;202;p4"/>
          <p:cNvSpPr/>
          <p:nvPr/>
        </p:nvSpPr>
        <p:spPr>
          <a:xfrm>
            <a:off x="1181034" y="7769027"/>
            <a:ext cx="1571625" cy="34184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MODELS</a:t>
            </a:r>
            <a:endParaRPr sz="1800">
              <a:solidFill>
                <a:schemeClr val="dk1"/>
              </a:solidFill>
              <a:latin typeface="Calibri"/>
              <a:ea typeface="Calibri"/>
              <a:cs typeface="Calibri"/>
              <a:sym typeface="Calibri"/>
            </a:endParaRPr>
          </a:p>
        </p:txBody>
      </p:sp>
      <p:sp>
        <p:nvSpPr>
          <p:cNvPr id="203" name="Google Shape;203;p4"/>
          <p:cNvSpPr/>
          <p:nvPr/>
        </p:nvSpPr>
        <p:spPr>
          <a:xfrm>
            <a:off x="2724051" y="7749977"/>
            <a:ext cx="3164351"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Granite · Llama · Mistral</a:t>
            </a:r>
            <a:endParaRPr sz="1950">
              <a:solidFill>
                <a:schemeClr val="dk1"/>
              </a:solidFill>
              <a:latin typeface="Calibri"/>
              <a:ea typeface="Calibri"/>
              <a:cs typeface="Calibri"/>
              <a:sym typeface="Calibri"/>
            </a:endParaRPr>
          </a:p>
        </p:txBody>
      </p:sp>
      <p:sp>
        <p:nvSpPr>
          <p:cNvPr id="204" name="Google Shape;204;p4"/>
          <p:cNvSpPr/>
          <p:nvPr/>
        </p:nvSpPr>
        <p:spPr>
          <a:xfrm>
            <a:off x="6324534" y="1956842"/>
            <a:ext cx="1195834" cy="506842"/>
          </a:xfrm>
          <a:prstGeom prst="rect">
            <a:avLst/>
          </a:prstGeom>
          <a:noFill/>
          <a:ln cap="flat" cmpd="sng" w="15875">
            <a:solidFill>
              <a:srgbClr val="16161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4"/>
          <p:cNvSpPr/>
          <p:nvPr/>
        </p:nvSpPr>
        <p:spPr>
          <a:xfrm>
            <a:off x="6511859" y="2048917"/>
            <a:ext cx="897384" cy="3607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Prompt</a:t>
            </a:r>
            <a:endParaRPr sz="1950">
              <a:solidFill>
                <a:schemeClr val="dk1"/>
              </a:solidFill>
              <a:latin typeface="Calibri"/>
              <a:ea typeface="Calibri"/>
              <a:cs typeface="Calibri"/>
              <a:sym typeface="Calibri"/>
            </a:endParaRPr>
          </a:p>
        </p:txBody>
      </p:sp>
      <p:sp>
        <p:nvSpPr>
          <p:cNvPr id="206" name="Google Shape;206;p4"/>
          <p:cNvSpPr/>
          <p:nvPr/>
        </p:nvSpPr>
        <p:spPr>
          <a:xfrm>
            <a:off x="7634635" y="2048867"/>
            <a:ext cx="323916"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D8D8D"/>
              </a:buClr>
              <a:buSzPts val="1950"/>
              <a:buFont typeface="IBM Plex Sans"/>
              <a:buNone/>
            </a:pPr>
            <a:r>
              <a:rPr lang="en-US" sz="1950">
                <a:solidFill>
                  <a:srgbClr val="8D8D8D"/>
                </a:solidFill>
                <a:latin typeface="IBM Plex Sans"/>
                <a:ea typeface="IBM Plex Sans"/>
                <a:cs typeface="IBM Plex Sans"/>
                <a:sym typeface="IBM Plex Sans"/>
              </a:rPr>
              <a:t>→</a:t>
            </a:r>
            <a:endParaRPr sz="1950">
              <a:solidFill>
                <a:schemeClr val="dk1"/>
              </a:solidFill>
              <a:latin typeface="Calibri"/>
              <a:ea typeface="Calibri"/>
              <a:cs typeface="Calibri"/>
              <a:sym typeface="Calibri"/>
            </a:endParaRPr>
          </a:p>
        </p:txBody>
      </p:sp>
      <p:sp>
        <p:nvSpPr>
          <p:cNvPr id="207" name="Google Shape;207;p4"/>
          <p:cNvSpPr/>
          <p:nvPr/>
        </p:nvSpPr>
        <p:spPr>
          <a:xfrm>
            <a:off x="7996618" y="1953617"/>
            <a:ext cx="1069909" cy="513292"/>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4"/>
          <p:cNvSpPr/>
          <p:nvPr/>
        </p:nvSpPr>
        <p:spPr>
          <a:xfrm>
            <a:off x="8187118" y="2048867"/>
            <a:ext cx="765109"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IBM Plex Sans"/>
              <a:buNone/>
            </a:pPr>
            <a:r>
              <a:rPr b="1" lang="en-US" sz="1950">
                <a:solidFill>
                  <a:srgbClr val="FFFFFF"/>
                </a:solidFill>
                <a:latin typeface="IBM Plex Sans"/>
                <a:ea typeface="IBM Plex Sans"/>
                <a:cs typeface="IBM Plex Sans"/>
                <a:sym typeface="IBM Plex Sans"/>
              </a:rPr>
              <a:t>Prefill</a:t>
            </a:r>
            <a:endParaRPr sz="1950">
              <a:solidFill>
                <a:schemeClr val="dk1"/>
              </a:solidFill>
              <a:latin typeface="Calibri"/>
              <a:ea typeface="Calibri"/>
              <a:cs typeface="Calibri"/>
              <a:sym typeface="Calibri"/>
            </a:endParaRPr>
          </a:p>
        </p:txBody>
      </p:sp>
      <p:sp>
        <p:nvSpPr>
          <p:cNvPr id="209" name="Google Shape;209;p4"/>
          <p:cNvSpPr/>
          <p:nvPr/>
        </p:nvSpPr>
        <p:spPr>
          <a:xfrm>
            <a:off x="9180794" y="2048867"/>
            <a:ext cx="323916"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D8D8D"/>
              </a:buClr>
              <a:buSzPts val="1950"/>
              <a:buFont typeface="IBM Plex Sans"/>
              <a:buNone/>
            </a:pPr>
            <a:r>
              <a:rPr lang="en-US" sz="1950">
                <a:solidFill>
                  <a:srgbClr val="8D8D8D"/>
                </a:solidFill>
                <a:latin typeface="IBM Plex Sans"/>
                <a:ea typeface="IBM Plex Sans"/>
                <a:cs typeface="IBM Plex Sans"/>
                <a:sym typeface="IBM Plex Sans"/>
              </a:rPr>
              <a:t>→</a:t>
            </a:r>
            <a:endParaRPr sz="1950">
              <a:solidFill>
                <a:schemeClr val="dk1"/>
              </a:solidFill>
              <a:latin typeface="Calibri"/>
              <a:ea typeface="Calibri"/>
              <a:cs typeface="Calibri"/>
              <a:sym typeface="Calibri"/>
            </a:endParaRPr>
          </a:p>
        </p:txBody>
      </p:sp>
      <p:sp>
        <p:nvSpPr>
          <p:cNvPr id="210" name="Google Shape;210;p4"/>
          <p:cNvSpPr/>
          <p:nvPr/>
        </p:nvSpPr>
        <p:spPr>
          <a:xfrm>
            <a:off x="9542777" y="1953617"/>
            <a:ext cx="1436026" cy="513292"/>
          </a:xfrm>
          <a:prstGeom prst="rect">
            <a:avLst/>
          </a:prstGeom>
          <a:solidFill>
            <a:srgbClr val="E8DA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4"/>
          <p:cNvSpPr/>
          <p:nvPr/>
        </p:nvSpPr>
        <p:spPr>
          <a:xfrm>
            <a:off x="9733277" y="2048867"/>
            <a:ext cx="1131226"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91D8B"/>
              </a:buClr>
              <a:buSzPts val="1950"/>
              <a:buFont typeface="IBM Plex Sans"/>
              <a:buNone/>
            </a:pPr>
            <a:r>
              <a:rPr b="1" lang="en-US" sz="1950">
                <a:solidFill>
                  <a:srgbClr val="491D8B"/>
                </a:solidFill>
                <a:latin typeface="IBM Plex Sans"/>
                <a:ea typeface="IBM Plex Sans"/>
                <a:cs typeface="IBM Plex Sans"/>
                <a:sym typeface="IBM Plex Sans"/>
              </a:rPr>
              <a:t>KV cache</a:t>
            </a:r>
            <a:endParaRPr sz="1950">
              <a:solidFill>
                <a:schemeClr val="dk1"/>
              </a:solidFill>
              <a:latin typeface="Calibri"/>
              <a:ea typeface="Calibri"/>
              <a:cs typeface="Calibri"/>
              <a:sym typeface="Calibri"/>
            </a:endParaRPr>
          </a:p>
        </p:txBody>
      </p:sp>
      <p:sp>
        <p:nvSpPr>
          <p:cNvPr id="212" name="Google Shape;212;p4"/>
          <p:cNvSpPr/>
          <p:nvPr/>
        </p:nvSpPr>
        <p:spPr>
          <a:xfrm>
            <a:off x="11093071" y="2048867"/>
            <a:ext cx="323916"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D8D8D"/>
              </a:buClr>
              <a:buSzPts val="1950"/>
              <a:buFont typeface="IBM Plex Sans"/>
              <a:buNone/>
            </a:pPr>
            <a:r>
              <a:rPr lang="en-US" sz="1950">
                <a:solidFill>
                  <a:srgbClr val="8D8D8D"/>
                </a:solidFill>
                <a:latin typeface="IBM Plex Sans"/>
                <a:ea typeface="IBM Plex Sans"/>
                <a:cs typeface="IBM Plex Sans"/>
                <a:sym typeface="IBM Plex Sans"/>
              </a:rPr>
              <a:t>→</a:t>
            </a:r>
            <a:endParaRPr sz="1950">
              <a:solidFill>
                <a:schemeClr val="dk1"/>
              </a:solidFill>
              <a:latin typeface="Calibri"/>
              <a:ea typeface="Calibri"/>
              <a:cs typeface="Calibri"/>
              <a:sym typeface="Calibri"/>
            </a:endParaRPr>
          </a:p>
        </p:txBody>
      </p:sp>
      <p:sp>
        <p:nvSpPr>
          <p:cNvPr id="213" name="Google Shape;213;p4"/>
          <p:cNvSpPr/>
          <p:nvPr/>
        </p:nvSpPr>
        <p:spPr>
          <a:xfrm>
            <a:off x="11455053" y="1953617"/>
            <a:ext cx="1241805" cy="513292"/>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4"/>
          <p:cNvSpPr/>
          <p:nvPr/>
        </p:nvSpPr>
        <p:spPr>
          <a:xfrm>
            <a:off x="11645553" y="2048867"/>
            <a:ext cx="937005"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IBM Plex Sans"/>
              <a:buNone/>
            </a:pPr>
            <a:r>
              <a:rPr b="1" lang="en-US" sz="1950">
                <a:solidFill>
                  <a:srgbClr val="FFFFFF"/>
                </a:solidFill>
                <a:latin typeface="IBM Plex Sans"/>
                <a:ea typeface="IBM Plex Sans"/>
                <a:cs typeface="IBM Plex Sans"/>
                <a:sym typeface="IBM Plex Sans"/>
              </a:rPr>
              <a:t>Decode</a:t>
            </a:r>
            <a:endParaRPr sz="1950">
              <a:solidFill>
                <a:schemeClr val="dk1"/>
              </a:solidFill>
              <a:latin typeface="Calibri"/>
              <a:ea typeface="Calibri"/>
              <a:cs typeface="Calibri"/>
              <a:sym typeface="Calibri"/>
            </a:endParaRPr>
          </a:p>
        </p:txBody>
      </p:sp>
      <p:sp>
        <p:nvSpPr>
          <p:cNvPr id="215" name="Google Shape;215;p4"/>
          <p:cNvSpPr/>
          <p:nvPr/>
        </p:nvSpPr>
        <p:spPr>
          <a:xfrm>
            <a:off x="12811126" y="2048867"/>
            <a:ext cx="323916"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D8D8D"/>
              </a:buClr>
              <a:buSzPts val="1950"/>
              <a:buFont typeface="IBM Plex Sans"/>
              <a:buNone/>
            </a:pPr>
            <a:r>
              <a:rPr lang="en-US" sz="1950">
                <a:solidFill>
                  <a:srgbClr val="8D8D8D"/>
                </a:solidFill>
                <a:latin typeface="IBM Plex Sans"/>
                <a:ea typeface="IBM Plex Sans"/>
                <a:cs typeface="IBM Plex Sans"/>
                <a:sym typeface="IBM Plex Sans"/>
              </a:rPr>
              <a:t>→</a:t>
            </a:r>
            <a:endParaRPr sz="1950">
              <a:solidFill>
                <a:schemeClr val="dk1"/>
              </a:solidFill>
              <a:latin typeface="Calibri"/>
              <a:ea typeface="Calibri"/>
              <a:cs typeface="Calibri"/>
              <a:sym typeface="Calibri"/>
            </a:endParaRPr>
          </a:p>
        </p:txBody>
      </p:sp>
      <p:sp>
        <p:nvSpPr>
          <p:cNvPr id="216" name="Google Shape;216;p4"/>
          <p:cNvSpPr/>
          <p:nvPr/>
        </p:nvSpPr>
        <p:spPr>
          <a:xfrm>
            <a:off x="13173109" y="1956842"/>
            <a:ext cx="2324613" cy="506842"/>
          </a:xfrm>
          <a:prstGeom prst="rect">
            <a:avLst/>
          </a:prstGeom>
          <a:noFill/>
          <a:ln cap="flat" cmpd="sng" w="15875">
            <a:solidFill>
              <a:srgbClr val="16161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4"/>
          <p:cNvSpPr/>
          <p:nvPr/>
        </p:nvSpPr>
        <p:spPr>
          <a:xfrm>
            <a:off x="13360434" y="2048917"/>
            <a:ext cx="2026163" cy="3607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Streamed answer</a:t>
            </a:r>
            <a:endParaRPr sz="1950">
              <a:solidFill>
                <a:schemeClr val="dk1"/>
              </a:solidFill>
              <a:latin typeface="Calibri"/>
              <a:ea typeface="Calibri"/>
              <a:cs typeface="Calibri"/>
              <a:sym typeface="Calibri"/>
            </a:endParaRPr>
          </a:p>
        </p:txBody>
      </p:sp>
      <p:sp>
        <p:nvSpPr>
          <p:cNvPr id="218" name="Google Shape;218;p4"/>
          <p:cNvSpPr/>
          <p:nvPr/>
        </p:nvSpPr>
        <p:spPr>
          <a:xfrm>
            <a:off x="6324534" y="2733559"/>
            <a:ext cx="5410233" cy="5627357"/>
          </a:xfrm>
          <a:prstGeom prst="rect">
            <a:avLst/>
          </a:prstGeom>
          <a:solidFill>
            <a:srgbClr val="EDF5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4"/>
          <p:cNvSpPr/>
          <p:nvPr/>
        </p:nvSpPr>
        <p:spPr>
          <a:xfrm>
            <a:off x="6324534" y="2733559"/>
            <a:ext cx="5410233" cy="52917"/>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4"/>
          <p:cNvSpPr/>
          <p:nvPr/>
        </p:nvSpPr>
        <p:spPr>
          <a:xfrm>
            <a:off x="6591184" y="3015010"/>
            <a:ext cx="5364626"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3CE"/>
              </a:buClr>
              <a:buSzPts val="1800"/>
              <a:buFont typeface="IBM Plex Mono"/>
              <a:buNone/>
            </a:pPr>
            <a:r>
              <a:rPr b="1" lang="en-US" spc="72" sz="1800">
                <a:solidFill>
                  <a:srgbClr val="0043CE"/>
                </a:solidFill>
                <a:latin typeface="IBM Plex Mono"/>
                <a:ea typeface="IBM Plex Mono"/>
                <a:cs typeface="IBM Plex Mono"/>
                <a:sym typeface="IBM Plex Mono"/>
              </a:rPr>
              <a:t>PREFILL · COMPUTE-BOUND</a:t>
            </a:r>
            <a:endParaRPr sz="1800">
              <a:solidFill>
                <a:schemeClr val="dk1"/>
              </a:solidFill>
              <a:latin typeface="Calibri"/>
              <a:ea typeface="Calibri"/>
              <a:cs typeface="Calibri"/>
              <a:sym typeface="Calibri"/>
            </a:endParaRPr>
          </a:p>
        </p:txBody>
      </p:sp>
      <p:sp>
        <p:nvSpPr>
          <p:cNvPr id="221" name="Google Shape;221;p4"/>
          <p:cNvSpPr/>
          <p:nvPr/>
        </p:nvSpPr>
        <p:spPr>
          <a:xfrm>
            <a:off x="6591184" y="3406593"/>
            <a:ext cx="5364626" cy="426707"/>
          </a:xfrm>
          <a:prstGeom prst="rect">
            <a:avLst/>
          </a:prstGeom>
          <a:noFill/>
          <a:ln>
            <a:noFill/>
          </a:ln>
        </p:spPr>
        <p:txBody>
          <a:bodyPr anchorCtr="0" anchor="t" bIns="25400" lIns="25400" spcFirstLastPara="1" rIns="25400" wrap="square" tIns="25400">
            <a:normAutofit/>
          </a:bodyPr>
          <a:lstStyle/>
          <a:p>
            <a:pPr indent="0" lvl="0" marL="0" marR="0" rtl="0" algn="l">
              <a:lnSpc>
                <a:spcPct val="91800"/>
              </a:lnSpc>
              <a:spcBef>
                <a:spcPts val="0"/>
              </a:spcBef>
              <a:spcAft>
                <a:spcPts val="0"/>
              </a:spcAft>
              <a:buClr>
                <a:srgbClr val="161616"/>
              </a:buClr>
              <a:buSzPts val="2550"/>
              <a:buFont typeface="IBM Plex Sans"/>
              <a:buNone/>
            </a:pPr>
            <a:r>
              <a:rPr b="1" lang="en-US" sz="2550">
                <a:solidFill>
                  <a:srgbClr val="161616"/>
                </a:solidFill>
                <a:latin typeface="IBM Plex Sans"/>
                <a:ea typeface="IBM Plex Sans"/>
                <a:cs typeface="IBM Plex Sans"/>
                <a:sym typeface="IBM Plex Sans"/>
              </a:rPr>
              <a:t>Read the whole prompt once</a:t>
            </a:r>
            <a:endParaRPr sz="2550">
              <a:solidFill>
                <a:schemeClr val="dk1"/>
              </a:solidFill>
              <a:latin typeface="Calibri"/>
              <a:ea typeface="Calibri"/>
              <a:cs typeface="Calibri"/>
              <a:sym typeface="Calibri"/>
            </a:endParaRPr>
          </a:p>
        </p:txBody>
      </p:sp>
      <p:sp>
        <p:nvSpPr>
          <p:cNvPr id="222" name="Google Shape;222;p4"/>
          <p:cNvSpPr/>
          <p:nvPr/>
        </p:nvSpPr>
        <p:spPr>
          <a:xfrm>
            <a:off x="6591184" y="3890450"/>
            <a:ext cx="5364626"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950"/>
              <a:buFont typeface="IBM Plex Sans"/>
              <a:buNone/>
            </a:pPr>
            <a:r>
              <a:rPr lang="en-US" sz="1950">
                <a:solidFill>
                  <a:srgbClr val="393939"/>
                </a:solidFill>
                <a:latin typeface="IBM Plex Sans"/>
                <a:ea typeface="IBM Plex Sans"/>
                <a:cs typeface="IBM Plex Sans"/>
                <a:sym typeface="IBM Plex Sans"/>
              </a:rPr>
              <a:t>Like reading the email before you reply</a:t>
            </a:r>
            <a:endParaRPr sz="1950">
              <a:solidFill>
                <a:schemeClr val="dk1"/>
              </a:solidFill>
              <a:latin typeface="Calibri"/>
              <a:ea typeface="Calibri"/>
              <a:cs typeface="Calibri"/>
              <a:sym typeface="Calibri"/>
            </a:endParaRPr>
          </a:p>
        </p:txBody>
      </p:sp>
      <p:sp>
        <p:nvSpPr>
          <p:cNvPr id="223" name="Google Shape;223;p4"/>
          <p:cNvSpPr/>
          <p:nvPr/>
        </p:nvSpPr>
        <p:spPr>
          <a:xfrm>
            <a:off x="6591184" y="4384642"/>
            <a:ext cx="1603954" cy="437059"/>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4"/>
          <p:cNvSpPr/>
          <p:nvPr/>
        </p:nvSpPr>
        <p:spPr>
          <a:xfrm>
            <a:off x="6724534" y="4441792"/>
            <a:ext cx="1413454" cy="360859"/>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IBM Plex Mono"/>
              <a:buNone/>
            </a:pPr>
            <a:r>
              <a:rPr b="1" lang="en-US" sz="1950">
                <a:solidFill>
                  <a:srgbClr val="FFFFFF"/>
                </a:solidFill>
                <a:latin typeface="IBM Plex Mono"/>
                <a:ea typeface="IBM Plex Mono"/>
                <a:cs typeface="IBM Plex Mono"/>
                <a:sym typeface="IBM Plex Mono"/>
              </a:rPr>
              <a:t>SETS TTFT</a:t>
            </a:r>
            <a:endParaRPr sz="1950">
              <a:solidFill>
                <a:schemeClr val="dk1"/>
              </a:solidFill>
              <a:latin typeface="Calibri"/>
              <a:ea typeface="Calibri"/>
              <a:cs typeface="Calibri"/>
              <a:sym typeface="Calibri"/>
            </a:endParaRPr>
          </a:p>
        </p:txBody>
      </p:sp>
      <p:sp>
        <p:nvSpPr>
          <p:cNvPr id="225" name="Google Shape;225;p4"/>
          <p:cNvSpPr/>
          <p:nvPr/>
        </p:nvSpPr>
        <p:spPr>
          <a:xfrm>
            <a:off x="6591184" y="4897851"/>
            <a:ext cx="363429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Slower: long context, cold cache</a:t>
            </a:r>
            <a:endParaRPr sz="1800">
              <a:solidFill>
                <a:schemeClr val="dk1"/>
              </a:solidFill>
              <a:latin typeface="Calibri"/>
              <a:ea typeface="Calibri"/>
              <a:cs typeface="Calibri"/>
              <a:sym typeface="Calibri"/>
            </a:endParaRPr>
          </a:p>
        </p:txBody>
      </p:sp>
      <p:sp>
        <p:nvSpPr>
          <p:cNvPr id="226" name="Google Shape;226;p4"/>
          <p:cNvSpPr/>
          <p:nvPr/>
        </p:nvSpPr>
        <p:spPr>
          <a:xfrm>
            <a:off x="6324534" y="5690857"/>
            <a:ext cx="5410233" cy="9525"/>
          </a:xfrm>
          <a:prstGeom prst="rect">
            <a:avLst/>
          </a:prstGeom>
          <a:solidFill>
            <a:srgbClr val="A6C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4"/>
          <p:cNvSpPr/>
          <p:nvPr/>
        </p:nvSpPr>
        <p:spPr>
          <a:xfrm>
            <a:off x="6591184" y="5829433"/>
            <a:ext cx="5364626"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z="1800">
                <a:solidFill>
                  <a:srgbClr val="525252"/>
                </a:solidFill>
                <a:latin typeface="IBM Plex Mono"/>
                <a:ea typeface="IBM Plex Mono"/>
                <a:cs typeface="IBM Plex Mono"/>
                <a:sym typeface="IBM Plex Mono"/>
              </a:rPr>
              <a:t>ON SPYRE TODAY</a:t>
            </a:r>
            <a:endParaRPr sz="1800">
              <a:solidFill>
                <a:schemeClr val="dk1"/>
              </a:solidFill>
              <a:latin typeface="Calibri"/>
              <a:ea typeface="Calibri"/>
              <a:cs typeface="Calibri"/>
              <a:sym typeface="Calibri"/>
            </a:endParaRPr>
          </a:p>
        </p:txBody>
      </p:sp>
      <p:sp>
        <p:nvSpPr>
          <p:cNvPr id="228" name="Google Shape;228;p4"/>
          <p:cNvSpPr/>
          <p:nvPr/>
        </p:nvSpPr>
        <p:spPr>
          <a:xfrm>
            <a:off x="6591184" y="6173391"/>
            <a:ext cx="170877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Chunked prefill</a:t>
            </a:r>
            <a:endParaRPr sz="1800">
              <a:solidFill>
                <a:schemeClr val="dk1"/>
              </a:solidFill>
              <a:latin typeface="Calibri"/>
              <a:ea typeface="Calibri"/>
              <a:cs typeface="Calibri"/>
              <a:sym typeface="Calibri"/>
            </a:endParaRPr>
          </a:p>
        </p:txBody>
      </p:sp>
      <p:sp>
        <p:nvSpPr>
          <p:cNvPr id="229" name="Google Shape;229;p4"/>
          <p:cNvSpPr/>
          <p:nvPr/>
        </p:nvSpPr>
        <p:spPr>
          <a:xfrm>
            <a:off x="11293410" y="6173391"/>
            <a:ext cx="25090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Sans"/>
              <a:buNone/>
            </a:pP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30" name="Google Shape;230;p4"/>
          <p:cNvSpPr/>
          <p:nvPr/>
        </p:nvSpPr>
        <p:spPr>
          <a:xfrm>
            <a:off x="6591184" y="6517349"/>
            <a:ext cx="279509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Automatic prefix caching</a:t>
            </a:r>
            <a:endParaRPr sz="1800">
              <a:solidFill>
                <a:schemeClr val="dk1"/>
              </a:solidFill>
              <a:latin typeface="Calibri"/>
              <a:ea typeface="Calibri"/>
              <a:cs typeface="Calibri"/>
              <a:sym typeface="Calibri"/>
            </a:endParaRPr>
          </a:p>
        </p:txBody>
      </p:sp>
      <p:sp>
        <p:nvSpPr>
          <p:cNvPr id="231" name="Google Shape;231;p4"/>
          <p:cNvSpPr/>
          <p:nvPr/>
        </p:nvSpPr>
        <p:spPr>
          <a:xfrm>
            <a:off x="11293410" y="6517349"/>
            <a:ext cx="25090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Sans"/>
              <a:buNone/>
            </a:pP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32" name="Google Shape;232;p4"/>
          <p:cNvSpPr/>
          <p:nvPr/>
        </p:nvSpPr>
        <p:spPr>
          <a:xfrm>
            <a:off x="6591184" y="6861307"/>
            <a:ext cx="342310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Embedding &amp; reranker models</a:t>
            </a:r>
            <a:endParaRPr sz="1800">
              <a:solidFill>
                <a:schemeClr val="dk1"/>
              </a:solidFill>
              <a:latin typeface="Calibri"/>
              <a:ea typeface="Calibri"/>
              <a:cs typeface="Calibri"/>
              <a:sym typeface="Calibri"/>
            </a:endParaRPr>
          </a:p>
        </p:txBody>
      </p:sp>
      <p:sp>
        <p:nvSpPr>
          <p:cNvPr id="233" name="Google Shape;233;p4"/>
          <p:cNvSpPr/>
          <p:nvPr/>
        </p:nvSpPr>
        <p:spPr>
          <a:xfrm>
            <a:off x="11293410" y="6861307"/>
            <a:ext cx="25090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Sans"/>
              <a:buNone/>
            </a:pP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34" name="Google Shape;234;p4"/>
          <p:cNvSpPr/>
          <p:nvPr/>
        </p:nvSpPr>
        <p:spPr>
          <a:xfrm>
            <a:off x="6591184" y="7205266"/>
            <a:ext cx="315161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Multi-modal (vision) models</a:t>
            </a:r>
            <a:endParaRPr sz="1800">
              <a:solidFill>
                <a:schemeClr val="dk1"/>
              </a:solidFill>
              <a:latin typeface="Calibri"/>
              <a:ea typeface="Calibri"/>
              <a:cs typeface="Calibri"/>
              <a:sym typeface="Calibri"/>
            </a:endParaRPr>
          </a:p>
        </p:txBody>
      </p:sp>
      <p:sp>
        <p:nvSpPr>
          <p:cNvPr id="235" name="Google Shape;235;p4"/>
          <p:cNvSpPr/>
          <p:nvPr/>
        </p:nvSpPr>
        <p:spPr>
          <a:xfrm>
            <a:off x="11293410" y="7205266"/>
            <a:ext cx="25090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Sans"/>
              <a:buNone/>
            </a:pP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36" name="Google Shape;236;p4"/>
          <p:cNvSpPr/>
          <p:nvPr/>
        </p:nvSpPr>
        <p:spPr>
          <a:xfrm>
            <a:off x="6591184" y="7549224"/>
            <a:ext cx="334943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Long context, up to 32K (TP4)</a:t>
            </a:r>
            <a:endParaRPr sz="1800">
              <a:solidFill>
                <a:schemeClr val="dk1"/>
              </a:solidFill>
              <a:latin typeface="Calibri"/>
              <a:ea typeface="Calibri"/>
              <a:cs typeface="Calibri"/>
              <a:sym typeface="Calibri"/>
            </a:endParaRPr>
          </a:p>
        </p:txBody>
      </p:sp>
      <p:sp>
        <p:nvSpPr>
          <p:cNvPr id="237" name="Google Shape;237;p4"/>
          <p:cNvSpPr/>
          <p:nvPr/>
        </p:nvSpPr>
        <p:spPr>
          <a:xfrm>
            <a:off x="11293410" y="7549224"/>
            <a:ext cx="25090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Sans"/>
              <a:buNone/>
            </a:pP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38" name="Google Shape;238;p4"/>
          <p:cNvSpPr/>
          <p:nvPr/>
        </p:nvSpPr>
        <p:spPr>
          <a:xfrm>
            <a:off x="6591184" y="7893183"/>
            <a:ext cx="282028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Sliding-window attention</a:t>
            </a:r>
            <a:endParaRPr sz="1800">
              <a:solidFill>
                <a:schemeClr val="dk1"/>
              </a:solidFill>
              <a:latin typeface="Calibri"/>
              <a:ea typeface="Calibri"/>
              <a:cs typeface="Calibri"/>
              <a:sym typeface="Calibri"/>
            </a:endParaRPr>
          </a:p>
        </p:txBody>
      </p:sp>
      <p:sp>
        <p:nvSpPr>
          <p:cNvPr id="239" name="Google Shape;239;p4"/>
          <p:cNvSpPr/>
          <p:nvPr/>
        </p:nvSpPr>
        <p:spPr>
          <a:xfrm>
            <a:off x="11293410" y="7893183"/>
            <a:ext cx="25090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Sans"/>
              <a:buNone/>
            </a:pP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40" name="Google Shape;240;p4"/>
          <p:cNvSpPr/>
          <p:nvPr/>
        </p:nvSpPr>
        <p:spPr>
          <a:xfrm>
            <a:off x="11963301" y="2733559"/>
            <a:ext cx="5410316" cy="5627357"/>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4"/>
          <p:cNvSpPr/>
          <p:nvPr/>
        </p:nvSpPr>
        <p:spPr>
          <a:xfrm>
            <a:off x="11963301" y="2733559"/>
            <a:ext cx="5410316" cy="52917"/>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4"/>
          <p:cNvSpPr/>
          <p:nvPr/>
        </p:nvSpPr>
        <p:spPr>
          <a:xfrm>
            <a:off x="12229952" y="3015010"/>
            <a:ext cx="536471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1141"/>
              </a:buClr>
              <a:buSzPts val="1800"/>
              <a:buFont typeface="IBM Plex Mono"/>
              <a:buNone/>
            </a:pPr>
            <a:r>
              <a:rPr b="1" lang="en-US" spc="72" sz="1800">
                <a:solidFill>
                  <a:srgbClr val="001141"/>
                </a:solidFill>
                <a:latin typeface="IBM Plex Mono"/>
                <a:ea typeface="IBM Plex Mono"/>
                <a:cs typeface="IBM Plex Mono"/>
                <a:sym typeface="IBM Plex Mono"/>
              </a:rPr>
              <a:t>DECODE · MEMORY-BOUND</a:t>
            </a:r>
            <a:endParaRPr sz="1800">
              <a:solidFill>
                <a:schemeClr val="dk1"/>
              </a:solidFill>
              <a:latin typeface="Calibri"/>
              <a:ea typeface="Calibri"/>
              <a:cs typeface="Calibri"/>
              <a:sym typeface="Calibri"/>
            </a:endParaRPr>
          </a:p>
        </p:txBody>
      </p:sp>
      <p:sp>
        <p:nvSpPr>
          <p:cNvPr id="243" name="Google Shape;243;p4"/>
          <p:cNvSpPr/>
          <p:nvPr/>
        </p:nvSpPr>
        <p:spPr>
          <a:xfrm>
            <a:off x="12229952" y="3406593"/>
            <a:ext cx="5364717" cy="426707"/>
          </a:xfrm>
          <a:prstGeom prst="rect">
            <a:avLst/>
          </a:prstGeom>
          <a:noFill/>
          <a:ln>
            <a:noFill/>
          </a:ln>
        </p:spPr>
        <p:txBody>
          <a:bodyPr anchorCtr="0" anchor="t" bIns="25400" lIns="25400" spcFirstLastPara="1" rIns="25400" wrap="square" tIns="25400">
            <a:normAutofit/>
          </a:bodyPr>
          <a:lstStyle/>
          <a:p>
            <a:pPr indent="0" lvl="0" marL="0" marR="0" rtl="0" algn="l">
              <a:lnSpc>
                <a:spcPct val="91800"/>
              </a:lnSpc>
              <a:spcBef>
                <a:spcPts val="0"/>
              </a:spcBef>
              <a:spcAft>
                <a:spcPts val="0"/>
              </a:spcAft>
              <a:buClr>
                <a:srgbClr val="161616"/>
              </a:buClr>
              <a:buSzPts val="2550"/>
              <a:buFont typeface="IBM Plex Sans"/>
              <a:buNone/>
            </a:pPr>
            <a:r>
              <a:rPr b="1" lang="en-US" sz="2550">
                <a:solidFill>
                  <a:srgbClr val="161616"/>
                </a:solidFill>
                <a:latin typeface="IBM Plex Sans"/>
                <a:ea typeface="IBM Plex Sans"/>
                <a:cs typeface="IBM Plex Sans"/>
                <a:sym typeface="IBM Plex Sans"/>
              </a:rPr>
              <a:t>Write the answer token by token</a:t>
            </a:r>
            <a:endParaRPr sz="2550">
              <a:solidFill>
                <a:schemeClr val="dk1"/>
              </a:solidFill>
              <a:latin typeface="Calibri"/>
              <a:ea typeface="Calibri"/>
              <a:cs typeface="Calibri"/>
              <a:sym typeface="Calibri"/>
            </a:endParaRPr>
          </a:p>
        </p:txBody>
      </p:sp>
      <p:sp>
        <p:nvSpPr>
          <p:cNvPr id="244" name="Google Shape;244;p4"/>
          <p:cNvSpPr/>
          <p:nvPr/>
        </p:nvSpPr>
        <p:spPr>
          <a:xfrm>
            <a:off x="12229952" y="3890450"/>
            <a:ext cx="5364717"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950"/>
              <a:buFont typeface="IBM Plex Sans"/>
              <a:buNone/>
            </a:pPr>
            <a:r>
              <a:rPr lang="en-US" sz="1950">
                <a:solidFill>
                  <a:srgbClr val="393939"/>
                </a:solidFill>
                <a:latin typeface="IBM Plex Sans"/>
                <a:ea typeface="IBM Plex Sans"/>
                <a:cs typeface="IBM Plex Sans"/>
                <a:sym typeface="IBM Plex Sans"/>
              </a:rPr>
              <a:t>Like typing the reply, word by word</a:t>
            </a:r>
            <a:endParaRPr sz="1950">
              <a:solidFill>
                <a:schemeClr val="dk1"/>
              </a:solidFill>
              <a:latin typeface="Calibri"/>
              <a:ea typeface="Calibri"/>
              <a:cs typeface="Calibri"/>
              <a:sym typeface="Calibri"/>
            </a:endParaRPr>
          </a:p>
        </p:txBody>
      </p:sp>
      <p:sp>
        <p:nvSpPr>
          <p:cNvPr id="245" name="Google Shape;245;p4"/>
          <p:cNvSpPr/>
          <p:nvPr/>
        </p:nvSpPr>
        <p:spPr>
          <a:xfrm>
            <a:off x="12229952" y="4384642"/>
            <a:ext cx="2495434" cy="437059"/>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4"/>
          <p:cNvSpPr/>
          <p:nvPr/>
        </p:nvSpPr>
        <p:spPr>
          <a:xfrm>
            <a:off x="12363302" y="4441792"/>
            <a:ext cx="2304934" cy="360859"/>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IBM Plex Mono"/>
              <a:buNone/>
            </a:pPr>
            <a:r>
              <a:rPr b="1" lang="en-US" sz="1950">
                <a:solidFill>
                  <a:srgbClr val="FFFFFF"/>
                </a:solidFill>
                <a:latin typeface="IBM Plex Mono"/>
                <a:ea typeface="IBM Plex Mono"/>
                <a:cs typeface="IBM Plex Mono"/>
                <a:sym typeface="IBM Plex Mono"/>
              </a:rPr>
              <a:t>SETS TPOT · ITL</a:t>
            </a:r>
            <a:endParaRPr sz="1950">
              <a:solidFill>
                <a:schemeClr val="dk1"/>
              </a:solidFill>
              <a:latin typeface="Calibri"/>
              <a:ea typeface="Calibri"/>
              <a:cs typeface="Calibri"/>
              <a:sym typeface="Calibri"/>
            </a:endParaRPr>
          </a:p>
        </p:txBody>
      </p:sp>
      <p:sp>
        <p:nvSpPr>
          <p:cNvPr id="247" name="Google Shape;247;p4"/>
          <p:cNvSpPr/>
          <p:nvPr/>
        </p:nvSpPr>
        <p:spPr>
          <a:xfrm>
            <a:off x="12229952" y="4897851"/>
            <a:ext cx="3029653"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Slower: more users, full KV</a:t>
            </a:r>
            <a:endParaRPr sz="1800">
              <a:solidFill>
                <a:schemeClr val="dk1"/>
              </a:solidFill>
              <a:latin typeface="Calibri"/>
              <a:ea typeface="Calibri"/>
              <a:cs typeface="Calibri"/>
              <a:sym typeface="Calibri"/>
            </a:endParaRPr>
          </a:p>
        </p:txBody>
      </p:sp>
      <p:sp>
        <p:nvSpPr>
          <p:cNvPr id="248" name="Google Shape;248;p4"/>
          <p:cNvSpPr/>
          <p:nvPr/>
        </p:nvSpPr>
        <p:spPr>
          <a:xfrm>
            <a:off x="11963301" y="5690857"/>
            <a:ext cx="5410316" cy="9525"/>
          </a:xfrm>
          <a:prstGeom prst="rect">
            <a:avLst/>
          </a:prstGeom>
          <a:solidFill>
            <a:srgbClr val="C6C6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4"/>
          <p:cNvSpPr/>
          <p:nvPr/>
        </p:nvSpPr>
        <p:spPr>
          <a:xfrm>
            <a:off x="12229952" y="5829433"/>
            <a:ext cx="536471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z="1800">
                <a:solidFill>
                  <a:srgbClr val="525252"/>
                </a:solidFill>
                <a:latin typeface="IBM Plex Mono"/>
                <a:ea typeface="IBM Plex Mono"/>
                <a:cs typeface="IBM Plex Mono"/>
                <a:sym typeface="IBM Plex Mono"/>
              </a:rPr>
              <a:t>ON SPYRE TODAY</a:t>
            </a:r>
            <a:endParaRPr sz="1800">
              <a:solidFill>
                <a:schemeClr val="dk1"/>
              </a:solidFill>
              <a:latin typeface="Calibri"/>
              <a:ea typeface="Calibri"/>
              <a:cs typeface="Calibri"/>
              <a:sym typeface="Calibri"/>
            </a:endParaRPr>
          </a:p>
        </p:txBody>
      </p:sp>
      <p:sp>
        <p:nvSpPr>
          <p:cNvPr id="250" name="Google Shape;250;p4"/>
          <p:cNvSpPr/>
          <p:nvPr/>
        </p:nvSpPr>
        <p:spPr>
          <a:xfrm>
            <a:off x="12229952" y="6173391"/>
            <a:ext cx="231669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Continuous batching</a:t>
            </a:r>
            <a:endParaRPr sz="1800">
              <a:solidFill>
                <a:schemeClr val="dk1"/>
              </a:solidFill>
              <a:latin typeface="Calibri"/>
              <a:ea typeface="Calibri"/>
              <a:cs typeface="Calibri"/>
              <a:sym typeface="Calibri"/>
            </a:endParaRPr>
          </a:p>
        </p:txBody>
      </p:sp>
      <p:sp>
        <p:nvSpPr>
          <p:cNvPr id="251" name="Google Shape;251;p4"/>
          <p:cNvSpPr/>
          <p:nvPr/>
        </p:nvSpPr>
        <p:spPr>
          <a:xfrm>
            <a:off x="16932259" y="6173391"/>
            <a:ext cx="25090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Sans"/>
              <a:buNone/>
            </a:pP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52" name="Google Shape;252;p4"/>
          <p:cNvSpPr/>
          <p:nvPr/>
        </p:nvSpPr>
        <p:spPr>
          <a:xfrm>
            <a:off x="12229952" y="6517349"/>
            <a:ext cx="2989999"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Structured outputs (JSON)</a:t>
            </a:r>
            <a:endParaRPr sz="1800">
              <a:solidFill>
                <a:schemeClr val="dk1"/>
              </a:solidFill>
              <a:latin typeface="Calibri"/>
              <a:ea typeface="Calibri"/>
              <a:cs typeface="Calibri"/>
              <a:sym typeface="Calibri"/>
            </a:endParaRPr>
          </a:p>
        </p:txBody>
      </p:sp>
      <p:sp>
        <p:nvSpPr>
          <p:cNvPr id="253" name="Google Shape;253;p4"/>
          <p:cNvSpPr/>
          <p:nvPr/>
        </p:nvSpPr>
        <p:spPr>
          <a:xfrm>
            <a:off x="16932259" y="6517349"/>
            <a:ext cx="25090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Sans"/>
              <a:buNone/>
            </a:pP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54" name="Google Shape;254;p4"/>
          <p:cNvSpPr/>
          <p:nvPr/>
        </p:nvSpPr>
        <p:spPr>
          <a:xfrm>
            <a:off x="12229952" y="6861307"/>
            <a:ext cx="291332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Hybrid models (Granite 4)</a:t>
            </a:r>
            <a:endParaRPr sz="1800">
              <a:solidFill>
                <a:schemeClr val="dk1"/>
              </a:solidFill>
              <a:latin typeface="Calibri"/>
              <a:ea typeface="Calibri"/>
              <a:cs typeface="Calibri"/>
              <a:sym typeface="Calibri"/>
            </a:endParaRPr>
          </a:p>
        </p:txBody>
      </p:sp>
      <p:sp>
        <p:nvSpPr>
          <p:cNvPr id="255" name="Google Shape;255;p4"/>
          <p:cNvSpPr/>
          <p:nvPr/>
        </p:nvSpPr>
        <p:spPr>
          <a:xfrm>
            <a:off x="16932259" y="6861307"/>
            <a:ext cx="25090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Sans"/>
              <a:buNone/>
            </a:pP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56" name="Google Shape;256;p4"/>
          <p:cNvSpPr/>
          <p:nvPr/>
        </p:nvSpPr>
        <p:spPr>
          <a:xfrm>
            <a:off x="12229952" y="7205266"/>
            <a:ext cx="251205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FP8 quantized models</a:t>
            </a:r>
            <a:endParaRPr sz="1800">
              <a:solidFill>
                <a:schemeClr val="dk1"/>
              </a:solidFill>
              <a:latin typeface="Calibri"/>
              <a:ea typeface="Calibri"/>
              <a:cs typeface="Calibri"/>
              <a:sym typeface="Calibri"/>
            </a:endParaRPr>
          </a:p>
        </p:txBody>
      </p:sp>
      <p:sp>
        <p:nvSpPr>
          <p:cNvPr id="257" name="Google Shape;257;p4"/>
          <p:cNvSpPr/>
          <p:nvPr/>
        </p:nvSpPr>
        <p:spPr>
          <a:xfrm>
            <a:off x="16932259" y="7205266"/>
            <a:ext cx="25090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Sans"/>
              <a:buNone/>
            </a:pP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58" name="Google Shape;258;p4"/>
          <p:cNvSpPr/>
          <p:nvPr/>
        </p:nvSpPr>
        <p:spPr>
          <a:xfrm>
            <a:off x="12229952" y="7549224"/>
            <a:ext cx="184529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Hybrid KV cache</a:t>
            </a:r>
            <a:endParaRPr sz="1800">
              <a:solidFill>
                <a:schemeClr val="dk1"/>
              </a:solidFill>
              <a:latin typeface="Calibri"/>
              <a:ea typeface="Calibri"/>
              <a:cs typeface="Calibri"/>
              <a:sym typeface="Calibri"/>
            </a:endParaRPr>
          </a:p>
        </p:txBody>
      </p:sp>
      <p:sp>
        <p:nvSpPr>
          <p:cNvPr id="259" name="Google Shape;259;p4"/>
          <p:cNvSpPr/>
          <p:nvPr/>
        </p:nvSpPr>
        <p:spPr>
          <a:xfrm>
            <a:off x="16897450" y="7592632"/>
            <a:ext cx="209517" cy="209517"/>
          </a:xfrm>
          <a:prstGeom prst="ellipse">
            <a:avLst/>
          </a:prstGeom>
          <a:gradFill>
            <a:gsLst>
              <a:gs pos="0">
                <a:srgbClr val="B28600"/>
              </a:gs>
              <a:gs pos="50000">
                <a:srgbClr val="B28600"/>
              </a:gs>
              <a:gs pos="100000">
                <a:srgbClr val="B28600">
                  <a:alpha val="0"/>
                </a:srgbClr>
              </a:gs>
            </a:gsLst>
            <a:lin ang="0" scaled="0"/>
          </a:gradFill>
          <a:ln cap="flat" cmpd="sng" w="15875">
            <a:solidFill>
              <a:srgbClr val="B286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4"/>
          <p:cNvSpPr/>
          <p:nvPr/>
        </p:nvSpPr>
        <p:spPr>
          <a:xfrm>
            <a:off x="12229952" y="7893183"/>
            <a:ext cx="404984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Sampling on Spyre (host CPU today)</a:t>
            </a:r>
            <a:endParaRPr sz="1800">
              <a:solidFill>
                <a:schemeClr val="dk1"/>
              </a:solidFill>
              <a:latin typeface="Calibri"/>
              <a:ea typeface="Calibri"/>
              <a:cs typeface="Calibri"/>
              <a:sym typeface="Calibri"/>
            </a:endParaRPr>
          </a:p>
        </p:txBody>
      </p:sp>
      <p:sp>
        <p:nvSpPr>
          <p:cNvPr id="261" name="Google Shape;261;p4"/>
          <p:cNvSpPr/>
          <p:nvPr/>
        </p:nvSpPr>
        <p:spPr>
          <a:xfrm>
            <a:off x="16897450" y="7936591"/>
            <a:ext cx="209517" cy="209517"/>
          </a:xfrm>
          <a:prstGeom prst="ellipse">
            <a:avLst/>
          </a:prstGeom>
          <a:gradFill>
            <a:gsLst>
              <a:gs pos="0">
                <a:srgbClr val="B28600"/>
              </a:gs>
              <a:gs pos="50000">
                <a:srgbClr val="B28600"/>
              </a:gs>
              <a:gs pos="100000">
                <a:srgbClr val="B28600">
                  <a:alpha val="0"/>
                </a:srgbClr>
              </a:gs>
            </a:gsLst>
            <a:lin ang="0" scaled="0"/>
          </a:gradFill>
          <a:ln cap="flat" cmpd="sng" w="15875">
            <a:solidFill>
              <a:srgbClr val="B286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4"/>
          <p:cNvSpPr/>
          <p:nvPr/>
        </p:nvSpPr>
        <p:spPr>
          <a:xfrm>
            <a:off x="6324534" y="8513300"/>
            <a:ext cx="4563806"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Sans"/>
              <a:buNone/>
            </a:pPr>
            <a:r>
              <a:rPr lang="en-US" sz="1800">
                <a:solidFill>
                  <a:srgbClr val="525252"/>
                </a:solidFill>
                <a:latin typeface="IBM Plex Sans"/>
                <a:ea typeface="IBM Plex Sans"/>
                <a:cs typeface="IBM Plex Sans"/>
                <a:sym typeface="IBM Plex Sans"/>
              </a:rPr>
              <a:t>Also: tensor parallel </a:t>
            </a:r>
            <a:r>
              <a:rPr b="1" lang="en-US" sz="1800">
                <a:solidFill>
                  <a:srgbClr val="198038"/>
                </a:solidFill>
                <a:latin typeface="IBM Plex Sans"/>
                <a:ea typeface="IBM Plex Sans"/>
                <a:cs typeface="IBM Plex Sans"/>
                <a:sym typeface="IBM Plex Sans"/>
              </a:rPr>
              <a:t>✓ </a:t>
            </a:r>
            <a:r>
              <a:rPr lang="en-US" sz="1800">
                <a:solidFill>
                  <a:srgbClr val="525252"/>
                </a:solidFill>
                <a:latin typeface="IBM Plex Sans"/>
                <a:ea typeface="IBM Plex Sans"/>
                <a:cs typeface="IBM Plex Sans"/>
                <a:sym typeface="IBM Plex Sans"/>
              </a:rPr>
              <a:t>· IBM Z (s390x) </a:t>
            </a: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63" name="Google Shape;263;p4"/>
          <p:cNvSpPr/>
          <p:nvPr/>
        </p:nvSpPr>
        <p:spPr>
          <a:xfrm>
            <a:off x="6324534" y="9076284"/>
            <a:ext cx="25090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Sans"/>
              <a:buNone/>
            </a:pPr>
            <a:r>
              <a:rPr b="1" lang="en-US" sz="1800">
                <a:solidFill>
                  <a:srgbClr val="198038"/>
                </a:solidFill>
                <a:latin typeface="IBM Plex Sans"/>
                <a:ea typeface="IBM Plex Sans"/>
                <a:cs typeface="IBM Plex Sans"/>
                <a:sym typeface="IBM Plex Sans"/>
              </a:rPr>
              <a:t>✓</a:t>
            </a:r>
            <a:endParaRPr sz="1800">
              <a:solidFill>
                <a:schemeClr val="dk1"/>
              </a:solidFill>
              <a:latin typeface="Calibri"/>
              <a:ea typeface="Calibri"/>
              <a:cs typeface="Calibri"/>
              <a:sym typeface="Calibri"/>
            </a:endParaRPr>
          </a:p>
        </p:txBody>
      </p:sp>
      <p:sp>
        <p:nvSpPr>
          <p:cNvPr id="264" name="Google Shape;264;p4"/>
          <p:cNvSpPr/>
          <p:nvPr/>
        </p:nvSpPr>
        <p:spPr>
          <a:xfrm>
            <a:off x="6594492" y="9076284"/>
            <a:ext cx="1261038" cy="334433"/>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25252"/>
              </a:buClr>
              <a:buSzPts val="1800"/>
              <a:buFont typeface="IBM Plex Sans"/>
              <a:buNone/>
            </a:pPr>
            <a:r>
              <a:rPr lang="en-US" sz="1800">
                <a:solidFill>
                  <a:srgbClr val="525252"/>
                </a:solidFill>
                <a:latin typeface="IBM Plex Sans"/>
                <a:ea typeface="IBM Plex Sans"/>
                <a:cs typeface="IBM Plex Sans"/>
                <a:sym typeface="IBM Plex Sans"/>
              </a:rPr>
              <a:t>supported ·</a:t>
            </a:r>
            <a:endParaRPr sz="1800">
              <a:solidFill>
                <a:schemeClr val="dk1"/>
              </a:solidFill>
              <a:latin typeface="Calibri"/>
              <a:ea typeface="Calibri"/>
              <a:cs typeface="Calibri"/>
              <a:sym typeface="Calibri"/>
            </a:endParaRPr>
          </a:p>
        </p:txBody>
      </p:sp>
      <p:sp>
        <p:nvSpPr>
          <p:cNvPr id="265" name="Google Shape;265;p4"/>
          <p:cNvSpPr/>
          <p:nvPr/>
        </p:nvSpPr>
        <p:spPr>
          <a:xfrm>
            <a:off x="7874579" y="9138709"/>
            <a:ext cx="171400" cy="171400"/>
          </a:xfrm>
          <a:prstGeom prst="ellipse">
            <a:avLst/>
          </a:prstGeom>
          <a:gradFill>
            <a:gsLst>
              <a:gs pos="0">
                <a:srgbClr val="B28600"/>
              </a:gs>
              <a:gs pos="50000">
                <a:srgbClr val="B28600"/>
              </a:gs>
              <a:gs pos="100000">
                <a:srgbClr val="B28600">
                  <a:alpha val="0"/>
                </a:srgbClr>
              </a:gs>
            </a:gsLst>
            <a:lin ang="0" scaled="0"/>
          </a:gradFill>
          <a:ln cap="flat" cmpd="sng" w="15875">
            <a:solidFill>
              <a:srgbClr val="B286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4"/>
          <p:cNvSpPr/>
          <p:nvPr/>
        </p:nvSpPr>
        <p:spPr>
          <a:xfrm>
            <a:off x="8141230" y="9076284"/>
            <a:ext cx="7482826" cy="334433"/>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25252"/>
              </a:buClr>
              <a:buSzPts val="1800"/>
              <a:buFont typeface="IBM Plex Sans"/>
              <a:buNone/>
            </a:pPr>
            <a:r>
              <a:rPr lang="en-US" sz="1800">
                <a:solidFill>
                  <a:srgbClr val="525252"/>
                </a:solidFill>
                <a:latin typeface="IBM Plex Sans"/>
                <a:ea typeface="IBM Plex Sans"/>
                <a:cs typeface="IBM Plex Sans"/>
                <a:sym typeface="IBM Plex Sans"/>
              </a:rPr>
              <a:t>partial, in progress · Source: Spyre plugin (sendnn-inference) v2.6 docs</a:t>
            </a:r>
            <a:endParaRPr sz="1800">
              <a:solidFill>
                <a:schemeClr val="dk1"/>
              </a:solidFill>
              <a:latin typeface="Calibri"/>
              <a:ea typeface="Calibri"/>
              <a:cs typeface="Calibri"/>
              <a:sym typeface="Calibri"/>
            </a:endParaRPr>
          </a:p>
        </p:txBody>
      </p:sp>
      <p:pic>
        <p:nvPicPr>
          <p:cNvPr descr="preencoded.png" id="267" name="Google Shape;267;p4"/>
          <p:cNvPicPr preferRelativeResize="0"/>
          <p:nvPr/>
        </p:nvPicPr>
        <p:blipFill rotWithShape="1">
          <a:blip r:embed="rId4">
            <a:alphaModFix/>
          </a:blip>
          <a:srcRect b="0" l="0" r="0" t="0"/>
          <a:stretch/>
        </p:blipFill>
        <p:spPr>
          <a:xfrm>
            <a:off x="914384" y="9677467"/>
            <a:ext cx="310968" cy="342883"/>
          </a:xfrm>
          <a:prstGeom prst="rect">
            <a:avLst/>
          </a:prstGeom>
          <a:noFill/>
          <a:ln>
            <a:noFill/>
          </a:ln>
        </p:spPr>
      </p:pic>
      <p:sp>
        <p:nvSpPr>
          <p:cNvPr id="268" name="Google Shape;268;p4"/>
          <p:cNvSpPr/>
          <p:nvPr/>
        </p:nvSpPr>
        <p:spPr>
          <a:xfrm>
            <a:off x="1415852" y="9700700"/>
            <a:ext cx="77482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Bangalore Performance &amp; Scale Meetup 2026 · From Tokens to Scale</a:t>
            </a:r>
            <a:endParaRPr sz="1800">
              <a:solidFill>
                <a:schemeClr val="dk1"/>
              </a:solidFill>
              <a:latin typeface="Calibri"/>
              <a:ea typeface="Calibri"/>
              <a:cs typeface="Calibri"/>
              <a:sym typeface="Calibri"/>
            </a:endParaRPr>
          </a:p>
        </p:txBody>
      </p:sp>
      <p:sp>
        <p:nvSpPr>
          <p:cNvPr id="269" name="Google Shape;269;p4"/>
          <p:cNvSpPr/>
          <p:nvPr/>
        </p:nvSpPr>
        <p:spPr>
          <a:xfrm>
            <a:off x="12227306" y="9700700"/>
            <a:ext cx="506594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Sans"/>
              <a:buNone/>
            </a:pPr>
            <a:r>
              <a:rPr lang="en-US" sz="1800">
                <a:solidFill>
                  <a:srgbClr val="0F62FE"/>
                </a:solidFill>
                <a:latin typeface="IBM Plex Sans"/>
                <a:ea typeface="IBM Plex Sans"/>
                <a:cs typeface="IBM Plex Sans"/>
                <a:sym typeface="IBM Plex Sans"/>
              </a:rPr>
              <a:t>Next: how we measure prefill and decode →</a:t>
            </a:r>
            <a:endParaRPr sz="1800">
              <a:solidFill>
                <a:schemeClr val="dk1"/>
              </a:solidFill>
              <a:latin typeface="Calibri"/>
              <a:ea typeface="Calibri"/>
              <a:cs typeface="Calibri"/>
              <a:sym typeface="Calibri"/>
            </a:endParaRPr>
          </a:p>
        </p:txBody>
      </p:sp>
      <p:sp>
        <p:nvSpPr>
          <p:cNvPr id="270" name="Google Shape;270;p4"/>
          <p:cNvSpPr/>
          <p:nvPr/>
        </p:nvSpPr>
        <p:spPr>
          <a:xfrm>
            <a:off x="17099360" y="9700700"/>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z="1800">
                <a:solidFill>
                  <a:srgbClr val="6F6F6F"/>
                </a:solidFill>
                <a:latin typeface="IBM Plex Mono"/>
                <a:ea typeface="IBM Plex Mono"/>
                <a:cs typeface="IBM Plex Mono"/>
                <a:sym typeface="IBM Plex Mono"/>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5"/>
          <p:cNvSpPr/>
          <p:nvPr/>
        </p:nvSpPr>
        <p:spPr>
          <a:xfrm>
            <a:off x="914384" y="571500"/>
            <a:ext cx="181051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03 · BENCHMARK METRICS × SILICON METRICS · ONE CLOCK</a:t>
            </a:r>
            <a:endParaRPr sz="1800">
              <a:solidFill>
                <a:schemeClr val="dk1"/>
              </a:solidFill>
              <a:latin typeface="Calibri"/>
              <a:ea typeface="Calibri"/>
              <a:cs typeface="Calibri"/>
              <a:sym typeface="Calibri"/>
            </a:endParaRPr>
          </a:p>
        </p:txBody>
      </p:sp>
      <p:sp>
        <p:nvSpPr>
          <p:cNvPr id="277" name="Google Shape;277;p5"/>
          <p:cNvSpPr/>
          <p:nvPr/>
        </p:nvSpPr>
        <p:spPr>
          <a:xfrm>
            <a:off x="914384" y="982100"/>
            <a:ext cx="18105157" cy="666734"/>
          </a:xfrm>
          <a:prstGeom prst="rect">
            <a:avLst/>
          </a:prstGeom>
          <a:noFill/>
          <a:ln>
            <a:noFill/>
          </a:ln>
        </p:spPr>
        <p:txBody>
          <a:bodyPr anchorCtr="0" anchor="t" bIns="25400" lIns="25400" spcFirstLastPara="1" rIns="25400" wrap="square" tIns="25400">
            <a:normAutofit/>
          </a:bodyPr>
          <a:lstStyle/>
          <a:p>
            <a:pPr indent="0" lvl="0" marL="0" marR="0" rtl="0" algn="l">
              <a:lnSpc>
                <a:spcPct val="84255"/>
              </a:lnSpc>
              <a:spcBef>
                <a:spcPts val="0"/>
              </a:spcBef>
              <a:spcAft>
                <a:spcPts val="0"/>
              </a:spcAft>
              <a:buClr>
                <a:srgbClr val="161616"/>
              </a:buClr>
              <a:buSzPts val="4500"/>
              <a:buFont typeface="IBM Plex Sans"/>
              <a:buNone/>
            </a:pPr>
            <a:r>
              <a:rPr b="1" lang="en-US" spc="-45" sz="4500">
                <a:solidFill>
                  <a:srgbClr val="161616"/>
                </a:solidFill>
                <a:latin typeface="IBM Plex Sans"/>
                <a:ea typeface="IBM Plex Sans"/>
                <a:cs typeface="IBM Plex Sans"/>
                <a:sym typeface="IBM Plex Sans"/>
              </a:rPr>
              <a:t>Every user-felt number is explained by a silicon counter</a:t>
            </a:r>
            <a:endParaRPr sz="4500">
              <a:solidFill>
                <a:schemeClr val="dk1"/>
              </a:solidFill>
              <a:latin typeface="Calibri"/>
              <a:ea typeface="Calibri"/>
              <a:cs typeface="Calibri"/>
              <a:sym typeface="Calibri"/>
            </a:endParaRPr>
          </a:p>
        </p:txBody>
      </p:sp>
      <p:sp>
        <p:nvSpPr>
          <p:cNvPr id="278" name="Google Shape;278;p5"/>
          <p:cNvSpPr/>
          <p:nvPr/>
        </p:nvSpPr>
        <p:spPr>
          <a:xfrm>
            <a:off x="914384" y="1877384"/>
            <a:ext cx="12382584" cy="7440084"/>
          </a:xfrm>
          <a:prstGeom prst="rect">
            <a:avLst/>
          </a:prstGeom>
          <a:solidFill>
            <a:srgbClr val="FFFFFF"/>
          </a:solidFill>
          <a:ln cap="flat" cmpd="sng" w="9525">
            <a:solidFill>
              <a:srgbClr val="E0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79" name="Google Shape;279;p5"/>
          <p:cNvPicPr preferRelativeResize="0"/>
          <p:nvPr/>
        </p:nvPicPr>
        <p:blipFill rotWithShape="1">
          <a:blip r:embed="rId3">
            <a:alphaModFix/>
          </a:blip>
          <a:srcRect b="-1508" l="0" r="0" t="-1508"/>
          <a:stretch/>
        </p:blipFill>
        <p:spPr>
          <a:xfrm>
            <a:off x="919675" y="1882676"/>
            <a:ext cx="12371999" cy="7429501"/>
          </a:xfrm>
          <a:prstGeom prst="rect">
            <a:avLst/>
          </a:prstGeom>
          <a:noFill/>
          <a:ln>
            <a:noFill/>
          </a:ln>
        </p:spPr>
      </p:pic>
      <p:sp>
        <p:nvSpPr>
          <p:cNvPr id="280" name="Google Shape;280;p5"/>
          <p:cNvSpPr/>
          <p:nvPr/>
        </p:nvSpPr>
        <p:spPr>
          <a:xfrm>
            <a:off x="13563617" y="1877384"/>
            <a:ext cx="419100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Mono"/>
              <a:buNone/>
            </a:pPr>
            <a:r>
              <a:rPr b="1" lang="en-US" spc="108" sz="1800">
                <a:solidFill>
                  <a:srgbClr val="161616"/>
                </a:solidFill>
                <a:latin typeface="IBM Plex Mono"/>
                <a:ea typeface="IBM Plex Mono"/>
                <a:cs typeface="IBM Plex Mono"/>
                <a:sym typeface="IBM Plex Mono"/>
              </a:rPr>
              <a:t>WHAT WE REPORT</a:t>
            </a:r>
            <a:endParaRPr sz="1800">
              <a:solidFill>
                <a:schemeClr val="dk1"/>
              </a:solidFill>
              <a:latin typeface="Calibri"/>
              <a:ea typeface="Calibri"/>
              <a:cs typeface="Calibri"/>
              <a:sym typeface="Calibri"/>
            </a:endParaRPr>
          </a:p>
        </p:txBody>
      </p:sp>
      <p:sp>
        <p:nvSpPr>
          <p:cNvPr id="281" name="Google Shape;281;p5"/>
          <p:cNvSpPr/>
          <p:nvPr/>
        </p:nvSpPr>
        <p:spPr>
          <a:xfrm>
            <a:off x="13563617" y="2211751"/>
            <a:ext cx="3924300" cy="630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Sans"/>
              <a:buNone/>
            </a:pPr>
            <a:r>
              <a:rPr lang="en-US" sz="1800">
                <a:solidFill>
                  <a:srgbClr val="525252"/>
                </a:solidFill>
                <a:latin typeface="IBM Plex Sans"/>
                <a:ea typeface="IBM Plex Sans"/>
                <a:cs typeface="IBM Plex Sans"/>
                <a:sym typeface="IBM Plex Sans"/>
              </a:rPr>
              <a:t>mean · p99 · max — the tail is the SLA</a:t>
            </a:r>
            <a:endParaRPr sz="1800">
              <a:solidFill>
                <a:schemeClr val="dk1"/>
              </a:solidFill>
              <a:latin typeface="Calibri"/>
              <a:ea typeface="Calibri"/>
              <a:cs typeface="Calibri"/>
              <a:sym typeface="Calibri"/>
            </a:endParaRPr>
          </a:p>
        </p:txBody>
      </p:sp>
      <p:sp>
        <p:nvSpPr>
          <p:cNvPr id="282" name="Google Shape;282;p5"/>
          <p:cNvSpPr/>
          <p:nvPr/>
        </p:nvSpPr>
        <p:spPr>
          <a:xfrm>
            <a:off x="13563617" y="2937702"/>
            <a:ext cx="3810000" cy="15875"/>
          </a:xfrm>
          <a:prstGeom prst="rect">
            <a:avLst/>
          </a:prstGeom>
          <a:solidFill>
            <a:srgbClr val="161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5"/>
          <p:cNvSpPr/>
          <p:nvPr/>
        </p:nvSpPr>
        <p:spPr>
          <a:xfrm>
            <a:off x="13563617" y="3770478"/>
            <a:ext cx="381000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5"/>
          <p:cNvSpPr/>
          <p:nvPr/>
        </p:nvSpPr>
        <p:spPr>
          <a:xfrm>
            <a:off x="13563617" y="3029727"/>
            <a:ext cx="716326" cy="3873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2100"/>
              <a:buFont typeface="IBM Plex Mono"/>
              <a:buNone/>
            </a:pPr>
            <a:r>
              <a:rPr b="1" lang="en-US" sz="2100">
                <a:solidFill>
                  <a:srgbClr val="0F62FE"/>
                </a:solidFill>
                <a:latin typeface="IBM Plex Mono"/>
                <a:ea typeface="IBM Plex Mono"/>
                <a:cs typeface="IBM Plex Mono"/>
                <a:sym typeface="IBM Plex Mono"/>
              </a:rPr>
              <a:t>TTFT</a:t>
            </a:r>
            <a:endParaRPr sz="2100">
              <a:solidFill>
                <a:schemeClr val="dk1"/>
              </a:solidFill>
              <a:latin typeface="Calibri"/>
              <a:ea typeface="Calibri"/>
              <a:cs typeface="Calibri"/>
              <a:sym typeface="Calibri"/>
            </a:endParaRPr>
          </a:p>
        </p:txBody>
      </p:sp>
      <p:sp>
        <p:nvSpPr>
          <p:cNvPr id="285" name="Google Shape;285;p5"/>
          <p:cNvSpPr/>
          <p:nvPr/>
        </p:nvSpPr>
        <p:spPr>
          <a:xfrm>
            <a:off x="16138923" y="3072061"/>
            <a:ext cx="135816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3CE"/>
              </a:buClr>
              <a:buSzPts val="1800"/>
              <a:buFont typeface="IBM Plex Mono"/>
              <a:buNone/>
            </a:pPr>
            <a:r>
              <a:rPr lang="en-US" sz="1800">
                <a:solidFill>
                  <a:srgbClr val="0043CE"/>
                </a:solidFill>
                <a:latin typeface="IBM Plex Mono"/>
                <a:ea typeface="IBM Plex Mono"/>
                <a:cs typeface="IBM Plex Mono"/>
                <a:sym typeface="IBM Plex Mono"/>
              </a:rPr>
              <a:t>● PREFILL</a:t>
            </a:r>
            <a:endParaRPr sz="1800">
              <a:solidFill>
                <a:schemeClr val="dk1"/>
              </a:solidFill>
              <a:latin typeface="Calibri"/>
              <a:ea typeface="Calibri"/>
              <a:cs typeface="Calibri"/>
              <a:sym typeface="Calibri"/>
            </a:endParaRPr>
          </a:p>
        </p:txBody>
      </p:sp>
      <p:sp>
        <p:nvSpPr>
          <p:cNvPr id="286" name="Google Shape;286;p5"/>
          <p:cNvSpPr/>
          <p:nvPr/>
        </p:nvSpPr>
        <p:spPr>
          <a:xfrm>
            <a:off x="13563617" y="3397994"/>
            <a:ext cx="419100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Time to first token: queue + prefill</a:t>
            </a:r>
            <a:endParaRPr sz="1800">
              <a:solidFill>
                <a:schemeClr val="dk1"/>
              </a:solidFill>
              <a:latin typeface="Calibri"/>
              <a:ea typeface="Calibri"/>
              <a:cs typeface="Calibri"/>
              <a:sym typeface="Calibri"/>
            </a:endParaRPr>
          </a:p>
        </p:txBody>
      </p:sp>
      <p:sp>
        <p:nvSpPr>
          <p:cNvPr id="287" name="Google Shape;287;p5"/>
          <p:cNvSpPr/>
          <p:nvPr/>
        </p:nvSpPr>
        <p:spPr>
          <a:xfrm>
            <a:off x="13563617" y="4592671"/>
            <a:ext cx="381000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5"/>
          <p:cNvSpPr/>
          <p:nvPr/>
        </p:nvSpPr>
        <p:spPr>
          <a:xfrm>
            <a:off x="13563617" y="3851920"/>
            <a:ext cx="716326" cy="3873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2100"/>
              <a:buFont typeface="IBM Plex Mono"/>
              <a:buNone/>
            </a:pPr>
            <a:r>
              <a:rPr b="1" lang="en-US" sz="2100">
                <a:solidFill>
                  <a:srgbClr val="0F62FE"/>
                </a:solidFill>
                <a:latin typeface="IBM Plex Mono"/>
                <a:ea typeface="IBM Plex Mono"/>
                <a:cs typeface="IBM Plex Mono"/>
                <a:sym typeface="IBM Plex Mono"/>
              </a:rPr>
              <a:t>TPOT</a:t>
            </a:r>
            <a:endParaRPr sz="2100">
              <a:solidFill>
                <a:schemeClr val="dk1"/>
              </a:solidFill>
              <a:latin typeface="Calibri"/>
              <a:ea typeface="Calibri"/>
              <a:cs typeface="Calibri"/>
              <a:sym typeface="Calibri"/>
            </a:endParaRPr>
          </a:p>
        </p:txBody>
      </p:sp>
      <p:sp>
        <p:nvSpPr>
          <p:cNvPr id="289" name="Google Shape;289;p5"/>
          <p:cNvSpPr/>
          <p:nvPr/>
        </p:nvSpPr>
        <p:spPr>
          <a:xfrm>
            <a:off x="16276093" y="3894254"/>
            <a:ext cx="117372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1141"/>
              </a:buClr>
              <a:buSzPts val="1800"/>
              <a:buFont typeface="IBM Plex Mono"/>
              <a:buNone/>
            </a:pPr>
            <a:r>
              <a:rPr lang="en-US" sz="1800">
                <a:solidFill>
                  <a:srgbClr val="001141"/>
                </a:solidFill>
                <a:latin typeface="IBM Plex Mono"/>
                <a:ea typeface="IBM Plex Mono"/>
                <a:cs typeface="IBM Plex Mono"/>
                <a:sym typeface="IBM Plex Mono"/>
              </a:rPr>
              <a:t>● DECODE</a:t>
            </a:r>
            <a:endParaRPr sz="1800">
              <a:solidFill>
                <a:schemeClr val="dk1"/>
              </a:solidFill>
              <a:latin typeface="Calibri"/>
              <a:ea typeface="Calibri"/>
              <a:cs typeface="Calibri"/>
              <a:sym typeface="Calibri"/>
            </a:endParaRPr>
          </a:p>
        </p:txBody>
      </p:sp>
      <p:sp>
        <p:nvSpPr>
          <p:cNvPr id="290" name="Google Shape;290;p5"/>
          <p:cNvSpPr/>
          <p:nvPr/>
        </p:nvSpPr>
        <p:spPr>
          <a:xfrm>
            <a:off x="13563617" y="4220187"/>
            <a:ext cx="419100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Time per output token, at this batch</a:t>
            </a:r>
            <a:endParaRPr sz="1800">
              <a:solidFill>
                <a:schemeClr val="dk1"/>
              </a:solidFill>
              <a:latin typeface="Calibri"/>
              <a:ea typeface="Calibri"/>
              <a:cs typeface="Calibri"/>
              <a:sym typeface="Calibri"/>
            </a:endParaRPr>
          </a:p>
        </p:txBody>
      </p:sp>
      <p:sp>
        <p:nvSpPr>
          <p:cNvPr id="291" name="Google Shape;291;p5"/>
          <p:cNvSpPr/>
          <p:nvPr/>
        </p:nvSpPr>
        <p:spPr>
          <a:xfrm>
            <a:off x="13563617" y="5414863"/>
            <a:ext cx="381000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5"/>
          <p:cNvSpPr/>
          <p:nvPr/>
        </p:nvSpPr>
        <p:spPr>
          <a:xfrm>
            <a:off x="13563617" y="4674113"/>
            <a:ext cx="556336" cy="3873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2100"/>
              <a:buFont typeface="IBM Plex Mono"/>
              <a:buNone/>
            </a:pPr>
            <a:r>
              <a:rPr b="1" lang="en-US" sz="2100">
                <a:solidFill>
                  <a:srgbClr val="0F62FE"/>
                </a:solidFill>
                <a:latin typeface="IBM Plex Mono"/>
                <a:ea typeface="IBM Plex Mono"/>
                <a:cs typeface="IBM Plex Mono"/>
                <a:sym typeface="IBM Plex Mono"/>
              </a:rPr>
              <a:t>ITL</a:t>
            </a:r>
            <a:endParaRPr sz="2100">
              <a:solidFill>
                <a:schemeClr val="dk1"/>
              </a:solidFill>
              <a:latin typeface="Calibri"/>
              <a:ea typeface="Calibri"/>
              <a:cs typeface="Calibri"/>
              <a:sym typeface="Calibri"/>
            </a:endParaRPr>
          </a:p>
        </p:txBody>
      </p:sp>
      <p:sp>
        <p:nvSpPr>
          <p:cNvPr id="293" name="Google Shape;293;p5"/>
          <p:cNvSpPr/>
          <p:nvPr/>
        </p:nvSpPr>
        <p:spPr>
          <a:xfrm>
            <a:off x="16276093" y="4716446"/>
            <a:ext cx="117372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1141"/>
              </a:buClr>
              <a:buSzPts val="1800"/>
              <a:buFont typeface="IBM Plex Mono"/>
              <a:buNone/>
            </a:pPr>
            <a:r>
              <a:rPr lang="en-US" sz="1800">
                <a:solidFill>
                  <a:srgbClr val="001141"/>
                </a:solidFill>
                <a:latin typeface="IBM Plex Mono"/>
                <a:ea typeface="IBM Plex Mono"/>
                <a:cs typeface="IBM Plex Mono"/>
                <a:sym typeface="IBM Plex Mono"/>
              </a:rPr>
              <a:t>● DECODE</a:t>
            </a:r>
            <a:endParaRPr sz="1800">
              <a:solidFill>
                <a:schemeClr val="dk1"/>
              </a:solidFill>
              <a:latin typeface="Calibri"/>
              <a:ea typeface="Calibri"/>
              <a:cs typeface="Calibri"/>
              <a:sym typeface="Calibri"/>
            </a:endParaRPr>
          </a:p>
        </p:txBody>
      </p:sp>
      <p:sp>
        <p:nvSpPr>
          <p:cNvPr id="294" name="Google Shape;294;p5"/>
          <p:cNvSpPr/>
          <p:nvPr/>
        </p:nvSpPr>
        <p:spPr>
          <a:xfrm>
            <a:off x="13563617" y="5042380"/>
            <a:ext cx="419100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Inter-token latency: does it stutter?</a:t>
            </a:r>
            <a:endParaRPr sz="1800">
              <a:solidFill>
                <a:schemeClr val="dk1"/>
              </a:solidFill>
              <a:latin typeface="Calibri"/>
              <a:ea typeface="Calibri"/>
              <a:cs typeface="Calibri"/>
              <a:sym typeface="Calibri"/>
            </a:endParaRPr>
          </a:p>
        </p:txBody>
      </p:sp>
      <p:sp>
        <p:nvSpPr>
          <p:cNvPr id="295" name="Google Shape;295;p5"/>
          <p:cNvSpPr/>
          <p:nvPr/>
        </p:nvSpPr>
        <p:spPr>
          <a:xfrm>
            <a:off x="13563617" y="6237056"/>
            <a:ext cx="381000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5"/>
          <p:cNvSpPr/>
          <p:nvPr/>
        </p:nvSpPr>
        <p:spPr>
          <a:xfrm>
            <a:off x="13563617" y="5496306"/>
            <a:ext cx="556336" cy="3873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2100"/>
              <a:buFont typeface="IBM Plex Mono"/>
              <a:buNone/>
            </a:pPr>
            <a:r>
              <a:rPr b="1" lang="en-US" sz="2100">
                <a:solidFill>
                  <a:srgbClr val="0F62FE"/>
                </a:solidFill>
                <a:latin typeface="IBM Plex Mono"/>
                <a:ea typeface="IBM Plex Mono"/>
                <a:cs typeface="IBM Plex Mono"/>
                <a:sym typeface="IBM Plex Mono"/>
              </a:rPr>
              <a:t>E2E</a:t>
            </a:r>
            <a:endParaRPr sz="2100">
              <a:solidFill>
                <a:schemeClr val="dk1"/>
              </a:solidFill>
              <a:latin typeface="Calibri"/>
              <a:ea typeface="Calibri"/>
              <a:cs typeface="Calibri"/>
              <a:sym typeface="Calibri"/>
            </a:endParaRPr>
          </a:p>
        </p:txBody>
      </p:sp>
      <p:sp>
        <p:nvSpPr>
          <p:cNvPr id="297" name="Google Shape;297;p5"/>
          <p:cNvSpPr/>
          <p:nvPr/>
        </p:nvSpPr>
        <p:spPr>
          <a:xfrm>
            <a:off x="16687437" y="5538639"/>
            <a:ext cx="76238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2191F"/>
              </a:buClr>
              <a:buSzPts val="1800"/>
              <a:buFont typeface="IBM Plex Mono"/>
              <a:buNone/>
            </a:pPr>
            <a:r>
              <a:rPr lang="en-US" sz="1800">
                <a:solidFill>
                  <a:srgbClr val="A2191F"/>
                </a:solidFill>
                <a:latin typeface="IBM Plex Mono"/>
                <a:ea typeface="IBM Plex Mono"/>
                <a:cs typeface="IBM Plex Mono"/>
                <a:sym typeface="IBM Plex Mono"/>
              </a:rPr>
              <a:t>● SLA</a:t>
            </a:r>
            <a:endParaRPr sz="1800">
              <a:solidFill>
                <a:schemeClr val="dk1"/>
              </a:solidFill>
              <a:latin typeface="Calibri"/>
              <a:ea typeface="Calibri"/>
              <a:cs typeface="Calibri"/>
              <a:sym typeface="Calibri"/>
            </a:endParaRPr>
          </a:p>
        </p:txBody>
      </p:sp>
      <p:sp>
        <p:nvSpPr>
          <p:cNvPr id="298" name="Google Shape;298;p5"/>
          <p:cNvSpPr/>
          <p:nvPr/>
        </p:nvSpPr>
        <p:spPr>
          <a:xfrm>
            <a:off x="13563617" y="5864572"/>
            <a:ext cx="419100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End-to-end: TTFT + (n−1) × TPOT</a:t>
            </a:r>
            <a:endParaRPr sz="1800">
              <a:solidFill>
                <a:schemeClr val="dk1"/>
              </a:solidFill>
              <a:latin typeface="Calibri"/>
              <a:ea typeface="Calibri"/>
              <a:cs typeface="Calibri"/>
              <a:sym typeface="Calibri"/>
            </a:endParaRPr>
          </a:p>
        </p:txBody>
      </p:sp>
      <p:sp>
        <p:nvSpPr>
          <p:cNvPr id="299" name="Google Shape;299;p5"/>
          <p:cNvSpPr/>
          <p:nvPr/>
        </p:nvSpPr>
        <p:spPr>
          <a:xfrm>
            <a:off x="13563617" y="7059249"/>
            <a:ext cx="381000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5"/>
          <p:cNvSpPr/>
          <p:nvPr/>
        </p:nvSpPr>
        <p:spPr>
          <a:xfrm>
            <a:off x="13563617" y="6318499"/>
            <a:ext cx="1760256" cy="3873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2100"/>
              <a:buFont typeface="IBM Plex Mono"/>
              <a:buNone/>
            </a:pPr>
            <a:r>
              <a:rPr b="1" lang="en-US" sz="2100">
                <a:solidFill>
                  <a:srgbClr val="0F62FE"/>
                </a:solidFill>
                <a:latin typeface="IBM Plex Mono"/>
                <a:ea typeface="IBM Plex Mono"/>
                <a:cs typeface="IBM Plex Mono"/>
                <a:sym typeface="IBM Plex Mono"/>
              </a:rPr>
              <a:t>Throughput</a:t>
            </a:r>
            <a:endParaRPr sz="2100">
              <a:solidFill>
                <a:schemeClr val="dk1"/>
              </a:solidFill>
              <a:latin typeface="Calibri"/>
              <a:ea typeface="Calibri"/>
              <a:cs typeface="Calibri"/>
              <a:sym typeface="Calibri"/>
            </a:endParaRPr>
          </a:p>
        </p:txBody>
      </p:sp>
      <p:sp>
        <p:nvSpPr>
          <p:cNvPr id="301" name="Google Shape;301;p5"/>
          <p:cNvSpPr/>
          <p:nvPr/>
        </p:nvSpPr>
        <p:spPr>
          <a:xfrm>
            <a:off x="16001835" y="6360832"/>
            <a:ext cx="150896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98038"/>
              </a:buClr>
              <a:buSzPts val="1800"/>
              <a:buFont typeface="IBM Plex Mono"/>
              <a:buNone/>
            </a:pPr>
            <a:r>
              <a:rPr lang="en-US" sz="1800">
                <a:solidFill>
                  <a:srgbClr val="198038"/>
                </a:solidFill>
                <a:latin typeface="IBM Plex Mono"/>
                <a:ea typeface="IBM Plex Mono"/>
                <a:cs typeface="IBM Plex Mono"/>
                <a:sym typeface="IBM Plex Mono"/>
              </a:rPr>
              <a:t>● CAPACITY</a:t>
            </a:r>
            <a:endParaRPr sz="1800">
              <a:solidFill>
                <a:schemeClr val="dk1"/>
              </a:solidFill>
              <a:latin typeface="Calibri"/>
              <a:ea typeface="Calibri"/>
              <a:cs typeface="Calibri"/>
              <a:sym typeface="Calibri"/>
            </a:endParaRPr>
          </a:p>
        </p:txBody>
      </p:sp>
      <p:sp>
        <p:nvSpPr>
          <p:cNvPr id="302" name="Google Shape;302;p5"/>
          <p:cNvSpPr/>
          <p:nvPr/>
        </p:nvSpPr>
        <p:spPr>
          <a:xfrm>
            <a:off x="13563617" y="6686765"/>
            <a:ext cx="419100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tok/s, output &amp; total · find the knee</a:t>
            </a:r>
            <a:endParaRPr sz="1800">
              <a:solidFill>
                <a:schemeClr val="dk1"/>
              </a:solidFill>
              <a:latin typeface="Calibri"/>
              <a:ea typeface="Calibri"/>
              <a:cs typeface="Calibri"/>
              <a:sym typeface="Calibri"/>
            </a:endParaRPr>
          </a:p>
        </p:txBody>
      </p:sp>
      <p:sp>
        <p:nvSpPr>
          <p:cNvPr id="303" name="Google Shape;303;p5"/>
          <p:cNvSpPr/>
          <p:nvPr/>
        </p:nvSpPr>
        <p:spPr>
          <a:xfrm>
            <a:off x="13563617" y="7881442"/>
            <a:ext cx="381000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5"/>
          <p:cNvSpPr/>
          <p:nvPr/>
        </p:nvSpPr>
        <p:spPr>
          <a:xfrm>
            <a:off x="13563617" y="7140691"/>
            <a:ext cx="1760256" cy="3873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2100"/>
              <a:buFont typeface="IBM Plex Mono"/>
              <a:buNone/>
            </a:pPr>
            <a:r>
              <a:rPr b="1" lang="en-US" sz="2100">
                <a:solidFill>
                  <a:srgbClr val="0F62FE"/>
                </a:solidFill>
                <a:latin typeface="IBM Plex Mono"/>
                <a:ea typeface="IBM Plex Mono"/>
                <a:cs typeface="IBM Plex Mono"/>
                <a:sym typeface="IBM Plex Mono"/>
              </a:rPr>
              <a:t>Cache hits</a:t>
            </a:r>
            <a:endParaRPr sz="2100">
              <a:solidFill>
                <a:schemeClr val="dk1"/>
              </a:solidFill>
              <a:latin typeface="Calibri"/>
              <a:ea typeface="Calibri"/>
              <a:cs typeface="Calibri"/>
              <a:sym typeface="Calibri"/>
            </a:endParaRPr>
          </a:p>
        </p:txBody>
      </p:sp>
      <p:sp>
        <p:nvSpPr>
          <p:cNvPr id="305" name="Google Shape;305;p5"/>
          <p:cNvSpPr/>
          <p:nvPr/>
        </p:nvSpPr>
        <p:spPr>
          <a:xfrm>
            <a:off x="16138923" y="7183024"/>
            <a:ext cx="135816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3FFC"/>
              </a:buClr>
              <a:buSzPts val="1800"/>
              <a:buFont typeface="IBM Plex Mono"/>
              <a:buNone/>
            </a:pPr>
            <a:r>
              <a:rPr lang="en-US" sz="1800">
                <a:solidFill>
                  <a:srgbClr val="8A3FFC"/>
                </a:solidFill>
                <a:latin typeface="IBM Plex Mono"/>
                <a:ea typeface="IBM Plex Mono"/>
                <a:cs typeface="IBM Plex Mono"/>
                <a:sym typeface="IBM Plex Mono"/>
              </a:rPr>
              <a:t>● ROUTING</a:t>
            </a:r>
            <a:endParaRPr sz="1800">
              <a:solidFill>
                <a:schemeClr val="dk1"/>
              </a:solidFill>
              <a:latin typeface="Calibri"/>
              <a:ea typeface="Calibri"/>
              <a:cs typeface="Calibri"/>
              <a:sym typeface="Calibri"/>
            </a:endParaRPr>
          </a:p>
        </p:txBody>
      </p:sp>
      <p:sp>
        <p:nvSpPr>
          <p:cNvPr id="306" name="Google Shape;306;p5"/>
          <p:cNvSpPr/>
          <p:nvPr/>
        </p:nvSpPr>
        <p:spPr>
          <a:xfrm>
            <a:off x="13563617" y="7508958"/>
            <a:ext cx="419100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Prefix-cache hit rate</a:t>
            </a:r>
            <a:endParaRPr sz="1800">
              <a:solidFill>
                <a:schemeClr val="dk1"/>
              </a:solidFill>
              <a:latin typeface="Calibri"/>
              <a:ea typeface="Calibri"/>
              <a:cs typeface="Calibri"/>
              <a:sym typeface="Calibri"/>
            </a:endParaRPr>
          </a:p>
        </p:txBody>
      </p:sp>
      <p:sp>
        <p:nvSpPr>
          <p:cNvPr id="307" name="Google Shape;307;p5"/>
          <p:cNvSpPr/>
          <p:nvPr/>
        </p:nvSpPr>
        <p:spPr>
          <a:xfrm>
            <a:off x="13563617" y="8092282"/>
            <a:ext cx="419100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pc="108" sz="1800">
                <a:solidFill>
                  <a:srgbClr val="525252"/>
                </a:solidFill>
                <a:latin typeface="IBM Plex Mono"/>
                <a:ea typeface="IBM Plex Mono"/>
                <a:cs typeface="IBM Plex Mono"/>
                <a:sym typeface="IBM Plex Mono"/>
              </a:rPr>
              <a:t>PRECISION</a:t>
            </a:r>
            <a:endParaRPr sz="1800">
              <a:solidFill>
                <a:schemeClr val="dk1"/>
              </a:solidFill>
              <a:latin typeface="Calibri"/>
              <a:ea typeface="Calibri"/>
              <a:cs typeface="Calibri"/>
              <a:sym typeface="Calibri"/>
            </a:endParaRPr>
          </a:p>
        </p:txBody>
      </p:sp>
      <p:sp>
        <p:nvSpPr>
          <p:cNvPr id="308" name="Google Shape;308;p5"/>
          <p:cNvSpPr/>
          <p:nvPr/>
        </p:nvSpPr>
        <p:spPr>
          <a:xfrm>
            <a:off x="13563617" y="8464765"/>
            <a:ext cx="739014" cy="372401"/>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5"/>
          <p:cNvSpPr/>
          <p:nvPr/>
        </p:nvSpPr>
        <p:spPr>
          <a:xfrm>
            <a:off x="13658867" y="8502865"/>
            <a:ext cx="624714" cy="33430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lang="en-US" sz="1800">
                <a:solidFill>
                  <a:srgbClr val="FFFFFF"/>
                </a:solidFill>
                <a:latin typeface="IBM Plex Mono"/>
                <a:ea typeface="IBM Plex Mono"/>
                <a:cs typeface="IBM Plex Mono"/>
                <a:sym typeface="IBM Plex Mono"/>
              </a:rPr>
              <a:t>FP32</a:t>
            </a:r>
            <a:endParaRPr sz="1800">
              <a:solidFill>
                <a:schemeClr val="dk1"/>
              </a:solidFill>
              <a:latin typeface="Calibri"/>
              <a:ea typeface="Calibri"/>
              <a:cs typeface="Calibri"/>
              <a:sym typeface="Calibri"/>
            </a:endParaRPr>
          </a:p>
        </p:txBody>
      </p:sp>
      <p:sp>
        <p:nvSpPr>
          <p:cNvPr id="310" name="Google Shape;310;p5"/>
          <p:cNvSpPr/>
          <p:nvPr/>
        </p:nvSpPr>
        <p:spPr>
          <a:xfrm>
            <a:off x="14378782" y="8464765"/>
            <a:ext cx="739014" cy="372401"/>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5"/>
          <p:cNvSpPr/>
          <p:nvPr/>
        </p:nvSpPr>
        <p:spPr>
          <a:xfrm>
            <a:off x="14474032" y="8502865"/>
            <a:ext cx="624714" cy="33430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lang="en-US" sz="1800">
                <a:solidFill>
                  <a:srgbClr val="FFFFFF"/>
                </a:solidFill>
                <a:latin typeface="IBM Plex Mono"/>
                <a:ea typeface="IBM Plex Mono"/>
                <a:cs typeface="IBM Plex Mono"/>
                <a:sym typeface="IBM Plex Mono"/>
              </a:rPr>
              <a:t>BF16</a:t>
            </a:r>
            <a:endParaRPr sz="1800">
              <a:solidFill>
                <a:schemeClr val="dk1"/>
              </a:solidFill>
              <a:latin typeface="Calibri"/>
              <a:ea typeface="Calibri"/>
              <a:cs typeface="Calibri"/>
              <a:sym typeface="Calibri"/>
            </a:endParaRPr>
          </a:p>
        </p:txBody>
      </p:sp>
      <p:sp>
        <p:nvSpPr>
          <p:cNvPr id="312" name="Google Shape;312;p5"/>
          <p:cNvSpPr/>
          <p:nvPr/>
        </p:nvSpPr>
        <p:spPr>
          <a:xfrm>
            <a:off x="15193947" y="8464765"/>
            <a:ext cx="739014" cy="372401"/>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5"/>
          <p:cNvSpPr/>
          <p:nvPr/>
        </p:nvSpPr>
        <p:spPr>
          <a:xfrm>
            <a:off x="15289197" y="8502865"/>
            <a:ext cx="624714" cy="33430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lang="en-US" sz="1800">
                <a:solidFill>
                  <a:srgbClr val="FFFFFF"/>
                </a:solidFill>
                <a:latin typeface="IBM Plex Mono"/>
                <a:ea typeface="IBM Plex Mono"/>
                <a:cs typeface="IBM Plex Mono"/>
                <a:sym typeface="IBM Plex Mono"/>
              </a:rPr>
              <a:t>FP16</a:t>
            </a:r>
            <a:endParaRPr sz="1800">
              <a:solidFill>
                <a:schemeClr val="dk1"/>
              </a:solidFill>
              <a:latin typeface="Calibri"/>
              <a:ea typeface="Calibri"/>
              <a:cs typeface="Calibri"/>
              <a:sym typeface="Calibri"/>
            </a:endParaRPr>
          </a:p>
        </p:txBody>
      </p:sp>
      <p:sp>
        <p:nvSpPr>
          <p:cNvPr id="314" name="Google Shape;314;p5"/>
          <p:cNvSpPr/>
          <p:nvPr/>
        </p:nvSpPr>
        <p:spPr>
          <a:xfrm>
            <a:off x="16009111" y="8464765"/>
            <a:ext cx="601927" cy="372401"/>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5"/>
          <p:cNvSpPr/>
          <p:nvPr/>
        </p:nvSpPr>
        <p:spPr>
          <a:xfrm>
            <a:off x="16104361" y="8502865"/>
            <a:ext cx="487627" cy="33430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lang="en-US" sz="1800">
                <a:solidFill>
                  <a:srgbClr val="FFFFFF"/>
                </a:solidFill>
                <a:latin typeface="IBM Plex Mono"/>
                <a:ea typeface="IBM Plex Mono"/>
                <a:cs typeface="IBM Plex Mono"/>
                <a:sym typeface="IBM Plex Mono"/>
              </a:rPr>
              <a:t>FP8</a:t>
            </a:r>
            <a:endParaRPr sz="1800">
              <a:solidFill>
                <a:schemeClr val="dk1"/>
              </a:solidFill>
              <a:latin typeface="Calibri"/>
              <a:ea typeface="Calibri"/>
              <a:cs typeface="Calibri"/>
              <a:sym typeface="Calibri"/>
            </a:endParaRPr>
          </a:p>
        </p:txBody>
      </p:sp>
      <p:sp>
        <p:nvSpPr>
          <p:cNvPr id="316" name="Google Shape;316;p5"/>
          <p:cNvSpPr/>
          <p:nvPr/>
        </p:nvSpPr>
        <p:spPr>
          <a:xfrm>
            <a:off x="13563617" y="8913317"/>
            <a:ext cx="1730706" cy="404151"/>
          </a:xfrm>
          <a:prstGeom prst="rect">
            <a:avLst/>
          </a:prstGeom>
          <a:noFill/>
          <a:ln cap="flat" cmpd="sng" w="15875">
            <a:solidFill>
              <a:srgbClr val="8D8D8D"/>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5"/>
          <p:cNvSpPr/>
          <p:nvPr/>
        </p:nvSpPr>
        <p:spPr>
          <a:xfrm>
            <a:off x="13674742" y="8967292"/>
            <a:ext cx="1584656" cy="33430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z="1800">
                <a:solidFill>
                  <a:srgbClr val="525252"/>
                </a:solidFill>
                <a:latin typeface="IBM Plex Mono"/>
                <a:ea typeface="IBM Plex Mono"/>
                <a:cs typeface="IBM Plex Mono"/>
                <a:sym typeface="IBM Plex Mono"/>
              </a:rPr>
              <a:t>INT8/4 next</a:t>
            </a:r>
            <a:endParaRPr sz="1800">
              <a:solidFill>
                <a:schemeClr val="dk1"/>
              </a:solidFill>
              <a:latin typeface="Calibri"/>
              <a:ea typeface="Calibri"/>
              <a:cs typeface="Calibri"/>
              <a:sym typeface="Calibri"/>
            </a:endParaRPr>
          </a:p>
        </p:txBody>
      </p:sp>
      <p:pic>
        <p:nvPicPr>
          <p:cNvPr descr="preencoded.png" id="318" name="Google Shape;318;p5"/>
          <p:cNvPicPr preferRelativeResize="0"/>
          <p:nvPr/>
        </p:nvPicPr>
        <p:blipFill rotWithShape="1">
          <a:blip r:embed="rId4">
            <a:alphaModFix/>
          </a:blip>
          <a:srcRect b="0" l="0" r="0" t="0"/>
          <a:stretch/>
        </p:blipFill>
        <p:spPr>
          <a:xfrm>
            <a:off x="914384" y="9677467"/>
            <a:ext cx="310968" cy="342883"/>
          </a:xfrm>
          <a:prstGeom prst="rect">
            <a:avLst/>
          </a:prstGeom>
          <a:noFill/>
          <a:ln>
            <a:noFill/>
          </a:ln>
        </p:spPr>
      </p:pic>
      <p:sp>
        <p:nvSpPr>
          <p:cNvPr id="319" name="Google Shape;319;p5"/>
          <p:cNvSpPr/>
          <p:nvPr/>
        </p:nvSpPr>
        <p:spPr>
          <a:xfrm>
            <a:off x="1415852" y="9700700"/>
            <a:ext cx="77482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Bangalore Performance &amp; Scale Meetup 2026 · From Tokens to Scale</a:t>
            </a:r>
            <a:endParaRPr sz="1800">
              <a:solidFill>
                <a:schemeClr val="dk1"/>
              </a:solidFill>
              <a:latin typeface="Calibri"/>
              <a:ea typeface="Calibri"/>
              <a:cs typeface="Calibri"/>
              <a:sym typeface="Calibri"/>
            </a:endParaRPr>
          </a:p>
        </p:txBody>
      </p:sp>
      <p:sp>
        <p:nvSpPr>
          <p:cNvPr id="320" name="Google Shape;320;p5"/>
          <p:cNvSpPr/>
          <p:nvPr/>
        </p:nvSpPr>
        <p:spPr>
          <a:xfrm>
            <a:off x="13669616" y="9700700"/>
            <a:ext cx="3479403"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Sans"/>
              <a:buNone/>
            </a:pPr>
            <a:r>
              <a:rPr lang="en-US" sz="1800">
                <a:solidFill>
                  <a:srgbClr val="0F62FE"/>
                </a:solidFill>
                <a:latin typeface="IBM Plex Sans"/>
                <a:ea typeface="IBM Plex Sans"/>
                <a:cs typeface="IBM Plex Sans"/>
                <a:sym typeface="IBM Plex Sans"/>
              </a:rPr>
              <a:t>Next: from one box to many →</a:t>
            </a:r>
            <a:endParaRPr sz="1800">
              <a:solidFill>
                <a:schemeClr val="dk1"/>
              </a:solidFill>
              <a:latin typeface="Calibri"/>
              <a:ea typeface="Calibri"/>
              <a:cs typeface="Calibri"/>
              <a:sym typeface="Calibri"/>
            </a:endParaRPr>
          </a:p>
        </p:txBody>
      </p:sp>
      <p:sp>
        <p:nvSpPr>
          <p:cNvPr id="321" name="Google Shape;321;p5"/>
          <p:cNvSpPr/>
          <p:nvPr/>
        </p:nvSpPr>
        <p:spPr>
          <a:xfrm>
            <a:off x="17099360" y="9700700"/>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z="1800">
                <a:solidFill>
                  <a:srgbClr val="6F6F6F"/>
                </a:solidFill>
                <a:latin typeface="IBM Plex Mono"/>
                <a:ea typeface="IBM Plex Mono"/>
                <a:cs typeface="IBM Plex Mono"/>
                <a:sym typeface="IBM Plex Mono"/>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h588e6ac8f2e1014_0_7"/>
          <p:cNvPicPr preferRelativeResize="0"/>
          <p:nvPr/>
        </p:nvPicPr>
        <p:blipFill>
          <a:blip r:embed="rId3">
            <a:alphaModFix/>
          </a:blip>
          <a:stretch>
            <a:fillRect/>
          </a:stretch>
        </p:blipFill>
        <p:spPr>
          <a:xfrm>
            <a:off x="152400" y="152400"/>
            <a:ext cx="17746135" cy="99822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h588e6ac8f2e1014_0_3"/>
          <p:cNvPicPr preferRelativeResize="0"/>
          <p:nvPr/>
        </p:nvPicPr>
        <p:blipFill>
          <a:blip r:embed="rId3">
            <a:alphaModFix/>
          </a:blip>
          <a:stretch>
            <a:fillRect/>
          </a:stretch>
        </p:blipFill>
        <p:spPr>
          <a:xfrm>
            <a:off x="152400" y="152400"/>
            <a:ext cx="17746135" cy="99822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7"/>
          <p:cNvSpPr/>
          <p:nvPr/>
        </p:nvSpPr>
        <p:spPr>
          <a:xfrm>
            <a:off x="914384" y="571500"/>
            <a:ext cx="181051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04 · SCALE-OUT WITH LLM-D · INSIDE THE ROUTER</a:t>
            </a:r>
            <a:endParaRPr sz="1800">
              <a:solidFill>
                <a:schemeClr val="dk1"/>
              </a:solidFill>
              <a:latin typeface="Calibri"/>
              <a:ea typeface="Calibri"/>
              <a:cs typeface="Calibri"/>
              <a:sym typeface="Calibri"/>
            </a:endParaRPr>
          </a:p>
        </p:txBody>
      </p:sp>
      <p:sp>
        <p:nvSpPr>
          <p:cNvPr id="338" name="Google Shape;338;p7"/>
          <p:cNvSpPr/>
          <p:nvPr/>
        </p:nvSpPr>
        <p:spPr>
          <a:xfrm>
            <a:off x="914384" y="982100"/>
            <a:ext cx="18105157" cy="666734"/>
          </a:xfrm>
          <a:prstGeom prst="rect">
            <a:avLst/>
          </a:prstGeom>
          <a:noFill/>
          <a:ln>
            <a:noFill/>
          </a:ln>
        </p:spPr>
        <p:txBody>
          <a:bodyPr anchorCtr="0" anchor="t" bIns="25400" lIns="25400" spcFirstLastPara="1" rIns="25400" wrap="square" tIns="25400">
            <a:normAutofit/>
          </a:bodyPr>
          <a:lstStyle/>
          <a:p>
            <a:pPr indent="0" lvl="0" marL="0" marR="0" rtl="0" algn="l">
              <a:lnSpc>
                <a:spcPct val="84255"/>
              </a:lnSpc>
              <a:spcBef>
                <a:spcPts val="0"/>
              </a:spcBef>
              <a:spcAft>
                <a:spcPts val="0"/>
              </a:spcAft>
              <a:buClr>
                <a:srgbClr val="161616"/>
              </a:buClr>
              <a:buSzPts val="4500"/>
              <a:buFont typeface="IBM Plex Sans"/>
              <a:buNone/>
            </a:pPr>
            <a:r>
              <a:rPr b="1" lang="en-US" spc="-45" sz="4500">
                <a:solidFill>
                  <a:srgbClr val="161616"/>
                </a:solidFill>
                <a:latin typeface="IBM Plex Sans"/>
                <a:ea typeface="IBM Plex Sans"/>
                <a:cs typeface="IBM Plex Sans"/>
                <a:sym typeface="IBM Plex Sans"/>
              </a:rPr>
              <a:t>Five plugins score every pod before a request moves</a:t>
            </a:r>
            <a:endParaRPr sz="4500">
              <a:solidFill>
                <a:schemeClr val="dk1"/>
              </a:solidFill>
              <a:latin typeface="Calibri"/>
              <a:ea typeface="Calibri"/>
              <a:cs typeface="Calibri"/>
              <a:sym typeface="Calibri"/>
            </a:endParaRPr>
          </a:p>
        </p:txBody>
      </p:sp>
      <p:sp>
        <p:nvSpPr>
          <p:cNvPr id="339" name="Google Shape;339;p7"/>
          <p:cNvSpPr/>
          <p:nvPr/>
        </p:nvSpPr>
        <p:spPr>
          <a:xfrm>
            <a:off x="914384" y="1804458"/>
            <a:ext cx="1021209" cy="506842"/>
          </a:xfrm>
          <a:prstGeom prst="rect">
            <a:avLst/>
          </a:prstGeom>
          <a:noFill/>
          <a:ln cap="flat" cmpd="sng" w="15875">
            <a:solidFill>
              <a:srgbClr val="16161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7"/>
          <p:cNvSpPr/>
          <p:nvPr/>
        </p:nvSpPr>
        <p:spPr>
          <a:xfrm>
            <a:off x="1101709" y="1896533"/>
            <a:ext cx="722759" cy="3607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Client</a:t>
            </a:r>
            <a:endParaRPr sz="1950">
              <a:solidFill>
                <a:schemeClr val="dk1"/>
              </a:solidFill>
              <a:latin typeface="Calibri"/>
              <a:ea typeface="Calibri"/>
              <a:cs typeface="Calibri"/>
              <a:sym typeface="Calibri"/>
            </a:endParaRPr>
          </a:p>
        </p:txBody>
      </p:sp>
      <p:sp>
        <p:nvSpPr>
          <p:cNvPr id="341" name="Google Shape;341;p7"/>
          <p:cNvSpPr/>
          <p:nvPr/>
        </p:nvSpPr>
        <p:spPr>
          <a:xfrm>
            <a:off x="2049859" y="1896484"/>
            <a:ext cx="323916"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D8D8D"/>
              </a:buClr>
              <a:buSzPts val="1950"/>
              <a:buFont typeface="IBM Plex Sans"/>
              <a:buNone/>
            </a:pPr>
            <a:r>
              <a:rPr lang="en-US" sz="1950">
                <a:solidFill>
                  <a:srgbClr val="8D8D8D"/>
                </a:solidFill>
                <a:latin typeface="IBM Plex Sans"/>
                <a:ea typeface="IBM Plex Sans"/>
                <a:cs typeface="IBM Plex Sans"/>
                <a:sym typeface="IBM Plex Sans"/>
              </a:rPr>
              <a:t>→</a:t>
            </a:r>
            <a:endParaRPr sz="1950">
              <a:solidFill>
                <a:schemeClr val="dk1"/>
              </a:solidFill>
              <a:latin typeface="Calibri"/>
              <a:ea typeface="Calibri"/>
              <a:cs typeface="Calibri"/>
              <a:sym typeface="Calibri"/>
            </a:endParaRPr>
          </a:p>
        </p:txBody>
      </p:sp>
      <p:sp>
        <p:nvSpPr>
          <p:cNvPr id="342" name="Google Shape;342;p7"/>
          <p:cNvSpPr/>
          <p:nvPr/>
        </p:nvSpPr>
        <p:spPr>
          <a:xfrm>
            <a:off x="2411843" y="1804458"/>
            <a:ext cx="1906075" cy="506842"/>
          </a:xfrm>
          <a:prstGeom prst="rect">
            <a:avLst/>
          </a:prstGeom>
          <a:noFill/>
          <a:ln cap="flat" cmpd="sng" w="15875">
            <a:solidFill>
              <a:srgbClr val="16161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7"/>
          <p:cNvSpPr/>
          <p:nvPr/>
        </p:nvSpPr>
        <p:spPr>
          <a:xfrm>
            <a:off x="2599168" y="1896533"/>
            <a:ext cx="1607625" cy="3607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Istio Gateway</a:t>
            </a:r>
            <a:endParaRPr sz="1950">
              <a:solidFill>
                <a:schemeClr val="dk1"/>
              </a:solidFill>
              <a:latin typeface="Calibri"/>
              <a:ea typeface="Calibri"/>
              <a:cs typeface="Calibri"/>
              <a:sym typeface="Calibri"/>
            </a:endParaRPr>
          </a:p>
        </p:txBody>
      </p:sp>
      <p:sp>
        <p:nvSpPr>
          <p:cNvPr id="344" name="Google Shape;344;p7"/>
          <p:cNvSpPr/>
          <p:nvPr/>
        </p:nvSpPr>
        <p:spPr>
          <a:xfrm>
            <a:off x="4432184" y="1896484"/>
            <a:ext cx="323916"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D8D8D"/>
              </a:buClr>
              <a:buSzPts val="1950"/>
              <a:buFont typeface="IBM Plex Sans"/>
              <a:buNone/>
            </a:pPr>
            <a:r>
              <a:rPr lang="en-US" sz="1950">
                <a:solidFill>
                  <a:srgbClr val="8D8D8D"/>
                </a:solidFill>
                <a:latin typeface="IBM Plex Sans"/>
                <a:ea typeface="IBM Plex Sans"/>
                <a:cs typeface="IBM Plex Sans"/>
                <a:sym typeface="IBM Plex Sans"/>
              </a:rPr>
              <a:t>→</a:t>
            </a:r>
            <a:endParaRPr sz="1950">
              <a:solidFill>
                <a:schemeClr val="dk1"/>
              </a:solidFill>
              <a:latin typeface="Calibri"/>
              <a:ea typeface="Calibri"/>
              <a:cs typeface="Calibri"/>
              <a:sym typeface="Calibri"/>
            </a:endParaRPr>
          </a:p>
        </p:txBody>
      </p:sp>
      <p:sp>
        <p:nvSpPr>
          <p:cNvPr id="345" name="Google Shape;345;p7"/>
          <p:cNvSpPr/>
          <p:nvPr/>
        </p:nvSpPr>
        <p:spPr>
          <a:xfrm>
            <a:off x="4794168" y="1804458"/>
            <a:ext cx="1944688" cy="506842"/>
          </a:xfrm>
          <a:prstGeom prst="rect">
            <a:avLst/>
          </a:prstGeom>
          <a:noFill/>
          <a:ln cap="flat" cmpd="sng" w="15875">
            <a:solidFill>
              <a:srgbClr val="16161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7"/>
          <p:cNvSpPr/>
          <p:nvPr/>
        </p:nvSpPr>
        <p:spPr>
          <a:xfrm>
            <a:off x="4981493" y="1896533"/>
            <a:ext cx="1646237" cy="3607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lang="en-US" sz="1950">
                <a:solidFill>
                  <a:srgbClr val="161616"/>
                </a:solidFill>
                <a:latin typeface="IBM Plex Sans"/>
                <a:ea typeface="IBM Plex Sans"/>
                <a:cs typeface="IBM Plex Sans"/>
                <a:sym typeface="IBM Plex Sans"/>
              </a:rPr>
              <a:t>InferencePool</a:t>
            </a:r>
            <a:endParaRPr sz="1950">
              <a:solidFill>
                <a:schemeClr val="dk1"/>
              </a:solidFill>
              <a:latin typeface="Calibri"/>
              <a:ea typeface="Calibri"/>
              <a:cs typeface="Calibri"/>
              <a:sym typeface="Calibri"/>
            </a:endParaRPr>
          </a:p>
        </p:txBody>
      </p:sp>
      <p:sp>
        <p:nvSpPr>
          <p:cNvPr id="347" name="Google Shape;347;p7"/>
          <p:cNvSpPr/>
          <p:nvPr/>
        </p:nvSpPr>
        <p:spPr>
          <a:xfrm>
            <a:off x="6853122" y="1896484"/>
            <a:ext cx="323916"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D8D8D"/>
              </a:buClr>
              <a:buSzPts val="1950"/>
              <a:buFont typeface="IBM Plex Sans"/>
              <a:buNone/>
            </a:pPr>
            <a:r>
              <a:rPr lang="en-US" sz="1950">
                <a:solidFill>
                  <a:srgbClr val="8D8D8D"/>
                </a:solidFill>
                <a:latin typeface="IBM Plex Sans"/>
                <a:ea typeface="IBM Plex Sans"/>
                <a:cs typeface="IBM Plex Sans"/>
                <a:sym typeface="IBM Plex Sans"/>
              </a:rPr>
              <a:t>→</a:t>
            </a:r>
            <a:endParaRPr sz="1950">
              <a:solidFill>
                <a:schemeClr val="dk1"/>
              </a:solidFill>
              <a:latin typeface="Calibri"/>
              <a:ea typeface="Calibri"/>
              <a:cs typeface="Calibri"/>
              <a:sym typeface="Calibri"/>
            </a:endParaRPr>
          </a:p>
        </p:txBody>
      </p:sp>
      <p:sp>
        <p:nvSpPr>
          <p:cNvPr id="348" name="Google Shape;348;p7"/>
          <p:cNvSpPr/>
          <p:nvPr/>
        </p:nvSpPr>
        <p:spPr>
          <a:xfrm>
            <a:off x="7215105" y="1801234"/>
            <a:ext cx="5710039" cy="513292"/>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7"/>
          <p:cNvSpPr/>
          <p:nvPr/>
        </p:nvSpPr>
        <p:spPr>
          <a:xfrm>
            <a:off x="7405605" y="1896484"/>
            <a:ext cx="5500340"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IBM Plex Sans"/>
              <a:buNone/>
            </a:pPr>
            <a:r>
              <a:rPr b="1" lang="en-US" sz="1950">
                <a:solidFill>
                  <a:srgbClr val="FFFFFF"/>
                </a:solidFill>
                <a:latin typeface="IBM Plex Sans"/>
                <a:ea typeface="IBM Plex Sans"/>
                <a:cs typeface="IBM Plex Sans"/>
                <a:sym typeface="IBM Plex Sans"/>
              </a:rPr>
              <a:t>EPP: Score(pod) = Σ wᵢ × scoreᵢ → highest wins</a:t>
            </a:r>
            <a:endParaRPr sz="1950">
              <a:solidFill>
                <a:schemeClr val="dk1"/>
              </a:solidFill>
              <a:latin typeface="Calibri"/>
              <a:ea typeface="Calibri"/>
              <a:cs typeface="Calibri"/>
              <a:sym typeface="Calibri"/>
            </a:endParaRPr>
          </a:p>
        </p:txBody>
      </p:sp>
      <p:sp>
        <p:nvSpPr>
          <p:cNvPr id="350" name="Google Shape;350;p7"/>
          <p:cNvSpPr/>
          <p:nvPr/>
        </p:nvSpPr>
        <p:spPr>
          <a:xfrm>
            <a:off x="13039411" y="1896484"/>
            <a:ext cx="323916"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D8D8D"/>
              </a:buClr>
              <a:buSzPts val="1950"/>
              <a:buFont typeface="IBM Plex Sans"/>
              <a:buNone/>
            </a:pPr>
            <a:r>
              <a:rPr lang="en-US" sz="1950">
                <a:solidFill>
                  <a:srgbClr val="8D8D8D"/>
                </a:solidFill>
                <a:latin typeface="IBM Plex Sans"/>
                <a:ea typeface="IBM Plex Sans"/>
                <a:cs typeface="IBM Plex Sans"/>
                <a:sym typeface="IBM Plex Sans"/>
              </a:rPr>
              <a:t>→</a:t>
            </a:r>
            <a:endParaRPr sz="1950">
              <a:solidFill>
                <a:schemeClr val="dk1"/>
              </a:solidFill>
              <a:latin typeface="Calibri"/>
              <a:ea typeface="Calibri"/>
              <a:cs typeface="Calibri"/>
              <a:sym typeface="Calibri"/>
            </a:endParaRPr>
          </a:p>
        </p:txBody>
      </p:sp>
      <p:sp>
        <p:nvSpPr>
          <p:cNvPr id="351" name="Google Shape;351;p7"/>
          <p:cNvSpPr/>
          <p:nvPr/>
        </p:nvSpPr>
        <p:spPr>
          <a:xfrm>
            <a:off x="13401395" y="1801234"/>
            <a:ext cx="3805618" cy="513292"/>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7"/>
          <p:cNvSpPr/>
          <p:nvPr/>
        </p:nvSpPr>
        <p:spPr>
          <a:xfrm>
            <a:off x="13591895" y="1896484"/>
            <a:ext cx="3538787"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IBM Plex Sans"/>
              <a:buNone/>
            </a:pPr>
            <a:r>
              <a:rPr b="1" lang="en-US" sz="1950">
                <a:solidFill>
                  <a:srgbClr val="FFFFFF"/>
                </a:solidFill>
                <a:latin typeface="IBM Plex Sans"/>
                <a:ea typeface="IBM Plex Sans"/>
                <a:cs typeface="IBM Plex Sans"/>
                <a:sym typeface="IBM Plex Sans"/>
              </a:rPr>
              <a:t>Best vLLM pod · 4 Spyre cards</a:t>
            </a:r>
            <a:endParaRPr sz="1950">
              <a:solidFill>
                <a:schemeClr val="dk1"/>
              </a:solidFill>
              <a:latin typeface="Calibri"/>
              <a:ea typeface="Calibri"/>
              <a:cs typeface="Calibri"/>
              <a:sym typeface="Calibri"/>
            </a:endParaRPr>
          </a:p>
        </p:txBody>
      </p:sp>
      <p:sp>
        <p:nvSpPr>
          <p:cNvPr id="353" name="Google Shape;353;p7"/>
          <p:cNvSpPr/>
          <p:nvPr/>
        </p:nvSpPr>
        <p:spPr>
          <a:xfrm>
            <a:off x="914384" y="2505026"/>
            <a:ext cx="3169874" cy="4251027"/>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7"/>
          <p:cNvSpPr/>
          <p:nvPr/>
        </p:nvSpPr>
        <p:spPr>
          <a:xfrm>
            <a:off x="914384" y="2505026"/>
            <a:ext cx="3169874" cy="524867"/>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7"/>
          <p:cNvSpPr/>
          <p:nvPr/>
        </p:nvSpPr>
        <p:spPr>
          <a:xfrm>
            <a:off x="1123900" y="2619292"/>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lang="en-US" sz="1800">
                <a:solidFill>
                  <a:srgbClr val="FFFFFF"/>
                </a:solidFill>
                <a:latin typeface="IBM Plex Mono"/>
                <a:ea typeface="IBM Plex Mono"/>
                <a:cs typeface="IBM Plex Mono"/>
                <a:sym typeface="IBM Plex Mono"/>
              </a:rPr>
              <a:t>01</a:t>
            </a:r>
            <a:endParaRPr sz="1800">
              <a:solidFill>
                <a:schemeClr val="dk1"/>
              </a:solidFill>
              <a:latin typeface="Calibri"/>
              <a:ea typeface="Calibri"/>
              <a:cs typeface="Calibri"/>
              <a:sym typeface="Calibri"/>
            </a:endParaRPr>
          </a:p>
        </p:txBody>
      </p:sp>
      <p:sp>
        <p:nvSpPr>
          <p:cNvPr id="356" name="Google Shape;356;p7"/>
          <p:cNvSpPr/>
          <p:nvPr/>
        </p:nvSpPr>
        <p:spPr>
          <a:xfrm>
            <a:off x="1954940" y="2619292"/>
            <a:ext cx="211178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z="1800">
                <a:solidFill>
                  <a:srgbClr val="78A9FF"/>
                </a:solidFill>
                <a:latin typeface="IBM Plex Mono"/>
                <a:ea typeface="IBM Plex Mono"/>
                <a:cs typeface="IBM Plex Mono"/>
                <a:sym typeface="IBM Plex Mono"/>
              </a:rPr>
              <a:t>FILTER + SCORE</a:t>
            </a:r>
            <a:endParaRPr sz="1800">
              <a:solidFill>
                <a:schemeClr val="dk1"/>
              </a:solidFill>
              <a:latin typeface="Calibri"/>
              <a:ea typeface="Calibri"/>
              <a:cs typeface="Calibri"/>
              <a:sym typeface="Calibri"/>
            </a:endParaRPr>
          </a:p>
        </p:txBody>
      </p:sp>
      <p:sp>
        <p:nvSpPr>
          <p:cNvPr id="357" name="Google Shape;357;p7"/>
          <p:cNvSpPr/>
          <p:nvPr/>
        </p:nvSpPr>
        <p:spPr>
          <a:xfrm>
            <a:off x="1123900" y="3220393"/>
            <a:ext cx="2833365" cy="695259"/>
          </a:xfrm>
          <a:prstGeom prst="rect">
            <a:avLst/>
          </a:prstGeom>
          <a:noFill/>
          <a:ln>
            <a:noFill/>
          </a:ln>
        </p:spPr>
        <p:txBody>
          <a:bodyPr anchorCtr="0" anchor="t" bIns="25400" lIns="25400" spcFirstLastPara="1" rIns="25400" wrap="square" tIns="25400">
            <a:normAutofit/>
          </a:bodyPr>
          <a:lstStyle/>
          <a:p>
            <a:pPr indent="0" lvl="0" marL="0" marR="0" rtl="0" algn="l">
              <a:lnSpc>
                <a:spcPct val="88714"/>
              </a:lnSpc>
              <a:spcBef>
                <a:spcPts val="0"/>
              </a:spcBef>
              <a:spcAft>
                <a:spcPts val="0"/>
              </a:spcAft>
              <a:buClr>
                <a:srgbClr val="161616"/>
              </a:buClr>
              <a:buSzPts val="2250"/>
              <a:buFont typeface="IBM Plex Sans"/>
              <a:buNone/>
            </a:pPr>
            <a:r>
              <a:rPr b="1" lang="en-US" sz="2250">
                <a:solidFill>
                  <a:srgbClr val="161616"/>
                </a:solidFill>
                <a:latin typeface="IBM Plex Sans"/>
                <a:ea typeface="IBM Plex Sans"/>
                <a:cs typeface="IBM Plex Sans"/>
                <a:sym typeface="IBM Plex Sans"/>
              </a:rPr>
              <a:t>Context-length aware</a:t>
            </a:r>
            <a:endParaRPr sz="2250">
              <a:solidFill>
                <a:schemeClr val="dk1"/>
              </a:solidFill>
              <a:latin typeface="Calibri"/>
              <a:ea typeface="Calibri"/>
              <a:cs typeface="Calibri"/>
              <a:sym typeface="Calibri"/>
            </a:endParaRPr>
          </a:p>
        </p:txBody>
      </p:sp>
      <p:sp>
        <p:nvSpPr>
          <p:cNvPr id="358" name="Google Shape;358;p7"/>
          <p:cNvSpPr/>
          <p:nvPr/>
        </p:nvSpPr>
        <p:spPr>
          <a:xfrm>
            <a:off x="1123900" y="4010835"/>
            <a:ext cx="302592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READS</a:t>
            </a:r>
            <a:endParaRPr sz="1800">
              <a:solidFill>
                <a:schemeClr val="dk1"/>
              </a:solidFill>
              <a:latin typeface="Calibri"/>
              <a:ea typeface="Calibri"/>
              <a:cs typeface="Calibri"/>
              <a:sym typeface="Calibri"/>
            </a:endParaRPr>
          </a:p>
        </p:txBody>
      </p:sp>
      <p:sp>
        <p:nvSpPr>
          <p:cNvPr id="359" name="Google Shape;359;p7"/>
          <p:cNvSpPr/>
          <p:nvPr/>
        </p:nvSpPr>
        <p:spPr>
          <a:xfrm>
            <a:off x="1123900" y="4326186"/>
            <a:ext cx="2833365" cy="63242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Prompt tokens vs each pod's range</a:t>
            </a:r>
            <a:endParaRPr sz="1800">
              <a:solidFill>
                <a:schemeClr val="dk1"/>
              </a:solidFill>
              <a:latin typeface="Calibri"/>
              <a:ea typeface="Calibri"/>
              <a:cs typeface="Calibri"/>
              <a:sym typeface="Calibri"/>
            </a:endParaRPr>
          </a:p>
        </p:txBody>
      </p:sp>
      <p:sp>
        <p:nvSpPr>
          <p:cNvPr id="360" name="Google Shape;360;p7"/>
          <p:cNvSpPr/>
          <p:nvPr/>
        </p:nvSpPr>
        <p:spPr>
          <a:xfrm>
            <a:off x="1123900" y="5053790"/>
            <a:ext cx="302592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A1E28"/>
              </a:buClr>
              <a:buSzPts val="1800"/>
              <a:buFont typeface="IBM Plex Mono"/>
              <a:buNone/>
            </a:pPr>
            <a:r>
              <a:rPr lang="en-US" sz="1800">
                <a:solidFill>
                  <a:srgbClr val="DA1E28"/>
                </a:solidFill>
                <a:latin typeface="IBM Plex Mono"/>
                <a:ea typeface="IBM Plex Mono"/>
                <a:cs typeface="IBM Plex Mono"/>
                <a:sym typeface="IBM Plex Mono"/>
              </a:rPr>
              <a:t>STOPS</a:t>
            </a:r>
            <a:endParaRPr sz="1800">
              <a:solidFill>
                <a:schemeClr val="dk1"/>
              </a:solidFill>
              <a:latin typeface="Calibri"/>
              <a:ea typeface="Calibri"/>
              <a:cs typeface="Calibri"/>
              <a:sym typeface="Calibri"/>
            </a:endParaRPr>
          </a:p>
        </p:txBody>
      </p:sp>
      <p:sp>
        <p:nvSpPr>
          <p:cNvPr id="361" name="Google Shape;361;p7"/>
          <p:cNvSpPr/>
          <p:nvPr/>
        </p:nvSpPr>
        <p:spPr>
          <a:xfrm>
            <a:off x="1123900" y="5369140"/>
            <a:ext cx="2833365" cy="63242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Short and long requests queued alike</a:t>
            </a:r>
            <a:endParaRPr sz="1800">
              <a:solidFill>
                <a:schemeClr val="dk1"/>
              </a:solidFill>
              <a:latin typeface="Calibri"/>
              <a:ea typeface="Calibri"/>
              <a:cs typeface="Calibri"/>
              <a:sym typeface="Calibri"/>
            </a:endParaRPr>
          </a:p>
        </p:txBody>
      </p:sp>
      <p:sp>
        <p:nvSpPr>
          <p:cNvPr id="362" name="Google Shape;362;p7"/>
          <p:cNvSpPr/>
          <p:nvPr/>
        </p:nvSpPr>
        <p:spPr>
          <a:xfrm>
            <a:off x="914384" y="6191995"/>
            <a:ext cx="3169874" cy="9525"/>
          </a:xfrm>
          <a:prstGeom prst="rect">
            <a:avLst/>
          </a:prstGeom>
          <a:solidFill>
            <a:srgbClr val="C6C6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7"/>
          <p:cNvSpPr/>
          <p:nvPr/>
        </p:nvSpPr>
        <p:spPr>
          <a:xfrm>
            <a:off x="1123900" y="6328503"/>
            <a:ext cx="165930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z="1800">
                <a:solidFill>
                  <a:srgbClr val="525252"/>
                </a:solidFill>
                <a:latin typeface="IBM Plex Mono"/>
                <a:ea typeface="IBM Plex Mono"/>
                <a:cs typeface="IBM Plex Mono"/>
                <a:sym typeface="IBM Plex Mono"/>
              </a:rPr>
              <a:t>BEST WEIGHT</a:t>
            </a:r>
            <a:endParaRPr sz="1800">
              <a:solidFill>
                <a:schemeClr val="dk1"/>
              </a:solidFill>
              <a:latin typeface="Calibri"/>
              <a:ea typeface="Calibri"/>
              <a:cs typeface="Calibri"/>
              <a:sym typeface="Calibri"/>
            </a:endParaRPr>
          </a:p>
        </p:txBody>
      </p:sp>
      <p:sp>
        <p:nvSpPr>
          <p:cNvPr id="364" name="Google Shape;364;p7"/>
          <p:cNvSpPr/>
          <p:nvPr/>
        </p:nvSpPr>
        <p:spPr>
          <a:xfrm>
            <a:off x="3669027" y="6254419"/>
            <a:ext cx="281914" cy="482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2700"/>
              <a:buFont typeface="IBM Plex Mono"/>
              <a:buNone/>
            </a:pPr>
            <a:r>
              <a:rPr b="1" lang="en-US" sz="2700">
                <a:solidFill>
                  <a:srgbClr val="0F62FE"/>
                </a:solidFill>
                <a:latin typeface="IBM Plex Mono"/>
                <a:ea typeface="IBM Plex Mono"/>
                <a:cs typeface="IBM Plex Mono"/>
                <a:sym typeface="IBM Plex Mono"/>
              </a:rPr>
              <a:t>3</a:t>
            </a:r>
            <a:endParaRPr sz="2700">
              <a:solidFill>
                <a:schemeClr val="dk1"/>
              </a:solidFill>
              <a:latin typeface="Calibri"/>
              <a:ea typeface="Calibri"/>
              <a:cs typeface="Calibri"/>
              <a:sym typeface="Calibri"/>
            </a:endParaRPr>
          </a:p>
        </p:txBody>
      </p:sp>
      <p:sp>
        <p:nvSpPr>
          <p:cNvPr id="365" name="Google Shape;365;p7"/>
          <p:cNvSpPr/>
          <p:nvPr/>
        </p:nvSpPr>
        <p:spPr>
          <a:xfrm>
            <a:off x="4236641" y="2505026"/>
            <a:ext cx="3169957" cy="4251027"/>
          </a:xfrm>
          <a:prstGeom prst="rect">
            <a:avLst/>
          </a:prstGeom>
          <a:solidFill>
            <a:srgbClr val="EDF5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7"/>
          <p:cNvSpPr/>
          <p:nvPr/>
        </p:nvSpPr>
        <p:spPr>
          <a:xfrm>
            <a:off x="4236641" y="2505026"/>
            <a:ext cx="3169957" cy="524867"/>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7"/>
          <p:cNvSpPr/>
          <p:nvPr/>
        </p:nvSpPr>
        <p:spPr>
          <a:xfrm>
            <a:off x="4446158" y="2619292"/>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lang="en-US" sz="1800">
                <a:solidFill>
                  <a:srgbClr val="FFFFFF"/>
                </a:solidFill>
                <a:latin typeface="IBM Plex Mono"/>
                <a:ea typeface="IBM Plex Mono"/>
                <a:cs typeface="IBM Plex Mono"/>
                <a:sym typeface="IBM Plex Mono"/>
              </a:rPr>
              <a:t>02</a:t>
            </a:r>
            <a:endParaRPr sz="1800">
              <a:solidFill>
                <a:schemeClr val="dk1"/>
              </a:solidFill>
              <a:latin typeface="Calibri"/>
              <a:ea typeface="Calibri"/>
              <a:cs typeface="Calibri"/>
              <a:sym typeface="Calibri"/>
            </a:endParaRPr>
          </a:p>
        </p:txBody>
      </p:sp>
      <p:sp>
        <p:nvSpPr>
          <p:cNvPr id="368" name="Google Shape;368;p7"/>
          <p:cNvSpPr/>
          <p:nvPr/>
        </p:nvSpPr>
        <p:spPr>
          <a:xfrm>
            <a:off x="6511396" y="2619292"/>
            <a:ext cx="76188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lang="en-US" sz="1800">
                <a:solidFill>
                  <a:srgbClr val="FFFFFF"/>
                </a:solidFill>
                <a:latin typeface="IBM Plex Mono"/>
                <a:ea typeface="IBM Plex Mono"/>
                <a:cs typeface="IBM Plex Mono"/>
                <a:sym typeface="IBM Plex Mono"/>
              </a:rPr>
              <a:t>SCORE</a:t>
            </a:r>
            <a:endParaRPr sz="1800">
              <a:solidFill>
                <a:schemeClr val="dk1"/>
              </a:solidFill>
              <a:latin typeface="Calibri"/>
              <a:ea typeface="Calibri"/>
              <a:cs typeface="Calibri"/>
              <a:sym typeface="Calibri"/>
            </a:endParaRPr>
          </a:p>
        </p:txBody>
      </p:sp>
      <p:sp>
        <p:nvSpPr>
          <p:cNvPr id="369" name="Google Shape;369;p7"/>
          <p:cNvSpPr/>
          <p:nvPr/>
        </p:nvSpPr>
        <p:spPr>
          <a:xfrm>
            <a:off x="4446158" y="3220393"/>
            <a:ext cx="3026015" cy="366679"/>
          </a:xfrm>
          <a:prstGeom prst="rect">
            <a:avLst/>
          </a:prstGeom>
          <a:noFill/>
          <a:ln>
            <a:noFill/>
          </a:ln>
        </p:spPr>
        <p:txBody>
          <a:bodyPr anchorCtr="0" anchor="t" bIns="25400" lIns="25400" spcFirstLastPara="1" rIns="25400" wrap="square" tIns="25400">
            <a:normAutofit/>
          </a:bodyPr>
          <a:lstStyle/>
          <a:p>
            <a:pPr indent="0" lvl="0" marL="0" marR="0" rtl="0" algn="l">
              <a:lnSpc>
                <a:spcPct val="88714"/>
              </a:lnSpc>
              <a:spcBef>
                <a:spcPts val="0"/>
              </a:spcBef>
              <a:spcAft>
                <a:spcPts val="0"/>
              </a:spcAft>
              <a:buClr>
                <a:srgbClr val="161616"/>
              </a:buClr>
              <a:buSzPts val="2250"/>
              <a:buFont typeface="IBM Plex Sans"/>
              <a:buNone/>
            </a:pPr>
            <a:r>
              <a:rPr b="1" lang="en-US" sz="2250">
                <a:solidFill>
                  <a:srgbClr val="161616"/>
                </a:solidFill>
                <a:latin typeface="IBM Plex Sans"/>
                <a:ea typeface="IBM Plex Sans"/>
                <a:cs typeface="IBM Plex Sans"/>
                <a:sym typeface="IBM Plex Sans"/>
              </a:rPr>
              <a:t>Precise prefix cache</a:t>
            </a:r>
            <a:endParaRPr sz="2250">
              <a:solidFill>
                <a:schemeClr val="dk1"/>
              </a:solidFill>
              <a:latin typeface="Calibri"/>
              <a:ea typeface="Calibri"/>
              <a:cs typeface="Calibri"/>
              <a:sym typeface="Calibri"/>
            </a:endParaRPr>
          </a:p>
        </p:txBody>
      </p:sp>
      <p:sp>
        <p:nvSpPr>
          <p:cNvPr id="370" name="Google Shape;370;p7"/>
          <p:cNvSpPr/>
          <p:nvPr/>
        </p:nvSpPr>
        <p:spPr>
          <a:xfrm>
            <a:off x="4446158" y="3682256"/>
            <a:ext cx="302601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READS</a:t>
            </a:r>
            <a:endParaRPr sz="1800">
              <a:solidFill>
                <a:schemeClr val="dk1"/>
              </a:solidFill>
              <a:latin typeface="Calibri"/>
              <a:ea typeface="Calibri"/>
              <a:cs typeface="Calibri"/>
              <a:sym typeface="Calibri"/>
            </a:endParaRPr>
          </a:p>
        </p:txBody>
      </p:sp>
      <p:sp>
        <p:nvSpPr>
          <p:cNvPr id="371" name="Google Shape;371;p7"/>
          <p:cNvSpPr/>
          <p:nvPr/>
        </p:nvSpPr>
        <p:spPr>
          <a:xfrm>
            <a:off x="4446158" y="3997606"/>
            <a:ext cx="2833450" cy="63242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Live KV-block events from vLLM (ZMQ)</a:t>
            </a:r>
            <a:endParaRPr sz="1800">
              <a:solidFill>
                <a:schemeClr val="dk1"/>
              </a:solidFill>
              <a:latin typeface="Calibri"/>
              <a:ea typeface="Calibri"/>
              <a:cs typeface="Calibri"/>
              <a:sym typeface="Calibri"/>
            </a:endParaRPr>
          </a:p>
        </p:txBody>
      </p:sp>
      <p:sp>
        <p:nvSpPr>
          <p:cNvPr id="372" name="Google Shape;372;p7"/>
          <p:cNvSpPr/>
          <p:nvPr/>
        </p:nvSpPr>
        <p:spPr>
          <a:xfrm>
            <a:off x="4446158" y="5053790"/>
            <a:ext cx="302601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A1E28"/>
              </a:buClr>
              <a:buSzPts val="1800"/>
              <a:buFont typeface="IBM Plex Mono"/>
              <a:buNone/>
            </a:pPr>
            <a:r>
              <a:rPr lang="en-US" sz="1800">
                <a:solidFill>
                  <a:srgbClr val="DA1E28"/>
                </a:solidFill>
                <a:latin typeface="IBM Plex Mono"/>
                <a:ea typeface="IBM Plex Mono"/>
                <a:cs typeface="IBM Plex Mono"/>
                <a:sym typeface="IBM Plex Mono"/>
              </a:rPr>
              <a:t>STOPS</a:t>
            </a:r>
            <a:endParaRPr sz="1800">
              <a:solidFill>
                <a:schemeClr val="dk1"/>
              </a:solidFill>
              <a:latin typeface="Calibri"/>
              <a:ea typeface="Calibri"/>
              <a:cs typeface="Calibri"/>
              <a:sym typeface="Calibri"/>
            </a:endParaRPr>
          </a:p>
        </p:txBody>
      </p:sp>
      <p:sp>
        <p:nvSpPr>
          <p:cNvPr id="373" name="Google Shape;373;p7"/>
          <p:cNvSpPr/>
          <p:nvPr/>
        </p:nvSpPr>
        <p:spPr>
          <a:xfrm>
            <a:off x="4446158" y="5369140"/>
            <a:ext cx="2833450" cy="63242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Warm prefix landing on a cold pod</a:t>
            </a:r>
            <a:endParaRPr sz="1800">
              <a:solidFill>
                <a:schemeClr val="dk1"/>
              </a:solidFill>
              <a:latin typeface="Calibri"/>
              <a:ea typeface="Calibri"/>
              <a:cs typeface="Calibri"/>
              <a:sym typeface="Calibri"/>
            </a:endParaRPr>
          </a:p>
        </p:txBody>
      </p:sp>
      <p:sp>
        <p:nvSpPr>
          <p:cNvPr id="374" name="Google Shape;374;p7"/>
          <p:cNvSpPr/>
          <p:nvPr/>
        </p:nvSpPr>
        <p:spPr>
          <a:xfrm>
            <a:off x="4236641" y="6191995"/>
            <a:ext cx="3169957" cy="9525"/>
          </a:xfrm>
          <a:prstGeom prst="rect">
            <a:avLst/>
          </a:prstGeom>
          <a:solidFill>
            <a:srgbClr val="A6C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7"/>
          <p:cNvSpPr/>
          <p:nvPr/>
        </p:nvSpPr>
        <p:spPr>
          <a:xfrm>
            <a:off x="4446158" y="6328503"/>
            <a:ext cx="165930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z="1800">
                <a:solidFill>
                  <a:srgbClr val="525252"/>
                </a:solidFill>
                <a:latin typeface="IBM Plex Mono"/>
                <a:ea typeface="IBM Plex Mono"/>
                <a:cs typeface="IBM Plex Mono"/>
                <a:sym typeface="IBM Plex Mono"/>
              </a:rPr>
              <a:t>BEST WEIGHT</a:t>
            </a:r>
            <a:endParaRPr sz="1800">
              <a:solidFill>
                <a:schemeClr val="dk1"/>
              </a:solidFill>
              <a:latin typeface="Calibri"/>
              <a:ea typeface="Calibri"/>
              <a:cs typeface="Calibri"/>
              <a:sym typeface="Calibri"/>
            </a:endParaRPr>
          </a:p>
        </p:txBody>
      </p:sp>
      <p:sp>
        <p:nvSpPr>
          <p:cNvPr id="376" name="Google Shape;376;p7"/>
          <p:cNvSpPr/>
          <p:nvPr/>
        </p:nvSpPr>
        <p:spPr>
          <a:xfrm>
            <a:off x="6991367" y="6254419"/>
            <a:ext cx="281914" cy="482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2700"/>
              <a:buFont typeface="IBM Plex Mono"/>
              <a:buNone/>
            </a:pPr>
            <a:r>
              <a:rPr b="1" lang="en-US" sz="2700">
                <a:solidFill>
                  <a:srgbClr val="0F62FE"/>
                </a:solidFill>
                <a:latin typeface="IBM Plex Mono"/>
                <a:ea typeface="IBM Plex Mono"/>
                <a:cs typeface="IBM Plex Mono"/>
                <a:sym typeface="IBM Plex Mono"/>
              </a:rPr>
              <a:t>3</a:t>
            </a:r>
            <a:endParaRPr sz="2700">
              <a:solidFill>
                <a:schemeClr val="dk1"/>
              </a:solidFill>
              <a:latin typeface="Calibri"/>
              <a:ea typeface="Calibri"/>
              <a:cs typeface="Calibri"/>
              <a:sym typeface="Calibri"/>
            </a:endParaRPr>
          </a:p>
        </p:txBody>
      </p:sp>
      <p:sp>
        <p:nvSpPr>
          <p:cNvPr id="377" name="Google Shape;377;p7"/>
          <p:cNvSpPr/>
          <p:nvPr/>
        </p:nvSpPr>
        <p:spPr>
          <a:xfrm>
            <a:off x="7558981" y="2505026"/>
            <a:ext cx="3169957" cy="4251027"/>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7"/>
          <p:cNvSpPr/>
          <p:nvPr/>
        </p:nvSpPr>
        <p:spPr>
          <a:xfrm>
            <a:off x="7558981" y="2505026"/>
            <a:ext cx="3169957" cy="524867"/>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7"/>
          <p:cNvSpPr/>
          <p:nvPr/>
        </p:nvSpPr>
        <p:spPr>
          <a:xfrm>
            <a:off x="7768498" y="2619292"/>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lang="en-US" sz="1800">
                <a:solidFill>
                  <a:srgbClr val="FFFFFF"/>
                </a:solidFill>
                <a:latin typeface="IBM Plex Mono"/>
                <a:ea typeface="IBM Plex Mono"/>
                <a:cs typeface="IBM Plex Mono"/>
                <a:sym typeface="IBM Plex Mono"/>
              </a:rPr>
              <a:t>03</a:t>
            </a:r>
            <a:endParaRPr sz="1800">
              <a:solidFill>
                <a:schemeClr val="dk1"/>
              </a:solidFill>
              <a:latin typeface="Calibri"/>
              <a:ea typeface="Calibri"/>
              <a:cs typeface="Calibri"/>
              <a:sym typeface="Calibri"/>
            </a:endParaRPr>
          </a:p>
        </p:txBody>
      </p:sp>
      <p:sp>
        <p:nvSpPr>
          <p:cNvPr id="380" name="Google Shape;380;p7"/>
          <p:cNvSpPr/>
          <p:nvPr/>
        </p:nvSpPr>
        <p:spPr>
          <a:xfrm>
            <a:off x="9833736" y="2619292"/>
            <a:ext cx="76188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z="1800">
                <a:solidFill>
                  <a:srgbClr val="78A9FF"/>
                </a:solidFill>
                <a:latin typeface="IBM Plex Mono"/>
                <a:ea typeface="IBM Plex Mono"/>
                <a:cs typeface="IBM Plex Mono"/>
                <a:sym typeface="IBM Plex Mono"/>
              </a:rPr>
              <a:t>SCORE</a:t>
            </a:r>
            <a:endParaRPr sz="1800">
              <a:solidFill>
                <a:schemeClr val="dk1"/>
              </a:solidFill>
              <a:latin typeface="Calibri"/>
              <a:ea typeface="Calibri"/>
              <a:cs typeface="Calibri"/>
              <a:sym typeface="Calibri"/>
            </a:endParaRPr>
          </a:p>
        </p:txBody>
      </p:sp>
      <p:sp>
        <p:nvSpPr>
          <p:cNvPr id="381" name="Google Shape;381;p7"/>
          <p:cNvSpPr/>
          <p:nvPr/>
        </p:nvSpPr>
        <p:spPr>
          <a:xfrm>
            <a:off x="7768498" y="3220393"/>
            <a:ext cx="3026015" cy="366679"/>
          </a:xfrm>
          <a:prstGeom prst="rect">
            <a:avLst/>
          </a:prstGeom>
          <a:noFill/>
          <a:ln>
            <a:noFill/>
          </a:ln>
        </p:spPr>
        <p:txBody>
          <a:bodyPr anchorCtr="0" anchor="t" bIns="25400" lIns="25400" spcFirstLastPara="1" rIns="25400" wrap="square" tIns="25400">
            <a:normAutofit/>
          </a:bodyPr>
          <a:lstStyle/>
          <a:p>
            <a:pPr indent="0" lvl="0" marL="0" marR="0" rtl="0" algn="l">
              <a:lnSpc>
                <a:spcPct val="88714"/>
              </a:lnSpc>
              <a:spcBef>
                <a:spcPts val="0"/>
              </a:spcBef>
              <a:spcAft>
                <a:spcPts val="0"/>
              </a:spcAft>
              <a:buClr>
                <a:srgbClr val="161616"/>
              </a:buClr>
              <a:buSzPts val="2250"/>
              <a:buFont typeface="IBM Plex Sans"/>
              <a:buNone/>
            </a:pPr>
            <a:r>
              <a:rPr b="1" lang="en-US" sz="2250">
                <a:solidFill>
                  <a:srgbClr val="161616"/>
                </a:solidFill>
                <a:latin typeface="IBM Plex Sans"/>
                <a:ea typeface="IBM Plex Sans"/>
                <a:cs typeface="IBM Plex Sans"/>
                <a:sym typeface="IBM Plex Sans"/>
              </a:rPr>
              <a:t>Queue scorer</a:t>
            </a:r>
            <a:endParaRPr sz="2250">
              <a:solidFill>
                <a:schemeClr val="dk1"/>
              </a:solidFill>
              <a:latin typeface="Calibri"/>
              <a:ea typeface="Calibri"/>
              <a:cs typeface="Calibri"/>
              <a:sym typeface="Calibri"/>
            </a:endParaRPr>
          </a:p>
        </p:txBody>
      </p:sp>
      <p:sp>
        <p:nvSpPr>
          <p:cNvPr id="382" name="Google Shape;382;p7"/>
          <p:cNvSpPr/>
          <p:nvPr/>
        </p:nvSpPr>
        <p:spPr>
          <a:xfrm>
            <a:off x="7768498" y="3682256"/>
            <a:ext cx="302601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READS</a:t>
            </a:r>
            <a:endParaRPr sz="1800">
              <a:solidFill>
                <a:schemeClr val="dk1"/>
              </a:solidFill>
              <a:latin typeface="Calibri"/>
              <a:ea typeface="Calibri"/>
              <a:cs typeface="Calibri"/>
              <a:sym typeface="Calibri"/>
            </a:endParaRPr>
          </a:p>
        </p:txBody>
      </p:sp>
      <p:sp>
        <p:nvSpPr>
          <p:cNvPr id="383" name="Google Shape;383;p7"/>
          <p:cNvSpPr/>
          <p:nvPr/>
        </p:nvSpPr>
        <p:spPr>
          <a:xfrm>
            <a:off x="7768498" y="3997606"/>
            <a:ext cx="2833450" cy="63242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Pending queue depth per pod</a:t>
            </a:r>
            <a:endParaRPr sz="1800">
              <a:solidFill>
                <a:schemeClr val="dk1"/>
              </a:solidFill>
              <a:latin typeface="Calibri"/>
              <a:ea typeface="Calibri"/>
              <a:cs typeface="Calibri"/>
              <a:sym typeface="Calibri"/>
            </a:endParaRPr>
          </a:p>
        </p:txBody>
      </p:sp>
      <p:sp>
        <p:nvSpPr>
          <p:cNvPr id="384" name="Google Shape;384;p7"/>
          <p:cNvSpPr/>
          <p:nvPr/>
        </p:nvSpPr>
        <p:spPr>
          <a:xfrm>
            <a:off x="7768498" y="5350950"/>
            <a:ext cx="302601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A1E28"/>
              </a:buClr>
              <a:buSzPts val="1800"/>
              <a:buFont typeface="IBM Plex Mono"/>
              <a:buNone/>
            </a:pPr>
            <a:r>
              <a:rPr lang="en-US" sz="1800">
                <a:solidFill>
                  <a:srgbClr val="DA1E28"/>
                </a:solidFill>
                <a:latin typeface="IBM Plex Mono"/>
                <a:ea typeface="IBM Plex Mono"/>
                <a:cs typeface="IBM Plex Mono"/>
                <a:sym typeface="IBM Plex Mono"/>
              </a:rPr>
              <a:t>STOPS</a:t>
            </a:r>
            <a:endParaRPr sz="1800">
              <a:solidFill>
                <a:schemeClr val="dk1"/>
              </a:solidFill>
              <a:latin typeface="Calibri"/>
              <a:ea typeface="Calibri"/>
              <a:cs typeface="Calibri"/>
              <a:sym typeface="Calibri"/>
            </a:endParaRPr>
          </a:p>
        </p:txBody>
      </p:sp>
      <p:sp>
        <p:nvSpPr>
          <p:cNvPr id="385" name="Google Shape;385;p7"/>
          <p:cNvSpPr/>
          <p:nvPr/>
        </p:nvSpPr>
        <p:spPr>
          <a:xfrm>
            <a:off x="7768498" y="5666301"/>
            <a:ext cx="3026015" cy="33526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Congestion before it forms</a:t>
            </a:r>
            <a:endParaRPr sz="1800">
              <a:solidFill>
                <a:schemeClr val="dk1"/>
              </a:solidFill>
              <a:latin typeface="Calibri"/>
              <a:ea typeface="Calibri"/>
              <a:cs typeface="Calibri"/>
              <a:sym typeface="Calibri"/>
            </a:endParaRPr>
          </a:p>
        </p:txBody>
      </p:sp>
      <p:sp>
        <p:nvSpPr>
          <p:cNvPr id="386" name="Google Shape;386;p7"/>
          <p:cNvSpPr/>
          <p:nvPr/>
        </p:nvSpPr>
        <p:spPr>
          <a:xfrm>
            <a:off x="7558981" y="6191995"/>
            <a:ext cx="3169957" cy="9525"/>
          </a:xfrm>
          <a:prstGeom prst="rect">
            <a:avLst/>
          </a:prstGeom>
          <a:solidFill>
            <a:srgbClr val="C6C6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7"/>
          <p:cNvSpPr/>
          <p:nvPr/>
        </p:nvSpPr>
        <p:spPr>
          <a:xfrm>
            <a:off x="7768498" y="6328503"/>
            <a:ext cx="165930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z="1800">
                <a:solidFill>
                  <a:srgbClr val="525252"/>
                </a:solidFill>
                <a:latin typeface="IBM Plex Mono"/>
                <a:ea typeface="IBM Plex Mono"/>
                <a:cs typeface="IBM Plex Mono"/>
                <a:sym typeface="IBM Plex Mono"/>
              </a:rPr>
              <a:t>BEST WEIGHT</a:t>
            </a:r>
            <a:endParaRPr sz="1800">
              <a:solidFill>
                <a:schemeClr val="dk1"/>
              </a:solidFill>
              <a:latin typeface="Calibri"/>
              <a:ea typeface="Calibri"/>
              <a:cs typeface="Calibri"/>
              <a:sym typeface="Calibri"/>
            </a:endParaRPr>
          </a:p>
        </p:txBody>
      </p:sp>
      <p:sp>
        <p:nvSpPr>
          <p:cNvPr id="388" name="Google Shape;388;p7"/>
          <p:cNvSpPr/>
          <p:nvPr/>
        </p:nvSpPr>
        <p:spPr>
          <a:xfrm>
            <a:off x="10313707" y="6254419"/>
            <a:ext cx="281914" cy="482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2700"/>
              <a:buFont typeface="IBM Plex Mono"/>
              <a:buNone/>
            </a:pPr>
            <a:r>
              <a:rPr b="1" lang="en-US" sz="2700">
                <a:solidFill>
                  <a:srgbClr val="0F62FE"/>
                </a:solidFill>
                <a:latin typeface="IBM Plex Mono"/>
                <a:ea typeface="IBM Plex Mono"/>
                <a:cs typeface="IBM Plex Mono"/>
                <a:sym typeface="IBM Plex Mono"/>
              </a:rPr>
              <a:t>1</a:t>
            </a:r>
            <a:endParaRPr sz="2700">
              <a:solidFill>
                <a:schemeClr val="dk1"/>
              </a:solidFill>
              <a:latin typeface="Calibri"/>
              <a:ea typeface="Calibri"/>
              <a:cs typeface="Calibri"/>
              <a:sym typeface="Calibri"/>
            </a:endParaRPr>
          </a:p>
        </p:txBody>
      </p:sp>
      <p:sp>
        <p:nvSpPr>
          <p:cNvPr id="389" name="Google Shape;389;p7"/>
          <p:cNvSpPr/>
          <p:nvPr/>
        </p:nvSpPr>
        <p:spPr>
          <a:xfrm>
            <a:off x="10881321" y="2505026"/>
            <a:ext cx="3169957" cy="4251027"/>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7"/>
          <p:cNvSpPr/>
          <p:nvPr/>
        </p:nvSpPr>
        <p:spPr>
          <a:xfrm>
            <a:off x="10881321" y="2505026"/>
            <a:ext cx="3169957" cy="524867"/>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7"/>
          <p:cNvSpPr/>
          <p:nvPr/>
        </p:nvSpPr>
        <p:spPr>
          <a:xfrm>
            <a:off x="11090838" y="2619292"/>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lang="en-US" sz="1800">
                <a:solidFill>
                  <a:srgbClr val="FFFFFF"/>
                </a:solidFill>
                <a:latin typeface="IBM Plex Mono"/>
                <a:ea typeface="IBM Plex Mono"/>
                <a:cs typeface="IBM Plex Mono"/>
                <a:sym typeface="IBM Plex Mono"/>
              </a:rPr>
              <a:t>04</a:t>
            </a:r>
            <a:endParaRPr sz="1800">
              <a:solidFill>
                <a:schemeClr val="dk1"/>
              </a:solidFill>
              <a:latin typeface="Calibri"/>
              <a:ea typeface="Calibri"/>
              <a:cs typeface="Calibri"/>
              <a:sym typeface="Calibri"/>
            </a:endParaRPr>
          </a:p>
        </p:txBody>
      </p:sp>
      <p:sp>
        <p:nvSpPr>
          <p:cNvPr id="392" name="Google Shape;392;p7"/>
          <p:cNvSpPr/>
          <p:nvPr/>
        </p:nvSpPr>
        <p:spPr>
          <a:xfrm>
            <a:off x="13156076" y="2619292"/>
            <a:ext cx="76188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z="1800">
                <a:solidFill>
                  <a:srgbClr val="78A9FF"/>
                </a:solidFill>
                <a:latin typeface="IBM Plex Mono"/>
                <a:ea typeface="IBM Plex Mono"/>
                <a:cs typeface="IBM Plex Mono"/>
                <a:sym typeface="IBM Plex Mono"/>
              </a:rPr>
              <a:t>SCORE</a:t>
            </a:r>
            <a:endParaRPr sz="1800">
              <a:solidFill>
                <a:schemeClr val="dk1"/>
              </a:solidFill>
              <a:latin typeface="Calibri"/>
              <a:ea typeface="Calibri"/>
              <a:cs typeface="Calibri"/>
              <a:sym typeface="Calibri"/>
            </a:endParaRPr>
          </a:p>
        </p:txBody>
      </p:sp>
      <p:sp>
        <p:nvSpPr>
          <p:cNvPr id="393" name="Google Shape;393;p7"/>
          <p:cNvSpPr/>
          <p:nvPr/>
        </p:nvSpPr>
        <p:spPr>
          <a:xfrm>
            <a:off x="11090838" y="3220393"/>
            <a:ext cx="2833450" cy="695259"/>
          </a:xfrm>
          <a:prstGeom prst="rect">
            <a:avLst/>
          </a:prstGeom>
          <a:noFill/>
          <a:ln>
            <a:noFill/>
          </a:ln>
        </p:spPr>
        <p:txBody>
          <a:bodyPr anchorCtr="0" anchor="t" bIns="25400" lIns="25400" spcFirstLastPara="1" rIns="25400" wrap="square" tIns="25400">
            <a:normAutofit/>
          </a:bodyPr>
          <a:lstStyle/>
          <a:p>
            <a:pPr indent="0" lvl="0" marL="0" marR="0" rtl="0" algn="l">
              <a:lnSpc>
                <a:spcPct val="88714"/>
              </a:lnSpc>
              <a:spcBef>
                <a:spcPts val="0"/>
              </a:spcBef>
              <a:spcAft>
                <a:spcPts val="0"/>
              </a:spcAft>
              <a:buClr>
                <a:srgbClr val="161616"/>
              </a:buClr>
              <a:buSzPts val="2250"/>
              <a:buFont typeface="IBM Plex Sans"/>
              <a:buNone/>
            </a:pPr>
            <a:r>
              <a:rPr b="1" lang="en-US" sz="2250">
                <a:solidFill>
                  <a:srgbClr val="161616"/>
                </a:solidFill>
                <a:latin typeface="IBM Plex Sans"/>
                <a:ea typeface="IBM Plex Sans"/>
                <a:cs typeface="IBM Plex Sans"/>
                <a:sym typeface="IBM Plex Sans"/>
              </a:rPr>
              <a:t>Active-request scorer</a:t>
            </a:r>
            <a:endParaRPr sz="2250">
              <a:solidFill>
                <a:schemeClr val="dk1"/>
              </a:solidFill>
              <a:latin typeface="Calibri"/>
              <a:ea typeface="Calibri"/>
              <a:cs typeface="Calibri"/>
              <a:sym typeface="Calibri"/>
            </a:endParaRPr>
          </a:p>
        </p:txBody>
      </p:sp>
      <p:sp>
        <p:nvSpPr>
          <p:cNvPr id="394" name="Google Shape;394;p7"/>
          <p:cNvSpPr/>
          <p:nvPr/>
        </p:nvSpPr>
        <p:spPr>
          <a:xfrm>
            <a:off x="11090838" y="4010835"/>
            <a:ext cx="302601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READS</a:t>
            </a:r>
            <a:endParaRPr sz="1800">
              <a:solidFill>
                <a:schemeClr val="dk1"/>
              </a:solidFill>
              <a:latin typeface="Calibri"/>
              <a:ea typeface="Calibri"/>
              <a:cs typeface="Calibri"/>
              <a:sym typeface="Calibri"/>
            </a:endParaRPr>
          </a:p>
        </p:txBody>
      </p:sp>
      <p:sp>
        <p:nvSpPr>
          <p:cNvPr id="395" name="Google Shape;395;p7"/>
          <p:cNvSpPr/>
          <p:nvPr/>
        </p:nvSpPr>
        <p:spPr>
          <a:xfrm>
            <a:off x="11090838" y="4326186"/>
            <a:ext cx="3026015" cy="33526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In-flight requests per pod</a:t>
            </a:r>
            <a:endParaRPr sz="1800">
              <a:solidFill>
                <a:schemeClr val="dk1"/>
              </a:solidFill>
              <a:latin typeface="Calibri"/>
              <a:ea typeface="Calibri"/>
              <a:cs typeface="Calibri"/>
              <a:sym typeface="Calibri"/>
            </a:endParaRPr>
          </a:p>
        </p:txBody>
      </p:sp>
      <p:sp>
        <p:nvSpPr>
          <p:cNvPr id="396" name="Google Shape;396;p7"/>
          <p:cNvSpPr/>
          <p:nvPr/>
        </p:nvSpPr>
        <p:spPr>
          <a:xfrm>
            <a:off x="11090838" y="5053790"/>
            <a:ext cx="302601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A1E28"/>
              </a:buClr>
              <a:buSzPts val="1800"/>
              <a:buFont typeface="IBM Plex Mono"/>
              <a:buNone/>
            </a:pPr>
            <a:r>
              <a:rPr lang="en-US" sz="1800">
                <a:solidFill>
                  <a:srgbClr val="DA1E28"/>
                </a:solidFill>
                <a:latin typeface="IBM Plex Mono"/>
                <a:ea typeface="IBM Plex Mono"/>
                <a:cs typeface="IBM Plex Mono"/>
                <a:sym typeface="IBM Plex Mono"/>
              </a:rPr>
              <a:t>STOPS</a:t>
            </a:r>
            <a:endParaRPr sz="1800">
              <a:solidFill>
                <a:schemeClr val="dk1"/>
              </a:solidFill>
              <a:latin typeface="Calibri"/>
              <a:ea typeface="Calibri"/>
              <a:cs typeface="Calibri"/>
              <a:sym typeface="Calibri"/>
            </a:endParaRPr>
          </a:p>
        </p:txBody>
      </p:sp>
      <p:sp>
        <p:nvSpPr>
          <p:cNvPr id="397" name="Google Shape;397;p7"/>
          <p:cNvSpPr/>
          <p:nvPr/>
        </p:nvSpPr>
        <p:spPr>
          <a:xfrm>
            <a:off x="11090838" y="5369140"/>
            <a:ext cx="2833450" cy="63242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Pods hitting their concurrency cap</a:t>
            </a:r>
            <a:endParaRPr sz="1800">
              <a:solidFill>
                <a:schemeClr val="dk1"/>
              </a:solidFill>
              <a:latin typeface="Calibri"/>
              <a:ea typeface="Calibri"/>
              <a:cs typeface="Calibri"/>
              <a:sym typeface="Calibri"/>
            </a:endParaRPr>
          </a:p>
        </p:txBody>
      </p:sp>
      <p:sp>
        <p:nvSpPr>
          <p:cNvPr id="398" name="Google Shape;398;p7"/>
          <p:cNvSpPr/>
          <p:nvPr/>
        </p:nvSpPr>
        <p:spPr>
          <a:xfrm>
            <a:off x="10881321" y="6191995"/>
            <a:ext cx="3169957" cy="9525"/>
          </a:xfrm>
          <a:prstGeom prst="rect">
            <a:avLst/>
          </a:prstGeom>
          <a:solidFill>
            <a:srgbClr val="C6C6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7"/>
          <p:cNvSpPr/>
          <p:nvPr/>
        </p:nvSpPr>
        <p:spPr>
          <a:xfrm>
            <a:off x="11090838" y="6328503"/>
            <a:ext cx="165930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z="1800">
                <a:solidFill>
                  <a:srgbClr val="525252"/>
                </a:solidFill>
                <a:latin typeface="IBM Plex Mono"/>
                <a:ea typeface="IBM Plex Mono"/>
                <a:cs typeface="IBM Plex Mono"/>
                <a:sym typeface="IBM Plex Mono"/>
              </a:rPr>
              <a:t>BEST WEIGHT</a:t>
            </a:r>
            <a:endParaRPr sz="1800">
              <a:solidFill>
                <a:schemeClr val="dk1"/>
              </a:solidFill>
              <a:latin typeface="Calibri"/>
              <a:ea typeface="Calibri"/>
              <a:cs typeface="Calibri"/>
              <a:sym typeface="Calibri"/>
            </a:endParaRPr>
          </a:p>
        </p:txBody>
      </p:sp>
      <p:sp>
        <p:nvSpPr>
          <p:cNvPr id="400" name="Google Shape;400;p7"/>
          <p:cNvSpPr/>
          <p:nvPr/>
        </p:nvSpPr>
        <p:spPr>
          <a:xfrm>
            <a:off x="13636047" y="6254419"/>
            <a:ext cx="281914" cy="482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D8D8D"/>
              </a:buClr>
              <a:buSzPts val="2700"/>
              <a:buFont typeface="IBM Plex Mono"/>
              <a:buNone/>
            </a:pPr>
            <a:r>
              <a:rPr b="1" lang="en-US" sz="2700">
                <a:solidFill>
                  <a:srgbClr val="8D8D8D"/>
                </a:solidFill>
                <a:latin typeface="IBM Plex Mono"/>
                <a:ea typeface="IBM Plex Mono"/>
                <a:cs typeface="IBM Plex Mono"/>
                <a:sym typeface="IBM Plex Mono"/>
              </a:rPr>
              <a:t>0</a:t>
            </a:r>
            <a:endParaRPr sz="2700">
              <a:solidFill>
                <a:schemeClr val="dk1"/>
              </a:solidFill>
              <a:latin typeface="Calibri"/>
              <a:ea typeface="Calibri"/>
              <a:cs typeface="Calibri"/>
              <a:sym typeface="Calibri"/>
            </a:endParaRPr>
          </a:p>
        </p:txBody>
      </p:sp>
      <p:sp>
        <p:nvSpPr>
          <p:cNvPr id="401" name="Google Shape;401;p7"/>
          <p:cNvSpPr/>
          <p:nvPr/>
        </p:nvSpPr>
        <p:spPr>
          <a:xfrm>
            <a:off x="14203661" y="2505026"/>
            <a:ext cx="3169957" cy="4251027"/>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7"/>
          <p:cNvSpPr/>
          <p:nvPr/>
        </p:nvSpPr>
        <p:spPr>
          <a:xfrm>
            <a:off x="14203661" y="2505026"/>
            <a:ext cx="3169957" cy="524867"/>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7"/>
          <p:cNvSpPr/>
          <p:nvPr/>
        </p:nvSpPr>
        <p:spPr>
          <a:xfrm>
            <a:off x="14413177" y="2619292"/>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lang="en-US" sz="1800">
                <a:solidFill>
                  <a:srgbClr val="FFFFFF"/>
                </a:solidFill>
                <a:latin typeface="IBM Plex Mono"/>
                <a:ea typeface="IBM Plex Mono"/>
                <a:cs typeface="IBM Plex Mono"/>
                <a:sym typeface="IBM Plex Mono"/>
              </a:rPr>
              <a:t>05</a:t>
            </a:r>
            <a:endParaRPr sz="1800">
              <a:solidFill>
                <a:schemeClr val="dk1"/>
              </a:solidFill>
              <a:latin typeface="Calibri"/>
              <a:ea typeface="Calibri"/>
              <a:cs typeface="Calibri"/>
              <a:sym typeface="Calibri"/>
            </a:endParaRPr>
          </a:p>
        </p:txBody>
      </p:sp>
      <p:sp>
        <p:nvSpPr>
          <p:cNvPr id="404" name="Google Shape;404;p7"/>
          <p:cNvSpPr/>
          <p:nvPr/>
        </p:nvSpPr>
        <p:spPr>
          <a:xfrm>
            <a:off x="16067072" y="2619292"/>
            <a:ext cx="1173229"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z="1800">
                <a:solidFill>
                  <a:srgbClr val="78A9FF"/>
                </a:solidFill>
                <a:latin typeface="IBM Plex Mono"/>
                <a:ea typeface="IBM Plex Mono"/>
                <a:cs typeface="IBM Plex Mono"/>
                <a:sym typeface="IBM Plex Mono"/>
              </a:rPr>
              <a:t>OVERRIDE</a:t>
            </a:r>
            <a:endParaRPr sz="1800">
              <a:solidFill>
                <a:schemeClr val="dk1"/>
              </a:solidFill>
              <a:latin typeface="Calibri"/>
              <a:ea typeface="Calibri"/>
              <a:cs typeface="Calibri"/>
              <a:sym typeface="Calibri"/>
            </a:endParaRPr>
          </a:p>
        </p:txBody>
      </p:sp>
      <p:sp>
        <p:nvSpPr>
          <p:cNvPr id="405" name="Google Shape;405;p7"/>
          <p:cNvSpPr/>
          <p:nvPr/>
        </p:nvSpPr>
        <p:spPr>
          <a:xfrm>
            <a:off x="14413177" y="3220393"/>
            <a:ext cx="3026015" cy="366679"/>
          </a:xfrm>
          <a:prstGeom prst="rect">
            <a:avLst/>
          </a:prstGeom>
          <a:noFill/>
          <a:ln>
            <a:noFill/>
          </a:ln>
        </p:spPr>
        <p:txBody>
          <a:bodyPr anchorCtr="0" anchor="t" bIns="25400" lIns="25400" spcFirstLastPara="1" rIns="25400" wrap="square" tIns="25400">
            <a:normAutofit/>
          </a:bodyPr>
          <a:lstStyle/>
          <a:p>
            <a:pPr indent="0" lvl="0" marL="0" marR="0" rtl="0" algn="l">
              <a:lnSpc>
                <a:spcPct val="88714"/>
              </a:lnSpc>
              <a:spcBef>
                <a:spcPts val="0"/>
              </a:spcBef>
              <a:spcAft>
                <a:spcPts val="0"/>
              </a:spcAft>
              <a:buClr>
                <a:srgbClr val="161616"/>
              </a:buClr>
              <a:buSzPts val="2250"/>
              <a:buFont typeface="IBM Plex Sans"/>
              <a:buNone/>
            </a:pPr>
            <a:r>
              <a:rPr b="1" lang="en-US" sz="2250">
                <a:solidFill>
                  <a:srgbClr val="161616"/>
                </a:solidFill>
                <a:latin typeface="IBM Plex Sans"/>
                <a:ea typeface="IBM Plex Sans"/>
                <a:cs typeface="IBM Plex Sans"/>
                <a:sym typeface="IBM Plex Sans"/>
              </a:rPr>
              <a:t>Load-aware scorer</a:t>
            </a:r>
            <a:endParaRPr sz="2250">
              <a:solidFill>
                <a:schemeClr val="dk1"/>
              </a:solidFill>
              <a:latin typeface="Calibri"/>
              <a:ea typeface="Calibri"/>
              <a:cs typeface="Calibri"/>
              <a:sym typeface="Calibri"/>
            </a:endParaRPr>
          </a:p>
        </p:txBody>
      </p:sp>
      <p:sp>
        <p:nvSpPr>
          <p:cNvPr id="406" name="Google Shape;406;p7"/>
          <p:cNvSpPr/>
          <p:nvPr/>
        </p:nvSpPr>
        <p:spPr>
          <a:xfrm>
            <a:off x="14413177" y="3682256"/>
            <a:ext cx="302601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READS</a:t>
            </a:r>
            <a:endParaRPr sz="1800">
              <a:solidFill>
                <a:schemeClr val="dk1"/>
              </a:solidFill>
              <a:latin typeface="Calibri"/>
              <a:ea typeface="Calibri"/>
              <a:cs typeface="Calibri"/>
              <a:sym typeface="Calibri"/>
            </a:endParaRPr>
          </a:p>
        </p:txBody>
      </p:sp>
      <p:sp>
        <p:nvSpPr>
          <p:cNvPr id="407" name="Google Shape;407;p7"/>
          <p:cNvSpPr/>
          <p:nvPr/>
        </p:nvSpPr>
        <p:spPr>
          <a:xfrm>
            <a:off x="14413177" y="3997606"/>
            <a:ext cx="2833450" cy="63242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Saturation threshold per pod</a:t>
            </a:r>
            <a:endParaRPr sz="1800">
              <a:solidFill>
                <a:schemeClr val="dk1"/>
              </a:solidFill>
              <a:latin typeface="Calibri"/>
              <a:ea typeface="Calibri"/>
              <a:cs typeface="Calibri"/>
              <a:sym typeface="Calibri"/>
            </a:endParaRPr>
          </a:p>
        </p:txBody>
      </p:sp>
      <p:sp>
        <p:nvSpPr>
          <p:cNvPr id="408" name="Google Shape;408;p7"/>
          <p:cNvSpPr/>
          <p:nvPr/>
        </p:nvSpPr>
        <p:spPr>
          <a:xfrm>
            <a:off x="14413177" y="5053790"/>
            <a:ext cx="302601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A1E28"/>
              </a:buClr>
              <a:buSzPts val="1800"/>
              <a:buFont typeface="IBM Plex Mono"/>
              <a:buNone/>
            </a:pPr>
            <a:r>
              <a:rPr lang="en-US" sz="1800">
                <a:solidFill>
                  <a:srgbClr val="DA1E28"/>
                </a:solidFill>
                <a:latin typeface="IBM Plex Mono"/>
                <a:ea typeface="IBM Plex Mono"/>
                <a:cs typeface="IBM Plex Mono"/>
                <a:sym typeface="IBM Plex Mono"/>
              </a:rPr>
              <a:t>STOPS</a:t>
            </a:r>
            <a:endParaRPr sz="1800">
              <a:solidFill>
                <a:schemeClr val="dk1"/>
              </a:solidFill>
              <a:latin typeface="Calibri"/>
              <a:ea typeface="Calibri"/>
              <a:cs typeface="Calibri"/>
              <a:sym typeface="Calibri"/>
            </a:endParaRPr>
          </a:p>
        </p:txBody>
      </p:sp>
      <p:sp>
        <p:nvSpPr>
          <p:cNvPr id="409" name="Google Shape;409;p7"/>
          <p:cNvSpPr/>
          <p:nvPr/>
        </p:nvSpPr>
        <p:spPr>
          <a:xfrm>
            <a:off x="14413177" y="5369140"/>
            <a:ext cx="2833450" cy="63242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A hot pod winning on cache alone</a:t>
            </a:r>
            <a:endParaRPr sz="1800">
              <a:solidFill>
                <a:schemeClr val="dk1"/>
              </a:solidFill>
              <a:latin typeface="Calibri"/>
              <a:ea typeface="Calibri"/>
              <a:cs typeface="Calibri"/>
              <a:sym typeface="Calibri"/>
            </a:endParaRPr>
          </a:p>
        </p:txBody>
      </p:sp>
      <p:sp>
        <p:nvSpPr>
          <p:cNvPr id="410" name="Google Shape;410;p7"/>
          <p:cNvSpPr/>
          <p:nvPr/>
        </p:nvSpPr>
        <p:spPr>
          <a:xfrm>
            <a:off x="14203661" y="6191995"/>
            <a:ext cx="3169957" cy="9525"/>
          </a:xfrm>
          <a:prstGeom prst="rect">
            <a:avLst/>
          </a:prstGeom>
          <a:solidFill>
            <a:srgbClr val="C6C6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7"/>
          <p:cNvSpPr/>
          <p:nvPr/>
        </p:nvSpPr>
        <p:spPr>
          <a:xfrm>
            <a:off x="14413177" y="6328503"/>
            <a:ext cx="165930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z="1800">
                <a:solidFill>
                  <a:srgbClr val="525252"/>
                </a:solidFill>
                <a:latin typeface="IBM Plex Mono"/>
                <a:ea typeface="IBM Plex Mono"/>
                <a:cs typeface="IBM Plex Mono"/>
                <a:sym typeface="IBM Plex Mono"/>
              </a:rPr>
              <a:t>BEST WEIGHT</a:t>
            </a:r>
            <a:endParaRPr sz="1800">
              <a:solidFill>
                <a:schemeClr val="dk1"/>
              </a:solidFill>
              <a:latin typeface="Calibri"/>
              <a:ea typeface="Calibri"/>
              <a:cs typeface="Calibri"/>
              <a:sym typeface="Calibri"/>
            </a:endParaRPr>
          </a:p>
        </p:txBody>
      </p:sp>
      <p:sp>
        <p:nvSpPr>
          <p:cNvPr id="412" name="Google Shape;412;p7"/>
          <p:cNvSpPr/>
          <p:nvPr/>
        </p:nvSpPr>
        <p:spPr>
          <a:xfrm>
            <a:off x="16958387" y="6254419"/>
            <a:ext cx="281914" cy="482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D8D8D"/>
              </a:buClr>
              <a:buSzPts val="2700"/>
              <a:buFont typeface="IBM Plex Mono"/>
              <a:buNone/>
            </a:pPr>
            <a:r>
              <a:rPr b="1" lang="en-US" sz="2700">
                <a:solidFill>
                  <a:srgbClr val="8D8D8D"/>
                </a:solidFill>
                <a:latin typeface="IBM Plex Mono"/>
                <a:ea typeface="IBM Plex Mono"/>
                <a:cs typeface="IBM Plex Mono"/>
                <a:sym typeface="IBM Plex Mono"/>
              </a:rPr>
              <a:t>0</a:t>
            </a:r>
            <a:endParaRPr sz="2700">
              <a:solidFill>
                <a:schemeClr val="dk1"/>
              </a:solidFill>
              <a:latin typeface="Calibri"/>
              <a:ea typeface="Calibri"/>
              <a:cs typeface="Calibri"/>
              <a:sym typeface="Calibri"/>
            </a:endParaRPr>
          </a:p>
        </p:txBody>
      </p:sp>
      <p:sp>
        <p:nvSpPr>
          <p:cNvPr id="413" name="Google Shape;413;p7"/>
          <p:cNvSpPr/>
          <p:nvPr/>
        </p:nvSpPr>
        <p:spPr>
          <a:xfrm>
            <a:off x="914384" y="6946553"/>
            <a:ext cx="5359384" cy="1766755"/>
          </a:xfrm>
          <a:prstGeom prst="rect">
            <a:avLst/>
          </a:prstGeom>
          <a:solidFill>
            <a:srgbClr val="EDF5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7"/>
          <p:cNvSpPr/>
          <p:nvPr/>
        </p:nvSpPr>
        <p:spPr>
          <a:xfrm>
            <a:off x="1162017" y="7117953"/>
            <a:ext cx="53505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3CE"/>
              </a:buClr>
              <a:buSzPts val="1800"/>
              <a:buFont typeface="IBM Plex Mono"/>
              <a:buNone/>
            </a:pPr>
            <a:r>
              <a:rPr b="1" lang="en-US" spc="72" sz="1800">
                <a:solidFill>
                  <a:srgbClr val="0043CE"/>
                </a:solidFill>
                <a:latin typeface="IBM Plex Mono"/>
                <a:ea typeface="IBM Plex Mono"/>
                <a:cs typeface="IBM Plex Mono"/>
                <a:sym typeface="IBM Plex Mono"/>
              </a:rPr>
              <a:t>BEST CONFIG VS ROUND-ROBIN</a:t>
            </a:r>
            <a:endParaRPr sz="1800">
              <a:solidFill>
                <a:schemeClr val="dk1"/>
              </a:solidFill>
              <a:latin typeface="Calibri"/>
              <a:ea typeface="Calibri"/>
              <a:cs typeface="Calibri"/>
              <a:sym typeface="Calibri"/>
            </a:endParaRPr>
          </a:p>
        </p:txBody>
      </p:sp>
      <p:sp>
        <p:nvSpPr>
          <p:cNvPr id="415" name="Google Shape;415;p7"/>
          <p:cNvSpPr/>
          <p:nvPr/>
        </p:nvSpPr>
        <p:spPr>
          <a:xfrm>
            <a:off x="1162017" y="7490437"/>
            <a:ext cx="1466850" cy="518153"/>
          </a:xfrm>
          <a:prstGeom prst="rect">
            <a:avLst/>
          </a:prstGeom>
          <a:noFill/>
          <a:ln>
            <a:noFill/>
          </a:ln>
        </p:spPr>
        <p:txBody>
          <a:bodyPr anchorCtr="0" anchor="t" bIns="25400" lIns="25400" spcFirstLastPara="1" rIns="25400" wrap="square" tIns="25400">
            <a:normAutofit/>
          </a:bodyPr>
          <a:lstStyle/>
          <a:p>
            <a:pPr indent="0" lvl="0" marL="0" marR="0" rtl="0" algn="l">
              <a:lnSpc>
                <a:spcPct val="80283"/>
              </a:lnSpc>
              <a:spcBef>
                <a:spcPts val="0"/>
              </a:spcBef>
              <a:spcAft>
                <a:spcPts val="0"/>
              </a:spcAft>
              <a:buClr>
                <a:srgbClr val="0F62FE"/>
              </a:buClr>
              <a:buSzPts val="3600"/>
              <a:buFont typeface="IBM Plex Sans"/>
              <a:buNone/>
            </a:pPr>
            <a:r>
              <a:rPr b="1" lang="en-US" spc="-72" sz="3600">
                <a:solidFill>
                  <a:srgbClr val="0F62FE"/>
                </a:solidFill>
                <a:latin typeface="IBM Plex Sans"/>
                <a:ea typeface="IBM Plex Sans"/>
                <a:cs typeface="IBM Plex Sans"/>
                <a:sym typeface="IBM Plex Sans"/>
              </a:rPr>
              <a:t>~2.5×</a:t>
            </a:r>
            <a:endParaRPr sz="3600">
              <a:solidFill>
                <a:schemeClr val="dk1"/>
              </a:solidFill>
              <a:latin typeface="Calibri"/>
              <a:ea typeface="Calibri"/>
              <a:cs typeface="Calibri"/>
              <a:sym typeface="Calibri"/>
            </a:endParaRPr>
          </a:p>
        </p:txBody>
      </p:sp>
      <p:sp>
        <p:nvSpPr>
          <p:cNvPr id="416" name="Google Shape;416;p7"/>
          <p:cNvSpPr/>
          <p:nvPr/>
        </p:nvSpPr>
        <p:spPr>
          <a:xfrm>
            <a:off x="2628801" y="7665062"/>
            <a:ext cx="201928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faster mean TTFT</a:t>
            </a:r>
            <a:endParaRPr sz="1800">
              <a:solidFill>
                <a:schemeClr val="dk1"/>
              </a:solidFill>
              <a:latin typeface="Calibri"/>
              <a:ea typeface="Calibri"/>
              <a:cs typeface="Calibri"/>
              <a:sym typeface="Calibri"/>
            </a:endParaRPr>
          </a:p>
        </p:txBody>
      </p:sp>
      <p:sp>
        <p:nvSpPr>
          <p:cNvPr id="417" name="Google Shape;417;p7"/>
          <p:cNvSpPr/>
          <p:nvPr/>
        </p:nvSpPr>
        <p:spPr>
          <a:xfrm>
            <a:off x="1162017" y="8046641"/>
            <a:ext cx="1466850" cy="518153"/>
          </a:xfrm>
          <a:prstGeom prst="rect">
            <a:avLst/>
          </a:prstGeom>
          <a:noFill/>
          <a:ln>
            <a:noFill/>
          </a:ln>
        </p:spPr>
        <p:txBody>
          <a:bodyPr anchorCtr="0" anchor="t" bIns="25400" lIns="25400" spcFirstLastPara="1" rIns="25400" wrap="square" tIns="25400">
            <a:normAutofit/>
          </a:bodyPr>
          <a:lstStyle/>
          <a:p>
            <a:pPr indent="0" lvl="0" marL="0" marR="0" rtl="0" algn="l">
              <a:lnSpc>
                <a:spcPct val="80283"/>
              </a:lnSpc>
              <a:spcBef>
                <a:spcPts val="0"/>
              </a:spcBef>
              <a:spcAft>
                <a:spcPts val="0"/>
              </a:spcAft>
              <a:buClr>
                <a:srgbClr val="0F62FE"/>
              </a:buClr>
              <a:buSzPts val="3600"/>
              <a:buFont typeface="IBM Plex Sans"/>
              <a:buNone/>
            </a:pPr>
            <a:r>
              <a:rPr b="1" lang="en-US" spc="-72" sz="3600">
                <a:solidFill>
                  <a:srgbClr val="0F62FE"/>
                </a:solidFill>
                <a:latin typeface="IBM Plex Sans"/>
                <a:ea typeface="IBM Plex Sans"/>
                <a:cs typeface="IBM Plex Sans"/>
                <a:sym typeface="IBM Plex Sans"/>
              </a:rPr>
              <a:t>~1.5×</a:t>
            </a:r>
            <a:endParaRPr sz="3600">
              <a:solidFill>
                <a:schemeClr val="dk1"/>
              </a:solidFill>
              <a:latin typeface="Calibri"/>
              <a:ea typeface="Calibri"/>
              <a:cs typeface="Calibri"/>
              <a:sym typeface="Calibri"/>
            </a:endParaRPr>
          </a:p>
        </p:txBody>
      </p:sp>
      <p:sp>
        <p:nvSpPr>
          <p:cNvPr id="418" name="Google Shape;418;p7"/>
          <p:cNvSpPr/>
          <p:nvPr/>
        </p:nvSpPr>
        <p:spPr>
          <a:xfrm>
            <a:off x="2628801" y="8221266"/>
            <a:ext cx="289986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Sans"/>
              <a:buNone/>
            </a:pPr>
            <a:r>
              <a:rPr lang="en-US" sz="1800">
                <a:solidFill>
                  <a:srgbClr val="161616"/>
                </a:solidFill>
                <a:latin typeface="IBM Plex Sans"/>
                <a:ea typeface="IBM Plex Sans"/>
                <a:cs typeface="IBM Plex Sans"/>
                <a:sym typeface="IBM Plex Sans"/>
              </a:rPr>
              <a:t>higher output throughput</a:t>
            </a:r>
            <a:endParaRPr sz="1800">
              <a:solidFill>
                <a:schemeClr val="dk1"/>
              </a:solidFill>
              <a:latin typeface="Calibri"/>
              <a:ea typeface="Calibri"/>
              <a:cs typeface="Calibri"/>
              <a:sym typeface="Calibri"/>
            </a:endParaRPr>
          </a:p>
        </p:txBody>
      </p:sp>
      <p:sp>
        <p:nvSpPr>
          <p:cNvPr id="419" name="Google Shape;419;p7"/>
          <p:cNvSpPr/>
          <p:nvPr/>
        </p:nvSpPr>
        <p:spPr>
          <a:xfrm>
            <a:off x="6464267" y="6946553"/>
            <a:ext cx="5359384" cy="1766755"/>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7"/>
          <p:cNvSpPr/>
          <p:nvPr/>
        </p:nvSpPr>
        <p:spPr>
          <a:xfrm>
            <a:off x="6711901" y="7117953"/>
            <a:ext cx="53505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b="1" lang="en-US" spc="72" sz="1800">
                <a:solidFill>
                  <a:srgbClr val="78A9FF"/>
                </a:solidFill>
                <a:latin typeface="IBM Plex Mono"/>
                <a:ea typeface="IBM Plex Mono"/>
                <a:cs typeface="IBM Plex Mono"/>
                <a:sym typeface="IBM Plex Mono"/>
              </a:rPr>
              <a:t>SCALING EXPERIMENT · CROSS-LPAR</a:t>
            </a:r>
            <a:endParaRPr sz="1800">
              <a:solidFill>
                <a:schemeClr val="dk1"/>
              </a:solidFill>
              <a:latin typeface="Calibri"/>
              <a:ea typeface="Calibri"/>
              <a:cs typeface="Calibri"/>
              <a:sym typeface="Calibri"/>
            </a:endParaRPr>
          </a:p>
        </p:txBody>
      </p:sp>
      <p:sp>
        <p:nvSpPr>
          <p:cNvPr id="421" name="Google Shape;421;p7"/>
          <p:cNvSpPr/>
          <p:nvPr/>
        </p:nvSpPr>
        <p:spPr>
          <a:xfrm>
            <a:off x="6711901" y="7490437"/>
            <a:ext cx="5010040" cy="704850"/>
          </a:xfrm>
          <a:prstGeom prst="rect">
            <a:avLst/>
          </a:prstGeom>
          <a:noFill/>
          <a:ln>
            <a:noFill/>
          </a:ln>
        </p:spPr>
        <p:txBody>
          <a:bodyPr anchorCtr="0" anchor="t" bIns="25400" lIns="25400" spcFirstLastPara="1" rIns="25400" wrap="square" tIns="25400">
            <a:normAutofit/>
          </a:bodyPr>
          <a:lstStyle/>
          <a:p>
            <a:pPr indent="0" lvl="0" marL="0" marR="0" rtl="0" algn="l">
              <a:lnSpc>
                <a:spcPct val="95455"/>
              </a:lnSpc>
              <a:spcBef>
                <a:spcPts val="0"/>
              </a:spcBef>
              <a:spcAft>
                <a:spcPts val="0"/>
              </a:spcAft>
              <a:buClr>
                <a:srgbClr val="FFFFFF"/>
              </a:buClr>
              <a:buSzPts val="2100"/>
              <a:buFont typeface="IBM Plex Sans"/>
              <a:buNone/>
            </a:pPr>
            <a:r>
              <a:rPr b="1" lang="en-US" sz="2100">
                <a:solidFill>
                  <a:srgbClr val="FFFFFF"/>
                </a:solidFill>
                <a:latin typeface="IBM Plex Sans"/>
                <a:ea typeface="IBM Plex Sans"/>
                <a:cs typeface="IBM Plex Sans"/>
                <a:sym typeface="IBM Plex Sans"/>
              </a:rPr>
              <a:t>HAProxy round-robin vs llm-d direct routing</a:t>
            </a:r>
            <a:endParaRPr sz="2100">
              <a:solidFill>
                <a:schemeClr val="dk1"/>
              </a:solidFill>
              <a:latin typeface="Calibri"/>
              <a:ea typeface="Calibri"/>
              <a:cs typeface="Calibri"/>
              <a:sym typeface="Calibri"/>
            </a:endParaRPr>
          </a:p>
        </p:txBody>
      </p:sp>
      <p:sp>
        <p:nvSpPr>
          <p:cNvPr id="422" name="Google Shape;422;p7"/>
          <p:cNvSpPr/>
          <p:nvPr/>
        </p:nvSpPr>
        <p:spPr>
          <a:xfrm>
            <a:off x="6711901" y="8233338"/>
            <a:ext cx="5350528" cy="346670"/>
          </a:xfrm>
          <a:prstGeom prst="rect">
            <a:avLst/>
          </a:prstGeom>
          <a:noFill/>
          <a:ln>
            <a:noFill/>
          </a:ln>
        </p:spPr>
        <p:txBody>
          <a:bodyPr anchorCtr="0" anchor="t" bIns="25400" lIns="25400" spcFirstLastPara="1" rIns="25400" wrap="square" tIns="25400">
            <a:normAutofit/>
          </a:bodyPr>
          <a:lstStyle/>
          <a:p>
            <a:pPr indent="0" lvl="0" marL="0" marR="0" rtl="0" algn="l">
              <a:lnSpc>
                <a:spcPct val="104143"/>
              </a:lnSpc>
              <a:spcBef>
                <a:spcPts val="0"/>
              </a:spcBef>
              <a:spcAft>
                <a:spcPts val="0"/>
              </a:spcAft>
              <a:buClr>
                <a:srgbClr val="D0E2FF"/>
              </a:buClr>
              <a:buSzPts val="1800"/>
              <a:buFont typeface="IBM Plex Sans"/>
              <a:buNone/>
            </a:pPr>
            <a:r>
              <a:rPr lang="en-US" sz="1800">
                <a:solidFill>
                  <a:srgbClr val="D0E2FF"/>
                </a:solidFill>
                <a:latin typeface="IBM Plex Sans"/>
                <a:ea typeface="IBM Plex Sans"/>
                <a:cs typeface="IBM Plex Sans"/>
                <a:sym typeface="IBM Plex Sans"/>
              </a:rPr>
              <a:t>6 vLLM × 4 Spyre · 2 LPARs · 24 Spyre · 18 IFLs</a:t>
            </a:r>
            <a:endParaRPr sz="1800">
              <a:solidFill>
                <a:schemeClr val="dk1"/>
              </a:solidFill>
              <a:latin typeface="Calibri"/>
              <a:ea typeface="Calibri"/>
              <a:cs typeface="Calibri"/>
              <a:sym typeface="Calibri"/>
            </a:endParaRPr>
          </a:p>
        </p:txBody>
      </p:sp>
      <p:sp>
        <p:nvSpPr>
          <p:cNvPr id="423" name="Google Shape;423;p7"/>
          <p:cNvSpPr/>
          <p:nvPr/>
        </p:nvSpPr>
        <p:spPr>
          <a:xfrm>
            <a:off x="12014150" y="6946553"/>
            <a:ext cx="5359384" cy="1766755"/>
          </a:xfrm>
          <a:prstGeom prst="rect">
            <a:avLst/>
          </a:prstGeom>
          <a:solidFill>
            <a:srgbClr val="F6F2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7"/>
          <p:cNvSpPr/>
          <p:nvPr/>
        </p:nvSpPr>
        <p:spPr>
          <a:xfrm>
            <a:off x="12261784" y="7117953"/>
            <a:ext cx="53505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929C4"/>
              </a:buClr>
              <a:buSzPts val="1800"/>
              <a:buFont typeface="IBM Plex Mono"/>
              <a:buNone/>
            </a:pPr>
            <a:r>
              <a:rPr b="1" lang="en-US" spc="72" sz="1800">
                <a:solidFill>
                  <a:srgbClr val="6929C4"/>
                </a:solidFill>
                <a:latin typeface="IBM Plex Mono"/>
                <a:ea typeface="IBM Plex Mono"/>
                <a:cs typeface="IBM Plex Mono"/>
                <a:sym typeface="IBM Plex Mono"/>
              </a:rPr>
              <a:t>NEXT · XGBOOST + SLO</a:t>
            </a:r>
            <a:endParaRPr sz="1800">
              <a:solidFill>
                <a:schemeClr val="dk1"/>
              </a:solidFill>
              <a:latin typeface="Calibri"/>
              <a:ea typeface="Calibri"/>
              <a:cs typeface="Calibri"/>
              <a:sym typeface="Calibri"/>
            </a:endParaRPr>
          </a:p>
        </p:txBody>
      </p:sp>
      <p:sp>
        <p:nvSpPr>
          <p:cNvPr id="425" name="Google Shape;425;p7"/>
          <p:cNvSpPr/>
          <p:nvPr/>
        </p:nvSpPr>
        <p:spPr>
          <a:xfrm>
            <a:off x="12261784" y="7490437"/>
            <a:ext cx="5350528" cy="371475"/>
          </a:xfrm>
          <a:prstGeom prst="rect">
            <a:avLst/>
          </a:prstGeom>
          <a:noFill/>
          <a:ln>
            <a:noFill/>
          </a:ln>
        </p:spPr>
        <p:txBody>
          <a:bodyPr anchorCtr="0" anchor="t" bIns="25400" lIns="25400" spcFirstLastPara="1" rIns="25400" wrap="square" tIns="25400">
            <a:normAutofit/>
          </a:bodyPr>
          <a:lstStyle/>
          <a:p>
            <a:pPr indent="0" lvl="0" marL="0" marR="0" rtl="0" algn="l">
              <a:lnSpc>
                <a:spcPct val="95455"/>
              </a:lnSpc>
              <a:spcBef>
                <a:spcPts val="0"/>
              </a:spcBef>
              <a:spcAft>
                <a:spcPts val="0"/>
              </a:spcAft>
              <a:buClr>
                <a:srgbClr val="491D8B"/>
              </a:buClr>
              <a:buSzPts val="2100"/>
              <a:buFont typeface="IBM Plex Sans"/>
              <a:buNone/>
            </a:pPr>
            <a:r>
              <a:rPr b="1" lang="en-US" sz="2100">
                <a:solidFill>
                  <a:srgbClr val="491D8B"/>
                </a:solidFill>
                <a:latin typeface="IBM Plex Sans"/>
                <a:ea typeface="IBM Plex Sans"/>
                <a:cs typeface="IBM Plex Sans"/>
                <a:sym typeface="IBM Plex Sans"/>
              </a:rPr>
              <a:t>Hand-tuned weights drift. Learn them.</a:t>
            </a:r>
            <a:endParaRPr sz="2100">
              <a:solidFill>
                <a:schemeClr val="dk1"/>
              </a:solidFill>
              <a:latin typeface="Calibri"/>
              <a:ea typeface="Calibri"/>
              <a:cs typeface="Calibri"/>
              <a:sym typeface="Calibri"/>
            </a:endParaRPr>
          </a:p>
        </p:txBody>
      </p:sp>
      <p:sp>
        <p:nvSpPr>
          <p:cNvPr id="426" name="Google Shape;426;p7"/>
          <p:cNvSpPr/>
          <p:nvPr/>
        </p:nvSpPr>
        <p:spPr>
          <a:xfrm>
            <a:off x="12261784" y="7899963"/>
            <a:ext cx="5010040" cy="655241"/>
          </a:xfrm>
          <a:prstGeom prst="rect">
            <a:avLst/>
          </a:prstGeom>
          <a:noFill/>
          <a:ln>
            <a:noFill/>
          </a:ln>
        </p:spPr>
        <p:txBody>
          <a:bodyPr anchorCtr="0" anchor="t" bIns="25400" lIns="25400" spcFirstLastPara="1" rIns="25400" wrap="square" tIns="25400">
            <a:normAutofit/>
          </a:bodyPr>
          <a:lstStyle/>
          <a:p>
            <a:pPr indent="0" lvl="0" marL="0" marR="0" rtl="0" algn="l">
              <a:lnSpc>
                <a:spcPct val="104143"/>
              </a:lnSpc>
              <a:spcBef>
                <a:spcPts val="0"/>
              </a:spcBef>
              <a:spcAft>
                <a:spcPts val="0"/>
              </a:spcAft>
              <a:buClr>
                <a:srgbClr val="491D8B"/>
              </a:buClr>
              <a:buSzPts val="1800"/>
              <a:buFont typeface="IBM Plex Sans"/>
              <a:buNone/>
            </a:pPr>
            <a:r>
              <a:rPr lang="en-US" sz="1800">
                <a:solidFill>
                  <a:srgbClr val="491D8B"/>
                </a:solidFill>
                <a:latin typeface="IBM Plex Sans"/>
                <a:ea typeface="IBM Plex Sans"/>
                <a:cs typeface="IBM Plex Sans"/>
                <a:sym typeface="IBM Plex Sans"/>
              </a:rPr>
              <a:t>XGBoost predicts TTFT &amp; TPOT per pod; the router picks one that meets the request's SLO.</a:t>
            </a:r>
            <a:endParaRPr sz="1800">
              <a:solidFill>
                <a:schemeClr val="dk1"/>
              </a:solidFill>
              <a:latin typeface="Calibri"/>
              <a:ea typeface="Calibri"/>
              <a:cs typeface="Calibri"/>
              <a:sym typeface="Calibri"/>
            </a:endParaRPr>
          </a:p>
        </p:txBody>
      </p:sp>
      <p:pic>
        <p:nvPicPr>
          <p:cNvPr descr="preencoded.png" id="427" name="Google Shape;427;p7"/>
          <p:cNvPicPr preferRelativeResize="0"/>
          <p:nvPr/>
        </p:nvPicPr>
        <p:blipFill rotWithShape="1">
          <a:blip r:embed="rId3">
            <a:alphaModFix/>
          </a:blip>
          <a:srcRect b="0" l="0" r="0" t="0"/>
          <a:stretch/>
        </p:blipFill>
        <p:spPr>
          <a:xfrm>
            <a:off x="914384" y="9677467"/>
            <a:ext cx="310968" cy="342883"/>
          </a:xfrm>
          <a:prstGeom prst="rect">
            <a:avLst/>
          </a:prstGeom>
          <a:noFill/>
          <a:ln>
            <a:noFill/>
          </a:ln>
        </p:spPr>
      </p:pic>
      <p:sp>
        <p:nvSpPr>
          <p:cNvPr id="428" name="Google Shape;428;p7"/>
          <p:cNvSpPr/>
          <p:nvPr/>
        </p:nvSpPr>
        <p:spPr>
          <a:xfrm>
            <a:off x="1415852" y="9700700"/>
            <a:ext cx="77482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Bangalore Performance &amp; Scale Meetup 2026 · From Tokens to Scale</a:t>
            </a:r>
            <a:endParaRPr sz="1800">
              <a:solidFill>
                <a:schemeClr val="dk1"/>
              </a:solidFill>
              <a:latin typeface="Calibri"/>
              <a:ea typeface="Calibri"/>
              <a:cs typeface="Calibri"/>
              <a:sym typeface="Calibri"/>
            </a:endParaRPr>
          </a:p>
        </p:txBody>
      </p:sp>
      <p:sp>
        <p:nvSpPr>
          <p:cNvPr id="429" name="Google Shape;429;p7"/>
          <p:cNvSpPr/>
          <p:nvPr/>
        </p:nvSpPr>
        <p:spPr>
          <a:xfrm>
            <a:off x="13298042" y="9700700"/>
            <a:ext cx="388813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Sans"/>
              <a:buNone/>
            </a:pPr>
            <a:r>
              <a:rPr lang="en-US" sz="1800">
                <a:solidFill>
                  <a:srgbClr val="0F62FE"/>
                </a:solidFill>
                <a:latin typeface="IBM Plex Sans"/>
                <a:ea typeface="IBM Plex Sans"/>
                <a:cs typeface="IBM Plex Sans"/>
                <a:sym typeface="IBM Plex Sans"/>
              </a:rPr>
              <a:t>Next: learn the weights instead →</a:t>
            </a:r>
            <a:endParaRPr sz="1800">
              <a:solidFill>
                <a:schemeClr val="dk1"/>
              </a:solidFill>
              <a:latin typeface="Calibri"/>
              <a:ea typeface="Calibri"/>
              <a:cs typeface="Calibri"/>
              <a:sym typeface="Calibri"/>
            </a:endParaRPr>
          </a:p>
        </p:txBody>
      </p:sp>
      <p:sp>
        <p:nvSpPr>
          <p:cNvPr id="430" name="Google Shape;430;p7"/>
          <p:cNvSpPr/>
          <p:nvPr/>
        </p:nvSpPr>
        <p:spPr>
          <a:xfrm>
            <a:off x="17099360" y="9700700"/>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z="1800">
                <a:solidFill>
                  <a:srgbClr val="6F6F6F"/>
                </a:solidFill>
                <a:latin typeface="IBM Plex Mono"/>
                <a:ea typeface="IBM Plex Mono"/>
                <a:cs typeface="IBM Plex Mono"/>
                <a:sym typeface="IBM Plex Mono"/>
              </a:rPr>
              <a:t>07</a:t>
            </a:r>
            <a:endParaRPr sz="1800">
              <a:solidFill>
                <a:schemeClr val="dk1"/>
              </a:solidFill>
              <a:latin typeface="Calibri"/>
              <a:ea typeface="Calibri"/>
              <a:cs typeface="Calibri"/>
              <a:sym typeface="Calibri"/>
            </a:endParaRPr>
          </a:p>
        </p:txBody>
      </p:sp>
      <p:pic>
        <p:nvPicPr>
          <p:cNvPr id="431" name="Google Shape;431;p7"/>
          <p:cNvPicPr preferRelativeResize="0"/>
          <p:nvPr/>
        </p:nvPicPr>
        <p:blipFill>
          <a:blip r:embed="rId4">
            <a:alphaModFix/>
          </a:blip>
          <a:stretch>
            <a:fillRect/>
          </a:stretch>
        </p:blipFill>
        <p:spPr>
          <a:xfrm>
            <a:off x="152400" y="152400"/>
            <a:ext cx="18288000" cy="10287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6" name="Shape 436"/>
        <p:cNvGrpSpPr/>
        <p:nvPr/>
      </p:nvGrpSpPr>
      <p:grpSpPr>
        <a:xfrm>
          <a:off x="0" y="0"/>
          <a:ext cx="0" cy="0"/>
          <a:chOff x="0" y="0"/>
          <a:chExt cx="0" cy="0"/>
        </a:xfrm>
      </p:grpSpPr>
      <p:sp>
        <p:nvSpPr>
          <p:cNvPr id="437" name="Google Shape;437;p9"/>
          <p:cNvSpPr/>
          <p:nvPr/>
        </p:nvSpPr>
        <p:spPr>
          <a:xfrm>
            <a:off x="914384" y="571500"/>
            <a:ext cx="181051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05 · REAL-WORLD IMPACT ON IBM Z</a:t>
            </a:r>
            <a:endParaRPr sz="1800">
              <a:solidFill>
                <a:schemeClr val="dk1"/>
              </a:solidFill>
              <a:latin typeface="Calibri"/>
              <a:ea typeface="Calibri"/>
              <a:cs typeface="Calibri"/>
              <a:sym typeface="Calibri"/>
            </a:endParaRPr>
          </a:p>
        </p:txBody>
      </p:sp>
      <p:sp>
        <p:nvSpPr>
          <p:cNvPr id="438" name="Google Shape;438;p9"/>
          <p:cNvSpPr/>
          <p:nvPr/>
        </p:nvSpPr>
        <p:spPr>
          <a:xfrm>
            <a:off x="914384" y="982100"/>
            <a:ext cx="18105157" cy="666734"/>
          </a:xfrm>
          <a:prstGeom prst="rect">
            <a:avLst/>
          </a:prstGeom>
          <a:noFill/>
          <a:ln>
            <a:noFill/>
          </a:ln>
        </p:spPr>
        <p:txBody>
          <a:bodyPr anchorCtr="0" anchor="t" bIns="25400" lIns="25400" spcFirstLastPara="1" rIns="25400" wrap="square" tIns="25400">
            <a:normAutofit/>
          </a:bodyPr>
          <a:lstStyle/>
          <a:p>
            <a:pPr indent="0" lvl="0" marL="0" marR="0" rtl="0" algn="l">
              <a:lnSpc>
                <a:spcPct val="84255"/>
              </a:lnSpc>
              <a:spcBef>
                <a:spcPts val="0"/>
              </a:spcBef>
              <a:spcAft>
                <a:spcPts val="0"/>
              </a:spcAft>
              <a:buClr>
                <a:srgbClr val="161616"/>
              </a:buClr>
              <a:buSzPts val="4500"/>
              <a:buFont typeface="IBM Plex Sans"/>
              <a:buNone/>
            </a:pPr>
            <a:r>
              <a:rPr b="1" lang="en-US" spc="-45" sz="4500">
                <a:solidFill>
                  <a:srgbClr val="161616"/>
                </a:solidFill>
                <a:latin typeface="IBM Plex Sans"/>
                <a:ea typeface="IBM Plex Sans"/>
                <a:cs typeface="IBM Plex Sans"/>
                <a:sym typeface="IBM Plex Sans"/>
              </a:rPr>
              <a:t>Performance decides who gets served, and at what cost</a:t>
            </a:r>
            <a:endParaRPr sz="4500">
              <a:solidFill>
                <a:schemeClr val="dk1"/>
              </a:solidFill>
              <a:latin typeface="Calibri"/>
              <a:ea typeface="Calibri"/>
              <a:cs typeface="Calibri"/>
              <a:sym typeface="Calibri"/>
            </a:endParaRPr>
          </a:p>
        </p:txBody>
      </p:sp>
      <p:sp>
        <p:nvSpPr>
          <p:cNvPr id="439" name="Google Shape;439;p9"/>
          <p:cNvSpPr/>
          <p:nvPr/>
        </p:nvSpPr>
        <p:spPr>
          <a:xfrm>
            <a:off x="914384" y="1915501"/>
            <a:ext cx="4953000" cy="5707889"/>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9"/>
          <p:cNvSpPr/>
          <p:nvPr/>
        </p:nvSpPr>
        <p:spPr>
          <a:xfrm>
            <a:off x="1295384" y="2258384"/>
            <a:ext cx="461010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0E2FF"/>
              </a:buClr>
              <a:buSzPts val="1800"/>
              <a:buFont typeface="IBM Plex Mono"/>
              <a:buNone/>
            </a:pPr>
            <a:r>
              <a:rPr lang="en-US" spc="144" sz="1800">
                <a:solidFill>
                  <a:srgbClr val="D0E2FF"/>
                </a:solidFill>
                <a:latin typeface="IBM Plex Mono"/>
                <a:ea typeface="IBM Plex Mono"/>
                <a:cs typeface="IBM Plex Mono"/>
                <a:sym typeface="IBM Plex Mono"/>
              </a:rPr>
              <a:t>UP TO</a:t>
            </a:r>
            <a:endParaRPr sz="1800">
              <a:solidFill>
                <a:schemeClr val="dk1"/>
              </a:solidFill>
              <a:latin typeface="Calibri"/>
              <a:ea typeface="Calibri"/>
              <a:cs typeface="Calibri"/>
              <a:sym typeface="Calibri"/>
            </a:endParaRPr>
          </a:p>
        </p:txBody>
      </p:sp>
      <p:sp>
        <p:nvSpPr>
          <p:cNvPr id="441" name="Google Shape;441;p9"/>
          <p:cNvSpPr/>
          <p:nvPr/>
        </p:nvSpPr>
        <p:spPr>
          <a:xfrm>
            <a:off x="1295384" y="2630868"/>
            <a:ext cx="4610100" cy="1752600"/>
          </a:xfrm>
          <a:prstGeom prst="rect">
            <a:avLst/>
          </a:prstGeom>
          <a:noFill/>
          <a:ln>
            <a:noFill/>
          </a:ln>
        </p:spPr>
        <p:txBody>
          <a:bodyPr anchorCtr="0" anchor="t" bIns="25400" lIns="25400" spcFirstLastPara="1" rIns="25400" wrap="square" tIns="25400">
            <a:normAutofit/>
          </a:bodyPr>
          <a:lstStyle/>
          <a:p>
            <a:pPr indent="0" lvl="0" marL="0" marR="0" rtl="0" algn="l">
              <a:lnSpc>
                <a:spcPct val="76960"/>
              </a:lnSpc>
              <a:spcBef>
                <a:spcPts val="0"/>
              </a:spcBef>
              <a:spcAft>
                <a:spcPts val="0"/>
              </a:spcAft>
              <a:buClr>
                <a:srgbClr val="FFFFFF"/>
              </a:buClr>
              <a:buSzPts val="13500"/>
              <a:buFont typeface="IBM Plex Sans"/>
              <a:buNone/>
            </a:pPr>
            <a:r>
              <a:rPr b="1" lang="en-US" spc="-540" sz="13500">
                <a:solidFill>
                  <a:srgbClr val="FFFFFF"/>
                </a:solidFill>
                <a:latin typeface="IBM Plex Sans"/>
                <a:ea typeface="IBM Plex Sans"/>
                <a:cs typeface="IBM Plex Sans"/>
                <a:sym typeface="IBM Plex Sans"/>
              </a:rPr>
              <a:t>80%</a:t>
            </a:r>
            <a:endParaRPr sz="13500">
              <a:solidFill>
                <a:schemeClr val="dk1"/>
              </a:solidFill>
              <a:latin typeface="Calibri"/>
              <a:ea typeface="Calibri"/>
              <a:cs typeface="Calibri"/>
              <a:sym typeface="Calibri"/>
            </a:endParaRPr>
          </a:p>
        </p:txBody>
      </p:sp>
      <p:sp>
        <p:nvSpPr>
          <p:cNvPr id="442" name="Google Shape;442;p9"/>
          <p:cNvSpPr/>
          <p:nvPr/>
        </p:nvSpPr>
        <p:spPr>
          <a:xfrm>
            <a:off x="1295384" y="4535868"/>
            <a:ext cx="4316730" cy="1622623"/>
          </a:xfrm>
          <a:prstGeom prst="rect">
            <a:avLst/>
          </a:prstGeom>
          <a:noFill/>
          <a:ln>
            <a:noFill/>
          </a:ln>
        </p:spPr>
        <p:txBody>
          <a:bodyPr anchorCtr="0" anchor="t" bIns="25400" lIns="25400" spcFirstLastPara="1" rIns="25400" wrap="square" tIns="25400">
            <a:normAutofit/>
          </a:bodyPr>
          <a:lstStyle/>
          <a:p>
            <a:pPr indent="0" lvl="0" marL="0" marR="0" rtl="0" algn="l">
              <a:lnSpc>
                <a:spcPct val="99840"/>
              </a:lnSpc>
              <a:spcBef>
                <a:spcPts val="0"/>
              </a:spcBef>
              <a:spcAft>
                <a:spcPts val="0"/>
              </a:spcAft>
              <a:buClr>
                <a:srgbClr val="FFFFFF"/>
              </a:buClr>
              <a:buSzPts val="2400"/>
              <a:buFont typeface="IBM Plex Sans"/>
              <a:buNone/>
            </a:pPr>
            <a:r>
              <a:rPr lang="en-US" sz="2400">
                <a:solidFill>
                  <a:srgbClr val="FFFFFF"/>
                </a:solidFill>
                <a:latin typeface="IBM Plex Sans"/>
                <a:ea typeface="IBM Plex Sans"/>
                <a:cs typeface="IBM Plex Sans"/>
                <a:sym typeface="IBM Plex Sans"/>
              </a:rPr>
              <a:t>of transactions can go unchecked for fraud when AI runs off-platform and adds delay.</a:t>
            </a:r>
            <a:endParaRPr sz="2400">
              <a:solidFill>
                <a:schemeClr val="dk1"/>
              </a:solidFill>
              <a:latin typeface="Calibri"/>
              <a:ea typeface="Calibri"/>
              <a:cs typeface="Calibri"/>
              <a:sym typeface="Calibri"/>
            </a:endParaRPr>
          </a:p>
        </p:txBody>
      </p:sp>
      <p:sp>
        <p:nvSpPr>
          <p:cNvPr id="443" name="Google Shape;443;p9"/>
          <p:cNvSpPr/>
          <p:nvPr/>
        </p:nvSpPr>
        <p:spPr>
          <a:xfrm>
            <a:off x="1295384" y="6984174"/>
            <a:ext cx="431673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0E2FF"/>
              </a:buClr>
              <a:buSzPts val="1800"/>
              <a:buFont typeface="IBM Plex Sans"/>
              <a:buNone/>
            </a:pPr>
            <a:r>
              <a:rPr lang="en-US" sz="1800">
                <a:solidFill>
                  <a:srgbClr val="D0E2FF"/>
                </a:solidFill>
                <a:latin typeface="IBM Plex Sans"/>
                <a:ea typeface="IBM Plex Sans"/>
                <a:cs typeface="IBM Plex Sans"/>
                <a:sym typeface="IBM Plex Sans"/>
              </a:rPr>
              <a:t>Source: IBM, Journey to AI on IBM Z</a:t>
            </a:r>
            <a:endParaRPr sz="1800">
              <a:solidFill>
                <a:schemeClr val="dk1"/>
              </a:solidFill>
              <a:latin typeface="Calibri"/>
              <a:ea typeface="Calibri"/>
              <a:cs typeface="Calibri"/>
              <a:sym typeface="Calibri"/>
            </a:endParaRPr>
          </a:p>
        </p:txBody>
      </p:sp>
      <p:sp>
        <p:nvSpPr>
          <p:cNvPr id="444" name="Google Shape;444;p9"/>
          <p:cNvSpPr/>
          <p:nvPr/>
        </p:nvSpPr>
        <p:spPr>
          <a:xfrm>
            <a:off x="6400767" y="2307084"/>
            <a:ext cx="10972850" cy="15875"/>
          </a:xfrm>
          <a:prstGeom prst="rect">
            <a:avLst/>
          </a:prstGeom>
          <a:solidFill>
            <a:srgbClr val="161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9"/>
          <p:cNvSpPr/>
          <p:nvPr/>
        </p:nvSpPr>
        <p:spPr>
          <a:xfrm>
            <a:off x="6400767" y="1915501"/>
            <a:ext cx="1130203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1800"/>
              <a:buFont typeface="IBM Plex Mono"/>
              <a:buNone/>
            </a:pPr>
            <a:r>
              <a:rPr lang="en-US" spc="108" sz="1800">
                <a:solidFill>
                  <a:srgbClr val="525252"/>
                </a:solidFill>
                <a:latin typeface="IBM Plex Mono"/>
                <a:ea typeface="IBM Plex Mono"/>
                <a:cs typeface="IBM Plex Mono"/>
                <a:sym typeface="IBM Plex Mono"/>
              </a:rPr>
              <a:t>EVERY WORKLOAD FAILS ON A DIFFERENT METRIC</a:t>
            </a:r>
            <a:endParaRPr sz="1800">
              <a:solidFill>
                <a:schemeClr val="dk1"/>
              </a:solidFill>
              <a:latin typeface="Calibri"/>
              <a:ea typeface="Calibri"/>
              <a:cs typeface="Calibri"/>
              <a:sym typeface="Calibri"/>
            </a:endParaRPr>
          </a:p>
        </p:txBody>
      </p:sp>
      <p:sp>
        <p:nvSpPr>
          <p:cNvPr id="446" name="Google Shape;446;p9"/>
          <p:cNvSpPr/>
          <p:nvPr/>
        </p:nvSpPr>
        <p:spPr>
          <a:xfrm>
            <a:off x="6400767" y="3378812"/>
            <a:ext cx="1097285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9"/>
          <p:cNvSpPr/>
          <p:nvPr/>
        </p:nvSpPr>
        <p:spPr>
          <a:xfrm>
            <a:off x="6400767" y="2575223"/>
            <a:ext cx="2190750" cy="551326"/>
          </a:xfrm>
          <a:prstGeom prst="rect">
            <a:avLst/>
          </a:prstGeom>
          <a:solidFill>
            <a:srgbClr val="DA1E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9"/>
          <p:cNvSpPr/>
          <p:nvPr/>
        </p:nvSpPr>
        <p:spPr>
          <a:xfrm>
            <a:off x="6515067" y="2689523"/>
            <a:ext cx="1962150" cy="360826"/>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1950"/>
              <a:buFont typeface="IBM Plex Mono"/>
              <a:buNone/>
            </a:pPr>
            <a:r>
              <a:rPr b="1" lang="en-US" sz="1950">
                <a:solidFill>
                  <a:srgbClr val="FFFFFF"/>
                </a:solidFill>
                <a:latin typeface="IBM Plex Mono"/>
                <a:ea typeface="IBM Plex Mono"/>
                <a:cs typeface="IBM Plex Mono"/>
                <a:sym typeface="IBM Plex Mono"/>
              </a:rPr>
              <a:t>p99</a:t>
            </a:r>
            <a:endParaRPr sz="1950">
              <a:solidFill>
                <a:schemeClr val="dk1"/>
              </a:solidFill>
              <a:latin typeface="Calibri"/>
              <a:ea typeface="Calibri"/>
              <a:cs typeface="Calibri"/>
              <a:sym typeface="Calibri"/>
            </a:endParaRPr>
          </a:p>
        </p:txBody>
      </p:sp>
      <p:sp>
        <p:nvSpPr>
          <p:cNvPr id="449" name="Google Shape;449;p9"/>
          <p:cNvSpPr/>
          <p:nvPr/>
        </p:nvSpPr>
        <p:spPr>
          <a:xfrm>
            <a:off x="8858168" y="2494359"/>
            <a:ext cx="9366994"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400"/>
              <a:buFont typeface="IBM Plex Sans"/>
              <a:buNone/>
            </a:pPr>
            <a:r>
              <a:rPr b="1" lang="en-US" sz="2400">
                <a:solidFill>
                  <a:srgbClr val="161616"/>
                </a:solidFill>
                <a:latin typeface="IBM Plex Sans"/>
                <a:ea typeface="IBM Plex Sans"/>
                <a:cs typeface="IBM Plex Sans"/>
                <a:sym typeface="IBM Plex Sans"/>
              </a:rPr>
              <a:t>Fraud scoring</a:t>
            </a:r>
            <a:endParaRPr sz="2400">
              <a:solidFill>
                <a:schemeClr val="dk1"/>
              </a:solidFill>
              <a:latin typeface="Calibri"/>
              <a:ea typeface="Calibri"/>
              <a:cs typeface="Calibri"/>
              <a:sym typeface="Calibri"/>
            </a:endParaRPr>
          </a:p>
        </p:txBody>
      </p:sp>
      <p:sp>
        <p:nvSpPr>
          <p:cNvPr id="450" name="Google Shape;450;p9"/>
          <p:cNvSpPr/>
          <p:nvPr/>
        </p:nvSpPr>
        <p:spPr>
          <a:xfrm>
            <a:off x="8858168" y="2910251"/>
            <a:ext cx="9366994" cy="33526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A late score means the payment already cleared</a:t>
            </a:r>
            <a:endParaRPr sz="1800">
              <a:solidFill>
                <a:schemeClr val="dk1"/>
              </a:solidFill>
              <a:latin typeface="Calibri"/>
              <a:ea typeface="Calibri"/>
              <a:cs typeface="Calibri"/>
              <a:sym typeface="Calibri"/>
            </a:endParaRPr>
          </a:p>
        </p:txBody>
      </p:sp>
      <p:sp>
        <p:nvSpPr>
          <p:cNvPr id="451" name="Google Shape;451;p9"/>
          <p:cNvSpPr/>
          <p:nvPr/>
        </p:nvSpPr>
        <p:spPr>
          <a:xfrm>
            <a:off x="6400767" y="4439957"/>
            <a:ext cx="1097285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9"/>
          <p:cNvSpPr/>
          <p:nvPr/>
        </p:nvSpPr>
        <p:spPr>
          <a:xfrm>
            <a:off x="6400767" y="3636367"/>
            <a:ext cx="2190750" cy="551326"/>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9"/>
          <p:cNvSpPr/>
          <p:nvPr/>
        </p:nvSpPr>
        <p:spPr>
          <a:xfrm>
            <a:off x="6515067" y="3750667"/>
            <a:ext cx="1962150" cy="360826"/>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1950"/>
              <a:buFont typeface="IBM Plex Mono"/>
              <a:buNone/>
            </a:pPr>
            <a:r>
              <a:rPr b="1" lang="en-US" sz="1950">
                <a:solidFill>
                  <a:srgbClr val="FFFFFF"/>
                </a:solidFill>
                <a:latin typeface="IBM Plex Mono"/>
                <a:ea typeface="IBM Plex Mono"/>
                <a:cs typeface="IBM Plex Mono"/>
                <a:sym typeface="IBM Plex Mono"/>
              </a:rPr>
              <a:t>TTFT</a:t>
            </a:r>
            <a:endParaRPr sz="1950">
              <a:solidFill>
                <a:schemeClr val="dk1"/>
              </a:solidFill>
              <a:latin typeface="Calibri"/>
              <a:ea typeface="Calibri"/>
              <a:cs typeface="Calibri"/>
              <a:sym typeface="Calibri"/>
            </a:endParaRPr>
          </a:p>
        </p:txBody>
      </p:sp>
      <p:sp>
        <p:nvSpPr>
          <p:cNvPr id="454" name="Google Shape;454;p9"/>
          <p:cNvSpPr/>
          <p:nvPr/>
        </p:nvSpPr>
        <p:spPr>
          <a:xfrm>
            <a:off x="8858168" y="3555504"/>
            <a:ext cx="9366994"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400"/>
              <a:buFont typeface="IBM Plex Sans"/>
              <a:buNone/>
            </a:pPr>
            <a:r>
              <a:rPr b="1" lang="en-US" sz="2400">
                <a:solidFill>
                  <a:srgbClr val="161616"/>
                </a:solidFill>
                <a:latin typeface="IBM Plex Sans"/>
                <a:ea typeface="IBM Plex Sans"/>
                <a:cs typeface="IBM Plex Sans"/>
                <a:sym typeface="IBM Plex Sans"/>
              </a:rPr>
              <a:t>Banking assistant</a:t>
            </a:r>
            <a:endParaRPr sz="2400">
              <a:solidFill>
                <a:schemeClr val="dk1"/>
              </a:solidFill>
              <a:latin typeface="Calibri"/>
              <a:ea typeface="Calibri"/>
              <a:cs typeface="Calibri"/>
              <a:sym typeface="Calibri"/>
            </a:endParaRPr>
          </a:p>
        </p:txBody>
      </p:sp>
      <p:sp>
        <p:nvSpPr>
          <p:cNvPr id="455" name="Google Shape;455;p9"/>
          <p:cNvSpPr/>
          <p:nvPr/>
        </p:nvSpPr>
        <p:spPr>
          <a:xfrm>
            <a:off x="8858168" y="3971396"/>
            <a:ext cx="9366994" cy="33526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A slow first word feels like a dead line</a:t>
            </a:r>
            <a:endParaRPr sz="1800">
              <a:solidFill>
                <a:schemeClr val="dk1"/>
              </a:solidFill>
              <a:latin typeface="Calibri"/>
              <a:ea typeface="Calibri"/>
              <a:cs typeface="Calibri"/>
              <a:sym typeface="Calibri"/>
            </a:endParaRPr>
          </a:p>
        </p:txBody>
      </p:sp>
      <p:sp>
        <p:nvSpPr>
          <p:cNvPr id="456" name="Google Shape;456;p9"/>
          <p:cNvSpPr/>
          <p:nvPr/>
        </p:nvSpPr>
        <p:spPr>
          <a:xfrm>
            <a:off x="6400767" y="5501101"/>
            <a:ext cx="1097285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9"/>
          <p:cNvSpPr/>
          <p:nvPr/>
        </p:nvSpPr>
        <p:spPr>
          <a:xfrm>
            <a:off x="6400767" y="4697512"/>
            <a:ext cx="2190750" cy="551326"/>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9"/>
          <p:cNvSpPr/>
          <p:nvPr/>
        </p:nvSpPr>
        <p:spPr>
          <a:xfrm>
            <a:off x="6515067" y="4811812"/>
            <a:ext cx="1962150" cy="360826"/>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1950"/>
              <a:buFont typeface="IBM Plex Mono"/>
              <a:buNone/>
            </a:pPr>
            <a:r>
              <a:rPr b="1" lang="en-US" sz="1950">
                <a:solidFill>
                  <a:srgbClr val="FFFFFF"/>
                </a:solidFill>
                <a:latin typeface="IBM Plex Mono"/>
                <a:ea typeface="IBM Plex Mono"/>
                <a:cs typeface="IBM Plex Mono"/>
                <a:sym typeface="IBM Plex Mono"/>
              </a:rPr>
              <a:t>TPOT</a:t>
            </a:r>
            <a:endParaRPr sz="1950">
              <a:solidFill>
                <a:schemeClr val="dk1"/>
              </a:solidFill>
              <a:latin typeface="Calibri"/>
              <a:ea typeface="Calibri"/>
              <a:cs typeface="Calibri"/>
              <a:sym typeface="Calibri"/>
            </a:endParaRPr>
          </a:p>
        </p:txBody>
      </p:sp>
      <p:sp>
        <p:nvSpPr>
          <p:cNvPr id="459" name="Google Shape;459;p9"/>
          <p:cNvSpPr/>
          <p:nvPr/>
        </p:nvSpPr>
        <p:spPr>
          <a:xfrm>
            <a:off x="8858168" y="4616649"/>
            <a:ext cx="9366994"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400"/>
              <a:buFont typeface="IBM Plex Sans"/>
              <a:buNone/>
            </a:pPr>
            <a:r>
              <a:rPr b="1" lang="en-US" sz="2400">
                <a:solidFill>
                  <a:srgbClr val="161616"/>
                </a:solidFill>
                <a:latin typeface="IBM Plex Sans"/>
                <a:ea typeface="IBM Plex Sans"/>
                <a:cs typeface="IBM Plex Sans"/>
                <a:sym typeface="IBM Plex Sans"/>
              </a:rPr>
              <a:t>Code assistant</a:t>
            </a:r>
            <a:endParaRPr sz="2400">
              <a:solidFill>
                <a:schemeClr val="dk1"/>
              </a:solidFill>
              <a:latin typeface="Calibri"/>
              <a:ea typeface="Calibri"/>
              <a:cs typeface="Calibri"/>
              <a:sym typeface="Calibri"/>
            </a:endParaRPr>
          </a:p>
        </p:txBody>
      </p:sp>
      <p:sp>
        <p:nvSpPr>
          <p:cNvPr id="460" name="Google Shape;460;p9"/>
          <p:cNvSpPr/>
          <p:nvPr/>
        </p:nvSpPr>
        <p:spPr>
          <a:xfrm>
            <a:off x="8858168" y="5032540"/>
            <a:ext cx="9366994" cy="33526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Stuttering output breaks the developer’s flow</a:t>
            </a:r>
            <a:endParaRPr sz="1800">
              <a:solidFill>
                <a:schemeClr val="dk1"/>
              </a:solidFill>
              <a:latin typeface="Calibri"/>
              <a:ea typeface="Calibri"/>
              <a:cs typeface="Calibri"/>
              <a:sym typeface="Calibri"/>
            </a:endParaRPr>
          </a:p>
        </p:txBody>
      </p:sp>
      <p:sp>
        <p:nvSpPr>
          <p:cNvPr id="461" name="Google Shape;461;p9"/>
          <p:cNvSpPr/>
          <p:nvPr/>
        </p:nvSpPr>
        <p:spPr>
          <a:xfrm>
            <a:off x="6400767" y="6562246"/>
            <a:ext cx="10972850"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9"/>
          <p:cNvSpPr/>
          <p:nvPr/>
        </p:nvSpPr>
        <p:spPr>
          <a:xfrm>
            <a:off x="6400767" y="5758657"/>
            <a:ext cx="2190750" cy="551326"/>
          </a:xfrm>
          <a:prstGeom prst="rect">
            <a:avLst/>
          </a:prstGeom>
          <a:solidFill>
            <a:srgbClr val="1980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9"/>
          <p:cNvSpPr/>
          <p:nvPr/>
        </p:nvSpPr>
        <p:spPr>
          <a:xfrm>
            <a:off x="6515067" y="5872957"/>
            <a:ext cx="1962150" cy="360826"/>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1950"/>
              <a:buFont typeface="IBM Plex Mono"/>
              <a:buNone/>
            </a:pPr>
            <a:r>
              <a:rPr b="1" lang="en-US" sz="1950">
                <a:solidFill>
                  <a:srgbClr val="FFFFFF"/>
                </a:solidFill>
                <a:latin typeface="IBM Plex Mono"/>
                <a:ea typeface="IBM Plex Mono"/>
                <a:cs typeface="IBM Plex Mono"/>
                <a:sym typeface="IBM Plex Mono"/>
              </a:rPr>
              <a:t>CACHE HIT</a:t>
            </a:r>
            <a:endParaRPr sz="1950">
              <a:solidFill>
                <a:schemeClr val="dk1"/>
              </a:solidFill>
              <a:latin typeface="Calibri"/>
              <a:ea typeface="Calibri"/>
              <a:cs typeface="Calibri"/>
              <a:sym typeface="Calibri"/>
            </a:endParaRPr>
          </a:p>
        </p:txBody>
      </p:sp>
      <p:sp>
        <p:nvSpPr>
          <p:cNvPr id="464" name="Google Shape;464;p9"/>
          <p:cNvSpPr/>
          <p:nvPr/>
        </p:nvSpPr>
        <p:spPr>
          <a:xfrm>
            <a:off x="8858168" y="5677793"/>
            <a:ext cx="9366994"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400"/>
              <a:buFont typeface="IBM Plex Sans"/>
              <a:buNone/>
            </a:pPr>
            <a:r>
              <a:rPr b="1" lang="en-US" sz="2400">
                <a:solidFill>
                  <a:srgbClr val="161616"/>
                </a:solidFill>
                <a:latin typeface="IBM Plex Sans"/>
                <a:ea typeface="IBM Plex Sans"/>
                <a:cs typeface="IBM Plex Sans"/>
                <a:sym typeface="IBM Plex Sans"/>
              </a:rPr>
              <a:t>RAG on core data</a:t>
            </a:r>
            <a:endParaRPr sz="2400">
              <a:solidFill>
                <a:schemeClr val="dk1"/>
              </a:solidFill>
              <a:latin typeface="Calibri"/>
              <a:ea typeface="Calibri"/>
              <a:cs typeface="Calibri"/>
              <a:sym typeface="Calibri"/>
            </a:endParaRPr>
          </a:p>
        </p:txBody>
      </p:sp>
      <p:sp>
        <p:nvSpPr>
          <p:cNvPr id="465" name="Google Shape;465;p9"/>
          <p:cNvSpPr/>
          <p:nvPr/>
        </p:nvSpPr>
        <p:spPr>
          <a:xfrm>
            <a:off x="8858168" y="6093685"/>
            <a:ext cx="9366994" cy="33526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Recomputing the same documents costs more cards</a:t>
            </a:r>
            <a:endParaRPr sz="1800">
              <a:solidFill>
                <a:schemeClr val="dk1"/>
              </a:solidFill>
              <a:latin typeface="Calibri"/>
              <a:ea typeface="Calibri"/>
              <a:cs typeface="Calibri"/>
              <a:sym typeface="Calibri"/>
            </a:endParaRPr>
          </a:p>
        </p:txBody>
      </p:sp>
      <p:sp>
        <p:nvSpPr>
          <p:cNvPr id="466" name="Google Shape;466;p9"/>
          <p:cNvSpPr/>
          <p:nvPr/>
        </p:nvSpPr>
        <p:spPr>
          <a:xfrm>
            <a:off x="6400767" y="6819801"/>
            <a:ext cx="2190750" cy="551326"/>
          </a:xfrm>
          <a:prstGeom prst="rect">
            <a:avLst/>
          </a:prstGeom>
          <a:solidFill>
            <a:srgbClr val="8A3F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9"/>
          <p:cNvSpPr/>
          <p:nvPr/>
        </p:nvSpPr>
        <p:spPr>
          <a:xfrm>
            <a:off x="6515067" y="6934101"/>
            <a:ext cx="1962150" cy="360826"/>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1950"/>
              <a:buFont typeface="IBM Plex Mono"/>
              <a:buNone/>
            </a:pPr>
            <a:r>
              <a:rPr b="1" lang="en-US" sz="1950">
                <a:solidFill>
                  <a:srgbClr val="FFFFFF"/>
                </a:solidFill>
                <a:latin typeface="IBM Plex Mono"/>
                <a:ea typeface="IBM Plex Mono"/>
                <a:cs typeface="IBM Plex Mono"/>
                <a:sym typeface="IBM Plex Mono"/>
              </a:rPr>
              <a:t>E2E</a:t>
            </a:r>
            <a:endParaRPr sz="1950">
              <a:solidFill>
                <a:schemeClr val="dk1"/>
              </a:solidFill>
              <a:latin typeface="Calibri"/>
              <a:ea typeface="Calibri"/>
              <a:cs typeface="Calibri"/>
              <a:sym typeface="Calibri"/>
            </a:endParaRPr>
          </a:p>
        </p:txBody>
      </p:sp>
      <p:sp>
        <p:nvSpPr>
          <p:cNvPr id="468" name="Google Shape;468;p9"/>
          <p:cNvSpPr/>
          <p:nvPr/>
        </p:nvSpPr>
        <p:spPr>
          <a:xfrm>
            <a:off x="8858168" y="6738938"/>
            <a:ext cx="9366994"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400"/>
              <a:buFont typeface="IBM Plex Sans"/>
              <a:buNone/>
            </a:pPr>
            <a:r>
              <a:rPr b="1" lang="en-US" sz="2400">
                <a:solidFill>
                  <a:srgbClr val="161616"/>
                </a:solidFill>
                <a:latin typeface="IBM Plex Sans"/>
                <a:ea typeface="IBM Plex Sans"/>
                <a:cs typeface="IBM Plex Sans"/>
                <a:sym typeface="IBM Plex Sans"/>
              </a:rPr>
              <a:t>Agentic workflows</a:t>
            </a:r>
            <a:endParaRPr sz="2400">
              <a:solidFill>
                <a:schemeClr val="dk1"/>
              </a:solidFill>
              <a:latin typeface="Calibri"/>
              <a:ea typeface="Calibri"/>
              <a:cs typeface="Calibri"/>
              <a:sym typeface="Calibri"/>
            </a:endParaRPr>
          </a:p>
        </p:txBody>
      </p:sp>
      <p:sp>
        <p:nvSpPr>
          <p:cNvPr id="469" name="Google Shape;469;p9"/>
          <p:cNvSpPr/>
          <p:nvPr/>
        </p:nvSpPr>
        <p:spPr>
          <a:xfrm>
            <a:off x="8858168" y="7154830"/>
            <a:ext cx="9366994" cy="335260"/>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Ten chained calls turn 1 s of delay into 10 s</a:t>
            </a:r>
            <a:endParaRPr sz="1800">
              <a:solidFill>
                <a:schemeClr val="dk1"/>
              </a:solidFill>
              <a:latin typeface="Calibri"/>
              <a:ea typeface="Calibri"/>
              <a:cs typeface="Calibri"/>
              <a:sym typeface="Calibri"/>
            </a:endParaRPr>
          </a:p>
        </p:txBody>
      </p:sp>
      <p:sp>
        <p:nvSpPr>
          <p:cNvPr id="470" name="Google Shape;470;p9"/>
          <p:cNvSpPr/>
          <p:nvPr/>
        </p:nvSpPr>
        <p:spPr>
          <a:xfrm>
            <a:off x="914384" y="7928157"/>
            <a:ext cx="16459234" cy="1560876"/>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9"/>
          <p:cNvSpPr/>
          <p:nvPr/>
        </p:nvSpPr>
        <p:spPr>
          <a:xfrm>
            <a:off x="5023859" y="7928157"/>
            <a:ext cx="9525" cy="1560876"/>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9"/>
          <p:cNvSpPr/>
          <p:nvPr/>
        </p:nvSpPr>
        <p:spPr>
          <a:xfrm>
            <a:off x="1181034" y="8156691"/>
            <a:ext cx="393379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z="1800">
                <a:solidFill>
                  <a:srgbClr val="78A9FF"/>
                </a:solidFill>
                <a:latin typeface="IBM Plex Mono"/>
                <a:ea typeface="IBM Plex Mono"/>
                <a:cs typeface="IBM Plex Mono"/>
                <a:sym typeface="IBM Plex Mono"/>
              </a:rPr>
              <a:t>01 · MEASURE</a:t>
            </a:r>
            <a:endParaRPr sz="1800">
              <a:solidFill>
                <a:schemeClr val="dk1"/>
              </a:solidFill>
              <a:latin typeface="Calibri"/>
              <a:ea typeface="Calibri"/>
              <a:cs typeface="Calibri"/>
              <a:sym typeface="Calibri"/>
            </a:endParaRPr>
          </a:p>
        </p:txBody>
      </p:sp>
      <p:sp>
        <p:nvSpPr>
          <p:cNvPr id="473" name="Google Shape;473;p9"/>
          <p:cNvSpPr/>
          <p:nvPr/>
        </p:nvSpPr>
        <p:spPr>
          <a:xfrm>
            <a:off x="1181034" y="8510158"/>
            <a:ext cx="3933792"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400"/>
              <a:buFont typeface="IBM Plex Sans"/>
              <a:buNone/>
            </a:pPr>
            <a:r>
              <a:rPr b="1" lang="en-US" sz="2400">
                <a:solidFill>
                  <a:srgbClr val="FFFFFF"/>
                </a:solidFill>
                <a:latin typeface="IBM Plex Sans"/>
                <a:ea typeface="IBM Plex Sans"/>
                <a:cs typeface="IBM Plex Sans"/>
                <a:sym typeface="IBM Plex Sans"/>
              </a:rPr>
              <a:t>The whole path</a:t>
            </a:r>
            <a:endParaRPr sz="2400">
              <a:solidFill>
                <a:schemeClr val="dk1"/>
              </a:solidFill>
              <a:latin typeface="Calibri"/>
              <a:ea typeface="Calibri"/>
              <a:cs typeface="Calibri"/>
              <a:sym typeface="Calibri"/>
            </a:endParaRPr>
          </a:p>
        </p:txBody>
      </p:sp>
      <p:sp>
        <p:nvSpPr>
          <p:cNvPr id="474" name="Google Shape;474;p9"/>
          <p:cNvSpPr/>
          <p:nvPr/>
        </p:nvSpPr>
        <p:spPr>
          <a:xfrm>
            <a:off x="1181034" y="8964166"/>
            <a:ext cx="393379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C6C6C6"/>
              </a:buClr>
              <a:buSzPts val="1800"/>
              <a:buFont typeface="IBM Plex Sans"/>
              <a:buNone/>
            </a:pPr>
            <a:r>
              <a:rPr lang="en-US" sz="1800">
                <a:solidFill>
                  <a:srgbClr val="C6C6C6"/>
                </a:solidFill>
                <a:latin typeface="IBM Plex Sans"/>
                <a:ea typeface="IBM Plex Sans"/>
                <a:cs typeface="IBM Plex Sans"/>
                <a:sym typeface="IBM Plex Sans"/>
              </a:rPr>
              <a:t>Model, Spyre, vLLM, router</a:t>
            </a:r>
            <a:endParaRPr sz="1800">
              <a:solidFill>
                <a:schemeClr val="dk1"/>
              </a:solidFill>
              <a:latin typeface="Calibri"/>
              <a:ea typeface="Calibri"/>
              <a:cs typeface="Calibri"/>
              <a:sym typeface="Calibri"/>
            </a:endParaRPr>
          </a:p>
        </p:txBody>
      </p:sp>
      <p:sp>
        <p:nvSpPr>
          <p:cNvPr id="475" name="Google Shape;475;p9"/>
          <p:cNvSpPr/>
          <p:nvPr/>
        </p:nvSpPr>
        <p:spPr>
          <a:xfrm>
            <a:off x="9138709" y="7928157"/>
            <a:ext cx="9525" cy="1560876"/>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9"/>
          <p:cNvSpPr/>
          <p:nvPr/>
        </p:nvSpPr>
        <p:spPr>
          <a:xfrm>
            <a:off x="5295801" y="8156691"/>
            <a:ext cx="3933883"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z="1800">
                <a:solidFill>
                  <a:srgbClr val="78A9FF"/>
                </a:solidFill>
                <a:latin typeface="IBM Plex Mono"/>
                <a:ea typeface="IBM Plex Mono"/>
                <a:cs typeface="IBM Plex Mono"/>
                <a:sym typeface="IBM Plex Mono"/>
              </a:rPr>
              <a:t>02 · TRUST</a:t>
            </a:r>
            <a:endParaRPr sz="1800">
              <a:solidFill>
                <a:schemeClr val="dk1"/>
              </a:solidFill>
              <a:latin typeface="Calibri"/>
              <a:ea typeface="Calibri"/>
              <a:cs typeface="Calibri"/>
              <a:sym typeface="Calibri"/>
            </a:endParaRPr>
          </a:p>
        </p:txBody>
      </p:sp>
      <p:sp>
        <p:nvSpPr>
          <p:cNvPr id="477" name="Google Shape;477;p9"/>
          <p:cNvSpPr/>
          <p:nvPr/>
        </p:nvSpPr>
        <p:spPr>
          <a:xfrm>
            <a:off x="5295801" y="8510158"/>
            <a:ext cx="3933883"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400"/>
              <a:buFont typeface="IBM Plex Sans"/>
              <a:buNone/>
            </a:pPr>
            <a:r>
              <a:rPr b="1" lang="en-US" sz="2400">
                <a:solidFill>
                  <a:srgbClr val="FFFFFF"/>
                </a:solidFill>
                <a:latin typeface="IBM Plex Sans"/>
                <a:ea typeface="IBM Plex Sans"/>
                <a:cs typeface="IBM Plex Sans"/>
                <a:sym typeface="IBM Plex Sans"/>
              </a:rPr>
              <a:t>The tail, not the mean</a:t>
            </a:r>
            <a:endParaRPr sz="2400">
              <a:solidFill>
                <a:schemeClr val="dk1"/>
              </a:solidFill>
              <a:latin typeface="Calibri"/>
              <a:ea typeface="Calibri"/>
              <a:cs typeface="Calibri"/>
              <a:sym typeface="Calibri"/>
            </a:endParaRPr>
          </a:p>
        </p:txBody>
      </p:sp>
      <p:sp>
        <p:nvSpPr>
          <p:cNvPr id="478" name="Google Shape;478;p9"/>
          <p:cNvSpPr/>
          <p:nvPr/>
        </p:nvSpPr>
        <p:spPr>
          <a:xfrm>
            <a:off x="5295801" y="8964166"/>
            <a:ext cx="3933883"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C6C6C6"/>
              </a:buClr>
              <a:buSzPts val="1800"/>
              <a:buFont typeface="IBM Plex Sans"/>
              <a:buNone/>
            </a:pPr>
            <a:r>
              <a:rPr lang="en-US" sz="1800">
                <a:solidFill>
                  <a:srgbClr val="C6C6C6"/>
                </a:solidFill>
                <a:latin typeface="IBM Plex Sans"/>
                <a:ea typeface="IBM Plex Sans"/>
                <a:cs typeface="IBM Plex Sans"/>
                <a:sym typeface="IBM Plex Sans"/>
              </a:rPr>
              <a:t>p99 is the real user</a:t>
            </a:r>
            <a:endParaRPr sz="1800">
              <a:solidFill>
                <a:schemeClr val="dk1"/>
              </a:solidFill>
              <a:latin typeface="Calibri"/>
              <a:ea typeface="Calibri"/>
              <a:cs typeface="Calibri"/>
              <a:sym typeface="Calibri"/>
            </a:endParaRPr>
          </a:p>
        </p:txBody>
      </p:sp>
      <p:sp>
        <p:nvSpPr>
          <p:cNvPr id="479" name="Google Shape;479;p9"/>
          <p:cNvSpPr/>
          <p:nvPr/>
        </p:nvSpPr>
        <p:spPr>
          <a:xfrm>
            <a:off x="13253476" y="7928157"/>
            <a:ext cx="9525" cy="1560876"/>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9"/>
          <p:cNvSpPr/>
          <p:nvPr/>
        </p:nvSpPr>
        <p:spPr>
          <a:xfrm>
            <a:off x="9410651" y="8156691"/>
            <a:ext cx="393379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z="1800">
                <a:solidFill>
                  <a:srgbClr val="78A9FF"/>
                </a:solidFill>
                <a:latin typeface="IBM Plex Mono"/>
                <a:ea typeface="IBM Plex Mono"/>
                <a:cs typeface="IBM Plex Mono"/>
                <a:sym typeface="IBM Plex Mono"/>
              </a:rPr>
              <a:t>03 · REPLAY</a:t>
            </a:r>
            <a:endParaRPr sz="1800">
              <a:solidFill>
                <a:schemeClr val="dk1"/>
              </a:solidFill>
              <a:latin typeface="Calibri"/>
              <a:ea typeface="Calibri"/>
              <a:cs typeface="Calibri"/>
              <a:sym typeface="Calibri"/>
            </a:endParaRPr>
          </a:p>
        </p:txBody>
      </p:sp>
      <p:sp>
        <p:nvSpPr>
          <p:cNvPr id="481" name="Google Shape;481;p9"/>
          <p:cNvSpPr/>
          <p:nvPr/>
        </p:nvSpPr>
        <p:spPr>
          <a:xfrm>
            <a:off x="9410651" y="8510158"/>
            <a:ext cx="3933792"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400"/>
              <a:buFont typeface="IBM Plex Sans"/>
              <a:buNone/>
            </a:pPr>
            <a:r>
              <a:rPr b="1" lang="en-US" sz="2400">
                <a:solidFill>
                  <a:srgbClr val="FFFFFF"/>
                </a:solidFill>
                <a:latin typeface="IBM Plex Sans"/>
                <a:ea typeface="IBM Plex Sans"/>
                <a:cs typeface="IBM Plex Sans"/>
                <a:sym typeface="IBM Plex Sans"/>
              </a:rPr>
              <a:t>Real traces first</a:t>
            </a:r>
            <a:endParaRPr sz="2400">
              <a:solidFill>
                <a:schemeClr val="dk1"/>
              </a:solidFill>
              <a:latin typeface="Calibri"/>
              <a:ea typeface="Calibri"/>
              <a:cs typeface="Calibri"/>
              <a:sym typeface="Calibri"/>
            </a:endParaRPr>
          </a:p>
        </p:txBody>
      </p:sp>
      <p:sp>
        <p:nvSpPr>
          <p:cNvPr id="482" name="Google Shape;482;p9"/>
          <p:cNvSpPr/>
          <p:nvPr/>
        </p:nvSpPr>
        <p:spPr>
          <a:xfrm>
            <a:off x="9410651" y="8964166"/>
            <a:ext cx="393379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C6C6C6"/>
              </a:buClr>
              <a:buSzPts val="1800"/>
              <a:buFont typeface="IBM Plex Sans"/>
              <a:buNone/>
            </a:pPr>
            <a:r>
              <a:rPr lang="en-US" sz="1800">
                <a:solidFill>
                  <a:srgbClr val="C6C6C6"/>
                </a:solidFill>
                <a:latin typeface="IBM Plex Sans"/>
                <a:ea typeface="IBM Plex Sans"/>
                <a:cs typeface="IBM Plex Sans"/>
                <a:sym typeface="IBM Plex Sans"/>
              </a:rPr>
              <a:t>Then decide on hardware</a:t>
            </a:r>
            <a:endParaRPr sz="1800">
              <a:solidFill>
                <a:schemeClr val="dk1"/>
              </a:solidFill>
              <a:latin typeface="Calibri"/>
              <a:ea typeface="Calibri"/>
              <a:cs typeface="Calibri"/>
              <a:sym typeface="Calibri"/>
            </a:endParaRPr>
          </a:p>
        </p:txBody>
      </p:sp>
      <p:sp>
        <p:nvSpPr>
          <p:cNvPr id="483" name="Google Shape;483;p9"/>
          <p:cNvSpPr/>
          <p:nvPr/>
        </p:nvSpPr>
        <p:spPr>
          <a:xfrm>
            <a:off x="17368325" y="7928157"/>
            <a:ext cx="9525" cy="1560876"/>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9"/>
          <p:cNvSpPr/>
          <p:nvPr/>
        </p:nvSpPr>
        <p:spPr>
          <a:xfrm>
            <a:off x="13525417" y="8156691"/>
            <a:ext cx="3933883"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z="1800">
                <a:solidFill>
                  <a:srgbClr val="78A9FF"/>
                </a:solidFill>
                <a:latin typeface="IBM Plex Mono"/>
                <a:ea typeface="IBM Plex Mono"/>
                <a:cs typeface="IBM Plex Mono"/>
                <a:sym typeface="IBM Plex Mono"/>
              </a:rPr>
              <a:t>04 · ROUTE</a:t>
            </a:r>
            <a:endParaRPr sz="1800">
              <a:solidFill>
                <a:schemeClr val="dk1"/>
              </a:solidFill>
              <a:latin typeface="Calibri"/>
              <a:ea typeface="Calibri"/>
              <a:cs typeface="Calibri"/>
              <a:sym typeface="Calibri"/>
            </a:endParaRPr>
          </a:p>
        </p:txBody>
      </p:sp>
      <p:sp>
        <p:nvSpPr>
          <p:cNvPr id="485" name="Google Shape;485;p9"/>
          <p:cNvSpPr/>
          <p:nvPr/>
        </p:nvSpPr>
        <p:spPr>
          <a:xfrm>
            <a:off x="13525417" y="8510158"/>
            <a:ext cx="3933883"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400"/>
              <a:buFont typeface="IBM Plex Sans"/>
              <a:buNone/>
            </a:pPr>
            <a:r>
              <a:rPr b="1" lang="en-US" sz="2400">
                <a:solidFill>
                  <a:srgbClr val="FFFFFF"/>
                </a:solidFill>
                <a:latin typeface="IBM Plex Sans"/>
                <a:ea typeface="IBM Plex Sans"/>
                <a:cs typeface="IBM Plex Sans"/>
                <a:sym typeface="IBM Plex Sans"/>
              </a:rPr>
              <a:t>With intent</a:t>
            </a:r>
            <a:endParaRPr sz="2400">
              <a:solidFill>
                <a:schemeClr val="dk1"/>
              </a:solidFill>
              <a:latin typeface="Calibri"/>
              <a:ea typeface="Calibri"/>
              <a:cs typeface="Calibri"/>
              <a:sym typeface="Calibri"/>
            </a:endParaRPr>
          </a:p>
        </p:txBody>
      </p:sp>
      <p:sp>
        <p:nvSpPr>
          <p:cNvPr id="486" name="Google Shape;486;p9"/>
          <p:cNvSpPr/>
          <p:nvPr/>
        </p:nvSpPr>
        <p:spPr>
          <a:xfrm>
            <a:off x="13525417" y="8964166"/>
            <a:ext cx="3933883"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C6C6C6"/>
              </a:buClr>
              <a:buSzPts val="1800"/>
              <a:buFont typeface="IBM Plex Sans"/>
              <a:buNone/>
            </a:pPr>
            <a:r>
              <a:rPr lang="en-US" sz="1800">
                <a:solidFill>
                  <a:srgbClr val="C6C6C6"/>
                </a:solidFill>
                <a:latin typeface="IBM Plex Sans"/>
                <a:ea typeface="IBM Plex Sans"/>
                <a:cs typeface="IBM Plex Sans"/>
                <a:sym typeface="IBM Plex Sans"/>
              </a:rPr>
              <a:t>Send work to warm caches</a:t>
            </a:r>
            <a:endParaRPr sz="1800">
              <a:solidFill>
                <a:schemeClr val="dk1"/>
              </a:solidFill>
              <a:latin typeface="Calibri"/>
              <a:ea typeface="Calibri"/>
              <a:cs typeface="Calibri"/>
              <a:sym typeface="Calibri"/>
            </a:endParaRPr>
          </a:p>
        </p:txBody>
      </p:sp>
      <p:pic>
        <p:nvPicPr>
          <p:cNvPr descr="preencoded.png" id="487" name="Google Shape;487;p9"/>
          <p:cNvPicPr preferRelativeResize="0"/>
          <p:nvPr/>
        </p:nvPicPr>
        <p:blipFill rotWithShape="1">
          <a:blip r:embed="rId3">
            <a:alphaModFix/>
          </a:blip>
          <a:srcRect b="0" l="0" r="0" t="0"/>
          <a:stretch/>
        </p:blipFill>
        <p:spPr>
          <a:xfrm>
            <a:off x="914384" y="9677467"/>
            <a:ext cx="310968" cy="342883"/>
          </a:xfrm>
          <a:prstGeom prst="rect">
            <a:avLst/>
          </a:prstGeom>
          <a:noFill/>
          <a:ln>
            <a:noFill/>
          </a:ln>
        </p:spPr>
      </p:pic>
      <p:sp>
        <p:nvSpPr>
          <p:cNvPr id="488" name="Google Shape;488;p9"/>
          <p:cNvSpPr/>
          <p:nvPr/>
        </p:nvSpPr>
        <p:spPr>
          <a:xfrm>
            <a:off x="1415852" y="9700700"/>
            <a:ext cx="77482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Bangalore Performance &amp; Scale Meetup 2026 · From Tokens to Scale</a:t>
            </a:r>
            <a:endParaRPr sz="1800">
              <a:solidFill>
                <a:schemeClr val="dk1"/>
              </a:solidFill>
              <a:latin typeface="Calibri"/>
              <a:ea typeface="Calibri"/>
              <a:cs typeface="Calibri"/>
              <a:sym typeface="Calibri"/>
            </a:endParaRPr>
          </a:p>
        </p:txBody>
      </p:sp>
      <p:sp>
        <p:nvSpPr>
          <p:cNvPr id="489" name="Google Shape;489;p9"/>
          <p:cNvSpPr/>
          <p:nvPr/>
        </p:nvSpPr>
        <p:spPr>
          <a:xfrm>
            <a:off x="14469071" y="9700700"/>
            <a:ext cx="2600003"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Sans"/>
              <a:buNone/>
            </a:pPr>
            <a:r>
              <a:rPr lang="en-US" sz="1800">
                <a:solidFill>
                  <a:srgbClr val="0F62FE"/>
                </a:solidFill>
                <a:latin typeface="IBM Plex Sans"/>
                <a:ea typeface="IBM Plex Sans"/>
                <a:cs typeface="IBM Plex Sans"/>
                <a:sym typeface="IBM Plex Sans"/>
              </a:rPr>
              <a:t>Next: where to start →</a:t>
            </a:r>
            <a:endParaRPr sz="1800">
              <a:solidFill>
                <a:schemeClr val="dk1"/>
              </a:solidFill>
              <a:latin typeface="Calibri"/>
              <a:ea typeface="Calibri"/>
              <a:cs typeface="Calibri"/>
              <a:sym typeface="Calibri"/>
            </a:endParaRPr>
          </a:p>
        </p:txBody>
      </p:sp>
      <p:sp>
        <p:nvSpPr>
          <p:cNvPr id="490" name="Google Shape;490;p9"/>
          <p:cNvSpPr/>
          <p:nvPr/>
        </p:nvSpPr>
        <p:spPr>
          <a:xfrm>
            <a:off x="17099360" y="9700700"/>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z="1800">
                <a:solidFill>
                  <a:srgbClr val="6F6F6F"/>
                </a:solidFill>
                <a:latin typeface="IBM Plex Mono"/>
                <a:ea typeface="IBM Plex Mono"/>
                <a:cs typeface="IBM Plex Mono"/>
                <a:sym typeface="IBM Plex Mono"/>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495" name="Shape 495"/>
        <p:cNvGrpSpPr/>
        <p:nvPr/>
      </p:nvGrpSpPr>
      <p:grpSpPr>
        <a:xfrm>
          <a:off x="0" y="0"/>
          <a:ext cx="0" cy="0"/>
          <a:chOff x="0" y="0"/>
          <a:chExt cx="0" cy="0"/>
        </a:xfrm>
      </p:grpSpPr>
      <p:sp>
        <p:nvSpPr>
          <p:cNvPr id="496" name="Google Shape;496;p10"/>
          <p:cNvSpPr/>
          <p:nvPr/>
        </p:nvSpPr>
        <p:spPr>
          <a:xfrm>
            <a:off x="914384" y="571500"/>
            <a:ext cx="181051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REFERENCES &amp; DOCUMENTATION</a:t>
            </a:r>
            <a:endParaRPr sz="1800">
              <a:solidFill>
                <a:schemeClr val="dk1"/>
              </a:solidFill>
              <a:latin typeface="Calibri"/>
              <a:ea typeface="Calibri"/>
              <a:cs typeface="Calibri"/>
              <a:sym typeface="Calibri"/>
            </a:endParaRPr>
          </a:p>
        </p:txBody>
      </p:sp>
      <p:sp>
        <p:nvSpPr>
          <p:cNvPr id="497" name="Google Shape;497;p10"/>
          <p:cNvSpPr/>
          <p:nvPr/>
        </p:nvSpPr>
        <p:spPr>
          <a:xfrm>
            <a:off x="914384" y="982100"/>
            <a:ext cx="18105157" cy="666734"/>
          </a:xfrm>
          <a:prstGeom prst="rect">
            <a:avLst/>
          </a:prstGeom>
          <a:noFill/>
          <a:ln>
            <a:noFill/>
          </a:ln>
        </p:spPr>
        <p:txBody>
          <a:bodyPr anchorCtr="0" anchor="t" bIns="25400" lIns="25400" spcFirstLastPara="1" rIns="25400" wrap="square" tIns="25400">
            <a:normAutofit/>
          </a:bodyPr>
          <a:lstStyle/>
          <a:p>
            <a:pPr indent="0" lvl="0" marL="0" marR="0" rtl="0" algn="l">
              <a:lnSpc>
                <a:spcPct val="84255"/>
              </a:lnSpc>
              <a:spcBef>
                <a:spcPts val="0"/>
              </a:spcBef>
              <a:spcAft>
                <a:spcPts val="0"/>
              </a:spcAft>
              <a:buClr>
                <a:srgbClr val="161616"/>
              </a:buClr>
              <a:buSzPts val="4500"/>
              <a:buFont typeface="IBM Plex Sans"/>
              <a:buNone/>
            </a:pPr>
            <a:r>
              <a:rPr b="1" lang="en-US" spc="-45" sz="4500">
                <a:solidFill>
                  <a:srgbClr val="161616"/>
                </a:solidFill>
                <a:latin typeface="IBM Plex Sans"/>
                <a:ea typeface="IBM Plex Sans"/>
                <a:cs typeface="IBM Plex Sans"/>
                <a:sym typeface="IBM Plex Sans"/>
              </a:rPr>
              <a:t>Read the docs, run it yourself</a:t>
            </a:r>
            <a:endParaRPr sz="4500">
              <a:solidFill>
                <a:schemeClr val="dk1"/>
              </a:solidFill>
              <a:latin typeface="Calibri"/>
              <a:ea typeface="Calibri"/>
              <a:cs typeface="Calibri"/>
              <a:sym typeface="Calibri"/>
            </a:endParaRPr>
          </a:p>
        </p:txBody>
      </p:sp>
      <p:sp>
        <p:nvSpPr>
          <p:cNvPr id="498" name="Google Shape;498;p10"/>
          <p:cNvSpPr/>
          <p:nvPr/>
        </p:nvSpPr>
        <p:spPr>
          <a:xfrm>
            <a:off x="914384" y="1839268"/>
            <a:ext cx="5308617" cy="7715746"/>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0"/>
          <p:cNvSpPr/>
          <p:nvPr/>
        </p:nvSpPr>
        <p:spPr>
          <a:xfrm>
            <a:off x="1200134" y="2440368"/>
            <a:ext cx="4737117" cy="15875"/>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10"/>
          <p:cNvSpPr/>
          <p:nvPr/>
        </p:nvSpPr>
        <p:spPr>
          <a:xfrm>
            <a:off x="1200134" y="2029768"/>
            <a:ext cx="4879230" cy="334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pc="108" sz="1800">
                <a:solidFill>
                  <a:srgbClr val="0F62FE"/>
                </a:solidFill>
                <a:latin typeface="IBM Plex Mono"/>
                <a:ea typeface="IBM Plex Mono"/>
                <a:cs typeface="IBM Plex Mono"/>
                <a:sym typeface="IBM Plex Mono"/>
              </a:rPr>
              <a:t>IBM Z · SPYRE · GRANITE</a:t>
            </a:r>
            <a:endParaRPr sz="1800">
              <a:solidFill>
                <a:schemeClr val="dk1"/>
              </a:solidFill>
              <a:latin typeface="Calibri"/>
              <a:ea typeface="Calibri"/>
              <a:cs typeface="Calibri"/>
              <a:sym typeface="Calibri"/>
            </a:endParaRPr>
          </a:p>
        </p:txBody>
      </p:sp>
      <p:sp>
        <p:nvSpPr>
          <p:cNvPr id="501" name="Google Shape;501;p10"/>
          <p:cNvSpPr/>
          <p:nvPr/>
        </p:nvSpPr>
        <p:spPr>
          <a:xfrm>
            <a:off x="1200134" y="2627643"/>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Spyre Accelerator for IBM Z &amp; LinuxONE</a:t>
            </a:r>
            <a:endParaRPr sz="1950">
              <a:solidFill>
                <a:schemeClr val="dk1"/>
              </a:solidFill>
              <a:latin typeface="Calibri"/>
              <a:ea typeface="Calibri"/>
              <a:cs typeface="Calibri"/>
              <a:sym typeface="Calibri"/>
            </a:endParaRPr>
          </a:p>
        </p:txBody>
      </p:sp>
      <p:sp>
        <p:nvSpPr>
          <p:cNvPr id="502" name="Google Shape;502;p10">
            <a:hlinkClick r:id="rId3"/>
          </p:cNvPr>
          <p:cNvSpPr/>
          <p:nvPr/>
        </p:nvSpPr>
        <p:spPr>
          <a:xfrm>
            <a:off x="1200134" y="2969452"/>
            <a:ext cx="4879230" cy="630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4">
                  <a:extLst>
                    <a:ext uri="{A12FA001-AC4F-418D-AE19-62706E023703}">
                      <ahyp:hlinkClr val="tx"/>
                    </a:ext>
                  </a:extLst>
                </a:hlinkClick>
              </a:rPr>
              <a:t>ibm.com/support/z-content-solutions</a:t>
            </a:r>
            <a:endParaRPr sz="1800">
              <a:solidFill>
                <a:schemeClr val="dk1"/>
              </a:solidFill>
              <a:latin typeface="Calibri"/>
              <a:ea typeface="Calibri"/>
              <a:cs typeface="Calibri"/>
              <a:sym typeface="Calibri"/>
            </a:endParaRPr>
          </a:p>
        </p:txBody>
      </p:sp>
      <p:sp>
        <p:nvSpPr>
          <p:cNvPr id="503" name="Google Shape;503;p10"/>
          <p:cNvSpPr/>
          <p:nvPr/>
        </p:nvSpPr>
        <p:spPr>
          <a:xfrm>
            <a:off x="1200134" y="3733519"/>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Building the IBM Spyre Accelerator</a:t>
            </a:r>
            <a:endParaRPr sz="1950">
              <a:solidFill>
                <a:schemeClr val="dk1"/>
              </a:solidFill>
              <a:latin typeface="Calibri"/>
              <a:ea typeface="Calibri"/>
              <a:cs typeface="Calibri"/>
              <a:sym typeface="Calibri"/>
            </a:endParaRPr>
          </a:p>
        </p:txBody>
      </p:sp>
      <p:sp>
        <p:nvSpPr>
          <p:cNvPr id="504" name="Google Shape;504;p10">
            <a:hlinkClick r:id="rId5"/>
          </p:cNvPr>
          <p:cNvSpPr/>
          <p:nvPr/>
        </p:nvSpPr>
        <p:spPr>
          <a:xfrm>
            <a:off x="1200134" y="4075328"/>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6">
                  <a:extLst>
                    <a:ext uri="{A12FA001-AC4F-418D-AE19-62706E023703}">
                      <ahyp:hlinkClr val="tx"/>
                    </a:ext>
                  </a:extLst>
                </a:hlinkClick>
              </a:rPr>
              <a:t>research.ibm.com/blog</a:t>
            </a:r>
            <a:endParaRPr sz="1800">
              <a:solidFill>
                <a:schemeClr val="dk1"/>
              </a:solidFill>
              <a:latin typeface="Calibri"/>
              <a:ea typeface="Calibri"/>
              <a:cs typeface="Calibri"/>
              <a:sym typeface="Calibri"/>
            </a:endParaRPr>
          </a:p>
        </p:txBody>
      </p:sp>
      <p:sp>
        <p:nvSpPr>
          <p:cNvPr id="505" name="Google Shape;505;p10"/>
          <p:cNvSpPr/>
          <p:nvPr/>
        </p:nvSpPr>
        <p:spPr>
          <a:xfrm>
            <a:off x="1200134" y="4543061"/>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AI on IBM Z: use cases</a:t>
            </a:r>
            <a:endParaRPr sz="1950">
              <a:solidFill>
                <a:schemeClr val="dk1"/>
              </a:solidFill>
              <a:latin typeface="Calibri"/>
              <a:ea typeface="Calibri"/>
              <a:cs typeface="Calibri"/>
              <a:sym typeface="Calibri"/>
            </a:endParaRPr>
          </a:p>
        </p:txBody>
      </p:sp>
      <p:sp>
        <p:nvSpPr>
          <p:cNvPr id="506" name="Google Shape;506;p10">
            <a:hlinkClick r:id="rId7"/>
          </p:cNvPr>
          <p:cNvSpPr/>
          <p:nvPr/>
        </p:nvSpPr>
        <p:spPr>
          <a:xfrm>
            <a:off x="1200134" y="4884870"/>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8">
                  <a:extLst>
                    <a:ext uri="{A12FA001-AC4F-418D-AE19-62706E023703}">
                      <ahyp:hlinkClr val="tx"/>
                    </a:ext>
                  </a:extLst>
                </a:hlinkClick>
              </a:rPr>
              <a:t>ibm.com/z · Journey to AI on Z</a:t>
            </a:r>
            <a:endParaRPr sz="1800">
              <a:solidFill>
                <a:schemeClr val="dk1"/>
              </a:solidFill>
              <a:latin typeface="Calibri"/>
              <a:ea typeface="Calibri"/>
              <a:cs typeface="Calibri"/>
              <a:sym typeface="Calibri"/>
            </a:endParaRPr>
          </a:p>
        </p:txBody>
      </p:sp>
      <p:sp>
        <p:nvSpPr>
          <p:cNvPr id="507" name="Google Shape;507;p10"/>
          <p:cNvSpPr/>
          <p:nvPr/>
        </p:nvSpPr>
        <p:spPr>
          <a:xfrm>
            <a:off x="1200134" y="5352604"/>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Spyre commercial availability</a:t>
            </a:r>
            <a:endParaRPr sz="1950">
              <a:solidFill>
                <a:schemeClr val="dk1"/>
              </a:solidFill>
              <a:latin typeface="Calibri"/>
              <a:ea typeface="Calibri"/>
              <a:cs typeface="Calibri"/>
              <a:sym typeface="Calibri"/>
            </a:endParaRPr>
          </a:p>
        </p:txBody>
      </p:sp>
      <p:sp>
        <p:nvSpPr>
          <p:cNvPr id="508" name="Google Shape;508;p10">
            <a:hlinkClick r:id="rId9"/>
          </p:cNvPr>
          <p:cNvSpPr/>
          <p:nvPr/>
        </p:nvSpPr>
        <p:spPr>
          <a:xfrm>
            <a:off x="1200134" y="5694412"/>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10">
                  <a:extLst>
                    <a:ext uri="{A12FA001-AC4F-418D-AE19-62706E023703}">
                      <ahyp:hlinkClr val="tx"/>
                    </a:ext>
                  </a:extLst>
                </a:hlinkClick>
              </a:rPr>
              <a:t>newsroom.ibm.com · Oct 2025</a:t>
            </a:r>
            <a:endParaRPr sz="1800">
              <a:solidFill>
                <a:schemeClr val="dk1"/>
              </a:solidFill>
              <a:latin typeface="Calibri"/>
              <a:ea typeface="Calibri"/>
              <a:cs typeface="Calibri"/>
              <a:sym typeface="Calibri"/>
            </a:endParaRPr>
          </a:p>
        </p:txBody>
      </p:sp>
      <p:sp>
        <p:nvSpPr>
          <p:cNvPr id="509" name="Google Shape;509;p10"/>
          <p:cNvSpPr/>
          <p:nvPr/>
        </p:nvSpPr>
        <p:spPr>
          <a:xfrm>
            <a:off x="1200134" y="6162146"/>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IBM z17</a:t>
            </a:r>
            <a:endParaRPr sz="1950">
              <a:solidFill>
                <a:schemeClr val="dk1"/>
              </a:solidFill>
              <a:latin typeface="Calibri"/>
              <a:ea typeface="Calibri"/>
              <a:cs typeface="Calibri"/>
              <a:sym typeface="Calibri"/>
            </a:endParaRPr>
          </a:p>
        </p:txBody>
      </p:sp>
      <p:sp>
        <p:nvSpPr>
          <p:cNvPr id="510" name="Google Shape;510;p10">
            <a:hlinkClick r:id="rId11"/>
          </p:cNvPr>
          <p:cNvSpPr/>
          <p:nvPr/>
        </p:nvSpPr>
        <p:spPr>
          <a:xfrm>
            <a:off x="1200134" y="6503955"/>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12">
                  <a:extLst>
                    <a:ext uri="{A12FA001-AC4F-418D-AE19-62706E023703}">
                      <ahyp:hlinkClr val="tx"/>
                    </a:ext>
                  </a:extLst>
                </a:hlinkClick>
              </a:rPr>
              <a:t>ibm.com/products/z17</a:t>
            </a:r>
            <a:endParaRPr sz="1800">
              <a:solidFill>
                <a:schemeClr val="dk1"/>
              </a:solidFill>
              <a:latin typeface="Calibri"/>
              <a:ea typeface="Calibri"/>
              <a:cs typeface="Calibri"/>
              <a:sym typeface="Calibri"/>
            </a:endParaRPr>
          </a:p>
        </p:txBody>
      </p:sp>
      <p:sp>
        <p:nvSpPr>
          <p:cNvPr id="511" name="Google Shape;511;p10"/>
          <p:cNvSpPr/>
          <p:nvPr/>
        </p:nvSpPr>
        <p:spPr>
          <a:xfrm>
            <a:off x="1200134" y="6971688"/>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IBM Granite models</a:t>
            </a:r>
            <a:endParaRPr sz="1950">
              <a:solidFill>
                <a:schemeClr val="dk1"/>
              </a:solidFill>
              <a:latin typeface="Calibri"/>
              <a:ea typeface="Calibri"/>
              <a:cs typeface="Calibri"/>
              <a:sym typeface="Calibri"/>
            </a:endParaRPr>
          </a:p>
        </p:txBody>
      </p:sp>
      <p:sp>
        <p:nvSpPr>
          <p:cNvPr id="512" name="Google Shape;512;p10">
            <a:hlinkClick r:id="rId13"/>
          </p:cNvPr>
          <p:cNvSpPr/>
          <p:nvPr/>
        </p:nvSpPr>
        <p:spPr>
          <a:xfrm>
            <a:off x="1200134" y="7313497"/>
            <a:ext cx="4879230" cy="630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14">
                  <a:extLst>
                    <a:ext uri="{A12FA001-AC4F-418D-AE19-62706E023703}">
                      <ahyp:hlinkClr val="tx"/>
                    </a:ext>
                  </a:extLst>
                </a:hlinkClick>
              </a:rPr>
              <a:t>ibm.com/granite · hf.co/ibm-granite</a:t>
            </a:r>
            <a:endParaRPr sz="1800">
              <a:solidFill>
                <a:schemeClr val="dk1"/>
              </a:solidFill>
              <a:latin typeface="Calibri"/>
              <a:ea typeface="Calibri"/>
              <a:cs typeface="Calibri"/>
              <a:sym typeface="Calibri"/>
            </a:endParaRPr>
          </a:p>
        </p:txBody>
      </p:sp>
      <p:sp>
        <p:nvSpPr>
          <p:cNvPr id="513" name="Google Shape;513;p10"/>
          <p:cNvSpPr/>
          <p:nvPr/>
        </p:nvSpPr>
        <p:spPr>
          <a:xfrm>
            <a:off x="6489651" y="1839268"/>
            <a:ext cx="5308617" cy="7715746"/>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10"/>
          <p:cNvSpPr/>
          <p:nvPr/>
        </p:nvSpPr>
        <p:spPr>
          <a:xfrm>
            <a:off x="6775401" y="2440368"/>
            <a:ext cx="4737117" cy="15875"/>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10"/>
          <p:cNvSpPr/>
          <p:nvPr/>
        </p:nvSpPr>
        <p:spPr>
          <a:xfrm>
            <a:off x="6775401" y="2029768"/>
            <a:ext cx="4879230" cy="334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pc="108" sz="1800">
                <a:solidFill>
                  <a:srgbClr val="0F62FE"/>
                </a:solidFill>
                <a:latin typeface="IBM Plex Mono"/>
                <a:ea typeface="IBM Plex Mono"/>
                <a:cs typeface="IBM Plex Mono"/>
                <a:sym typeface="IBM Plex Mono"/>
              </a:rPr>
              <a:t>RUN &amp; MEASURE · VLLM ON SPYRE</a:t>
            </a:r>
            <a:endParaRPr sz="1800">
              <a:solidFill>
                <a:schemeClr val="dk1"/>
              </a:solidFill>
              <a:latin typeface="Calibri"/>
              <a:ea typeface="Calibri"/>
              <a:cs typeface="Calibri"/>
              <a:sym typeface="Calibri"/>
            </a:endParaRPr>
          </a:p>
        </p:txBody>
      </p:sp>
      <p:sp>
        <p:nvSpPr>
          <p:cNvPr id="516" name="Google Shape;516;p10"/>
          <p:cNvSpPr/>
          <p:nvPr/>
        </p:nvSpPr>
        <p:spPr>
          <a:xfrm>
            <a:off x="6775401" y="2627643"/>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vllm-spyre source &amp; README</a:t>
            </a:r>
            <a:endParaRPr sz="1950">
              <a:solidFill>
                <a:schemeClr val="dk1"/>
              </a:solidFill>
              <a:latin typeface="Calibri"/>
              <a:ea typeface="Calibri"/>
              <a:cs typeface="Calibri"/>
              <a:sym typeface="Calibri"/>
            </a:endParaRPr>
          </a:p>
        </p:txBody>
      </p:sp>
      <p:sp>
        <p:nvSpPr>
          <p:cNvPr id="517" name="Google Shape;517;p10">
            <a:hlinkClick r:id="rId15"/>
          </p:cNvPr>
          <p:cNvSpPr/>
          <p:nvPr/>
        </p:nvSpPr>
        <p:spPr>
          <a:xfrm>
            <a:off x="6775401" y="2969452"/>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16">
                  <a:extLst>
                    <a:ext uri="{A12FA001-AC4F-418D-AE19-62706E023703}">
                      <ahyp:hlinkClr val="tx"/>
                    </a:ext>
                  </a:extLst>
                </a:hlinkClick>
              </a:rPr>
              <a:t>github.com/vllm-project/vllm-spyre</a:t>
            </a:r>
            <a:endParaRPr sz="1800">
              <a:solidFill>
                <a:schemeClr val="dk1"/>
              </a:solidFill>
              <a:latin typeface="Calibri"/>
              <a:ea typeface="Calibri"/>
              <a:cs typeface="Calibri"/>
              <a:sym typeface="Calibri"/>
            </a:endParaRPr>
          </a:p>
        </p:txBody>
      </p:sp>
      <p:sp>
        <p:nvSpPr>
          <p:cNvPr id="518" name="Google Shape;518;p10"/>
          <p:cNvSpPr/>
          <p:nvPr/>
        </p:nvSpPr>
        <p:spPr>
          <a:xfrm>
            <a:off x="6775401" y="3437186"/>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vLLM Spyre plugin docs</a:t>
            </a:r>
            <a:endParaRPr sz="1950">
              <a:solidFill>
                <a:schemeClr val="dk1"/>
              </a:solidFill>
              <a:latin typeface="Calibri"/>
              <a:ea typeface="Calibri"/>
              <a:cs typeface="Calibri"/>
              <a:sym typeface="Calibri"/>
            </a:endParaRPr>
          </a:p>
        </p:txBody>
      </p:sp>
      <p:sp>
        <p:nvSpPr>
          <p:cNvPr id="519" name="Google Shape;519;p10">
            <a:hlinkClick r:id="rId17"/>
          </p:cNvPr>
          <p:cNvSpPr/>
          <p:nvPr/>
        </p:nvSpPr>
        <p:spPr>
          <a:xfrm>
            <a:off x="6775401" y="3778994"/>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18">
                  <a:extLst>
                    <a:ext uri="{A12FA001-AC4F-418D-AE19-62706E023703}">
                      <ahyp:hlinkClr val="tx"/>
                    </a:ext>
                  </a:extLst>
                </a:hlinkClick>
              </a:rPr>
              <a:t>docs.vllm.ai/projects/spyre</a:t>
            </a:r>
            <a:endParaRPr sz="1800">
              <a:solidFill>
                <a:schemeClr val="dk1"/>
              </a:solidFill>
              <a:latin typeface="Calibri"/>
              <a:ea typeface="Calibri"/>
              <a:cs typeface="Calibri"/>
              <a:sym typeface="Calibri"/>
            </a:endParaRPr>
          </a:p>
        </p:txBody>
      </p:sp>
      <p:sp>
        <p:nvSpPr>
          <p:cNvPr id="520" name="Google Shape;520;p10"/>
          <p:cNvSpPr/>
          <p:nvPr/>
        </p:nvSpPr>
        <p:spPr>
          <a:xfrm>
            <a:off x="6775401" y="4246728"/>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vLLM documentation</a:t>
            </a:r>
            <a:endParaRPr sz="1950">
              <a:solidFill>
                <a:schemeClr val="dk1"/>
              </a:solidFill>
              <a:latin typeface="Calibri"/>
              <a:ea typeface="Calibri"/>
              <a:cs typeface="Calibri"/>
              <a:sym typeface="Calibri"/>
            </a:endParaRPr>
          </a:p>
        </p:txBody>
      </p:sp>
      <p:sp>
        <p:nvSpPr>
          <p:cNvPr id="521" name="Google Shape;521;p10">
            <a:hlinkClick r:id="rId19"/>
          </p:cNvPr>
          <p:cNvSpPr/>
          <p:nvPr/>
        </p:nvSpPr>
        <p:spPr>
          <a:xfrm>
            <a:off x="6775401" y="4588537"/>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20">
                  <a:extLst>
                    <a:ext uri="{A12FA001-AC4F-418D-AE19-62706E023703}">
                      <ahyp:hlinkClr val="tx"/>
                    </a:ext>
                  </a:extLst>
                </a:hlinkClick>
              </a:rPr>
              <a:t>docs.vllm.ai</a:t>
            </a:r>
            <a:endParaRPr sz="1800">
              <a:solidFill>
                <a:schemeClr val="dk1"/>
              </a:solidFill>
              <a:latin typeface="Calibri"/>
              <a:ea typeface="Calibri"/>
              <a:cs typeface="Calibri"/>
              <a:sym typeface="Calibri"/>
            </a:endParaRPr>
          </a:p>
        </p:txBody>
      </p:sp>
      <p:sp>
        <p:nvSpPr>
          <p:cNvPr id="522" name="Google Shape;522;p10"/>
          <p:cNvSpPr/>
          <p:nvPr/>
        </p:nvSpPr>
        <p:spPr>
          <a:xfrm>
            <a:off x="6775401" y="5056270"/>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vLLM source · vllm bench serve</a:t>
            </a:r>
            <a:endParaRPr sz="1950">
              <a:solidFill>
                <a:schemeClr val="dk1"/>
              </a:solidFill>
              <a:latin typeface="Calibri"/>
              <a:ea typeface="Calibri"/>
              <a:cs typeface="Calibri"/>
              <a:sym typeface="Calibri"/>
            </a:endParaRPr>
          </a:p>
        </p:txBody>
      </p:sp>
      <p:sp>
        <p:nvSpPr>
          <p:cNvPr id="523" name="Google Shape;523;p10">
            <a:hlinkClick r:id="rId21"/>
          </p:cNvPr>
          <p:cNvSpPr/>
          <p:nvPr/>
        </p:nvSpPr>
        <p:spPr>
          <a:xfrm>
            <a:off x="6775401" y="5398079"/>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22">
                  <a:extLst>
                    <a:ext uri="{A12FA001-AC4F-418D-AE19-62706E023703}">
                      <ahyp:hlinkClr val="tx"/>
                    </a:ext>
                  </a:extLst>
                </a:hlinkClick>
              </a:rPr>
              <a:t>github.com/vllm-project/vllm</a:t>
            </a:r>
            <a:endParaRPr sz="1800">
              <a:solidFill>
                <a:schemeClr val="dk1"/>
              </a:solidFill>
              <a:latin typeface="Calibri"/>
              <a:ea typeface="Calibri"/>
              <a:cs typeface="Calibri"/>
              <a:sym typeface="Calibri"/>
            </a:endParaRPr>
          </a:p>
        </p:txBody>
      </p:sp>
      <p:sp>
        <p:nvSpPr>
          <p:cNvPr id="524" name="Google Shape;524;p10"/>
          <p:cNvSpPr/>
          <p:nvPr/>
        </p:nvSpPr>
        <p:spPr>
          <a:xfrm>
            <a:off x="6775401" y="5865813"/>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vllm bench serve CLI</a:t>
            </a:r>
            <a:endParaRPr sz="1950">
              <a:solidFill>
                <a:schemeClr val="dk1"/>
              </a:solidFill>
              <a:latin typeface="Calibri"/>
              <a:ea typeface="Calibri"/>
              <a:cs typeface="Calibri"/>
              <a:sym typeface="Calibri"/>
            </a:endParaRPr>
          </a:p>
        </p:txBody>
      </p:sp>
      <p:sp>
        <p:nvSpPr>
          <p:cNvPr id="525" name="Google Shape;525;p10">
            <a:hlinkClick r:id="rId23"/>
          </p:cNvPr>
          <p:cNvSpPr/>
          <p:nvPr/>
        </p:nvSpPr>
        <p:spPr>
          <a:xfrm>
            <a:off x="6775401" y="6207622"/>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24">
                  <a:extLst>
                    <a:ext uri="{A12FA001-AC4F-418D-AE19-62706E023703}">
                      <ahyp:hlinkClr val="tx"/>
                    </a:ext>
                  </a:extLst>
                </a:hlinkClick>
              </a:rPr>
              <a:t>docs.vllm.ai · cli/bench/serve</a:t>
            </a:r>
            <a:endParaRPr sz="1800">
              <a:solidFill>
                <a:schemeClr val="dk1"/>
              </a:solidFill>
              <a:latin typeface="Calibri"/>
              <a:ea typeface="Calibri"/>
              <a:cs typeface="Calibri"/>
              <a:sym typeface="Calibri"/>
            </a:endParaRPr>
          </a:p>
        </p:txBody>
      </p:sp>
      <p:sp>
        <p:nvSpPr>
          <p:cNvPr id="526" name="Google Shape;526;p10"/>
          <p:cNvSpPr/>
          <p:nvPr/>
        </p:nvSpPr>
        <p:spPr>
          <a:xfrm>
            <a:off x="6775401" y="6675355"/>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PyTorch profiler</a:t>
            </a:r>
            <a:endParaRPr sz="1950">
              <a:solidFill>
                <a:schemeClr val="dk1"/>
              </a:solidFill>
              <a:latin typeface="Calibri"/>
              <a:ea typeface="Calibri"/>
              <a:cs typeface="Calibri"/>
              <a:sym typeface="Calibri"/>
            </a:endParaRPr>
          </a:p>
        </p:txBody>
      </p:sp>
      <p:sp>
        <p:nvSpPr>
          <p:cNvPr id="527" name="Google Shape;527;p10">
            <a:hlinkClick r:id="rId25"/>
          </p:cNvPr>
          <p:cNvSpPr/>
          <p:nvPr/>
        </p:nvSpPr>
        <p:spPr>
          <a:xfrm>
            <a:off x="6775401" y="7017164"/>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26">
                  <a:extLst>
                    <a:ext uri="{A12FA001-AC4F-418D-AE19-62706E023703}">
                      <ahyp:hlinkClr val="tx"/>
                    </a:ext>
                  </a:extLst>
                </a:hlinkClick>
              </a:rPr>
              <a:t>pytorch.org/docs · torch.profiler</a:t>
            </a:r>
            <a:endParaRPr sz="1800">
              <a:solidFill>
                <a:schemeClr val="dk1"/>
              </a:solidFill>
              <a:latin typeface="Calibri"/>
              <a:ea typeface="Calibri"/>
              <a:cs typeface="Calibri"/>
              <a:sym typeface="Calibri"/>
            </a:endParaRPr>
          </a:p>
        </p:txBody>
      </p:sp>
      <p:sp>
        <p:nvSpPr>
          <p:cNvPr id="528" name="Google Shape;528;p10"/>
          <p:cNvSpPr/>
          <p:nvPr/>
        </p:nvSpPr>
        <p:spPr>
          <a:xfrm>
            <a:off x="6775401" y="7484898"/>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Red Hat AI Inference Server for Spyre</a:t>
            </a:r>
            <a:endParaRPr sz="1950">
              <a:solidFill>
                <a:schemeClr val="dk1"/>
              </a:solidFill>
              <a:latin typeface="Calibri"/>
              <a:ea typeface="Calibri"/>
              <a:cs typeface="Calibri"/>
              <a:sym typeface="Calibri"/>
            </a:endParaRPr>
          </a:p>
        </p:txBody>
      </p:sp>
      <p:sp>
        <p:nvSpPr>
          <p:cNvPr id="529" name="Google Shape;529;p10">
            <a:hlinkClick r:id="rId27"/>
          </p:cNvPr>
          <p:cNvSpPr/>
          <p:nvPr/>
        </p:nvSpPr>
        <p:spPr>
          <a:xfrm>
            <a:off x="6775401" y="7826706"/>
            <a:ext cx="4879230" cy="630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28">
                  <a:extLst>
                    <a:ext uri="{A12FA001-AC4F-418D-AE19-62706E023703}">
                      <ahyp:hlinkClr val="tx"/>
                    </a:ext>
                  </a:extLst>
                </a:hlinkClick>
              </a:rPr>
              <a:t>catalog.redhat.com · vllm-spyre-rhel9</a:t>
            </a:r>
            <a:endParaRPr sz="1800">
              <a:solidFill>
                <a:schemeClr val="dk1"/>
              </a:solidFill>
              <a:latin typeface="Calibri"/>
              <a:ea typeface="Calibri"/>
              <a:cs typeface="Calibri"/>
              <a:sym typeface="Calibri"/>
            </a:endParaRPr>
          </a:p>
        </p:txBody>
      </p:sp>
      <p:sp>
        <p:nvSpPr>
          <p:cNvPr id="530" name="Google Shape;530;p10"/>
          <p:cNvSpPr/>
          <p:nvPr/>
        </p:nvSpPr>
        <p:spPr>
          <a:xfrm>
            <a:off x="12064918" y="1839268"/>
            <a:ext cx="5308617" cy="7715746"/>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10"/>
          <p:cNvSpPr/>
          <p:nvPr/>
        </p:nvSpPr>
        <p:spPr>
          <a:xfrm>
            <a:off x="12350668" y="2440368"/>
            <a:ext cx="4737117" cy="15875"/>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10"/>
          <p:cNvSpPr/>
          <p:nvPr/>
        </p:nvSpPr>
        <p:spPr>
          <a:xfrm>
            <a:off x="12350668" y="2029768"/>
            <a:ext cx="4879230" cy="334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pc="108" sz="1800">
                <a:solidFill>
                  <a:srgbClr val="0F62FE"/>
                </a:solidFill>
                <a:latin typeface="IBM Plex Mono"/>
                <a:ea typeface="IBM Plex Mono"/>
                <a:cs typeface="IBM Plex Mono"/>
                <a:sym typeface="IBM Plex Mono"/>
              </a:rPr>
              <a:t>ROUTE · LLM-D</a:t>
            </a:r>
            <a:endParaRPr sz="1800">
              <a:solidFill>
                <a:schemeClr val="dk1"/>
              </a:solidFill>
              <a:latin typeface="Calibri"/>
              <a:ea typeface="Calibri"/>
              <a:cs typeface="Calibri"/>
              <a:sym typeface="Calibri"/>
            </a:endParaRPr>
          </a:p>
        </p:txBody>
      </p:sp>
      <p:sp>
        <p:nvSpPr>
          <p:cNvPr id="533" name="Google Shape;533;p10"/>
          <p:cNvSpPr/>
          <p:nvPr/>
        </p:nvSpPr>
        <p:spPr>
          <a:xfrm>
            <a:off x="12350668" y="2570510"/>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llm-d project &amp; README</a:t>
            </a:r>
            <a:endParaRPr sz="1950">
              <a:solidFill>
                <a:schemeClr val="dk1"/>
              </a:solidFill>
              <a:latin typeface="Calibri"/>
              <a:ea typeface="Calibri"/>
              <a:cs typeface="Calibri"/>
              <a:sym typeface="Calibri"/>
            </a:endParaRPr>
          </a:p>
        </p:txBody>
      </p:sp>
      <p:sp>
        <p:nvSpPr>
          <p:cNvPr id="534" name="Google Shape;534;p10">
            <a:hlinkClick r:id="rId29"/>
          </p:cNvPr>
          <p:cNvSpPr/>
          <p:nvPr/>
        </p:nvSpPr>
        <p:spPr>
          <a:xfrm>
            <a:off x="12350668" y="2912318"/>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30">
                  <a:extLst>
                    <a:ext uri="{A12FA001-AC4F-418D-AE19-62706E023703}">
                      <ahyp:hlinkClr val="tx"/>
                    </a:ext>
                  </a:extLst>
                </a:hlinkClick>
              </a:rPr>
              <a:t>llm-d.ai · github.com/llm-d/llm-d</a:t>
            </a:r>
            <a:endParaRPr sz="1800">
              <a:solidFill>
                <a:schemeClr val="dk1"/>
              </a:solidFill>
              <a:latin typeface="Calibri"/>
              <a:ea typeface="Calibri"/>
              <a:cs typeface="Calibri"/>
              <a:sym typeface="Calibri"/>
            </a:endParaRPr>
          </a:p>
        </p:txBody>
      </p:sp>
      <p:sp>
        <p:nvSpPr>
          <p:cNvPr id="535" name="Google Shape;535;p10"/>
          <p:cNvSpPr/>
          <p:nvPr/>
        </p:nvSpPr>
        <p:spPr>
          <a:xfrm>
            <a:off x="12350668" y="3322919"/>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Intelligent inference scheduling</a:t>
            </a:r>
            <a:endParaRPr sz="1950">
              <a:solidFill>
                <a:schemeClr val="dk1"/>
              </a:solidFill>
              <a:latin typeface="Calibri"/>
              <a:ea typeface="Calibri"/>
              <a:cs typeface="Calibri"/>
              <a:sym typeface="Calibri"/>
            </a:endParaRPr>
          </a:p>
        </p:txBody>
      </p:sp>
      <p:sp>
        <p:nvSpPr>
          <p:cNvPr id="536" name="Google Shape;536;p10">
            <a:hlinkClick r:id="rId31"/>
          </p:cNvPr>
          <p:cNvSpPr/>
          <p:nvPr/>
        </p:nvSpPr>
        <p:spPr>
          <a:xfrm>
            <a:off x="12350668" y="3664727"/>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32">
                  <a:extLst>
                    <a:ext uri="{A12FA001-AC4F-418D-AE19-62706E023703}">
                      <ahyp:hlinkClr val="tx"/>
                    </a:ext>
                  </a:extLst>
                </a:hlinkClick>
              </a:rPr>
              <a:t>llm-d.ai/blog</a:t>
            </a:r>
            <a:endParaRPr sz="1800">
              <a:solidFill>
                <a:schemeClr val="dk1"/>
              </a:solidFill>
              <a:latin typeface="Calibri"/>
              <a:ea typeface="Calibri"/>
              <a:cs typeface="Calibri"/>
              <a:sym typeface="Calibri"/>
            </a:endParaRPr>
          </a:p>
        </p:txBody>
      </p:sp>
      <p:sp>
        <p:nvSpPr>
          <p:cNvPr id="537" name="Google Shape;537;p10"/>
          <p:cNvSpPr/>
          <p:nvPr/>
        </p:nvSpPr>
        <p:spPr>
          <a:xfrm>
            <a:off x="12350668" y="4075328"/>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Predicted-latency scheduling</a:t>
            </a:r>
            <a:endParaRPr sz="1950">
              <a:solidFill>
                <a:schemeClr val="dk1"/>
              </a:solidFill>
              <a:latin typeface="Calibri"/>
              <a:ea typeface="Calibri"/>
              <a:cs typeface="Calibri"/>
              <a:sym typeface="Calibri"/>
            </a:endParaRPr>
          </a:p>
        </p:txBody>
      </p:sp>
      <p:sp>
        <p:nvSpPr>
          <p:cNvPr id="538" name="Google Shape;538;p10">
            <a:hlinkClick r:id="rId33"/>
          </p:cNvPr>
          <p:cNvSpPr/>
          <p:nvPr/>
        </p:nvSpPr>
        <p:spPr>
          <a:xfrm>
            <a:off x="12350668" y="4417136"/>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34">
                  <a:extLst>
                    <a:ext uri="{A12FA001-AC4F-418D-AE19-62706E023703}">
                      <ahyp:hlinkClr val="tx"/>
                    </a:ext>
                  </a:extLst>
                </a:hlinkClick>
              </a:rPr>
              <a:t>llm-d.ai/blog</a:t>
            </a:r>
            <a:endParaRPr sz="1800">
              <a:solidFill>
                <a:schemeClr val="dk1"/>
              </a:solidFill>
              <a:latin typeface="Calibri"/>
              <a:ea typeface="Calibri"/>
              <a:cs typeface="Calibri"/>
              <a:sym typeface="Calibri"/>
            </a:endParaRPr>
          </a:p>
        </p:txBody>
      </p:sp>
      <p:sp>
        <p:nvSpPr>
          <p:cNvPr id="539" name="Google Shape;539;p10"/>
          <p:cNvSpPr/>
          <p:nvPr/>
        </p:nvSpPr>
        <p:spPr>
          <a:xfrm>
            <a:off x="12350668" y="4827736"/>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Predicted latency: setup guide</a:t>
            </a:r>
            <a:endParaRPr sz="1950">
              <a:solidFill>
                <a:schemeClr val="dk1"/>
              </a:solidFill>
              <a:latin typeface="Calibri"/>
              <a:ea typeface="Calibri"/>
              <a:cs typeface="Calibri"/>
              <a:sym typeface="Calibri"/>
            </a:endParaRPr>
          </a:p>
        </p:txBody>
      </p:sp>
      <p:sp>
        <p:nvSpPr>
          <p:cNvPr id="540" name="Google Shape;540;p10">
            <a:hlinkClick r:id="rId35"/>
          </p:cNvPr>
          <p:cNvSpPr/>
          <p:nvPr/>
        </p:nvSpPr>
        <p:spPr>
          <a:xfrm>
            <a:off x="12350668" y="5169545"/>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36">
                  <a:extLst>
                    <a:ext uri="{A12FA001-AC4F-418D-AE19-62706E023703}">
                      <ahyp:hlinkClr val="tx"/>
                    </a:ext>
                  </a:extLst>
                </a:hlinkClick>
              </a:rPr>
              <a:t>llm-d.ai/docs/well-lit-paths</a:t>
            </a:r>
            <a:endParaRPr sz="1800">
              <a:solidFill>
                <a:schemeClr val="dk1"/>
              </a:solidFill>
              <a:latin typeface="Calibri"/>
              <a:ea typeface="Calibri"/>
              <a:cs typeface="Calibri"/>
              <a:sym typeface="Calibri"/>
            </a:endParaRPr>
          </a:p>
        </p:txBody>
      </p:sp>
      <p:sp>
        <p:nvSpPr>
          <p:cNvPr id="541" name="Google Shape;541;p10"/>
          <p:cNvSpPr/>
          <p:nvPr/>
        </p:nvSpPr>
        <p:spPr>
          <a:xfrm>
            <a:off x="12350668" y="5580145"/>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EPP plugins: llm-d inference scheduler</a:t>
            </a:r>
            <a:endParaRPr sz="1950">
              <a:solidFill>
                <a:schemeClr val="dk1"/>
              </a:solidFill>
              <a:latin typeface="Calibri"/>
              <a:ea typeface="Calibri"/>
              <a:cs typeface="Calibri"/>
              <a:sym typeface="Calibri"/>
            </a:endParaRPr>
          </a:p>
        </p:txBody>
      </p:sp>
      <p:sp>
        <p:nvSpPr>
          <p:cNvPr id="542" name="Google Shape;542;p10">
            <a:hlinkClick r:id="rId37"/>
          </p:cNvPr>
          <p:cNvSpPr/>
          <p:nvPr/>
        </p:nvSpPr>
        <p:spPr>
          <a:xfrm>
            <a:off x="12350668" y="5921954"/>
            <a:ext cx="4879230" cy="630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38">
                  <a:extLst>
                    <a:ext uri="{A12FA001-AC4F-418D-AE19-62706E023703}">
                      <ahyp:hlinkClr val="tx"/>
                    </a:ext>
                  </a:extLst>
                </a:hlinkClick>
              </a:rPr>
              <a:t>github.com/llm-d/llm-d-inference-scheduler</a:t>
            </a:r>
            <a:endParaRPr sz="1800">
              <a:solidFill>
                <a:schemeClr val="dk1"/>
              </a:solidFill>
              <a:latin typeface="Calibri"/>
              <a:ea typeface="Calibri"/>
              <a:cs typeface="Calibri"/>
              <a:sym typeface="Calibri"/>
            </a:endParaRPr>
          </a:p>
        </p:txBody>
      </p:sp>
      <p:sp>
        <p:nvSpPr>
          <p:cNvPr id="543" name="Google Shape;543;p10"/>
          <p:cNvSpPr/>
          <p:nvPr/>
        </p:nvSpPr>
        <p:spPr>
          <a:xfrm>
            <a:off x="12350668" y="6628888"/>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Precise prefix cache: KV-cache manager</a:t>
            </a:r>
            <a:endParaRPr sz="1950">
              <a:solidFill>
                <a:schemeClr val="dk1"/>
              </a:solidFill>
              <a:latin typeface="Calibri"/>
              <a:ea typeface="Calibri"/>
              <a:cs typeface="Calibri"/>
              <a:sym typeface="Calibri"/>
            </a:endParaRPr>
          </a:p>
        </p:txBody>
      </p:sp>
      <p:sp>
        <p:nvSpPr>
          <p:cNvPr id="544" name="Google Shape;544;p10">
            <a:hlinkClick r:id="rId39"/>
          </p:cNvPr>
          <p:cNvSpPr/>
          <p:nvPr/>
        </p:nvSpPr>
        <p:spPr>
          <a:xfrm>
            <a:off x="12350668" y="6970696"/>
            <a:ext cx="4879230" cy="630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40">
                  <a:extLst>
                    <a:ext uri="{A12FA001-AC4F-418D-AE19-62706E023703}">
                      <ahyp:hlinkClr val="tx"/>
                    </a:ext>
                  </a:extLst>
                </a:hlinkClick>
              </a:rPr>
              <a:t>github.com/llm-d/llm-d-kv-cache-manager</a:t>
            </a:r>
            <a:endParaRPr sz="1800">
              <a:solidFill>
                <a:schemeClr val="dk1"/>
              </a:solidFill>
              <a:latin typeface="Calibri"/>
              <a:ea typeface="Calibri"/>
              <a:cs typeface="Calibri"/>
              <a:sym typeface="Calibri"/>
            </a:endParaRPr>
          </a:p>
        </p:txBody>
      </p:sp>
      <p:sp>
        <p:nvSpPr>
          <p:cNvPr id="545" name="Google Shape;545;p10"/>
          <p:cNvSpPr/>
          <p:nvPr/>
        </p:nvSpPr>
        <p:spPr>
          <a:xfrm>
            <a:off x="12350668" y="7677630"/>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Gateway API Inference Extension</a:t>
            </a:r>
            <a:endParaRPr sz="1950">
              <a:solidFill>
                <a:schemeClr val="dk1"/>
              </a:solidFill>
              <a:latin typeface="Calibri"/>
              <a:ea typeface="Calibri"/>
              <a:cs typeface="Calibri"/>
              <a:sym typeface="Calibri"/>
            </a:endParaRPr>
          </a:p>
        </p:txBody>
      </p:sp>
      <p:sp>
        <p:nvSpPr>
          <p:cNvPr id="546" name="Google Shape;546;p10">
            <a:hlinkClick r:id="rId41"/>
          </p:cNvPr>
          <p:cNvSpPr/>
          <p:nvPr/>
        </p:nvSpPr>
        <p:spPr>
          <a:xfrm>
            <a:off x="12350668" y="8019438"/>
            <a:ext cx="4879230" cy="630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42">
                  <a:extLst>
                    <a:ext uri="{A12FA001-AC4F-418D-AE19-62706E023703}">
                      <ahyp:hlinkClr val="tx"/>
                    </a:ext>
                  </a:extLst>
                </a:hlinkClick>
              </a:rPr>
              <a:t>gateway-api-inference-extension.sigs.k8s.io</a:t>
            </a:r>
            <a:endParaRPr sz="1800">
              <a:solidFill>
                <a:schemeClr val="dk1"/>
              </a:solidFill>
              <a:latin typeface="Calibri"/>
              <a:ea typeface="Calibri"/>
              <a:cs typeface="Calibri"/>
              <a:sym typeface="Calibri"/>
            </a:endParaRPr>
          </a:p>
        </p:txBody>
      </p:sp>
      <p:sp>
        <p:nvSpPr>
          <p:cNvPr id="547" name="Google Shape;547;p10"/>
          <p:cNvSpPr/>
          <p:nvPr/>
        </p:nvSpPr>
        <p:spPr>
          <a:xfrm>
            <a:off x="12350668" y="8726372"/>
            <a:ext cx="5210828" cy="36089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llm-d on Red Hat AI</a:t>
            </a:r>
            <a:endParaRPr sz="1950">
              <a:solidFill>
                <a:schemeClr val="dk1"/>
              </a:solidFill>
              <a:latin typeface="Calibri"/>
              <a:ea typeface="Calibri"/>
              <a:cs typeface="Calibri"/>
              <a:sym typeface="Calibri"/>
            </a:endParaRPr>
          </a:p>
        </p:txBody>
      </p:sp>
      <p:sp>
        <p:nvSpPr>
          <p:cNvPr id="548" name="Google Shape;548;p10">
            <a:hlinkClick r:id="rId43"/>
          </p:cNvPr>
          <p:cNvSpPr/>
          <p:nvPr/>
        </p:nvSpPr>
        <p:spPr>
          <a:xfrm>
            <a:off x="12350668" y="9068181"/>
            <a:ext cx="521082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u="sng">
                <a:solidFill>
                  <a:srgbClr val="0F62FE"/>
                </a:solidFill>
                <a:latin typeface="IBM Plex Mono"/>
                <a:ea typeface="IBM Plex Mono"/>
                <a:cs typeface="IBM Plex Mono"/>
                <a:sym typeface="IBM Plex Mono"/>
                <a:hlinkClick r:id="rId44">
                  <a:extLst>
                    <a:ext uri="{A12FA001-AC4F-418D-AE19-62706E023703}">
                      <ahyp:hlinkClr val="tx"/>
                    </a:ext>
                  </a:extLst>
                </a:hlinkClick>
              </a:rPr>
              <a:t>developers.redhat.com</a:t>
            </a:r>
            <a:endParaRPr sz="1800">
              <a:solidFill>
                <a:schemeClr val="dk1"/>
              </a:solidFill>
              <a:latin typeface="Calibri"/>
              <a:ea typeface="Calibri"/>
              <a:cs typeface="Calibri"/>
              <a:sym typeface="Calibri"/>
            </a:endParaRPr>
          </a:p>
        </p:txBody>
      </p:sp>
      <p:pic>
        <p:nvPicPr>
          <p:cNvPr descr="preencoded.png" id="549" name="Google Shape;549;p10"/>
          <p:cNvPicPr preferRelativeResize="0"/>
          <p:nvPr/>
        </p:nvPicPr>
        <p:blipFill rotWithShape="1">
          <a:blip r:embed="rId45">
            <a:alphaModFix/>
          </a:blip>
          <a:srcRect b="0" l="0" r="0" t="0"/>
          <a:stretch/>
        </p:blipFill>
        <p:spPr>
          <a:xfrm>
            <a:off x="914384" y="9677467"/>
            <a:ext cx="310968" cy="342883"/>
          </a:xfrm>
          <a:prstGeom prst="rect">
            <a:avLst/>
          </a:prstGeom>
          <a:noFill/>
          <a:ln>
            <a:noFill/>
          </a:ln>
        </p:spPr>
      </p:pic>
      <p:sp>
        <p:nvSpPr>
          <p:cNvPr id="550" name="Google Shape;550;p10"/>
          <p:cNvSpPr/>
          <p:nvPr/>
        </p:nvSpPr>
        <p:spPr>
          <a:xfrm>
            <a:off x="1415852" y="9700700"/>
            <a:ext cx="77482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Bangalore Performance &amp; Scale Meetup 2026 · From Tokens to Scale</a:t>
            </a:r>
            <a:endParaRPr sz="1800">
              <a:solidFill>
                <a:schemeClr val="dk1"/>
              </a:solidFill>
              <a:latin typeface="Calibri"/>
              <a:ea typeface="Calibri"/>
              <a:cs typeface="Calibri"/>
              <a:sym typeface="Calibri"/>
            </a:endParaRPr>
          </a:p>
        </p:txBody>
      </p:sp>
      <p:sp>
        <p:nvSpPr>
          <p:cNvPr id="551" name="Google Shape;551;p10"/>
          <p:cNvSpPr/>
          <p:nvPr/>
        </p:nvSpPr>
        <p:spPr>
          <a:xfrm>
            <a:off x="17099360" y="9700700"/>
            <a:ext cx="3504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z="1800">
                <a:solidFill>
                  <a:srgbClr val="6F6F6F"/>
                </a:solidFill>
                <a:latin typeface="IBM Plex Mono"/>
                <a:ea typeface="IBM Plex Mono"/>
                <a:cs typeface="IBM Plex Mono"/>
                <a:sym typeface="IBM Plex Mono"/>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6" name="Shape 556"/>
        <p:cNvGrpSpPr/>
        <p:nvPr/>
      </p:nvGrpSpPr>
      <p:grpSpPr>
        <a:xfrm>
          <a:off x="0" y="0"/>
          <a:ext cx="0" cy="0"/>
          <a:chOff x="0" y="0"/>
          <a:chExt cx="0" cy="0"/>
        </a:xfrm>
      </p:grpSpPr>
      <p:pic>
        <p:nvPicPr>
          <p:cNvPr descr="preencoded.png" id="557" name="Google Shape;557;p11"/>
          <p:cNvPicPr preferRelativeResize="0"/>
          <p:nvPr/>
        </p:nvPicPr>
        <p:blipFill rotWithShape="1">
          <a:blip r:embed="rId3">
            <a:alphaModFix/>
          </a:blip>
          <a:srcRect b="0" l="0" r="0" t="0"/>
          <a:stretch/>
        </p:blipFill>
        <p:spPr>
          <a:xfrm>
            <a:off x="914384" y="685767"/>
            <a:ext cx="760181" cy="838150"/>
          </a:xfrm>
          <a:prstGeom prst="rect">
            <a:avLst/>
          </a:prstGeom>
          <a:noFill/>
          <a:ln>
            <a:noFill/>
          </a:ln>
        </p:spPr>
      </p:pic>
      <p:sp>
        <p:nvSpPr>
          <p:cNvPr id="558" name="Google Shape;558;p11"/>
          <p:cNvSpPr/>
          <p:nvPr/>
        </p:nvSpPr>
        <p:spPr>
          <a:xfrm>
            <a:off x="1903098" y="876267"/>
            <a:ext cx="19017" cy="457150"/>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11"/>
          <p:cNvSpPr/>
          <p:nvPr/>
        </p:nvSpPr>
        <p:spPr>
          <a:xfrm>
            <a:off x="2150649" y="956634"/>
            <a:ext cx="341919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FROM TOKENS TO SCALE</a:t>
            </a:r>
            <a:endParaRPr sz="1800">
              <a:solidFill>
                <a:schemeClr val="dk1"/>
              </a:solidFill>
              <a:latin typeface="Calibri"/>
              <a:ea typeface="Calibri"/>
              <a:cs typeface="Calibri"/>
              <a:sym typeface="Calibri"/>
            </a:endParaRPr>
          </a:p>
        </p:txBody>
      </p:sp>
      <p:sp>
        <p:nvSpPr>
          <p:cNvPr id="560" name="Google Shape;560;p11"/>
          <p:cNvSpPr/>
          <p:nvPr/>
        </p:nvSpPr>
        <p:spPr>
          <a:xfrm>
            <a:off x="914384" y="2048040"/>
            <a:ext cx="5886536" cy="2895600"/>
          </a:xfrm>
          <a:prstGeom prst="rect">
            <a:avLst/>
          </a:prstGeom>
          <a:noFill/>
          <a:ln>
            <a:noFill/>
          </a:ln>
        </p:spPr>
        <p:txBody>
          <a:bodyPr anchorCtr="0" anchor="t" bIns="25400" lIns="25400" spcFirstLastPara="1" rIns="25400" wrap="square" tIns="25400">
            <a:normAutofit/>
          </a:bodyPr>
          <a:lstStyle/>
          <a:p>
            <a:pPr indent="0" lvl="0" marL="0" marR="0" rtl="0" algn="l">
              <a:lnSpc>
                <a:spcPct val="76923"/>
              </a:lnSpc>
              <a:spcBef>
                <a:spcPts val="0"/>
              </a:spcBef>
              <a:spcAft>
                <a:spcPts val="0"/>
              </a:spcAft>
              <a:buClr>
                <a:srgbClr val="161616"/>
              </a:buClr>
              <a:buSzPts val="11250"/>
              <a:buFont typeface="IBM Plex Sans"/>
              <a:buNone/>
            </a:pPr>
            <a:r>
              <a:rPr b="1" lang="en-US" spc="-337" sz="11250">
                <a:solidFill>
                  <a:srgbClr val="161616"/>
                </a:solidFill>
                <a:latin typeface="IBM Plex Sans"/>
                <a:ea typeface="IBM Plex Sans"/>
                <a:cs typeface="IBM Plex Sans"/>
                <a:sym typeface="IBM Plex Sans"/>
              </a:rPr>
              <a:t>Thank you</a:t>
            </a:r>
            <a:endParaRPr sz="11250">
              <a:solidFill>
                <a:schemeClr val="dk1"/>
              </a:solidFill>
              <a:latin typeface="Calibri"/>
              <a:ea typeface="Calibri"/>
              <a:cs typeface="Calibri"/>
              <a:sym typeface="Calibri"/>
            </a:endParaRPr>
          </a:p>
        </p:txBody>
      </p:sp>
      <p:sp>
        <p:nvSpPr>
          <p:cNvPr id="561" name="Google Shape;561;p11"/>
          <p:cNvSpPr/>
          <p:nvPr/>
        </p:nvSpPr>
        <p:spPr>
          <a:xfrm>
            <a:off x="914384" y="5115058"/>
            <a:ext cx="6286591" cy="541883"/>
          </a:xfrm>
          <a:prstGeom prst="rect">
            <a:avLst/>
          </a:prstGeom>
          <a:noFill/>
          <a:ln>
            <a:noFill/>
          </a:ln>
        </p:spPr>
        <p:txBody>
          <a:bodyPr anchorCtr="0" anchor="t" bIns="25400" lIns="25400" spcFirstLastPara="1" rIns="25400" wrap="square" tIns="25400">
            <a:normAutofit/>
          </a:bodyPr>
          <a:lstStyle/>
          <a:p>
            <a:pPr indent="0" lvl="0" marL="0" marR="0" rtl="0" algn="l">
              <a:lnSpc>
                <a:spcPct val="88167"/>
              </a:lnSpc>
              <a:spcBef>
                <a:spcPts val="0"/>
              </a:spcBef>
              <a:spcAft>
                <a:spcPts val="0"/>
              </a:spcAft>
              <a:buClr>
                <a:srgbClr val="161616"/>
              </a:buClr>
              <a:buSzPts val="3450"/>
              <a:buFont typeface="IBM Plex Sans"/>
              <a:buNone/>
            </a:pPr>
            <a:r>
              <a:rPr b="1" lang="en-US" spc="-34" sz="3450">
                <a:solidFill>
                  <a:srgbClr val="161616"/>
                </a:solidFill>
                <a:latin typeface="IBM Plex Sans"/>
                <a:ea typeface="IBM Plex Sans"/>
                <a:cs typeface="IBM Plex Sans"/>
                <a:sym typeface="IBM Plex Sans"/>
              </a:rPr>
              <a:t>Your model is fast.</a:t>
            </a:r>
            <a:endParaRPr sz="3450">
              <a:solidFill>
                <a:schemeClr val="dk1"/>
              </a:solidFill>
              <a:latin typeface="Calibri"/>
              <a:ea typeface="Calibri"/>
              <a:cs typeface="Calibri"/>
              <a:sym typeface="Calibri"/>
            </a:endParaRPr>
          </a:p>
        </p:txBody>
      </p:sp>
      <p:sp>
        <p:nvSpPr>
          <p:cNvPr id="562" name="Google Shape;562;p11"/>
          <p:cNvSpPr/>
          <p:nvPr/>
        </p:nvSpPr>
        <p:spPr>
          <a:xfrm>
            <a:off x="914384" y="5618841"/>
            <a:ext cx="6286591" cy="541883"/>
          </a:xfrm>
          <a:prstGeom prst="rect">
            <a:avLst/>
          </a:prstGeom>
          <a:noFill/>
          <a:ln>
            <a:noFill/>
          </a:ln>
        </p:spPr>
        <p:txBody>
          <a:bodyPr anchorCtr="0" anchor="t" bIns="25400" lIns="25400" spcFirstLastPara="1" rIns="25400" wrap="square" tIns="25400">
            <a:normAutofit/>
          </a:bodyPr>
          <a:lstStyle/>
          <a:p>
            <a:pPr indent="0" lvl="0" marL="0" marR="0" rtl="0" algn="l">
              <a:lnSpc>
                <a:spcPct val="88167"/>
              </a:lnSpc>
              <a:spcBef>
                <a:spcPts val="0"/>
              </a:spcBef>
              <a:spcAft>
                <a:spcPts val="0"/>
              </a:spcAft>
              <a:buClr>
                <a:srgbClr val="0F62FE"/>
              </a:buClr>
              <a:buSzPts val="3450"/>
              <a:buFont typeface="IBM Plex Sans"/>
              <a:buNone/>
            </a:pPr>
            <a:r>
              <a:rPr b="1" lang="en-US" spc="-34" sz="3450">
                <a:solidFill>
                  <a:srgbClr val="0F62FE"/>
                </a:solidFill>
                <a:latin typeface="IBM Plex Sans"/>
                <a:ea typeface="IBM Plex Sans"/>
                <a:cs typeface="IBM Plex Sans"/>
                <a:sym typeface="IBM Plex Sans"/>
              </a:rPr>
              <a:t>Is your service?</a:t>
            </a:r>
            <a:endParaRPr sz="3450">
              <a:solidFill>
                <a:schemeClr val="dk1"/>
              </a:solidFill>
              <a:latin typeface="Calibri"/>
              <a:ea typeface="Calibri"/>
              <a:cs typeface="Calibri"/>
              <a:sym typeface="Calibri"/>
            </a:endParaRPr>
          </a:p>
        </p:txBody>
      </p:sp>
      <p:sp>
        <p:nvSpPr>
          <p:cNvPr id="563" name="Google Shape;563;p11"/>
          <p:cNvSpPr/>
          <p:nvPr/>
        </p:nvSpPr>
        <p:spPr>
          <a:xfrm>
            <a:off x="914384" y="6332141"/>
            <a:ext cx="6286591" cy="434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25252"/>
              </a:buClr>
              <a:buSzPts val="2400"/>
              <a:buFont typeface="IBM Plex Sans"/>
              <a:buNone/>
            </a:pPr>
            <a:r>
              <a:rPr lang="en-US" sz="2400">
                <a:solidFill>
                  <a:srgbClr val="525252"/>
                </a:solidFill>
                <a:latin typeface="IBM Plex Sans"/>
                <a:ea typeface="IBM Plex Sans"/>
                <a:cs typeface="IBM Plex Sans"/>
                <a:sym typeface="IBM Plex Sans"/>
              </a:rPr>
              <a:t>Questions &amp; discussion</a:t>
            </a:r>
            <a:endParaRPr sz="2400">
              <a:solidFill>
                <a:schemeClr val="dk1"/>
              </a:solidFill>
              <a:latin typeface="Calibri"/>
              <a:ea typeface="Calibri"/>
              <a:cs typeface="Calibri"/>
              <a:sym typeface="Calibri"/>
            </a:endParaRPr>
          </a:p>
        </p:txBody>
      </p:sp>
      <p:sp>
        <p:nvSpPr>
          <p:cNvPr id="564" name="Google Shape;564;p11"/>
          <p:cNvSpPr/>
          <p:nvPr/>
        </p:nvSpPr>
        <p:spPr>
          <a:xfrm>
            <a:off x="914384" y="7253056"/>
            <a:ext cx="6286591"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250"/>
              <a:buFont typeface="IBM Plex Sans"/>
              <a:buNone/>
            </a:pPr>
            <a:r>
              <a:rPr b="1" lang="en-US" sz="2250">
                <a:solidFill>
                  <a:srgbClr val="161616"/>
                </a:solidFill>
                <a:latin typeface="IBM Plex Sans"/>
                <a:ea typeface="IBM Plex Sans"/>
                <a:cs typeface="IBM Plex Sans"/>
                <a:sym typeface="IBM Plex Sans"/>
              </a:rPr>
              <a:t>Sai Sampath Bethu</a:t>
            </a:r>
            <a:endParaRPr sz="2250">
              <a:solidFill>
                <a:schemeClr val="dk1"/>
              </a:solidFill>
              <a:latin typeface="Calibri"/>
              <a:ea typeface="Calibri"/>
              <a:cs typeface="Calibri"/>
              <a:sym typeface="Calibri"/>
            </a:endParaRPr>
          </a:p>
        </p:txBody>
      </p:sp>
      <p:sp>
        <p:nvSpPr>
          <p:cNvPr id="565" name="Google Shape;565;p11"/>
          <p:cNvSpPr/>
          <p:nvPr/>
        </p:nvSpPr>
        <p:spPr>
          <a:xfrm>
            <a:off x="914384" y="7661507"/>
            <a:ext cx="62865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Sai.Sampath.Bethu@ibm.com</a:t>
            </a:r>
            <a:endParaRPr sz="1800">
              <a:solidFill>
                <a:schemeClr val="dk1"/>
              </a:solidFill>
              <a:latin typeface="Calibri"/>
              <a:ea typeface="Calibri"/>
              <a:cs typeface="Calibri"/>
              <a:sym typeface="Calibri"/>
            </a:endParaRPr>
          </a:p>
        </p:txBody>
      </p:sp>
      <p:sp>
        <p:nvSpPr>
          <p:cNvPr id="566" name="Google Shape;566;p11"/>
          <p:cNvSpPr/>
          <p:nvPr/>
        </p:nvSpPr>
        <p:spPr>
          <a:xfrm>
            <a:off x="914384" y="8167357"/>
            <a:ext cx="6286591"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250"/>
              <a:buFont typeface="IBM Plex Sans"/>
              <a:buNone/>
            </a:pPr>
            <a:r>
              <a:rPr b="1" lang="en-US" sz="2250">
                <a:solidFill>
                  <a:srgbClr val="161616"/>
                </a:solidFill>
                <a:latin typeface="IBM Plex Sans"/>
                <a:ea typeface="IBM Plex Sans"/>
                <a:cs typeface="IBM Plex Sans"/>
                <a:sym typeface="IBM Plex Sans"/>
              </a:rPr>
              <a:t>Shilpa Menon</a:t>
            </a:r>
            <a:endParaRPr sz="2250">
              <a:solidFill>
                <a:schemeClr val="dk1"/>
              </a:solidFill>
              <a:latin typeface="Calibri"/>
              <a:ea typeface="Calibri"/>
              <a:cs typeface="Calibri"/>
              <a:sym typeface="Calibri"/>
            </a:endParaRPr>
          </a:p>
        </p:txBody>
      </p:sp>
      <p:sp>
        <p:nvSpPr>
          <p:cNvPr id="567" name="Google Shape;567;p11"/>
          <p:cNvSpPr/>
          <p:nvPr/>
        </p:nvSpPr>
        <p:spPr>
          <a:xfrm>
            <a:off x="914384" y="8575808"/>
            <a:ext cx="62865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z="1800">
                <a:solidFill>
                  <a:srgbClr val="0F62FE"/>
                </a:solidFill>
                <a:latin typeface="IBM Plex Mono"/>
                <a:ea typeface="IBM Plex Mono"/>
                <a:cs typeface="IBM Plex Mono"/>
                <a:sym typeface="IBM Plex Mono"/>
              </a:rPr>
              <a:t>Shilpa.Menon@ibm.com</a:t>
            </a:r>
            <a:endParaRPr sz="1800">
              <a:solidFill>
                <a:schemeClr val="dk1"/>
              </a:solidFill>
              <a:latin typeface="Calibri"/>
              <a:ea typeface="Calibri"/>
              <a:cs typeface="Calibri"/>
              <a:sym typeface="Calibri"/>
            </a:endParaRPr>
          </a:p>
        </p:txBody>
      </p:sp>
      <p:sp>
        <p:nvSpPr>
          <p:cNvPr id="568" name="Google Shape;568;p11"/>
          <p:cNvSpPr/>
          <p:nvPr/>
        </p:nvSpPr>
        <p:spPr>
          <a:xfrm>
            <a:off x="914384" y="9081658"/>
            <a:ext cx="5715083" cy="1587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11"/>
          <p:cNvSpPr/>
          <p:nvPr/>
        </p:nvSpPr>
        <p:spPr>
          <a:xfrm>
            <a:off x="914384" y="9344092"/>
            <a:ext cx="153870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pc="144" sz="1800">
                <a:solidFill>
                  <a:srgbClr val="6F6F6F"/>
                </a:solidFill>
                <a:latin typeface="IBM Plex Mono"/>
                <a:ea typeface="IBM Plex Mono"/>
                <a:cs typeface="IBM Plex Mono"/>
                <a:sym typeface="IBM Plex Mono"/>
              </a:rPr>
              <a:t>HOSTED BY</a:t>
            </a:r>
            <a:endParaRPr sz="1800">
              <a:solidFill>
                <a:schemeClr val="dk1"/>
              </a:solidFill>
              <a:latin typeface="Calibri"/>
              <a:ea typeface="Calibri"/>
              <a:cs typeface="Calibri"/>
              <a:sym typeface="Calibri"/>
            </a:endParaRPr>
          </a:p>
        </p:txBody>
      </p:sp>
      <p:sp>
        <p:nvSpPr>
          <p:cNvPr id="570" name="Google Shape;570;p11"/>
          <p:cNvSpPr/>
          <p:nvPr/>
        </p:nvSpPr>
        <p:spPr>
          <a:xfrm>
            <a:off x="2465586" y="9307050"/>
            <a:ext cx="1143546"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E0000"/>
              </a:buClr>
              <a:buSzPts val="2250"/>
              <a:buFont typeface="IBM Plex Sans"/>
              <a:buNone/>
            </a:pPr>
            <a:r>
              <a:rPr b="1" lang="en-US" sz="2250">
                <a:solidFill>
                  <a:srgbClr val="EE0000"/>
                </a:solidFill>
                <a:latin typeface="IBM Plex Sans"/>
                <a:ea typeface="IBM Plex Sans"/>
                <a:cs typeface="IBM Plex Sans"/>
                <a:sym typeface="IBM Plex Sans"/>
              </a:rPr>
              <a:t>Red Hat</a:t>
            </a:r>
            <a:endParaRPr sz="2250">
              <a:solidFill>
                <a:schemeClr val="dk1"/>
              </a:solidFill>
              <a:latin typeface="Calibri"/>
              <a:ea typeface="Calibri"/>
              <a:cs typeface="Calibri"/>
              <a:sym typeface="Calibri"/>
            </a:endParaRPr>
          </a:p>
        </p:txBody>
      </p:sp>
      <p:sp>
        <p:nvSpPr>
          <p:cNvPr id="571" name="Google Shape;571;p11"/>
          <p:cNvSpPr/>
          <p:nvPr/>
        </p:nvSpPr>
        <p:spPr>
          <a:xfrm>
            <a:off x="7239001" y="0"/>
            <a:ext cx="11049000" cy="10287000"/>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11"/>
          <p:cNvSpPr/>
          <p:nvPr/>
        </p:nvSpPr>
        <p:spPr>
          <a:xfrm>
            <a:off x="7848534" y="685767"/>
            <a:ext cx="104775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pc="180" sz="1800">
                <a:solidFill>
                  <a:srgbClr val="78A9FF"/>
                </a:solidFill>
                <a:latin typeface="IBM Plex Mono"/>
                <a:ea typeface="IBM Plex Mono"/>
                <a:cs typeface="IBM Plex Mono"/>
                <a:sym typeface="IBM Plex Mono"/>
              </a:rPr>
              <a:t>BEYOND THE TALK · LET'S COLLABORATE</a:t>
            </a:r>
            <a:endParaRPr sz="1800">
              <a:solidFill>
                <a:schemeClr val="dk1"/>
              </a:solidFill>
              <a:latin typeface="Calibri"/>
              <a:ea typeface="Calibri"/>
              <a:cs typeface="Calibri"/>
              <a:sym typeface="Calibri"/>
            </a:endParaRPr>
          </a:p>
        </p:txBody>
      </p:sp>
      <p:sp>
        <p:nvSpPr>
          <p:cNvPr id="573" name="Google Shape;573;p11"/>
          <p:cNvSpPr/>
          <p:nvPr/>
        </p:nvSpPr>
        <p:spPr>
          <a:xfrm>
            <a:off x="7848534" y="1134484"/>
            <a:ext cx="9810836" cy="1177131"/>
          </a:xfrm>
          <a:prstGeom prst="rect">
            <a:avLst/>
          </a:prstGeom>
          <a:noFill/>
          <a:ln>
            <a:noFill/>
          </a:ln>
        </p:spPr>
        <p:txBody>
          <a:bodyPr anchorCtr="0" anchor="t" bIns="25400" lIns="25400" spcFirstLastPara="1" rIns="25400" wrap="square" tIns="25400">
            <a:normAutofit/>
          </a:bodyPr>
          <a:lstStyle/>
          <a:p>
            <a:pPr indent="0" lvl="0" marL="0" marR="0" rtl="0" algn="l">
              <a:lnSpc>
                <a:spcPct val="88230"/>
              </a:lnSpc>
              <a:spcBef>
                <a:spcPts val="0"/>
              </a:spcBef>
              <a:spcAft>
                <a:spcPts val="0"/>
              </a:spcAft>
              <a:buClr>
                <a:srgbClr val="FFFFFF"/>
              </a:buClr>
              <a:buSzPts val="3900"/>
              <a:buFont typeface="IBM Plex Sans"/>
              <a:buNone/>
            </a:pPr>
            <a:r>
              <a:rPr b="1" lang="en-US" spc="-39" sz="3900">
                <a:solidFill>
                  <a:srgbClr val="FFFFFF"/>
                </a:solidFill>
                <a:latin typeface="IBM Plex Sans"/>
                <a:ea typeface="IBM Plex Sans"/>
                <a:cs typeface="IBM Plex Sans"/>
                <a:sym typeface="IBM Plex Sans"/>
              </a:rPr>
              <a:t>Same workload. Same metrics. Any hardware.</a:t>
            </a:r>
            <a:endParaRPr sz="3900">
              <a:solidFill>
                <a:schemeClr val="dk1"/>
              </a:solidFill>
              <a:latin typeface="Calibri"/>
              <a:ea typeface="Calibri"/>
              <a:cs typeface="Calibri"/>
              <a:sym typeface="Calibri"/>
            </a:endParaRPr>
          </a:p>
        </p:txBody>
      </p:sp>
      <p:sp>
        <p:nvSpPr>
          <p:cNvPr id="574" name="Google Shape;574;p11"/>
          <p:cNvSpPr/>
          <p:nvPr/>
        </p:nvSpPr>
        <p:spPr>
          <a:xfrm>
            <a:off x="7848534" y="2654515"/>
            <a:ext cx="4667250" cy="2280378"/>
          </a:xfrm>
          <a:prstGeom prst="rect">
            <a:avLst/>
          </a:prstGeom>
          <a:solidFill>
            <a:srgbClr val="0F62FE"/>
          </a:solidFill>
          <a:ln cap="flat" cmpd="sng" w="9525">
            <a:solidFill>
              <a:srgbClr val="0F62F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11"/>
          <p:cNvSpPr/>
          <p:nvPr/>
        </p:nvSpPr>
        <p:spPr>
          <a:xfrm>
            <a:off x="8120476" y="2888341"/>
            <a:ext cx="4535703"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Mono"/>
              <a:buNone/>
            </a:pPr>
            <a:r>
              <a:rPr lang="en-US" spc="72" sz="1800">
                <a:solidFill>
                  <a:srgbClr val="FFFFFF"/>
                </a:solidFill>
                <a:latin typeface="IBM Plex Mono"/>
                <a:ea typeface="IBM Plex Mono"/>
                <a:cs typeface="IBM Plex Mono"/>
                <a:sym typeface="IBM Plex Mono"/>
              </a:rPr>
              <a:t>01 · COMPETITIVE ANALYSIS</a:t>
            </a:r>
            <a:endParaRPr sz="1800">
              <a:solidFill>
                <a:schemeClr val="dk1"/>
              </a:solidFill>
              <a:latin typeface="Calibri"/>
              <a:ea typeface="Calibri"/>
              <a:cs typeface="Calibri"/>
              <a:sym typeface="Calibri"/>
            </a:endParaRPr>
          </a:p>
        </p:txBody>
      </p:sp>
      <p:sp>
        <p:nvSpPr>
          <p:cNvPr id="576" name="Google Shape;576;p11"/>
          <p:cNvSpPr/>
          <p:nvPr/>
        </p:nvSpPr>
        <p:spPr>
          <a:xfrm>
            <a:off x="8120476" y="3279924"/>
            <a:ext cx="4535703" cy="403804"/>
          </a:xfrm>
          <a:prstGeom prst="rect">
            <a:avLst/>
          </a:prstGeom>
          <a:noFill/>
          <a:ln>
            <a:noFill/>
          </a:ln>
        </p:spPr>
        <p:txBody>
          <a:bodyPr anchorCtr="0" anchor="t" bIns="25400" lIns="25400" spcFirstLastPara="1" rIns="25400" wrap="square" tIns="25400">
            <a:normAutofit/>
          </a:bodyPr>
          <a:lstStyle/>
          <a:p>
            <a:pPr indent="0" lvl="0" marL="0" marR="0" rtl="0" algn="l">
              <a:lnSpc>
                <a:spcPct val="92160"/>
              </a:lnSpc>
              <a:spcBef>
                <a:spcPts val="0"/>
              </a:spcBef>
              <a:spcAft>
                <a:spcPts val="0"/>
              </a:spcAft>
              <a:buClr>
                <a:srgbClr val="FFFFFF"/>
              </a:buClr>
              <a:buSzPts val="2400"/>
              <a:buFont typeface="IBM Plex Sans"/>
              <a:buNone/>
            </a:pPr>
            <a:r>
              <a:rPr b="1" lang="en-US" sz="2400">
                <a:solidFill>
                  <a:srgbClr val="FFFFFF"/>
                </a:solidFill>
                <a:latin typeface="IBM Plex Sans"/>
                <a:ea typeface="IBM Plex Sans"/>
                <a:cs typeface="IBM Plex Sans"/>
                <a:sym typeface="IBM Plex Sans"/>
              </a:rPr>
              <a:t>IBM Spyre vs x86 + GPUs</a:t>
            </a:r>
            <a:endParaRPr sz="2400">
              <a:solidFill>
                <a:schemeClr val="dk1"/>
              </a:solidFill>
              <a:latin typeface="Calibri"/>
              <a:ea typeface="Calibri"/>
              <a:cs typeface="Calibri"/>
              <a:sym typeface="Calibri"/>
            </a:endParaRPr>
          </a:p>
        </p:txBody>
      </p:sp>
      <p:sp>
        <p:nvSpPr>
          <p:cNvPr id="577" name="Google Shape;577;p11"/>
          <p:cNvSpPr/>
          <p:nvPr/>
        </p:nvSpPr>
        <p:spPr>
          <a:xfrm>
            <a:off x="8120476" y="3740878"/>
            <a:ext cx="4247067" cy="998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FFFFFF"/>
              </a:buClr>
              <a:buSzPts val="1800"/>
              <a:buFont typeface="IBM Plex Sans"/>
              <a:buNone/>
            </a:pPr>
            <a:r>
              <a:rPr lang="en-US" sz="1800">
                <a:solidFill>
                  <a:srgbClr val="FFFFFF"/>
                </a:solidFill>
                <a:latin typeface="IBM Plex Sans"/>
                <a:ea typeface="IBM Plex Sans"/>
                <a:cs typeface="IBM Plex Sans"/>
                <a:sym typeface="IBM Plex Sans"/>
              </a:rPr>
              <a:t>Benchmark the same models on IBM Spyre and on Intel / AMD x86 servers with NVIDIA or AMD GPUs.</a:t>
            </a:r>
            <a:endParaRPr sz="1800">
              <a:solidFill>
                <a:schemeClr val="dk1"/>
              </a:solidFill>
              <a:latin typeface="Calibri"/>
              <a:ea typeface="Calibri"/>
              <a:cs typeface="Calibri"/>
              <a:sym typeface="Calibri"/>
            </a:endParaRPr>
          </a:p>
        </p:txBody>
      </p:sp>
      <p:sp>
        <p:nvSpPr>
          <p:cNvPr id="578" name="Google Shape;578;p11"/>
          <p:cNvSpPr/>
          <p:nvPr/>
        </p:nvSpPr>
        <p:spPr>
          <a:xfrm>
            <a:off x="12706285" y="2654515"/>
            <a:ext cx="4667333" cy="2280378"/>
          </a:xfrm>
          <a:prstGeom prst="rect">
            <a:avLst/>
          </a:prstGeom>
          <a:solidFill>
            <a:srgbClr val="FFFFFF">
              <a:alpha val="5882"/>
            </a:srgbClr>
          </a:solidFill>
          <a:ln cap="flat" cmpd="sng" w="9525">
            <a:solidFill>
              <a:srgbClr val="FFFFFF">
                <a:alpha val="1607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11"/>
          <p:cNvSpPr/>
          <p:nvPr/>
        </p:nvSpPr>
        <p:spPr>
          <a:xfrm>
            <a:off x="12978226" y="2888341"/>
            <a:ext cx="453579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pc="72" sz="1800">
                <a:solidFill>
                  <a:srgbClr val="78A9FF"/>
                </a:solidFill>
                <a:latin typeface="IBM Plex Mono"/>
                <a:ea typeface="IBM Plex Mono"/>
                <a:cs typeface="IBM Plex Mono"/>
                <a:sym typeface="IBM Plex Mono"/>
              </a:rPr>
              <a:t>02 · USE CASES</a:t>
            </a:r>
            <a:endParaRPr sz="1800">
              <a:solidFill>
                <a:schemeClr val="dk1"/>
              </a:solidFill>
              <a:latin typeface="Calibri"/>
              <a:ea typeface="Calibri"/>
              <a:cs typeface="Calibri"/>
              <a:sym typeface="Calibri"/>
            </a:endParaRPr>
          </a:p>
        </p:txBody>
      </p:sp>
      <p:sp>
        <p:nvSpPr>
          <p:cNvPr id="580" name="Google Shape;580;p11"/>
          <p:cNvSpPr/>
          <p:nvPr/>
        </p:nvSpPr>
        <p:spPr>
          <a:xfrm>
            <a:off x="12978226" y="3279924"/>
            <a:ext cx="4535794" cy="403804"/>
          </a:xfrm>
          <a:prstGeom prst="rect">
            <a:avLst/>
          </a:prstGeom>
          <a:noFill/>
          <a:ln>
            <a:noFill/>
          </a:ln>
        </p:spPr>
        <p:txBody>
          <a:bodyPr anchorCtr="0" anchor="t" bIns="25400" lIns="25400" spcFirstLastPara="1" rIns="25400" wrap="square" tIns="25400">
            <a:normAutofit/>
          </a:bodyPr>
          <a:lstStyle/>
          <a:p>
            <a:pPr indent="0" lvl="0" marL="0" marR="0" rtl="0" algn="l">
              <a:lnSpc>
                <a:spcPct val="92160"/>
              </a:lnSpc>
              <a:spcBef>
                <a:spcPts val="0"/>
              </a:spcBef>
              <a:spcAft>
                <a:spcPts val="0"/>
              </a:spcAft>
              <a:buClr>
                <a:srgbClr val="FFFFFF"/>
              </a:buClr>
              <a:buSzPts val="2400"/>
              <a:buFont typeface="IBM Plex Sans"/>
              <a:buNone/>
            </a:pPr>
            <a:r>
              <a:rPr b="1" lang="en-US" sz="2400">
                <a:solidFill>
                  <a:srgbClr val="FFFFFF"/>
                </a:solidFill>
                <a:latin typeface="IBM Plex Sans"/>
                <a:ea typeface="IBM Plex Sans"/>
                <a:cs typeface="IBM Plex Sans"/>
                <a:sym typeface="IBM Plex Sans"/>
              </a:rPr>
              <a:t>Expand across workloads</a:t>
            </a:r>
            <a:endParaRPr sz="2400">
              <a:solidFill>
                <a:schemeClr val="dk1"/>
              </a:solidFill>
              <a:latin typeface="Calibri"/>
              <a:ea typeface="Calibri"/>
              <a:cs typeface="Calibri"/>
              <a:sym typeface="Calibri"/>
            </a:endParaRPr>
          </a:p>
        </p:txBody>
      </p:sp>
      <p:sp>
        <p:nvSpPr>
          <p:cNvPr id="581" name="Google Shape;581;p11"/>
          <p:cNvSpPr/>
          <p:nvPr/>
        </p:nvSpPr>
        <p:spPr>
          <a:xfrm>
            <a:off x="12978226" y="3740878"/>
            <a:ext cx="4247152" cy="998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C6C6C6"/>
              </a:buClr>
              <a:buSzPts val="1800"/>
              <a:buFont typeface="IBM Plex Sans"/>
              <a:buNone/>
            </a:pPr>
            <a:r>
              <a:rPr lang="en-US" sz="1800">
                <a:solidFill>
                  <a:srgbClr val="C6C6C6"/>
                </a:solidFill>
                <a:latin typeface="IBM Plex Sans"/>
                <a:ea typeface="IBM Plex Sans"/>
                <a:cs typeface="IBM Plex Sans"/>
                <a:sym typeface="IBM Plex Sans"/>
              </a:rPr>
              <a:t>RAG, code, agentic, multimodal and fraud scoring, each judged on the metric it lives by.</a:t>
            </a:r>
            <a:endParaRPr sz="1800">
              <a:solidFill>
                <a:schemeClr val="dk1"/>
              </a:solidFill>
              <a:latin typeface="Calibri"/>
              <a:ea typeface="Calibri"/>
              <a:cs typeface="Calibri"/>
              <a:sym typeface="Calibri"/>
            </a:endParaRPr>
          </a:p>
        </p:txBody>
      </p:sp>
      <p:sp>
        <p:nvSpPr>
          <p:cNvPr id="582" name="Google Shape;582;p11"/>
          <p:cNvSpPr/>
          <p:nvPr/>
        </p:nvSpPr>
        <p:spPr>
          <a:xfrm>
            <a:off x="7848534" y="5125393"/>
            <a:ext cx="4667250" cy="1960315"/>
          </a:xfrm>
          <a:prstGeom prst="rect">
            <a:avLst/>
          </a:prstGeom>
          <a:solidFill>
            <a:srgbClr val="FFFFFF">
              <a:alpha val="5882"/>
            </a:srgbClr>
          </a:solidFill>
          <a:ln cap="flat" cmpd="sng" w="9525">
            <a:solidFill>
              <a:srgbClr val="FFFFFF">
                <a:alpha val="1607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11"/>
          <p:cNvSpPr/>
          <p:nvPr/>
        </p:nvSpPr>
        <p:spPr>
          <a:xfrm>
            <a:off x="8120476" y="5359218"/>
            <a:ext cx="4535703"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pc="72" sz="1800">
                <a:solidFill>
                  <a:srgbClr val="78A9FF"/>
                </a:solidFill>
                <a:latin typeface="IBM Plex Mono"/>
                <a:ea typeface="IBM Plex Mono"/>
                <a:cs typeface="IBM Plex Mono"/>
                <a:sym typeface="IBM Plex Mono"/>
              </a:rPr>
              <a:t>03 · BENCHMARK</a:t>
            </a:r>
            <a:endParaRPr sz="1800">
              <a:solidFill>
                <a:schemeClr val="dk1"/>
              </a:solidFill>
              <a:latin typeface="Calibri"/>
              <a:ea typeface="Calibri"/>
              <a:cs typeface="Calibri"/>
              <a:sym typeface="Calibri"/>
            </a:endParaRPr>
          </a:p>
        </p:txBody>
      </p:sp>
      <p:sp>
        <p:nvSpPr>
          <p:cNvPr id="584" name="Google Shape;584;p11"/>
          <p:cNvSpPr/>
          <p:nvPr/>
        </p:nvSpPr>
        <p:spPr>
          <a:xfrm>
            <a:off x="8120476" y="5750802"/>
            <a:ext cx="4535703" cy="403804"/>
          </a:xfrm>
          <a:prstGeom prst="rect">
            <a:avLst/>
          </a:prstGeom>
          <a:noFill/>
          <a:ln>
            <a:noFill/>
          </a:ln>
        </p:spPr>
        <p:txBody>
          <a:bodyPr anchorCtr="0" anchor="t" bIns="25400" lIns="25400" spcFirstLastPara="1" rIns="25400" wrap="square" tIns="25400">
            <a:normAutofit/>
          </a:bodyPr>
          <a:lstStyle/>
          <a:p>
            <a:pPr indent="0" lvl="0" marL="0" marR="0" rtl="0" algn="l">
              <a:lnSpc>
                <a:spcPct val="92160"/>
              </a:lnSpc>
              <a:spcBef>
                <a:spcPts val="0"/>
              </a:spcBef>
              <a:spcAft>
                <a:spcPts val="0"/>
              </a:spcAft>
              <a:buClr>
                <a:srgbClr val="FFFFFF"/>
              </a:buClr>
              <a:buSzPts val="2400"/>
              <a:buFont typeface="IBM Plex Sans"/>
              <a:buNone/>
            </a:pPr>
            <a:r>
              <a:rPr b="1" lang="en-US" sz="2400">
                <a:solidFill>
                  <a:srgbClr val="FFFFFF"/>
                </a:solidFill>
                <a:latin typeface="IBM Plex Sans"/>
                <a:ea typeface="IBM Plex Sans"/>
                <a:cs typeface="IBM Plex Sans"/>
                <a:sym typeface="IBM Plex Sans"/>
              </a:rPr>
              <a:t>Bring us your workload</a:t>
            </a:r>
            <a:endParaRPr sz="2400">
              <a:solidFill>
                <a:schemeClr val="dk1"/>
              </a:solidFill>
              <a:latin typeface="Calibri"/>
              <a:ea typeface="Calibri"/>
              <a:cs typeface="Calibri"/>
              <a:sym typeface="Calibri"/>
            </a:endParaRPr>
          </a:p>
        </p:txBody>
      </p:sp>
      <p:sp>
        <p:nvSpPr>
          <p:cNvPr id="585" name="Google Shape;585;p11"/>
          <p:cNvSpPr/>
          <p:nvPr/>
        </p:nvSpPr>
        <p:spPr>
          <a:xfrm>
            <a:off x="8120476" y="6211756"/>
            <a:ext cx="4247067" cy="678226"/>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C6C6C6"/>
              </a:buClr>
              <a:buSzPts val="1800"/>
              <a:buFont typeface="IBM Plex Sans"/>
              <a:buNone/>
            </a:pPr>
            <a:r>
              <a:rPr lang="en-US" sz="1800">
                <a:solidFill>
                  <a:srgbClr val="C6C6C6"/>
                </a:solidFill>
                <a:latin typeface="IBM Plex Sans"/>
                <a:ea typeface="IBM Plex Sans"/>
                <a:cs typeface="IBM Plex Sans"/>
                <a:sym typeface="IBM Plex Sans"/>
              </a:rPr>
              <a:t>We replay your traces on IBM Z + Spyre and compare setups side by side.</a:t>
            </a:r>
            <a:endParaRPr sz="1800">
              <a:solidFill>
                <a:schemeClr val="dk1"/>
              </a:solidFill>
              <a:latin typeface="Calibri"/>
              <a:ea typeface="Calibri"/>
              <a:cs typeface="Calibri"/>
              <a:sym typeface="Calibri"/>
            </a:endParaRPr>
          </a:p>
        </p:txBody>
      </p:sp>
      <p:sp>
        <p:nvSpPr>
          <p:cNvPr id="586" name="Google Shape;586;p11"/>
          <p:cNvSpPr/>
          <p:nvPr/>
        </p:nvSpPr>
        <p:spPr>
          <a:xfrm>
            <a:off x="12706285" y="5125393"/>
            <a:ext cx="4667333" cy="1960315"/>
          </a:xfrm>
          <a:prstGeom prst="rect">
            <a:avLst/>
          </a:prstGeom>
          <a:solidFill>
            <a:srgbClr val="FFFFFF">
              <a:alpha val="5882"/>
            </a:srgbClr>
          </a:solidFill>
          <a:ln cap="flat" cmpd="sng" w="9525">
            <a:solidFill>
              <a:srgbClr val="FFFFFF">
                <a:alpha val="1607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11"/>
          <p:cNvSpPr/>
          <p:nvPr/>
        </p:nvSpPr>
        <p:spPr>
          <a:xfrm>
            <a:off x="12978226" y="5359218"/>
            <a:ext cx="453579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1800"/>
              <a:buFont typeface="IBM Plex Mono"/>
              <a:buNone/>
            </a:pPr>
            <a:r>
              <a:rPr lang="en-US" spc="72" sz="1800">
                <a:solidFill>
                  <a:srgbClr val="78A9FF"/>
                </a:solidFill>
                <a:latin typeface="IBM Plex Mono"/>
                <a:ea typeface="IBM Plex Mono"/>
                <a:cs typeface="IBM Plex Mono"/>
                <a:sym typeface="IBM Plex Mono"/>
              </a:rPr>
              <a:t>04 · OPEN SOURCE</a:t>
            </a:r>
            <a:endParaRPr sz="1800">
              <a:solidFill>
                <a:schemeClr val="dk1"/>
              </a:solidFill>
              <a:latin typeface="Calibri"/>
              <a:ea typeface="Calibri"/>
              <a:cs typeface="Calibri"/>
              <a:sym typeface="Calibri"/>
            </a:endParaRPr>
          </a:p>
        </p:txBody>
      </p:sp>
      <p:sp>
        <p:nvSpPr>
          <p:cNvPr id="588" name="Google Shape;588;p11"/>
          <p:cNvSpPr/>
          <p:nvPr/>
        </p:nvSpPr>
        <p:spPr>
          <a:xfrm>
            <a:off x="12978226" y="5750802"/>
            <a:ext cx="4535794" cy="403804"/>
          </a:xfrm>
          <a:prstGeom prst="rect">
            <a:avLst/>
          </a:prstGeom>
          <a:noFill/>
          <a:ln>
            <a:noFill/>
          </a:ln>
        </p:spPr>
        <p:txBody>
          <a:bodyPr anchorCtr="0" anchor="t" bIns="25400" lIns="25400" spcFirstLastPara="1" rIns="25400" wrap="square" tIns="25400">
            <a:normAutofit/>
          </a:bodyPr>
          <a:lstStyle/>
          <a:p>
            <a:pPr indent="0" lvl="0" marL="0" marR="0" rtl="0" algn="l">
              <a:lnSpc>
                <a:spcPct val="92160"/>
              </a:lnSpc>
              <a:spcBef>
                <a:spcPts val="0"/>
              </a:spcBef>
              <a:spcAft>
                <a:spcPts val="0"/>
              </a:spcAft>
              <a:buClr>
                <a:srgbClr val="FFFFFF"/>
              </a:buClr>
              <a:buSzPts val="2400"/>
              <a:buFont typeface="IBM Plex Sans"/>
              <a:buNone/>
            </a:pPr>
            <a:r>
              <a:rPr b="1" lang="en-US" sz="2400">
                <a:solidFill>
                  <a:srgbClr val="FFFFFF"/>
                </a:solidFill>
                <a:latin typeface="IBM Plex Sans"/>
                <a:ea typeface="IBM Plex Sans"/>
                <a:cs typeface="IBM Plex Sans"/>
                <a:sym typeface="IBM Plex Sans"/>
              </a:rPr>
              <a:t>Build it in the open</a:t>
            </a:r>
            <a:endParaRPr sz="2400">
              <a:solidFill>
                <a:schemeClr val="dk1"/>
              </a:solidFill>
              <a:latin typeface="Calibri"/>
              <a:ea typeface="Calibri"/>
              <a:cs typeface="Calibri"/>
              <a:sym typeface="Calibri"/>
            </a:endParaRPr>
          </a:p>
        </p:txBody>
      </p:sp>
      <p:sp>
        <p:nvSpPr>
          <p:cNvPr id="589" name="Google Shape;589;p11"/>
          <p:cNvSpPr/>
          <p:nvPr/>
        </p:nvSpPr>
        <p:spPr>
          <a:xfrm>
            <a:off x="12978226" y="6211756"/>
            <a:ext cx="4247152" cy="678226"/>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C6C6C6"/>
              </a:buClr>
              <a:buSzPts val="1800"/>
              <a:buFont typeface="IBM Plex Sans"/>
              <a:buNone/>
            </a:pPr>
            <a:r>
              <a:rPr lang="en-US" sz="1800">
                <a:solidFill>
                  <a:srgbClr val="C6C6C6"/>
                </a:solidFill>
                <a:latin typeface="IBM Plex Sans"/>
                <a:ea typeface="IBM Plex Sans"/>
                <a:cs typeface="IBM Plex Sans"/>
                <a:sym typeface="IBM Plex Sans"/>
              </a:rPr>
              <a:t>Contribute benchmarks, issues and docs to vLLM, vllm-spyre and llm-d.</a:t>
            </a:r>
            <a:endParaRPr sz="1800">
              <a:solidFill>
                <a:schemeClr val="dk1"/>
              </a:solidFill>
              <a:latin typeface="Calibri"/>
              <a:ea typeface="Calibri"/>
              <a:cs typeface="Calibri"/>
              <a:sym typeface="Calibri"/>
            </a:endParaRPr>
          </a:p>
        </p:txBody>
      </p:sp>
      <p:sp>
        <p:nvSpPr>
          <p:cNvPr id="590" name="Google Shape;590;p11"/>
          <p:cNvSpPr/>
          <p:nvPr/>
        </p:nvSpPr>
        <p:spPr>
          <a:xfrm>
            <a:off x="7848534" y="8512308"/>
            <a:ext cx="9525083" cy="9525"/>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11"/>
          <p:cNvSpPr/>
          <p:nvPr/>
        </p:nvSpPr>
        <p:spPr>
          <a:xfrm>
            <a:off x="7848534" y="8784250"/>
            <a:ext cx="1989361"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IBM Plex Sans"/>
              <a:buNone/>
            </a:pPr>
            <a:r>
              <a:rPr lang="en-US" sz="2250">
                <a:solidFill>
                  <a:srgbClr val="FFFFFF"/>
                </a:solidFill>
                <a:latin typeface="IBM Plex Sans"/>
                <a:ea typeface="IBM Plex Sans"/>
                <a:cs typeface="IBM Plex Sans"/>
                <a:sym typeface="IBM Plex Sans"/>
              </a:rPr>
              <a:t>Shared traces</a:t>
            </a:r>
            <a:endParaRPr sz="2250">
              <a:solidFill>
                <a:schemeClr val="dk1"/>
              </a:solidFill>
              <a:latin typeface="Calibri"/>
              <a:ea typeface="Calibri"/>
              <a:cs typeface="Calibri"/>
              <a:sym typeface="Calibri"/>
            </a:endParaRPr>
          </a:p>
        </p:txBody>
      </p:sp>
      <p:sp>
        <p:nvSpPr>
          <p:cNvPr id="592" name="Google Shape;592;p11"/>
          <p:cNvSpPr/>
          <p:nvPr/>
        </p:nvSpPr>
        <p:spPr>
          <a:xfrm>
            <a:off x="9809428" y="8784250"/>
            <a:ext cx="361950"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2250"/>
              <a:buFont typeface="IBM Plex Sans"/>
              <a:buNone/>
            </a:pPr>
            <a:r>
              <a:rPr lang="en-US" sz="2250">
                <a:solidFill>
                  <a:srgbClr val="78A9FF"/>
                </a:solidFill>
                <a:latin typeface="IBM Plex Sans"/>
                <a:ea typeface="IBM Plex Sans"/>
                <a:cs typeface="IBM Plex Sans"/>
                <a:sym typeface="IBM Plex Sans"/>
              </a:rPr>
              <a:t>→</a:t>
            </a:r>
            <a:endParaRPr sz="2250">
              <a:solidFill>
                <a:schemeClr val="dk1"/>
              </a:solidFill>
              <a:latin typeface="Calibri"/>
              <a:ea typeface="Calibri"/>
              <a:cs typeface="Calibri"/>
              <a:sym typeface="Calibri"/>
            </a:endParaRPr>
          </a:p>
        </p:txBody>
      </p:sp>
      <p:sp>
        <p:nvSpPr>
          <p:cNvPr id="593" name="Google Shape;593;p11"/>
          <p:cNvSpPr/>
          <p:nvPr/>
        </p:nvSpPr>
        <p:spPr>
          <a:xfrm>
            <a:off x="10247561" y="8784250"/>
            <a:ext cx="3063032"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IBM Plex Sans"/>
              <a:buNone/>
            </a:pPr>
            <a:r>
              <a:rPr lang="en-US" sz="2250">
                <a:solidFill>
                  <a:srgbClr val="FFFFFF"/>
                </a:solidFill>
                <a:latin typeface="IBM Plex Sans"/>
                <a:ea typeface="IBM Plex Sans"/>
                <a:cs typeface="IBM Plex Sans"/>
                <a:sym typeface="IBM Plex Sans"/>
              </a:rPr>
              <a:t>comparable numbers</a:t>
            </a:r>
            <a:endParaRPr sz="2250">
              <a:solidFill>
                <a:schemeClr val="dk1"/>
              </a:solidFill>
              <a:latin typeface="Calibri"/>
              <a:ea typeface="Calibri"/>
              <a:cs typeface="Calibri"/>
              <a:sym typeface="Calibri"/>
            </a:endParaRPr>
          </a:p>
        </p:txBody>
      </p:sp>
      <p:sp>
        <p:nvSpPr>
          <p:cNvPr id="594" name="Google Shape;594;p11"/>
          <p:cNvSpPr/>
          <p:nvPr/>
        </p:nvSpPr>
        <p:spPr>
          <a:xfrm>
            <a:off x="13184518" y="8784250"/>
            <a:ext cx="361950"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8A9FF"/>
              </a:buClr>
              <a:buSzPts val="2250"/>
              <a:buFont typeface="IBM Plex Sans"/>
              <a:buNone/>
            </a:pPr>
            <a:r>
              <a:rPr lang="en-US" sz="2250">
                <a:solidFill>
                  <a:srgbClr val="78A9FF"/>
                </a:solidFill>
                <a:latin typeface="IBM Plex Sans"/>
                <a:ea typeface="IBM Plex Sans"/>
                <a:cs typeface="IBM Plex Sans"/>
                <a:sym typeface="IBM Plex Sans"/>
              </a:rPr>
              <a:t>→</a:t>
            </a:r>
            <a:endParaRPr sz="2250">
              <a:solidFill>
                <a:schemeClr val="dk1"/>
              </a:solidFill>
              <a:latin typeface="Calibri"/>
              <a:ea typeface="Calibri"/>
              <a:cs typeface="Calibri"/>
              <a:sym typeface="Calibri"/>
            </a:endParaRPr>
          </a:p>
        </p:txBody>
      </p:sp>
      <p:sp>
        <p:nvSpPr>
          <p:cNvPr id="595" name="Google Shape;595;p11"/>
          <p:cNvSpPr/>
          <p:nvPr/>
        </p:nvSpPr>
        <p:spPr>
          <a:xfrm>
            <a:off x="7848534" y="9307050"/>
            <a:ext cx="5448300" cy="4085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IBM Plex Sans"/>
              <a:buNone/>
            </a:pPr>
            <a:r>
              <a:rPr lang="en-US" sz="2250">
                <a:solidFill>
                  <a:srgbClr val="FFFFFF"/>
                </a:solidFill>
                <a:latin typeface="IBM Plex Sans"/>
                <a:ea typeface="IBM Plex Sans"/>
                <a:cs typeface="IBM Plex Sans"/>
                <a:sym typeface="IBM Plex Sans"/>
              </a:rPr>
              <a:t>faster, cheaper inference for everyone</a:t>
            </a:r>
            <a:endParaRPr sz="22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0" name="Shape 600"/>
        <p:cNvGrpSpPr/>
        <p:nvPr/>
      </p:nvGrpSpPr>
      <p:grpSpPr>
        <a:xfrm>
          <a:off x="0" y="0"/>
          <a:ext cx="0" cy="0"/>
          <a:chOff x="0" y="0"/>
          <a:chExt cx="0" cy="0"/>
        </a:xfrm>
      </p:grpSpPr>
      <p:sp>
        <p:nvSpPr>
          <p:cNvPr id="601" name="Google Shape;601;p12"/>
          <p:cNvSpPr/>
          <p:nvPr/>
        </p:nvSpPr>
        <p:spPr>
          <a:xfrm>
            <a:off x="914384" y="415892"/>
            <a:ext cx="1462980" cy="463517"/>
          </a:xfrm>
          <a:prstGeom prst="rect">
            <a:avLst/>
          </a:prstGeom>
          <a:solidFill>
            <a:srgbClr val="F1C21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12"/>
          <p:cNvSpPr/>
          <p:nvPr/>
        </p:nvSpPr>
        <p:spPr>
          <a:xfrm>
            <a:off x="1085834" y="473042"/>
            <a:ext cx="1196280" cy="3873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100"/>
              <a:buFont typeface="IBM Plex Mono"/>
              <a:buNone/>
            </a:pPr>
            <a:r>
              <a:rPr b="1" lang="en-US" spc="210" sz="2100">
                <a:solidFill>
                  <a:srgbClr val="161616"/>
                </a:solidFill>
                <a:latin typeface="IBM Plex Mono"/>
                <a:ea typeface="IBM Plex Mono"/>
                <a:cs typeface="IBM Plex Mono"/>
                <a:sym typeface="IBM Plex Mono"/>
              </a:rPr>
              <a:t>BACKUP</a:t>
            </a:r>
            <a:endParaRPr sz="2100">
              <a:solidFill>
                <a:schemeClr val="dk1"/>
              </a:solidFill>
              <a:latin typeface="Calibri"/>
              <a:ea typeface="Calibri"/>
              <a:cs typeface="Calibri"/>
              <a:sym typeface="Calibri"/>
            </a:endParaRPr>
          </a:p>
        </p:txBody>
      </p:sp>
      <p:sp>
        <p:nvSpPr>
          <p:cNvPr id="603" name="Google Shape;603;p12"/>
          <p:cNvSpPr/>
          <p:nvPr/>
        </p:nvSpPr>
        <p:spPr>
          <a:xfrm>
            <a:off x="2567864" y="499484"/>
            <a:ext cx="307731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WHAT IS IBM SPYRE?</a:t>
            </a:r>
            <a:endParaRPr sz="1800">
              <a:solidFill>
                <a:schemeClr val="dk1"/>
              </a:solidFill>
              <a:latin typeface="Calibri"/>
              <a:ea typeface="Calibri"/>
              <a:cs typeface="Calibri"/>
              <a:sym typeface="Calibri"/>
            </a:endParaRPr>
          </a:p>
        </p:txBody>
      </p:sp>
      <p:pic>
        <p:nvPicPr>
          <p:cNvPr descr="preencoded.png" id="604" name="Google Shape;604;p12"/>
          <p:cNvPicPr preferRelativeResize="0"/>
          <p:nvPr/>
        </p:nvPicPr>
        <p:blipFill rotWithShape="1">
          <a:blip r:embed="rId3">
            <a:alphaModFix/>
          </a:blip>
          <a:srcRect b="0" l="0" r="0" t="0"/>
          <a:stretch/>
        </p:blipFill>
        <p:spPr>
          <a:xfrm>
            <a:off x="16889926" y="381000"/>
            <a:ext cx="483691" cy="533384"/>
          </a:xfrm>
          <a:prstGeom prst="rect">
            <a:avLst/>
          </a:prstGeom>
          <a:noFill/>
          <a:ln>
            <a:noFill/>
          </a:ln>
        </p:spPr>
      </p:pic>
      <p:sp>
        <p:nvSpPr>
          <p:cNvPr id="605" name="Google Shape;605;p12"/>
          <p:cNvSpPr/>
          <p:nvPr/>
        </p:nvSpPr>
        <p:spPr>
          <a:xfrm>
            <a:off x="914384" y="990534"/>
            <a:ext cx="18105157" cy="624814"/>
          </a:xfrm>
          <a:prstGeom prst="rect">
            <a:avLst/>
          </a:prstGeom>
          <a:noFill/>
          <a:ln>
            <a:noFill/>
          </a:ln>
        </p:spPr>
        <p:txBody>
          <a:bodyPr anchorCtr="0" anchor="t" bIns="25400" lIns="25400" spcFirstLastPara="1" rIns="25400" wrap="square" tIns="25400">
            <a:normAutofit/>
          </a:bodyPr>
          <a:lstStyle/>
          <a:p>
            <a:pPr indent="0" lvl="0" marL="0" marR="0" rtl="0" algn="l">
              <a:lnSpc>
                <a:spcPct val="84641"/>
              </a:lnSpc>
              <a:spcBef>
                <a:spcPts val="0"/>
              </a:spcBef>
              <a:spcAft>
                <a:spcPts val="0"/>
              </a:spcAft>
              <a:buClr>
                <a:srgbClr val="161616"/>
              </a:buClr>
              <a:buSzPts val="4200"/>
              <a:buFont typeface="IBM Plex Sans"/>
              <a:buNone/>
            </a:pPr>
            <a:r>
              <a:rPr b="1" lang="en-US" spc="-42" sz="4200">
                <a:solidFill>
                  <a:srgbClr val="161616"/>
                </a:solidFill>
                <a:latin typeface="IBM Plex Sans"/>
                <a:ea typeface="IBM Plex Sans"/>
                <a:cs typeface="IBM Plex Sans"/>
                <a:sym typeface="IBM Plex Sans"/>
              </a:rPr>
              <a:t>IBM Spyre: AI acceleration next to core business data</a:t>
            </a:r>
            <a:endParaRPr sz="4200">
              <a:solidFill>
                <a:schemeClr val="dk1"/>
              </a:solidFill>
              <a:latin typeface="Calibri"/>
              <a:ea typeface="Calibri"/>
              <a:cs typeface="Calibri"/>
              <a:sym typeface="Calibri"/>
            </a:endParaRPr>
          </a:p>
        </p:txBody>
      </p:sp>
      <p:sp>
        <p:nvSpPr>
          <p:cNvPr id="606" name="Google Shape;606;p12"/>
          <p:cNvSpPr/>
          <p:nvPr/>
        </p:nvSpPr>
        <p:spPr>
          <a:xfrm>
            <a:off x="914384" y="1767747"/>
            <a:ext cx="11811000" cy="6457901"/>
          </a:xfrm>
          <a:prstGeom prst="rect">
            <a:avLst/>
          </a:prstGeom>
          <a:solidFill>
            <a:srgbClr val="F4F4F4"/>
          </a:solidFill>
          <a:ln cap="flat" cmpd="sng" w="9525">
            <a:solidFill>
              <a:srgbClr val="E0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07" name="Google Shape;607;p12"/>
          <p:cNvPicPr preferRelativeResize="0"/>
          <p:nvPr/>
        </p:nvPicPr>
        <p:blipFill rotWithShape="1">
          <a:blip r:embed="rId4">
            <a:alphaModFix/>
          </a:blip>
          <a:srcRect b="-11" l="0" r="0" t="-11"/>
          <a:stretch/>
        </p:blipFill>
        <p:spPr>
          <a:xfrm>
            <a:off x="919675" y="1773039"/>
            <a:ext cx="11800417" cy="6447318"/>
          </a:xfrm>
          <a:prstGeom prst="rect">
            <a:avLst/>
          </a:prstGeom>
          <a:noFill/>
          <a:ln>
            <a:noFill/>
          </a:ln>
        </p:spPr>
      </p:pic>
      <p:sp>
        <p:nvSpPr>
          <p:cNvPr id="608" name="Google Shape;608;p12"/>
          <p:cNvSpPr/>
          <p:nvPr/>
        </p:nvSpPr>
        <p:spPr>
          <a:xfrm>
            <a:off x="12953917" y="1767747"/>
            <a:ext cx="4419699" cy="6457901"/>
          </a:xfrm>
          <a:prstGeom prst="rect">
            <a:avLst/>
          </a:prstGeom>
          <a:solidFill>
            <a:srgbClr val="001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12"/>
          <p:cNvSpPr/>
          <p:nvPr/>
        </p:nvSpPr>
        <p:spPr>
          <a:xfrm>
            <a:off x="12953917" y="3615366"/>
            <a:ext cx="2209850" cy="9525"/>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0" name="Google Shape;610;p12"/>
          <p:cNvSpPr/>
          <p:nvPr/>
        </p:nvSpPr>
        <p:spPr>
          <a:xfrm>
            <a:off x="15158475" y="1767747"/>
            <a:ext cx="9525" cy="1852910"/>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12"/>
          <p:cNvSpPr/>
          <p:nvPr/>
        </p:nvSpPr>
        <p:spPr>
          <a:xfrm>
            <a:off x="13182452" y="2299643"/>
            <a:ext cx="1922239" cy="498062"/>
          </a:xfrm>
          <a:prstGeom prst="rect">
            <a:avLst/>
          </a:prstGeom>
          <a:noFill/>
          <a:ln>
            <a:noFill/>
          </a:ln>
        </p:spPr>
        <p:txBody>
          <a:bodyPr anchorCtr="0" anchor="t" bIns="25400" lIns="25400" spcFirstLastPara="1" rIns="25400" wrap="square" tIns="25400">
            <a:normAutofit/>
          </a:bodyPr>
          <a:lstStyle/>
          <a:p>
            <a:pPr indent="0" lvl="0" marL="0" marR="0" rtl="0" algn="l">
              <a:lnSpc>
                <a:spcPct val="80500"/>
              </a:lnSpc>
              <a:spcBef>
                <a:spcPts val="0"/>
              </a:spcBef>
              <a:spcAft>
                <a:spcPts val="0"/>
              </a:spcAft>
              <a:buClr>
                <a:srgbClr val="FFFFFF"/>
              </a:buClr>
              <a:buSzPts val="3450"/>
              <a:buFont typeface="IBM Plex Sans"/>
              <a:buNone/>
            </a:pPr>
            <a:r>
              <a:rPr b="1" lang="en-US" sz="3450">
                <a:solidFill>
                  <a:srgbClr val="FFFFFF"/>
                </a:solidFill>
                <a:latin typeface="IBM Plex Sans"/>
                <a:ea typeface="IBM Plex Sans"/>
                <a:cs typeface="IBM Plex Sans"/>
                <a:sym typeface="IBM Plex Sans"/>
              </a:rPr>
              <a:t>32</a:t>
            </a:r>
            <a:endParaRPr sz="3450">
              <a:solidFill>
                <a:schemeClr val="dk1"/>
              </a:solidFill>
              <a:latin typeface="Calibri"/>
              <a:ea typeface="Calibri"/>
              <a:cs typeface="Calibri"/>
              <a:sym typeface="Calibri"/>
            </a:endParaRPr>
          </a:p>
        </p:txBody>
      </p:sp>
      <p:sp>
        <p:nvSpPr>
          <p:cNvPr id="612" name="Google Shape;612;p12"/>
          <p:cNvSpPr/>
          <p:nvPr/>
        </p:nvSpPr>
        <p:spPr>
          <a:xfrm>
            <a:off x="13182452" y="2797638"/>
            <a:ext cx="1922239" cy="323850"/>
          </a:xfrm>
          <a:prstGeom prst="rect">
            <a:avLst/>
          </a:prstGeom>
          <a:noFill/>
          <a:ln>
            <a:noFill/>
          </a:ln>
        </p:spPr>
        <p:txBody>
          <a:bodyPr anchorCtr="0" anchor="t" bIns="25400" lIns="25400" spcFirstLastPara="1" rIns="25400" wrap="square" tIns="25400">
            <a:normAutofit/>
          </a:bodyPr>
          <a:lstStyle/>
          <a:p>
            <a:pPr indent="0" lvl="0" marL="0" marR="0" rtl="0" algn="l">
              <a:lnSpc>
                <a:spcPct val="96429"/>
              </a:lnSpc>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AI cores per chip</a:t>
            </a:r>
            <a:endParaRPr sz="1800">
              <a:solidFill>
                <a:schemeClr val="dk1"/>
              </a:solidFill>
              <a:latin typeface="Calibri"/>
              <a:ea typeface="Calibri"/>
              <a:cs typeface="Calibri"/>
              <a:sym typeface="Calibri"/>
            </a:endParaRPr>
          </a:p>
        </p:txBody>
      </p:sp>
      <p:sp>
        <p:nvSpPr>
          <p:cNvPr id="613" name="Google Shape;613;p12"/>
          <p:cNvSpPr/>
          <p:nvPr/>
        </p:nvSpPr>
        <p:spPr>
          <a:xfrm>
            <a:off x="15163767" y="3615366"/>
            <a:ext cx="2209850" cy="9525"/>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4" name="Google Shape;614;p12"/>
          <p:cNvSpPr/>
          <p:nvPr/>
        </p:nvSpPr>
        <p:spPr>
          <a:xfrm>
            <a:off x="17368325" y="1767747"/>
            <a:ext cx="9525" cy="1852910"/>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12"/>
          <p:cNvSpPr/>
          <p:nvPr/>
        </p:nvSpPr>
        <p:spPr>
          <a:xfrm>
            <a:off x="15392301" y="2156768"/>
            <a:ext cx="1922239" cy="498062"/>
          </a:xfrm>
          <a:prstGeom prst="rect">
            <a:avLst/>
          </a:prstGeom>
          <a:noFill/>
          <a:ln>
            <a:noFill/>
          </a:ln>
        </p:spPr>
        <p:txBody>
          <a:bodyPr anchorCtr="0" anchor="t" bIns="25400" lIns="25400" spcFirstLastPara="1" rIns="25400" wrap="square" tIns="25400">
            <a:normAutofit/>
          </a:bodyPr>
          <a:lstStyle/>
          <a:p>
            <a:pPr indent="0" lvl="0" marL="0" marR="0" rtl="0" algn="l">
              <a:lnSpc>
                <a:spcPct val="80500"/>
              </a:lnSpc>
              <a:spcBef>
                <a:spcPts val="0"/>
              </a:spcBef>
              <a:spcAft>
                <a:spcPts val="0"/>
              </a:spcAft>
              <a:buClr>
                <a:srgbClr val="FFFFFF"/>
              </a:buClr>
              <a:buSzPts val="3450"/>
              <a:buFont typeface="IBM Plex Sans"/>
              <a:buNone/>
            </a:pPr>
            <a:r>
              <a:rPr b="1" lang="en-US" sz="3450">
                <a:solidFill>
                  <a:srgbClr val="FFFFFF"/>
                </a:solidFill>
                <a:latin typeface="IBM Plex Sans"/>
                <a:ea typeface="IBM Plex Sans"/>
                <a:cs typeface="IBM Plex Sans"/>
                <a:sym typeface="IBM Plex Sans"/>
              </a:rPr>
              <a:t>25.6B</a:t>
            </a:r>
            <a:endParaRPr sz="3450">
              <a:solidFill>
                <a:schemeClr val="dk1"/>
              </a:solidFill>
              <a:latin typeface="Calibri"/>
              <a:ea typeface="Calibri"/>
              <a:cs typeface="Calibri"/>
              <a:sym typeface="Calibri"/>
            </a:endParaRPr>
          </a:p>
        </p:txBody>
      </p:sp>
      <p:sp>
        <p:nvSpPr>
          <p:cNvPr id="616" name="Google Shape;616;p12"/>
          <p:cNvSpPr/>
          <p:nvPr/>
        </p:nvSpPr>
        <p:spPr>
          <a:xfrm>
            <a:off x="15392301" y="2654763"/>
            <a:ext cx="1823690" cy="609600"/>
          </a:xfrm>
          <a:prstGeom prst="rect">
            <a:avLst/>
          </a:prstGeom>
          <a:noFill/>
          <a:ln>
            <a:noFill/>
          </a:ln>
        </p:spPr>
        <p:txBody>
          <a:bodyPr anchorCtr="0" anchor="t" bIns="25400" lIns="25400" spcFirstLastPara="1" rIns="25400" wrap="square" tIns="25400">
            <a:normAutofit/>
          </a:bodyPr>
          <a:lstStyle/>
          <a:p>
            <a:pPr indent="0" lvl="0" marL="0" marR="0" rtl="0" algn="l">
              <a:lnSpc>
                <a:spcPct val="96429"/>
              </a:lnSpc>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transistors · 5 nm</a:t>
            </a:r>
            <a:endParaRPr sz="1800">
              <a:solidFill>
                <a:schemeClr val="dk1"/>
              </a:solidFill>
              <a:latin typeface="Calibri"/>
              <a:ea typeface="Calibri"/>
              <a:cs typeface="Calibri"/>
              <a:sym typeface="Calibri"/>
            </a:endParaRPr>
          </a:p>
        </p:txBody>
      </p:sp>
      <p:sp>
        <p:nvSpPr>
          <p:cNvPr id="617" name="Google Shape;617;p12"/>
          <p:cNvSpPr/>
          <p:nvPr/>
        </p:nvSpPr>
        <p:spPr>
          <a:xfrm>
            <a:off x="12953917" y="5468276"/>
            <a:ext cx="2209850" cy="9525"/>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12"/>
          <p:cNvSpPr/>
          <p:nvPr/>
        </p:nvSpPr>
        <p:spPr>
          <a:xfrm>
            <a:off x="15158475" y="3620658"/>
            <a:ext cx="9525" cy="1852910"/>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12"/>
          <p:cNvSpPr/>
          <p:nvPr/>
        </p:nvSpPr>
        <p:spPr>
          <a:xfrm>
            <a:off x="13182452" y="4152553"/>
            <a:ext cx="1922239" cy="498062"/>
          </a:xfrm>
          <a:prstGeom prst="rect">
            <a:avLst/>
          </a:prstGeom>
          <a:noFill/>
          <a:ln>
            <a:noFill/>
          </a:ln>
        </p:spPr>
        <p:txBody>
          <a:bodyPr anchorCtr="0" anchor="t" bIns="25400" lIns="25400" spcFirstLastPara="1" rIns="25400" wrap="square" tIns="25400">
            <a:normAutofit/>
          </a:bodyPr>
          <a:lstStyle/>
          <a:p>
            <a:pPr indent="0" lvl="0" marL="0" marR="0" rtl="0" algn="l">
              <a:lnSpc>
                <a:spcPct val="80500"/>
              </a:lnSpc>
              <a:spcBef>
                <a:spcPts val="0"/>
              </a:spcBef>
              <a:spcAft>
                <a:spcPts val="0"/>
              </a:spcAft>
              <a:buClr>
                <a:srgbClr val="FFFFFF"/>
              </a:buClr>
              <a:buSzPts val="3450"/>
              <a:buFont typeface="IBM Plex Sans"/>
              <a:buNone/>
            </a:pPr>
            <a:r>
              <a:rPr b="1" lang="en-US" sz="3450">
                <a:solidFill>
                  <a:srgbClr val="FFFFFF"/>
                </a:solidFill>
                <a:latin typeface="IBM Plex Sans"/>
                <a:ea typeface="IBM Plex Sans"/>
                <a:cs typeface="IBM Plex Sans"/>
                <a:sym typeface="IBM Plex Sans"/>
              </a:rPr>
              <a:t>75 W</a:t>
            </a:r>
            <a:endParaRPr sz="3450">
              <a:solidFill>
                <a:schemeClr val="dk1"/>
              </a:solidFill>
              <a:latin typeface="Calibri"/>
              <a:ea typeface="Calibri"/>
              <a:cs typeface="Calibri"/>
              <a:sym typeface="Calibri"/>
            </a:endParaRPr>
          </a:p>
        </p:txBody>
      </p:sp>
      <p:sp>
        <p:nvSpPr>
          <p:cNvPr id="620" name="Google Shape;620;p12"/>
          <p:cNvSpPr/>
          <p:nvPr/>
        </p:nvSpPr>
        <p:spPr>
          <a:xfrm>
            <a:off x="13182452" y="4650548"/>
            <a:ext cx="1922239" cy="323850"/>
          </a:xfrm>
          <a:prstGeom prst="rect">
            <a:avLst/>
          </a:prstGeom>
          <a:noFill/>
          <a:ln>
            <a:noFill/>
          </a:ln>
        </p:spPr>
        <p:txBody>
          <a:bodyPr anchorCtr="0" anchor="t" bIns="25400" lIns="25400" spcFirstLastPara="1" rIns="25400" wrap="square" tIns="25400">
            <a:normAutofit/>
          </a:bodyPr>
          <a:lstStyle/>
          <a:p>
            <a:pPr indent="0" lvl="0" marL="0" marR="0" rtl="0" algn="l">
              <a:lnSpc>
                <a:spcPct val="96429"/>
              </a:lnSpc>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PCIe card</a:t>
            </a:r>
            <a:endParaRPr sz="1800">
              <a:solidFill>
                <a:schemeClr val="dk1"/>
              </a:solidFill>
              <a:latin typeface="Calibri"/>
              <a:ea typeface="Calibri"/>
              <a:cs typeface="Calibri"/>
              <a:sym typeface="Calibri"/>
            </a:endParaRPr>
          </a:p>
        </p:txBody>
      </p:sp>
      <p:sp>
        <p:nvSpPr>
          <p:cNvPr id="621" name="Google Shape;621;p12"/>
          <p:cNvSpPr/>
          <p:nvPr/>
        </p:nvSpPr>
        <p:spPr>
          <a:xfrm>
            <a:off x="15163767" y="5468276"/>
            <a:ext cx="2209850" cy="9525"/>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2" name="Google Shape;622;p12"/>
          <p:cNvSpPr/>
          <p:nvPr/>
        </p:nvSpPr>
        <p:spPr>
          <a:xfrm>
            <a:off x="17368325" y="3620658"/>
            <a:ext cx="9525" cy="1852910"/>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12"/>
          <p:cNvSpPr/>
          <p:nvPr/>
        </p:nvSpPr>
        <p:spPr>
          <a:xfrm>
            <a:off x="15392301" y="4152553"/>
            <a:ext cx="1922239" cy="498062"/>
          </a:xfrm>
          <a:prstGeom prst="rect">
            <a:avLst/>
          </a:prstGeom>
          <a:noFill/>
          <a:ln>
            <a:noFill/>
          </a:ln>
        </p:spPr>
        <p:txBody>
          <a:bodyPr anchorCtr="0" anchor="t" bIns="25400" lIns="25400" spcFirstLastPara="1" rIns="25400" wrap="square" tIns="25400">
            <a:normAutofit/>
          </a:bodyPr>
          <a:lstStyle/>
          <a:p>
            <a:pPr indent="0" lvl="0" marL="0" marR="0" rtl="0" algn="l">
              <a:lnSpc>
                <a:spcPct val="80500"/>
              </a:lnSpc>
              <a:spcBef>
                <a:spcPts val="0"/>
              </a:spcBef>
              <a:spcAft>
                <a:spcPts val="0"/>
              </a:spcAft>
              <a:buClr>
                <a:srgbClr val="FFFFFF"/>
              </a:buClr>
              <a:buSzPts val="3450"/>
              <a:buFont typeface="IBM Plex Sans"/>
              <a:buNone/>
            </a:pPr>
            <a:r>
              <a:rPr b="1" lang="en-US" sz="3450">
                <a:solidFill>
                  <a:srgbClr val="FFFFFF"/>
                </a:solidFill>
                <a:latin typeface="IBM Plex Sans"/>
                <a:ea typeface="IBM Plex Sans"/>
                <a:cs typeface="IBM Plex Sans"/>
                <a:sym typeface="IBM Plex Sans"/>
              </a:rPr>
              <a:t>128 GB</a:t>
            </a:r>
            <a:endParaRPr sz="3450">
              <a:solidFill>
                <a:schemeClr val="dk1"/>
              </a:solidFill>
              <a:latin typeface="Calibri"/>
              <a:ea typeface="Calibri"/>
              <a:cs typeface="Calibri"/>
              <a:sym typeface="Calibri"/>
            </a:endParaRPr>
          </a:p>
        </p:txBody>
      </p:sp>
      <p:sp>
        <p:nvSpPr>
          <p:cNvPr id="624" name="Google Shape;624;p12"/>
          <p:cNvSpPr/>
          <p:nvPr/>
        </p:nvSpPr>
        <p:spPr>
          <a:xfrm>
            <a:off x="15392301" y="4650548"/>
            <a:ext cx="1922239" cy="323850"/>
          </a:xfrm>
          <a:prstGeom prst="rect">
            <a:avLst/>
          </a:prstGeom>
          <a:noFill/>
          <a:ln>
            <a:noFill/>
          </a:ln>
        </p:spPr>
        <p:txBody>
          <a:bodyPr anchorCtr="0" anchor="t" bIns="25400" lIns="25400" spcFirstLastPara="1" rIns="25400" wrap="square" tIns="25400">
            <a:normAutofit/>
          </a:bodyPr>
          <a:lstStyle/>
          <a:p>
            <a:pPr indent="0" lvl="0" marL="0" marR="0" rtl="0" algn="l">
              <a:lnSpc>
                <a:spcPct val="96429"/>
              </a:lnSpc>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LPDDR5 per card</a:t>
            </a:r>
            <a:endParaRPr sz="1800">
              <a:solidFill>
                <a:schemeClr val="dk1"/>
              </a:solidFill>
              <a:latin typeface="Calibri"/>
              <a:ea typeface="Calibri"/>
              <a:cs typeface="Calibri"/>
              <a:sym typeface="Calibri"/>
            </a:endParaRPr>
          </a:p>
        </p:txBody>
      </p:sp>
      <p:sp>
        <p:nvSpPr>
          <p:cNvPr id="625" name="Google Shape;625;p12"/>
          <p:cNvSpPr/>
          <p:nvPr/>
        </p:nvSpPr>
        <p:spPr>
          <a:xfrm>
            <a:off x="12953917" y="7321269"/>
            <a:ext cx="2209850" cy="9525"/>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12"/>
          <p:cNvSpPr/>
          <p:nvPr/>
        </p:nvSpPr>
        <p:spPr>
          <a:xfrm>
            <a:off x="15158475" y="5473568"/>
            <a:ext cx="9525" cy="1852993"/>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12"/>
          <p:cNvSpPr/>
          <p:nvPr/>
        </p:nvSpPr>
        <p:spPr>
          <a:xfrm>
            <a:off x="13182452" y="5862671"/>
            <a:ext cx="1922239" cy="498062"/>
          </a:xfrm>
          <a:prstGeom prst="rect">
            <a:avLst/>
          </a:prstGeom>
          <a:noFill/>
          <a:ln>
            <a:noFill/>
          </a:ln>
        </p:spPr>
        <p:txBody>
          <a:bodyPr anchorCtr="0" anchor="t" bIns="25400" lIns="25400" spcFirstLastPara="1" rIns="25400" wrap="square" tIns="25400">
            <a:normAutofit/>
          </a:bodyPr>
          <a:lstStyle/>
          <a:p>
            <a:pPr indent="0" lvl="0" marL="0" marR="0" rtl="0" algn="l">
              <a:lnSpc>
                <a:spcPct val="80500"/>
              </a:lnSpc>
              <a:spcBef>
                <a:spcPts val="0"/>
              </a:spcBef>
              <a:spcAft>
                <a:spcPts val="0"/>
              </a:spcAft>
              <a:buClr>
                <a:srgbClr val="FFFFFF"/>
              </a:buClr>
              <a:buSzPts val="3450"/>
              <a:buFont typeface="IBM Plex Sans"/>
              <a:buNone/>
            </a:pPr>
            <a:r>
              <a:rPr b="1" lang="en-US" sz="3450">
                <a:solidFill>
                  <a:srgbClr val="FFFFFF"/>
                </a:solidFill>
                <a:latin typeface="IBM Plex Sans"/>
                <a:ea typeface="IBM Plex Sans"/>
                <a:cs typeface="IBM Plex Sans"/>
                <a:sym typeface="IBM Plex Sans"/>
              </a:rPr>
              <a:t>48</a:t>
            </a:r>
            <a:endParaRPr sz="3450">
              <a:solidFill>
                <a:schemeClr val="dk1"/>
              </a:solidFill>
              <a:latin typeface="Calibri"/>
              <a:ea typeface="Calibri"/>
              <a:cs typeface="Calibri"/>
              <a:sym typeface="Calibri"/>
            </a:endParaRPr>
          </a:p>
        </p:txBody>
      </p:sp>
      <p:sp>
        <p:nvSpPr>
          <p:cNvPr id="628" name="Google Shape;628;p12"/>
          <p:cNvSpPr/>
          <p:nvPr/>
        </p:nvSpPr>
        <p:spPr>
          <a:xfrm>
            <a:off x="13182452" y="6360666"/>
            <a:ext cx="1823690" cy="609600"/>
          </a:xfrm>
          <a:prstGeom prst="rect">
            <a:avLst/>
          </a:prstGeom>
          <a:noFill/>
          <a:ln>
            <a:noFill/>
          </a:ln>
        </p:spPr>
        <p:txBody>
          <a:bodyPr anchorCtr="0" anchor="t" bIns="25400" lIns="25400" spcFirstLastPara="1" rIns="25400" wrap="square" tIns="25400">
            <a:normAutofit/>
          </a:bodyPr>
          <a:lstStyle/>
          <a:p>
            <a:pPr indent="0" lvl="0" marL="0" marR="0" rtl="0" algn="l">
              <a:lnSpc>
                <a:spcPct val="96429"/>
              </a:lnSpc>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cards · z17 / LinuxONE 5</a:t>
            </a:r>
            <a:endParaRPr sz="1800">
              <a:solidFill>
                <a:schemeClr val="dk1"/>
              </a:solidFill>
              <a:latin typeface="Calibri"/>
              <a:ea typeface="Calibri"/>
              <a:cs typeface="Calibri"/>
              <a:sym typeface="Calibri"/>
            </a:endParaRPr>
          </a:p>
        </p:txBody>
      </p:sp>
      <p:sp>
        <p:nvSpPr>
          <p:cNvPr id="629" name="Google Shape;629;p12"/>
          <p:cNvSpPr/>
          <p:nvPr/>
        </p:nvSpPr>
        <p:spPr>
          <a:xfrm>
            <a:off x="15163767" y="7321269"/>
            <a:ext cx="2209850" cy="9525"/>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12"/>
          <p:cNvSpPr/>
          <p:nvPr/>
        </p:nvSpPr>
        <p:spPr>
          <a:xfrm>
            <a:off x="17368325" y="5473568"/>
            <a:ext cx="9525" cy="1852993"/>
          </a:xfrm>
          <a:prstGeom prst="rect">
            <a:avLst/>
          </a:prstGeom>
          <a:solidFill>
            <a:srgbClr val="FFFFFF">
              <a:alpha val="1607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12"/>
          <p:cNvSpPr/>
          <p:nvPr/>
        </p:nvSpPr>
        <p:spPr>
          <a:xfrm>
            <a:off x="15392301" y="6005546"/>
            <a:ext cx="1922239" cy="498062"/>
          </a:xfrm>
          <a:prstGeom prst="rect">
            <a:avLst/>
          </a:prstGeom>
          <a:noFill/>
          <a:ln>
            <a:noFill/>
          </a:ln>
        </p:spPr>
        <p:txBody>
          <a:bodyPr anchorCtr="0" anchor="t" bIns="25400" lIns="25400" spcFirstLastPara="1" rIns="25400" wrap="square" tIns="25400">
            <a:normAutofit/>
          </a:bodyPr>
          <a:lstStyle/>
          <a:p>
            <a:pPr indent="0" lvl="0" marL="0" marR="0" rtl="0" algn="l">
              <a:lnSpc>
                <a:spcPct val="80500"/>
              </a:lnSpc>
              <a:spcBef>
                <a:spcPts val="0"/>
              </a:spcBef>
              <a:spcAft>
                <a:spcPts val="0"/>
              </a:spcAft>
              <a:buClr>
                <a:srgbClr val="FFFFFF"/>
              </a:buClr>
              <a:buSzPts val="3450"/>
              <a:buFont typeface="IBM Plex Sans"/>
              <a:buNone/>
            </a:pPr>
            <a:r>
              <a:rPr b="1" lang="en-US" sz="3450">
                <a:solidFill>
                  <a:srgbClr val="FFFFFF"/>
                </a:solidFill>
                <a:latin typeface="IBM Plex Sans"/>
                <a:ea typeface="IBM Plex Sans"/>
                <a:cs typeface="IBM Plex Sans"/>
                <a:sym typeface="IBM Plex Sans"/>
              </a:rPr>
              <a:t>300+</a:t>
            </a:r>
            <a:endParaRPr sz="3450">
              <a:solidFill>
                <a:schemeClr val="dk1"/>
              </a:solidFill>
              <a:latin typeface="Calibri"/>
              <a:ea typeface="Calibri"/>
              <a:cs typeface="Calibri"/>
              <a:sym typeface="Calibri"/>
            </a:endParaRPr>
          </a:p>
        </p:txBody>
      </p:sp>
      <p:sp>
        <p:nvSpPr>
          <p:cNvPr id="632" name="Google Shape;632;p12"/>
          <p:cNvSpPr/>
          <p:nvPr/>
        </p:nvSpPr>
        <p:spPr>
          <a:xfrm>
            <a:off x="15392301" y="6503541"/>
            <a:ext cx="1922239" cy="323850"/>
          </a:xfrm>
          <a:prstGeom prst="rect">
            <a:avLst/>
          </a:prstGeom>
          <a:noFill/>
          <a:ln>
            <a:noFill/>
          </a:ln>
        </p:spPr>
        <p:txBody>
          <a:bodyPr anchorCtr="0" anchor="t" bIns="25400" lIns="25400" spcFirstLastPara="1" rIns="25400" wrap="square" tIns="25400">
            <a:normAutofit/>
          </a:bodyPr>
          <a:lstStyle/>
          <a:p>
            <a:pPr indent="0" lvl="0" marL="0" marR="0" rtl="0" algn="l">
              <a:lnSpc>
                <a:spcPct val="96429"/>
              </a:lnSpc>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TOPS per card</a:t>
            </a:r>
            <a:endParaRPr sz="1800">
              <a:solidFill>
                <a:schemeClr val="dk1"/>
              </a:solidFill>
              <a:latin typeface="Calibri"/>
              <a:ea typeface="Calibri"/>
              <a:cs typeface="Calibri"/>
              <a:sym typeface="Calibri"/>
            </a:endParaRPr>
          </a:p>
        </p:txBody>
      </p:sp>
      <p:sp>
        <p:nvSpPr>
          <p:cNvPr id="633" name="Google Shape;633;p12"/>
          <p:cNvSpPr/>
          <p:nvPr/>
        </p:nvSpPr>
        <p:spPr>
          <a:xfrm>
            <a:off x="13182517" y="7478961"/>
            <a:ext cx="4095090" cy="632387"/>
          </a:xfrm>
          <a:prstGeom prst="rect">
            <a:avLst/>
          </a:prstGeom>
          <a:noFill/>
          <a:ln>
            <a:noFill/>
          </a:ln>
        </p:spPr>
        <p:txBody>
          <a:bodyPr anchorCtr="0" anchor="t" bIns="25400" lIns="25400" spcFirstLastPara="1" rIns="25400" wrap="square" tIns="25400">
            <a:normAutofit/>
          </a:bodyPr>
          <a:lstStyle/>
          <a:p>
            <a:pPr indent="0" lvl="0" marL="0" marR="0" rtl="0" algn="l">
              <a:lnSpc>
                <a:spcPct val="100286"/>
              </a:lnSpc>
              <a:spcBef>
                <a:spcPts val="0"/>
              </a:spcBef>
              <a:spcAft>
                <a:spcPts val="0"/>
              </a:spcAft>
              <a:buClr>
                <a:srgbClr val="A6C8FF"/>
              </a:buClr>
              <a:buSzPts val="1800"/>
              <a:buFont typeface="IBM Plex Sans"/>
              <a:buNone/>
            </a:pPr>
            <a:r>
              <a:rPr lang="en-US" sz="1800">
                <a:solidFill>
                  <a:srgbClr val="A6C8FF"/>
                </a:solidFill>
                <a:latin typeface="IBM Plex Sans"/>
                <a:ea typeface="IBM Plex Sans"/>
                <a:cs typeface="IBM Plex Sans"/>
                <a:sym typeface="IBM Plex Sans"/>
              </a:rPr>
              <a:t>GA Oct 2025 on IBM z17 &amp; LinuxONE 5 (s390x)</a:t>
            </a:r>
            <a:endParaRPr sz="1800">
              <a:solidFill>
                <a:schemeClr val="dk1"/>
              </a:solidFill>
              <a:latin typeface="Calibri"/>
              <a:ea typeface="Calibri"/>
              <a:cs typeface="Calibri"/>
              <a:sym typeface="Calibri"/>
            </a:endParaRPr>
          </a:p>
        </p:txBody>
      </p:sp>
      <p:sp>
        <p:nvSpPr>
          <p:cNvPr id="634" name="Google Shape;634;p12"/>
          <p:cNvSpPr/>
          <p:nvPr/>
        </p:nvSpPr>
        <p:spPr>
          <a:xfrm>
            <a:off x="914384" y="8416148"/>
            <a:ext cx="2616150" cy="1232297"/>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12"/>
          <p:cNvSpPr/>
          <p:nvPr/>
        </p:nvSpPr>
        <p:spPr>
          <a:xfrm>
            <a:off x="914384" y="8416148"/>
            <a:ext cx="2616150" cy="37042"/>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12"/>
          <p:cNvSpPr/>
          <p:nvPr/>
        </p:nvSpPr>
        <p:spPr>
          <a:xfrm>
            <a:off x="1085784" y="8586474"/>
            <a:ext cx="250068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BANKING</a:t>
            </a:r>
            <a:endParaRPr sz="1800">
              <a:solidFill>
                <a:schemeClr val="dk1"/>
              </a:solidFill>
              <a:latin typeface="Calibri"/>
              <a:ea typeface="Calibri"/>
              <a:cs typeface="Calibri"/>
              <a:sym typeface="Calibri"/>
            </a:endParaRPr>
          </a:p>
        </p:txBody>
      </p:sp>
      <p:sp>
        <p:nvSpPr>
          <p:cNvPr id="637" name="Google Shape;637;p12"/>
          <p:cNvSpPr/>
          <p:nvPr/>
        </p:nvSpPr>
        <p:spPr>
          <a:xfrm>
            <a:off x="1085784" y="8920841"/>
            <a:ext cx="2349550" cy="632420"/>
          </a:xfrm>
          <a:prstGeom prst="rect">
            <a:avLst/>
          </a:prstGeom>
          <a:noFill/>
          <a:ln>
            <a:noFill/>
          </a:ln>
        </p:spPr>
        <p:txBody>
          <a:bodyPr anchorCtr="0" anchor="t" bIns="25400" lIns="25400" spcFirstLastPara="1" rIns="25400" wrap="square" tIns="25400">
            <a:normAutofit/>
          </a:bodyPr>
          <a:lstStyle/>
          <a:p>
            <a:pPr indent="0" lvl="0" marL="0" marR="0" rtl="0" algn="l">
              <a:lnSpc>
                <a:spcPct val="92066"/>
              </a:lnSpc>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Real-time fraud detection</a:t>
            </a:r>
            <a:endParaRPr sz="1950">
              <a:solidFill>
                <a:schemeClr val="dk1"/>
              </a:solidFill>
              <a:latin typeface="Calibri"/>
              <a:ea typeface="Calibri"/>
              <a:cs typeface="Calibri"/>
              <a:sym typeface="Calibri"/>
            </a:endParaRPr>
          </a:p>
        </p:txBody>
      </p:sp>
      <p:sp>
        <p:nvSpPr>
          <p:cNvPr id="638" name="Google Shape;638;p12"/>
          <p:cNvSpPr/>
          <p:nvPr/>
        </p:nvSpPr>
        <p:spPr>
          <a:xfrm>
            <a:off x="3682917" y="8416148"/>
            <a:ext cx="2616233" cy="1232297"/>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12"/>
          <p:cNvSpPr/>
          <p:nvPr/>
        </p:nvSpPr>
        <p:spPr>
          <a:xfrm>
            <a:off x="3682917" y="8416148"/>
            <a:ext cx="2616233" cy="37042"/>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12"/>
          <p:cNvSpPr/>
          <p:nvPr/>
        </p:nvSpPr>
        <p:spPr>
          <a:xfrm>
            <a:off x="3854318" y="8586474"/>
            <a:ext cx="2500776"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FINANCIAL CRIME</a:t>
            </a:r>
            <a:endParaRPr sz="1800">
              <a:solidFill>
                <a:schemeClr val="dk1"/>
              </a:solidFill>
              <a:latin typeface="Calibri"/>
              <a:ea typeface="Calibri"/>
              <a:cs typeface="Calibri"/>
              <a:sym typeface="Calibri"/>
            </a:endParaRPr>
          </a:p>
        </p:txBody>
      </p:sp>
      <p:sp>
        <p:nvSpPr>
          <p:cNvPr id="641" name="Google Shape;641;p12"/>
          <p:cNvSpPr/>
          <p:nvPr/>
        </p:nvSpPr>
        <p:spPr>
          <a:xfrm>
            <a:off x="3854318" y="8920841"/>
            <a:ext cx="2349632" cy="632420"/>
          </a:xfrm>
          <a:prstGeom prst="rect">
            <a:avLst/>
          </a:prstGeom>
          <a:noFill/>
          <a:ln>
            <a:noFill/>
          </a:ln>
        </p:spPr>
        <p:txBody>
          <a:bodyPr anchorCtr="0" anchor="t" bIns="25400" lIns="25400" spcFirstLastPara="1" rIns="25400" wrap="square" tIns="25400">
            <a:normAutofit/>
          </a:bodyPr>
          <a:lstStyle/>
          <a:p>
            <a:pPr indent="0" lvl="0" marL="0" marR="0" rtl="0" algn="l">
              <a:lnSpc>
                <a:spcPct val="92066"/>
              </a:lnSpc>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Anti-money laundering</a:t>
            </a:r>
            <a:endParaRPr sz="1950">
              <a:solidFill>
                <a:schemeClr val="dk1"/>
              </a:solidFill>
              <a:latin typeface="Calibri"/>
              <a:ea typeface="Calibri"/>
              <a:cs typeface="Calibri"/>
              <a:sym typeface="Calibri"/>
            </a:endParaRPr>
          </a:p>
        </p:txBody>
      </p:sp>
      <p:sp>
        <p:nvSpPr>
          <p:cNvPr id="642" name="Google Shape;642;p12"/>
          <p:cNvSpPr/>
          <p:nvPr/>
        </p:nvSpPr>
        <p:spPr>
          <a:xfrm>
            <a:off x="6451534" y="8416148"/>
            <a:ext cx="2616233" cy="1232297"/>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12"/>
          <p:cNvSpPr/>
          <p:nvPr/>
        </p:nvSpPr>
        <p:spPr>
          <a:xfrm>
            <a:off x="6451534" y="8416148"/>
            <a:ext cx="2616233" cy="37042"/>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12"/>
          <p:cNvSpPr/>
          <p:nvPr/>
        </p:nvSpPr>
        <p:spPr>
          <a:xfrm>
            <a:off x="6622935" y="8586474"/>
            <a:ext cx="2500776"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INSURANCE</a:t>
            </a:r>
            <a:endParaRPr sz="1800">
              <a:solidFill>
                <a:schemeClr val="dk1"/>
              </a:solidFill>
              <a:latin typeface="Calibri"/>
              <a:ea typeface="Calibri"/>
              <a:cs typeface="Calibri"/>
              <a:sym typeface="Calibri"/>
            </a:endParaRPr>
          </a:p>
        </p:txBody>
      </p:sp>
      <p:sp>
        <p:nvSpPr>
          <p:cNvPr id="645" name="Google Shape;645;p12"/>
          <p:cNvSpPr/>
          <p:nvPr/>
        </p:nvSpPr>
        <p:spPr>
          <a:xfrm>
            <a:off x="6622935" y="8920841"/>
            <a:ext cx="2500776" cy="335260"/>
          </a:xfrm>
          <a:prstGeom prst="rect">
            <a:avLst/>
          </a:prstGeom>
          <a:noFill/>
          <a:ln>
            <a:noFill/>
          </a:ln>
        </p:spPr>
        <p:txBody>
          <a:bodyPr anchorCtr="0" anchor="t" bIns="25400" lIns="25400" spcFirstLastPara="1" rIns="25400" wrap="square" tIns="25400">
            <a:normAutofit/>
          </a:bodyPr>
          <a:lstStyle/>
          <a:p>
            <a:pPr indent="0" lvl="0" marL="0" marR="0" rtl="0" algn="l">
              <a:lnSpc>
                <a:spcPct val="92066"/>
              </a:lnSpc>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Claims processing</a:t>
            </a:r>
            <a:endParaRPr sz="1950">
              <a:solidFill>
                <a:schemeClr val="dk1"/>
              </a:solidFill>
              <a:latin typeface="Calibri"/>
              <a:ea typeface="Calibri"/>
              <a:cs typeface="Calibri"/>
              <a:sym typeface="Calibri"/>
            </a:endParaRPr>
          </a:p>
        </p:txBody>
      </p:sp>
      <p:sp>
        <p:nvSpPr>
          <p:cNvPr id="646" name="Google Shape;646;p12"/>
          <p:cNvSpPr/>
          <p:nvPr/>
        </p:nvSpPr>
        <p:spPr>
          <a:xfrm>
            <a:off x="9220151" y="8416148"/>
            <a:ext cx="2616233" cy="1232297"/>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12"/>
          <p:cNvSpPr/>
          <p:nvPr/>
        </p:nvSpPr>
        <p:spPr>
          <a:xfrm>
            <a:off x="9220151" y="8416148"/>
            <a:ext cx="2616233" cy="37042"/>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12"/>
          <p:cNvSpPr/>
          <p:nvPr/>
        </p:nvSpPr>
        <p:spPr>
          <a:xfrm>
            <a:off x="9391551" y="8586474"/>
            <a:ext cx="2500776"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MODERNIZATION</a:t>
            </a:r>
            <a:endParaRPr sz="1800">
              <a:solidFill>
                <a:schemeClr val="dk1"/>
              </a:solidFill>
              <a:latin typeface="Calibri"/>
              <a:ea typeface="Calibri"/>
              <a:cs typeface="Calibri"/>
              <a:sym typeface="Calibri"/>
            </a:endParaRPr>
          </a:p>
        </p:txBody>
      </p:sp>
      <p:sp>
        <p:nvSpPr>
          <p:cNvPr id="649" name="Google Shape;649;p12"/>
          <p:cNvSpPr/>
          <p:nvPr/>
        </p:nvSpPr>
        <p:spPr>
          <a:xfrm>
            <a:off x="9391551" y="8920841"/>
            <a:ext cx="2349632" cy="632420"/>
          </a:xfrm>
          <a:prstGeom prst="rect">
            <a:avLst/>
          </a:prstGeom>
          <a:noFill/>
          <a:ln>
            <a:noFill/>
          </a:ln>
        </p:spPr>
        <p:txBody>
          <a:bodyPr anchorCtr="0" anchor="t" bIns="25400" lIns="25400" spcFirstLastPara="1" rIns="25400" wrap="square" tIns="25400">
            <a:normAutofit/>
          </a:bodyPr>
          <a:lstStyle/>
          <a:p>
            <a:pPr indent="0" lvl="0" marL="0" marR="0" rtl="0" algn="l">
              <a:lnSpc>
                <a:spcPct val="92066"/>
              </a:lnSpc>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COBOL code assistant</a:t>
            </a:r>
            <a:endParaRPr sz="1950">
              <a:solidFill>
                <a:schemeClr val="dk1"/>
              </a:solidFill>
              <a:latin typeface="Calibri"/>
              <a:ea typeface="Calibri"/>
              <a:cs typeface="Calibri"/>
              <a:sym typeface="Calibri"/>
            </a:endParaRPr>
          </a:p>
        </p:txBody>
      </p:sp>
      <p:sp>
        <p:nvSpPr>
          <p:cNvPr id="650" name="Google Shape;650;p12"/>
          <p:cNvSpPr/>
          <p:nvPr/>
        </p:nvSpPr>
        <p:spPr>
          <a:xfrm>
            <a:off x="11988767" y="8416148"/>
            <a:ext cx="2616233" cy="1232297"/>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1" name="Google Shape;651;p12"/>
          <p:cNvSpPr/>
          <p:nvPr/>
        </p:nvSpPr>
        <p:spPr>
          <a:xfrm>
            <a:off x="11988767" y="8416148"/>
            <a:ext cx="2616233" cy="37042"/>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12"/>
          <p:cNvSpPr/>
          <p:nvPr/>
        </p:nvSpPr>
        <p:spPr>
          <a:xfrm>
            <a:off x="12160168" y="8586474"/>
            <a:ext cx="2500776"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IT OPS</a:t>
            </a:r>
            <a:endParaRPr sz="1800">
              <a:solidFill>
                <a:schemeClr val="dk1"/>
              </a:solidFill>
              <a:latin typeface="Calibri"/>
              <a:ea typeface="Calibri"/>
              <a:cs typeface="Calibri"/>
              <a:sym typeface="Calibri"/>
            </a:endParaRPr>
          </a:p>
        </p:txBody>
      </p:sp>
      <p:sp>
        <p:nvSpPr>
          <p:cNvPr id="653" name="Google Shape;653;p12"/>
          <p:cNvSpPr/>
          <p:nvPr/>
        </p:nvSpPr>
        <p:spPr>
          <a:xfrm>
            <a:off x="12160168" y="8920841"/>
            <a:ext cx="2500776" cy="335260"/>
          </a:xfrm>
          <a:prstGeom prst="rect">
            <a:avLst/>
          </a:prstGeom>
          <a:noFill/>
          <a:ln>
            <a:noFill/>
          </a:ln>
        </p:spPr>
        <p:txBody>
          <a:bodyPr anchorCtr="0" anchor="t" bIns="25400" lIns="25400" spcFirstLastPara="1" rIns="25400" wrap="square" tIns="25400">
            <a:normAutofit/>
          </a:bodyPr>
          <a:lstStyle/>
          <a:p>
            <a:pPr indent="0" lvl="0" marL="0" marR="0" rtl="0" algn="l">
              <a:lnSpc>
                <a:spcPct val="92066"/>
              </a:lnSpc>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Operator assistants</a:t>
            </a:r>
            <a:endParaRPr sz="1950">
              <a:solidFill>
                <a:schemeClr val="dk1"/>
              </a:solidFill>
              <a:latin typeface="Calibri"/>
              <a:ea typeface="Calibri"/>
              <a:cs typeface="Calibri"/>
              <a:sym typeface="Calibri"/>
            </a:endParaRPr>
          </a:p>
        </p:txBody>
      </p:sp>
      <p:sp>
        <p:nvSpPr>
          <p:cNvPr id="654" name="Google Shape;654;p12"/>
          <p:cNvSpPr/>
          <p:nvPr/>
        </p:nvSpPr>
        <p:spPr>
          <a:xfrm>
            <a:off x="14757384" y="8416148"/>
            <a:ext cx="2616233" cy="1232297"/>
          </a:xfrm>
          <a:prstGeom prst="rect">
            <a:avLst/>
          </a:prstGeom>
          <a:solidFill>
            <a:srgbClr val="F4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5" name="Google Shape;655;p12"/>
          <p:cNvSpPr/>
          <p:nvPr/>
        </p:nvSpPr>
        <p:spPr>
          <a:xfrm>
            <a:off x="14757384" y="8416148"/>
            <a:ext cx="2616233" cy="37042"/>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12"/>
          <p:cNvSpPr/>
          <p:nvPr/>
        </p:nvSpPr>
        <p:spPr>
          <a:xfrm>
            <a:off x="14928784" y="8586474"/>
            <a:ext cx="2500776"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SOVEREIGNTY</a:t>
            </a:r>
            <a:endParaRPr sz="1800">
              <a:solidFill>
                <a:schemeClr val="dk1"/>
              </a:solidFill>
              <a:latin typeface="Calibri"/>
              <a:ea typeface="Calibri"/>
              <a:cs typeface="Calibri"/>
              <a:sym typeface="Calibri"/>
            </a:endParaRPr>
          </a:p>
        </p:txBody>
      </p:sp>
      <p:sp>
        <p:nvSpPr>
          <p:cNvPr id="657" name="Google Shape;657;p12"/>
          <p:cNvSpPr/>
          <p:nvPr/>
        </p:nvSpPr>
        <p:spPr>
          <a:xfrm>
            <a:off x="14928784" y="8920841"/>
            <a:ext cx="2500776" cy="335260"/>
          </a:xfrm>
          <a:prstGeom prst="rect">
            <a:avLst/>
          </a:prstGeom>
          <a:noFill/>
          <a:ln>
            <a:noFill/>
          </a:ln>
        </p:spPr>
        <p:txBody>
          <a:bodyPr anchorCtr="0" anchor="t" bIns="25400" lIns="25400" spcFirstLastPara="1" rIns="25400" wrap="square" tIns="25400">
            <a:normAutofit/>
          </a:bodyPr>
          <a:lstStyle/>
          <a:p>
            <a:pPr indent="0" lvl="0" marL="0" marR="0" rtl="0" algn="l">
              <a:lnSpc>
                <a:spcPct val="92066"/>
              </a:lnSpc>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RAG on core data</a:t>
            </a:r>
            <a:endParaRPr sz="1950">
              <a:solidFill>
                <a:schemeClr val="dk1"/>
              </a:solidFill>
              <a:latin typeface="Calibri"/>
              <a:ea typeface="Calibri"/>
              <a:cs typeface="Calibri"/>
              <a:sym typeface="Calibri"/>
            </a:endParaRPr>
          </a:p>
        </p:txBody>
      </p:sp>
      <p:pic>
        <p:nvPicPr>
          <p:cNvPr descr="preencoded.png" id="658" name="Google Shape;658;p12"/>
          <p:cNvPicPr preferRelativeResize="0"/>
          <p:nvPr/>
        </p:nvPicPr>
        <p:blipFill rotWithShape="1">
          <a:blip r:embed="rId3">
            <a:alphaModFix/>
          </a:blip>
          <a:srcRect b="0" l="0" r="0" t="0"/>
          <a:stretch/>
        </p:blipFill>
        <p:spPr>
          <a:xfrm>
            <a:off x="914384" y="9677467"/>
            <a:ext cx="310968" cy="342883"/>
          </a:xfrm>
          <a:prstGeom prst="rect">
            <a:avLst/>
          </a:prstGeom>
          <a:noFill/>
          <a:ln>
            <a:noFill/>
          </a:ln>
        </p:spPr>
      </p:pic>
      <p:sp>
        <p:nvSpPr>
          <p:cNvPr id="659" name="Google Shape;659;p12"/>
          <p:cNvSpPr/>
          <p:nvPr/>
        </p:nvSpPr>
        <p:spPr>
          <a:xfrm>
            <a:off x="1415852" y="9700700"/>
            <a:ext cx="77482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Bangalore Performance &amp; Scale Meetup 2026 · From Tokens to Scale</a:t>
            </a:r>
            <a:endParaRPr sz="1800">
              <a:solidFill>
                <a:schemeClr val="dk1"/>
              </a:solidFill>
              <a:latin typeface="Calibri"/>
              <a:ea typeface="Calibri"/>
              <a:cs typeface="Calibri"/>
              <a:sym typeface="Calibri"/>
            </a:endParaRPr>
          </a:p>
        </p:txBody>
      </p:sp>
      <p:sp>
        <p:nvSpPr>
          <p:cNvPr id="660" name="Google Shape;660;p12"/>
          <p:cNvSpPr/>
          <p:nvPr/>
        </p:nvSpPr>
        <p:spPr>
          <a:xfrm>
            <a:off x="16550846" y="9700700"/>
            <a:ext cx="89897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z="1800">
                <a:solidFill>
                  <a:srgbClr val="6F6F6F"/>
                </a:solidFill>
                <a:latin typeface="IBM Plex Mono"/>
                <a:ea typeface="IBM Plex Mono"/>
                <a:cs typeface="IBM Plex Mono"/>
                <a:sym typeface="IBM Plex Mono"/>
              </a:rPr>
              <a:t>Backup</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5" name="Shape 665"/>
        <p:cNvGrpSpPr/>
        <p:nvPr/>
      </p:nvGrpSpPr>
      <p:grpSpPr>
        <a:xfrm>
          <a:off x="0" y="0"/>
          <a:ext cx="0" cy="0"/>
          <a:chOff x="0" y="0"/>
          <a:chExt cx="0" cy="0"/>
        </a:xfrm>
      </p:grpSpPr>
      <p:sp>
        <p:nvSpPr>
          <p:cNvPr id="666" name="Google Shape;666;p13"/>
          <p:cNvSpPr/>
          <p:nvPr/>
        </p:nvSpPr>
        <p:spPr>
          <a:xfrm>
            <a:off x="914384" y="381000"/>
            <a:ext cx="1462980" cy="463517"/>
          </a:xfrm>
          <a:prstGeom prst="rect">
            <a:avLst/>
          </a:prstGeom>
          <a:solidFill>
            <a:srgbClr val="F1C21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 name="Google Shape;667;p13"/>
          <p:cNvSpPr/>
          <p:nvPr/>
        </p:nvSpPr>
        <p:spPr>
          <a:xfrm>
            <a:off x="1085834" y="438150"/>
            <a:ext cx="1196280" cy="3873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100"/>
              <a:buFont typeface="IBM Plex Mono"/>
              <a:buNone/>
            </a:pPr>
            <a:r>
              <a:rPr b="1" lang="en-US" spc="210" sz="2100">
                <a:solidFill>
                  <a:srgbClr val="161616"/>
                </a:solidFill>
                <a:latin typeface="IBM Plex Mono"/>
                <a:ea typeface="IBM Plex Mono"/>
                <a:cs typeface="IBM Plex Mono"/>
                <a:sym typeface="IBM Plex Mono"/>
              </a:rPr>
              <a:t>BACKUP</a:t>
            </a:r>
            <a:endParaRPr sz="2100">
              <a:solidFill>
                <a:schemeClr val="dk1"/>
              </a:solidFill>
              <a:latin typeface="Calibri"/>
              <a:ea typeface="Calibri"/>
              <a:cs typeface="Calibri"/>
              <a:sym typeface="Calibri"/>
            </a:endParaRPr>
          </a:p>
        </p:txBody>
      </p:sp>
      <p:sp>
        <p:nvSpPr>
          <p:cNvPr id="668" name="Google Shape;668;p13"/>
          <p:cNvSpPr/>
          <p:nvPr/>
        </p:nvSpPr>
        <p:spPr>
          <a:xfrm>
            <a:off x="2567864" y="464592"/>
            <a:ext cx="495780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LLM-D VS ROUND-ROBIN BASELINE</a:t>
            </a:r>
            <a:endParaRPr sz="1800">
              <a:solidFill>
                <a:schemeClr val="dk1"/>
              </a:solidFill>
              <a:latin typeface="Calibri"/>
              <a:ea typeface="Calibri"/>
              <a:cs typeface="Calibri"/>
              <a:sym typeface="Calibri"/>
            </a:endParaRPr>
          </a:p>
        </p:txBody>
      </p:sp>
      <p:sp>
        <p:nvSpPr>
          <p:cNvPr id="669" name="Google Shape;669;p13"/>
          <p:cNvSpPr/>
          <p:nvPr/>
        </p:nvSpPr>
        <p:spPr>
          <a:xfrm>
            <a:off x="914384" y="920667"/>
            <a:ext cx="18105157" cy="582894"/>
          </a:xfrm>
          <a:prstGeom prst="rect">
            <a:avLst/>
          </a:prstGeom>
          <a:noFill/>
          <a:ln>
            <a:noFill/>
          </a:ln>
        </p:spPr>
        <p:txBody>
          <a:bodyPr anchorCtr="0" anchor="t" bIns="25400" lIns="25400" spcFirstLastPara="1" rIns="25400" wrap="square" tIns="25400">
            <a:normAutofit/>
          </a:bodyPr>
          <a:lstStyle/>
          <a:p>
            <a:pPr indent="0" lvl="0" marL="0" marR="0" rtl="0" algn="l">
              <a:lnSpc>
                <a:spcPct val="84393"/>
              </a:lnSpc>
              <a:spcBef>
                <a:spcPts val="0"/>
              </a:spcBef>
              <a:spcAft>
                <a:spcPts val="0"/>
              </a:spcAft>
              <a:buClr>
                <a:srgbClr val="161616"/>
              </a:buClr>
              <a:buSzPts val="3900"/>
              <a:buFont typeface="IBM Plex Sans"/>
              <a:buNone/>
            </a:pPr>
            <a:r>
              <a:rPr b="1" lang="en-US" spc="-39" sz="3900">
                <a:solidFill>
                  <a:srgbClr val="161616"/>
                </a:solidFill>
                <a:latin typeface="IBM Plex Sans"/>
                <a:ea typeface="IBM Plex Sans"/>
                <a:cs typeface="IBM Plex Sans"/>
                <a:sym typeface="IBM Plex Sans"/>
              </a:rPr>
              <a:t>Only the router changes: ClusterIP 50/50 vs llm-d scoring</a:t>
            </a:r>
            <a:endParaRPr sz="3900">
              <a:solidFill>
                <a:schemeClr val="dk1"/>
              </a:solidFill>
              <a:latin typeface="Calibri"/>
              <a:ea typeface="Calibri"/>
              <a:cs typeface="Calibri"/>
              <a:sym typeface="Calibri"/>
            </a:endParaRPr>
          </a:p>
        </p:txBody>
      </p:sp>
      <p:sp>
        <p:nvSpPr>
          <p:cNvPr id="670" name="Google Shape;670;p13"/>
          <p:cNvSpPr/>
          <p:nvPr/>
        </p:nvSpPr>
        <p:spPr>
          <a:xfrm>
            <a:off x="914384" y="1617844"/>
            <a:ext cx="11963384" cy="8001001"/>
          </a:xfrm>
          <a:prstGeom prst="rect">
            <a:avLst/>
          </a:prstGeom>
          <a:solidFill>
            <a:srgbClr val="FFFFFF"/>
          </a:solidFill>
          <a:ln cap="flat" cmpd="sng" w="9525">
            <a:solidFill>
              <a:srgbClr val="E0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71" name="Google Shape;671;p13"/>
          <p:cNvPicPr preferRelativeResize="0"/>
          <p:nvPr/>
        </p:nvPicPr>
        <p:blipFill rotWithShape="1">
          <a:blip r:embed="rId3">
            <a:alphaModFix/>
          </a:blip>
          <a:srcRect b="0" l="-22" r="-22" t="0"/>
          <a:stretch/>
        </p:blipFill>
        <p:spPr>
          <a:xfrm>
            <a:off x="957709" y="1661170"/>
            <a:ext cx="11876733" cy="7914349"/>
          </a:xfrm>
          <a:prstGeom prst="rect">
            <a:avLst/>
          </a:prstGeom>
          <a:noFill/>
          <a:ln>
            <a:noFill/>
          </a:ln>
        </p:spPr>
      </p:pic>
      <p:sp>
        <p:nvSpPr>
          <p:cNvPr id="672" name="Google Shape;672;p13"/>
          <p:cNvSpPr/>
          <p:nvPr/>
        </p:nvSpPr>
        <p:spPr>
          <a:xfrm>
            <a:off x="13182535" y="2009428"/>
            <a:ext cx="4191083" cy="15875"/>
          </a:xfrm>
          <a:prstGeom prst="rect">
            <a:avLst/>
          </a:prstGeom>
          <a:solidFill>
            <a:srgbClr val="161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3" name="Google Shape;673;p13"/>
          <p:cNvSpPr/>
          <p:nvPr/>
        </p:nvSpPr>
        <p:spPr>
          <a:xfrm>
            <a:off x="13182535" y="1617844"/>
            <a:ext cx="4316815"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Mono"/>
              <a:buNone/>
            </a:pPr>
            <a:r>
              <a:rPr b="1" lang="en-US" spc="108" sz="1800">
                <a:solidFill>
                  <a:srgbClr val="161616"/>
                </a:solidFill>
                <a:latin typeface="IBM Plex Mono"/>
                <a:ea typeface="IBM Plex Mono"/>
                <a:cs typeface="IBM Plex Mono"/>
                <a:sym typeface="IBM Plex Mono"/>
              </a:rPr>
              <a:t>WHAT TO READ</a:t>
            </a:r>
            <a:endParaRPr sz="1800">
              <a:solidFill>
                <a:schemeClr val="dk1"/>
              </a:solidFill>
              <a:latin typeface="Calibri"/>
              <a:ea typeface="Calibri"/>
              <a:cs typeface="Calibri"/>
              <a:sym typeface="Calibri"/>
            </a:endParaRPr>
          </a:p>
        </p:txBody>
      </p:sp>
      <p:sp>
        <p:nvSpPr>
          <p:cNvPr id="674" name="Google Shape;674;p13"/>
          <p:cNvSpPr/>
          <p:nvPr/>
        </p:nvSpPr>
        <p:spPr>
          <a:xfrm>
            <a:off x="13182535" y="3849109"/>
            <a:ext cx="4191083"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 name="Google Shape;675;p13"/>
          <p:cNvSpPr/>
          <p:nvPr/>
        </p:nvSpPr>
        <p:spPr>
          <a:xfrm>
            <a:off x="13182535" y="2139570"/>
            <a:ext cx="46101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LEFT · BASELINE</a:t>
            </a:r>
            <a:endParaRPr sz="1800">
              <a:solidFill>
                <a:schemeClr val="dk1"/>
              </a:solidFill>
              <a:latin typeface="Calibri"/>
              <a:ea typeface="Calibri"/>
              <a:cs typeface="Calibri"/>
              <a:sym typeface="Calibri"/>
            </a:endParaRPr>
          </a:p>
        </p:txBody>
      </p:sp>
      <p:sp>
        <p:nvSpPr>
          <p:cNvPr id="676" name="Google Shape;676;p13"/>
          <p:cNvSpPr/>
          <p:nvPr/>
        </p:nvSpPr>
        <p:spPr>
          <a:xfrm>
            <a:off x="13182535" y="2473937"/>
            <a:ext cx="4610191" cy="335260"/>
          </a:xfrm>
          <a:prstGeom prst="rect">
            <a:avLst/>
          </a:prstGeom>
          <a:noFill/>
          <a:ln>
            <a:noFill/>
          </a:ln>
        </p:spPr>
        <p:txBody>
          <a:bodyPr anchorCtr="0" anchor="t" bIns="25400" lIns="25400" spcFirstLastPara="1" rIns="25400" wrap="square" tIns="25400">
            <a:normAutofit/>
          </a:bodyPr>
          <a:lstStyle/>
          <a:p>
            <a:pPr indent="0" lvl="0" marL="0" marR="0" rtl="0" algn="l">
              <a:lnSpc>
                <a:spcPct val="92066"/>
              </a:lnSpc>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ClusterIP, ~50/50</a:t>
            </a:r>
            <a:endParaRPr sz="1950">
              <a:solidFill>
                <a:schemeClr val="dk1"/>
              </a:solidFill>
              <a:latin typeface="Calibri"/>
              <a:ea typeface="Calibri"/>
              <a:cs typeface="Calibri"/>
              <a:sym typeface="Calibri"/>
            </a:endParaRPr>
          </a:p>
        </p:txBody>
      </p:sp>
      <p:sp>
        <p:nvSpPr>
          <p:cNvPr id="677" name="Google Shape;677;p13"/>
          <p:cNvSpPr/>
          <p:nvPr/>
        </p:nvSpPr>
        <p:spPr>
          <a:xfrm>
            <a:off x="13182535" y="2809131"/>
            <a:ext cx="4316815" cy="963811"/>
          </a:xfrm>
          <a:prstGeom prst="rect">
            <a:avLst/>
          </a:prstGeom>
          <a:noFill/>
          <a:ln>
            <a:noFill/>
          </a:ln>
        </p:spPr>
        <p:txBody>
          <a:bodyPr anchorCtr="0" anchor="t" bIns="25400" lIns="25400" spcFirstLastPara="1" rIns="25400" wrap="square" tIns="25400">
            <a:normAutofit/>
          </a:bodyPr>
          <a:lstStyle/>
          <a:p>
            <a:pPr indent="0" lvl="0" marL="0" marR="0" rtl="0" algn="l">
              <a:lnSpc>
                <a:spcPct val="104143"/>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Native K8s load balancing across two identical vLLM pods. No view of cache, queue or prompt length.</a:t>
            </a:r>
            <a:endParaRPr sz="1800">
              <a:solidFill>
                <a:schemeClr val="dk1"/>
              </a:solidFill>
              <a:latin typeface="Calibri"/>
              <a:ea typeface="Calibri"/>
              <a:cs typeface="Calibri"/>
              <a:sym typeface="Calibri"/>
            </a:endParaRPr>
          </a:p>
        </p:txBody>
      </p:sp>
      <p:sp>
        <p:nvSpPr>
          <p:cNvPr id="678" name="Google Shape;678;p13"/>
          <p:cNvSpPr/>
          <p:nvPr/>
        </p:nvSpPr>
        <p:spPr>
          <a:xfrm>
            <a:off x="13182535" y="5678207"/>
            <a:ext cx="4191083"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13"/>
          <p:cNvSpPr/>
          <p:nvPr/>
        </p:nvSpPr>
        <p:spPr>
          <a:xfrm>
            <a:off x="13182535" y="3968668"/>
            <a:ext cx="46101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RIGHT · LLM-D</a:t>
            </a:r>
            <a:endParaRPr sz="1800">
              <a:solidFill>
                <a:schemeClr val="dk1"/>
              </a:solidFill>
              <a:latin typeface="Calibri"/>
              <a:ea typeface="Calibri"/>
              <a:cs typeface="Calibri"/>
              <a:sym typeface="Calibri"/>
            </a:endParaRPr>
          </a:p>
        </p:txBody>
      </p:sp>
      <p:sp>
        <p:nvSpPr>
          <p:cNvPr id="680" name="Google Shape;680;p13"/>
          <p:cNvSpPr/>
          <p:nvPr/>
        </p:nvSpPr>
        <p:spPr>
          <a:xfrm>
            <a:off x="13182535" y="4303035"/>
            <a:ext cx="4610191" cy="335260"/>
          </a:xfrm>
          <a:prstGeom prst="rect">
            <a:avLst/>
          </a:prstGeom>
          <a:noFill/>
          <a:ln>
            <a:noFill/>
          </a:ln>
        </p:spPr>
        <p:txBody>
          <a:bodyPr anchorCtr="0" anchor="t" bIns="25400" lIns="25400" spcFirstLastPara="1" rIns="25400" wrap="square" tIns="25400">
            <a:normAutofit/>
          </a:bodyPr>
          <a:lstStyle/>
          <a:p>
            <a:pPr indent="0" lvl="0" marL="0" marR="0" rtl="0" algn="l">
              <a:lnSpc>
                <a:spcPct val="92066"/>
              </a:lnSpc>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Gateway → InferencePool → EPP</a:t>
            </a:r>
            <a:endParaRPr sz="1950">
              <a:solidFill>
                <a:schemeClr val="dk1"/>
              </a:solidFill>
              <a:latin typeface="Calibri"/>
              <a:ea typeface="Calibri"/>
              <a:cs typeface="Calibri"/>
              <a:sym typeface="Calibri"/>
            </a:endParaRPr>
          </a:p>
        </p:txBody>
      </p:sp>
      <p:sp>
        <p:nvSpPr>
          <p:cNvPr id="681" name="Google Shape;681;p13"/>
          <p:cNvSpPr/>
          <p:nvPr/>
        </p:nvSpPr>
        <p:spPr>
          <a:xfrm>
            <a:off x="13182535" y="4638229"/>
            <a:ext cx="4316815" cy="963811"/>
          </a:xfrm>
          <a:prstGeom prst="rect">
            <a:avLst/>
          </a:prstGeom>
          <a:noFill/>
          <a:ln>
            <a:noFill/>
          </a:ln>
        </p:spPr>
        <p:txBody>
          <a:bodyPr anchorCtr="0" anchor="t" bIns="25400" lIns="25400" spcFirstLastPara="1" rIns="25400" wrap="square" tIns="25400">
            <a:normAutofit/>
          </a:bodyPr>
          <a:lstStyle/>
          <a:p>
            <a:pPr indent="0" lvl="0" marL="0" marR="0" rtl="0" algn="l">
              <a:lnSpc>
                <a:spcPct val="104143"/>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The Endpoint Picker scores every pod using live pod metrics and a tokenizer sidecar.</a:t>
            </a:r>
            <a:endParaRPr sz="1800">
              <a:solidFill>
                <a:schemeClr val="dk1"/>
              </a:solidFill>
              <a:latin typeface="Calibri"/>
              <a:ea typeface="Calibri"/>
              <a:cs typeface="Calibri"/>
              <a:sym typeface="Calibri"/>
            </a:endParaRPr>
          </a:p>
        </p:txBody>
      </p:sp>
      <p:sp>
        <p:nvSpPr>
          <p:cNvPr id="682" name="Google Shape;682;p13"/>
          <p:cNvSpPr/>
          <p:nvPr/>
        </p:nvSpPr>
        <p:spPr>
          <a:xfrm>
            <a:off x="13182535" y="7198734"/>
            <a:ext cx="4191083"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13"/>
          <p:cNvSpPr/>
          <p:nvPr/>
        </p:nvSpPr>
        <p:spPr>
          <a:xfrm>
            <a:off x="13182535" y="5797765"/>
            <a:ext cx="46101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POD SPECIALIZATION</a:t>
            </a:r>
            <a:endParaRPr sz="1800">
              <a:solidFill>
                <a:schemeClr val="dk1"/>
              </a:solidFill>
              <a:latin typeface="Calibri"/>
              <a:ea typeface="Calibri"/>
              <a:cs typeface="Calibri"/>
              <a:sym typeface="Calibri"/>
            </a:endParaRPr>
          </a:p>
        </p:txBody>
      </p:sp>
      <p:sp>
        <p:nvSpPr>
          <p:cNvPr id="684" name="Google Shape;684;p13"/>
          <p:cNvSpPr/>
          <p:nvPr/>
        </p:nvSpPr>
        <p:spPr>
          <a:xfrm>
            <a:off x="13182535" y="6132133"/>
            <a:ext cx="4610191" cy="335260"/>
          </a:xfrm>
          <a:prstGeom prst="rect">
            <a:avLst/>
          </a:prstGeom>
          <a:noFill/>
          <a:ln>
            <a:noFill/>
          </a:ln>
        </p:spPr>
        <p:txBody>
          <a:bodyPr anchorCtr="0" anchor="t" bIns="25400" lIns="25400" spcFirstLastPara="1" rIns="25400" wrap="square" tIns="25400">
            <a:normAutofit/>
          </a:bodyPr>
          <a:lstStyle/>
          <a:p>
            <a:pPr indent="0" lvl="0" marL="0" marR="0" rtl="0" algn="l">
              <a:lnSpc>
                <a:spcPct val="92066"/>
              </a:lnSpc>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0–4K and 4K–32K context pods</a:t>
            </a:r>
            <a:endParaRPr sz="1950">
              <a:solidFill>
                <a:schemeClr val="dk1"/>
              </a:solidFill>
              <a:latin typeface="Calibri"/>
              <a:ea typeface="Calibri"/>
              <a:cs typeface="Calibri"/>
              <a:sym typeface="Calibri"/>
            </a:endParaRPr>
          </a:p>
        </p:txBody>
      </p:sp>
      <p:sp>
        <p:nvSpPr>
          <p:cNvPr id="685" name="Google Shape;685;p13"/>
          <p:cNvSpPr/>
          <p:nvPr/>
        </p:nvSpPr>
        <p:spPr>
          <a:xfrm>
            <a:off x="13182535" y="6467327"/>
            <a:ext cx="4316815" cy="655241"/>
          </a:xfrm>
          <a:prstGeom prst="rect">
            <a:avLst/>
          </a:prstGeom>
          <a:noFill/>
          <a:ln>
            <a:noFill/>
          </a:ln>
        </p:spPr>
        <p:txBody>
          <a:bodyPr anchorCtr="0" anchor="t" bIns="25400" lIns="25400" spcFirstLastPara="1" rIns="25400" wrap="square" tIns="25400">
            <a:normAutofit/>
          </a:bodyPr>
          <a:lstStyle/>
          <a:p>
            <a:pPr indent="0" lvl="0" marL="0" marR="0" rtl="0" algn="l">
              <a:lnSpc>
                <a:spcPct val="104143"/>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Each pod keeps a deep cache for its range instead of two shallow ones.</a:t>
            </a:r>
            <a:endParaRPr sz="1800">
              <a:solidFill>
                <a:schemeClr val="dk1"/>
              </a:solidFill>
              <a:latin typeface="Calibri"/>
              <a:ea typeface="Calibri"/>
              <a:cs typeface="Calibri"/>
              <a:sym typeface="Calibri"/>
            </a:endParaRPr>
          </a:p>
        </p:txBody>
      </p:sp>
      <p:sp>
        <p:nvSpPr>
          <p:cNvPr id="686" name="Google Shape;686;p13"/>
          <p:cNvSpPr/>
          <p:nvPr/>
        </p:nvSpPr>
        <p:spPr>
          <a:xfrm>
            <a:off x="13182535" y="8719262"/>
            <a:ext cx="4191083"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p13"/>
          <p:cNvSpPr/>
          <p:nvPr/>
        </p:nvSpPr>
        <p:spPr>
          <a:xfrm>
            <a:off x="13182535" y="7318293"/>
            <a:ext cx="4610191"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HELD CONSTANT</a:t>
            </a:r>
            <a:endParaRPr sz="1800">
              <a:solidFill>
                <a:schemeClr val="dk1"/>
              </a:solidFill>
              <a:latin typeface="Calibri"/>
              <a:ea typeface="Calibri"/>
              <a:cs typeface="Calibri"/>
              <a:sym typeface="Calibri"/>
            </a:endParaRPr>
          </a:p>
        </p:txBody>
      </p:sp>
      <p:sp>
        <p:nvSpPr>
          <p:cNvPr id="688" name="Google Shape;688;p13"/>
          <p:cNvSpPr/>
          <p:nvPr/>
        </p:nvSpPr>
        <p:spPr>
          <a:xfrm>
            <a:off x="13182535" y="7652660"/>
            <a:ext cx="4610191" cy="335260"/>
          </a:xfrm>
          <a:prstGeom prst="rect">
            <a:avLst/>
          </a:prstGeom>
          <a:noFill/>
          <a:ln>
            <a:noFill/>
          </a:ln>
        </p:spPr>
        <p:txBody>
          <a:bodyPr anchorCtr="0" anchor="t" bIns="25400" lIns="25400" spcFirstLastPara="1" rIns="25400" wrap="square" tIns="25400">
            <a:normAutofit/>
          </a:bodyPr>
          <a:lstStyle/>
          <a:p>
            <a:pPr indent="0" lvl="0" marL="0" marR="0" rtl="0" algn="l">
              <a:lnSpc>
                <a:spcPct val="92066"/>
              </a:lnSpc>
              <a:spcBef>
                <a:spcPts val="0"/>
              </a:spcBef>
              <a:spcAft>
                <a:spcPts val="0"/>
              </a:spcAft>
              <a:buClr>
                <a:srgbClr val="161616"/>
              </a:buClr>
              <a:buSzPts val="1950"/>
              <a:buFont typeface="IBM Plex Sans"/>
              <a:buNone/>
            </a:pPr>
            <a:r>
              <a:rPr b="1" lang="en-US" sz="1950">
                <a:solidFill>
                  <a:srgbClr val="161616"/>
                </a:solidFill>
                <a:latin typeface="IBM Plex Sans"/>
                <a:ea typeface="IBM Plex Sans"/>
                <a:cs typeface="IBM Plex Sans"/>
                <a:sym typeface="IBM Plex Sans"/>
              </a:rPr>
              <a:t>Same model, same cards</a:t>
            </a:r>
            <a:endParaRPr sz="1950">
              <a:solidFill>
                <a:schemeClr val="dk1"/>
              </a:solidFill>
              <a:latin typeface="Calibri"/>
              <a:ea typeface="Calibri"/>
              <a:cs typeface="Calibri"/>
              <a:sym typeface="Calibri"/>
            </a:endParaRPr>
          </a:p>
        </p:txBody>
      </p:sp>
      <p:sp>
        <p:nvSpPr>
          <p:cNvPr id="689" name="Google Shape;689;p13"/>
          <p:cNvSpPr/>
          <p:nvPr/>
        </p:nvSpPr>
        <p:spPr>
          <a:xfrm>
            <a:off x="13182535" y="7987854"/>
            <a:ext cx="4316815" cy="655241"/>
          </a:xfrm>
          <a:prstGeom prst="rect">
            <a:avLst/>
          </a:prstGeom>
          <a:noFill/>
          <a:ln>
            <a:noFill/>
          </a:ln>
        </p:spPr>
        <p:txBody>
          <a:bodyPr anchorCtr="0" anchor="t" bIns="25400" lIns="25400" spcFirstLastPara="1" rIns="25400" wrap="square" tIns="25400">
            <a:normAutofit/>
          </a:bodyPr>
          <a:lstStyle/>
          <a:p>
            <a:pPr indent="0" lvl="0" marL="0" marR="0" rtl="0" algn="l">
              <a:lnSpc>
                <a:spcPct val="104143"/>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IBM Granite · tensor parallel ×4 · Spyre · OpenShift on IBM Z</a:t>
            </a:r>
            <a:endParaRPr sz="1800">
              <a:solidFill>
                <a:schemeClr val="dk1"/>
              </a:solidFill>
              <a:latin typeface="Calibri"/>
              <a:ea typeface="Calibri"/>
              <a:cs typeface="Calibri"/>
              <a:sym typeface="Calibri"/>
            </a:endParaRPr>
          </a:p>
        </p:txBody>
      </p:sp>
      <p:pic>
        <p:nvPicPr>
          <p:cNvPr descr="preencoded.png" id="690" name="Google Shape;690;p13"/>
          <p:cNvPicPr preferRelativeResize="0"/>
          <p:nvPr/>
        </p:nvPicPr>
        <p:blipFill rotWithShape="1">
          <a:blip r:embed="rId4">
            <a:alphaModFix/>
          </a:blip>
          <a:srcRect b="0" l="0" r="0" t="0"/>
          <a:stretch/>
        </p:blipFill>
        <p:spPr>
          <a:xfrm>
            <a:off x="914384" y="9677467"/>
            <a:ext cx="310968" cy="342883"/>
          </a:xfrm>
          <a:prstGeom prst="rect">
            <a:avLst/>
          </a:prstGeom>
          <a:noFill/>
          <a:ln>
            <a:noFill/>
          </a:ln>
        </p:spPr>
      </p:pic>
      <p:sp>
        <p:nvSpPr>
          <p:cNvPr id="691" name="Google Shape;691;p13"/>
          <p:cNvSpPr/>
          <p:nvPr/>
        </p:nvSpPr>
        <p:spPr>
          <a:xfrm>
            <a:off x="1415852" y="9700700"/>
            <a:ext cx="77482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Bangalore Performance &amp; Scale Meetup 2026 · From Tokens to Scale</a:t>
            </a:r>
            <a:endParaRPr sz="1800">
              <a:solidFill>
                <a:schemeClr val="dk1"/>
              </a:solidFill>
              <a:latin typeface="Calibri"/>
              <a:ea typeface="Calibri"/>
              <a:cs typeface="Calibri"/>
              <a:sym typeface="Calibri"/>
            </a:endParaRPr>
          </a:p>
        </p:txBody>
      </p:sp>
      <p:sp>
        <p:nvSpPr>
          <p:cNvPr id="692" name="Google Shape;692;p13"/>
          <p:cNvSpPr/>
          <p:nvPr/>
        </p:nvSpPr>
        <p:spPr>
          <a:xfrm>
            <a:off x="16550846" y="9700700"/>
            <a:ext cx="89897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z="1800">
                <a:solidFill>
                  <a:srgbClr val="6F6F6F"/>
                </a:solidFill>
                <a:latin typeface="IBM Plex Mono"/>
                <a:ea typeface="IBM Plex Mono"/>
                <a:cs typeface="IBM Plex Mono"/>
                <a:sym typeface="IBM Plex Mono"/>
              </a:rPr>
              <a:t>Backup</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7" name="Shape 697"/>
        <p:cNvGrpSpPr/>
        <p:nvPr/>
      </p:nvGrpSpPr>
      <p:grpSpPr>
        <a:xfrm>
          <a:off x="0" y="0"/>
          <a:ext cx="0" cy="0"/>
          <a:chOff x="0" y="0"/>
          <a:chExt cx="0" cy="0"/>
        </a:xfrm>
      </p:grpSpPr>
      <p:sp>
        <p:nvSpPr>
          <p:cNvPr id="698" name="Google Shape;698;p14"/>
          <p:cNvSpPr/>
          <p:nvPr/>
        </p:nvSpPr>
        <p:spPr>
          <a:xfrm>
            <a:off x="914384" y="381000"/>
            <a:ext cx="1462980" cy="463517"/>
          </a:xfrm>
          <a:prstGeom prst="rect">
            <a:avLst/>
          </a:prstGeom>
          <a:solidFill>
            <a:srgbClr val="F1C21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14"/>
          <p:cNvSpPr/>
          <p:nvPr/>
        </p:nvSpPr>
        <p:spPr>
          <a:xfrm>
            <a:off x="1085834" y="438150"/>
            <a:ext cx="1196280" cy="38731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2100"/>
              <a:buFont typeface="IBM Plex Mono"/>
              <a:buNone/>
            </a:pPr>
            <a:r>
              <a:rPr b="1" lang="en-US" spc="210" sz="2100">
                <a:solidFill>
                  <a:srgbClr val="161616"/>
                </a:solidFill>
                <a:latin typeface="IBM Plex Mono"/>
                <a:ea typeface="IBM Plex Mono"/>
                <a:cs typeface="IBM Plex Mono"/>
                <a:sym typeface="IBM Plex Mono"/>
              </a:rPr>
              <a:t>BACKUP</a:t>
            </a:r>
            <a:endParaRPr sz="2100">
              <a:solidFill>
                <a:schemeClr val="dk1"/>
              </a:solidFill>
              <a:latin typeface="Calibri"/>
              <a:ea typeface="Calibri"/>
              <a:cs typeface="Calibri"/>
              <a:sym typeface="Calibri"/>
            </a:endParaRPr>
          </a:p>
        </p:txBody>
      </p:sp>
      <p:sp>
        <p:nvSpPr>
          <p:cNvPr id="700" name="Google Shape;700;p14"/>
          <p:cNvSpPr/>
          <p:nvPr/>
        </p:nvSpPr>
        <p:spPr>
          <a:xfrm>
            <a:off x="2567864" y="464592"/>
            <a:ext cx="5470674"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lang="en-US" spc="144" sz="1800">
                <a:solidFill>
                  <a:srgbClr val="0F62FE"/>
                </a:solidFill>
                <a:latin typeface="IBM Plex Mono"/>
                <a:ea typeface="IBM Plex Mono"/>
                <a:cs typeface="IBM Plex Mono"/>
                <a:sym typeface="IBM Plex Mono"/>
              </a:rPr>
              <a:t>SCALING EXPERIMENTS · CROSS-LPAR</a:t>
            </a:r>
            <a:endParaRPr sz="1800">
              <a:solidFill>
                <a:schemeClr val="dk1"/>
              </a:solidFill>
              <a:latin typeface="Calibri"/>
              <a:ea typeface="Calibri"/>
              <a:cs typeface="Calibri"/>
              <a:sym typeface="Calibri"/>
            </a:endParaRPr>
          </a:p>
        </p:txBody>
      </p:sp>
      <p:sp>
        <p:nvSpPr>
          <p:cNvPr id="701" name="Google Shape;701;p14"/>
          <p:cNvSpPr/>
          <p:nvPr/>
        </p:nvSpPr>
        <p:spPr>
          <a:xfrm>
            <a:off x="914384" y="920667"/>
            <a:ext cx="18105157" cy="582894"/>
          </a:xfrm>
          <a:prstGeom prst="rect">
            <a:avLst/>
          </a:prstGeom>
          <a:noFill/>
          <a:ln>
            <a:noFill/>
          </a:ln>
        </p:spPr>
        <p:txBody>
          <a:bodyPr anchorCtr="0" anchor="t" bIns="25400" lIns="25400" spcFirstLastPara="1" rIns="25400" wrap="square" tIns="25400">
            <a:normAutofit/>
          </a:bodyPr>
          <a:lstStyle/>
          <a:p>
            <a:pPr indent="0" lvl="0" marL="0" marR="0" rtl="0" algn="l">
              <a:lnSpc>
                <a:spcPct val="84393"/>
              </a:lnSpc>
              <a:spcBef>
                <a:spcPts val="0"/>
              </a:spcBef>
              <a:spcAft>
                <a:spcPts val="0"/>
              </a:spcAft>
              <a:buClr>
                <a:srgbClr val="161616"/>
              </a:buClr>
              <a:buSzPts val="3900"/>
              <a:buFont typeface="IBM Plex Sans"/>
              <a:buNone/>
            </a:pPr>
            <a:r>
              <a:rPr b="1" lang="en-US" spc="-39" sz="3900">
                <a:solidFill>
                  <a:srgbClr val="161616"/>
                </a:solidFill>
                <a:latin typeface="IBM Plex Sans"/>
                <a:ea typeface="IBM Plex Sans"/>
                <a:cs typeface="IBM Plex Sans"/>
                <a:sym typeface="IBM Plex Sans"/>
              </a:rPr>
              <a:t>Scaling out: HAProxy round-robin vs llm-d across LPARs</a:t>
            </a:r>
            <a:endParaRPr sz="3900">
              <a:solidFill>
                <a:schemeClr val="dk1"/>
              </a:solidFill>
              <a:latin typeface="Calibri"/>
              <a:ea typeface="Calibri"/>
              <a:cs typeface="Calibri"/>
              <a:sym typeface="Calibri"/>
            </a:endParaRPr>
          </a:p>
        </p:txBody>
      </p:sp>
      <p:sp>
        <p:nvSpPr>
          <p:cNvPr id="702" name="Google Shape;702;p14"/>
          <p:cNvSpPr/>
          <p:nvPr/>
        </p:nvSpPr>
        <p:spPr>
          <a:xfrm>
            <a:off x="914384" y="1617844"/>
            <a:ext cx="10191750" cy="8001001"/>
          </a:xfrm>
          <a:prstGeom prst="rect">
            <a:avLst/>
          </a:prstGeom>
          <a:solidFill>
            <a:srgbClr val="FFFFFF"/>
          </a:solidFill>
          <a:ln cap="flat" cmpd="sng" w="9525">
            <a:solidFill>
              <a:srgbClr val="E0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03" name="Google Shape;703;p14"/>
          <p:cNvPicPr preferRelativeResize="0"/>
          <p:nvPr/>
        </p:nvPicPr>
        <p:blipFill rotWithShape="1">
          <a:blip r:embed="rId3">
            <a:alphaModFix/>
          </a:blip>
          <a:srcRect b="0" l="-160" r="-160" t="0"/>
          <a:stretch/>
        </p:blipFill>
        <p:spPr>
          <a:xfrm>
            <a:off x="957709" y="1661170"/>
            <a:ext cx="10105099" cy="7914349"/>
          </a:xfrm>
          <a:prstGeom prst="rect">
            <a:avLst/>
          </a:prstGeom>
          <a:noFill/>
          <a:ln>
            <a:noFill/>
          </a:ln>
        </p:spPr>
      </p:pic>
      <p:sp>
        <p:nvSpPr>
          <p:cNvPr id="704" name="Google Shape;704;p14"/>
          <p:cNvSpPr/>
          <p:nvPr/>
        </p:nvSpPr>
        <p:spPr>
          <a:xfrm>
            <a:off x="11410901" y="2009428"/>
            <a:ext cx="5962716" cy="15875"/>
          </a:xfrm>
          <a:prstGeom prst="rect">
            <a:avLst/>
          </a:prstGeom>
          <a:solidFill>
            <a:srgbClr val="161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14"/>
          <p:cNvSpPr/>
          <p:nvPr/>
        </p:nvSpPr>
        <p:spPr>
          <a:xfrm>
            <a:off x="11410901" y="1617844"/>
            <a:ext cx="614159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1616"/>
              </a:buClr>
              <a:buSzPts val="1800"/>
              <a:buFont typeface="IBM Plex Mono"/>
              <a:buNone/>
            </a:pPr>
            <a:r>
              <a:rPr b="1" lang="en-US" spc="108" sz="1800">
                <a:solidFill>
                  <a:srgbClr val="161616"/>
                </a:solidFill>
                <a:latin typeface="IBM Plex Mono"/>
                <a:ea typeface="IBM Plex Mono"/>
                <a:cs typeface="IBM Plex Mono"/>
                <a:sym typeface="IBM Plex Mono"/>
              </a:rPr>
              <a:t>TWO SETUPS, SAME HARDWARE</a:t>
            </a:r>
            <a:endParaRPr sz="1800">
              <a:solidFill>
                <a:schemeClr val="dk1"/>
              </a:solidFill>
              <a:latin typeface="Calibri"/>
              <a:ea typeface="Calibri"/>
              <a:cs typeface="Calibri"/>
              <a:sym typeface="Calibri"/>
            </a:endParaRPr>
          </a:p>
        </p:txBody>
      </p:sp>
      <p:sp>
        <p:nvSpPr>
          <p:cNvPr id="706" name="Google Shape;706;p14"/>
          <p:cNvSpPr/>
          <p:nvPr/>
        </p:nvSpPr>
        <p:spPr>
          <a:xfrm>
            <a:off x="11410901" y="3254871"/>
            <a:ext cx="5962716"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14"/>
          <p:cNvSpPr/>
          <p:nvPr/>
        </p:nvSpPr>
        <p:spPr>
          <a:xfrm>
            <a:off x="11410901" y="2139570"/>
            <a:ext cx="655898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HARDWARE</a:t>
            </a:r>
            <a:endParaRPr sz="1800">
              <a:solidFill>
                <a:schemeClr val="dk1"/>
              </a:solidFill>
              <a:latin typeface="Calibri"/>
              <a:ea typeface="Calibri"/>
              <a:cs typeface="Calibri"/>
              <a:sym typeface="Calibri"/>
            </a:endParaRPr>
          </a:p>
        </p:txBody>
      </p:sp>
      <p:sp>
        <p:nvSpPr>
          <p:cNvPr id="708" name="Google Shape;708;p14"/>
          <p:cNvSpPr/>
          <p:nvPr/>
        </p:nvSpPr>
        <p:spPr>
          <a:xfrm>
            <a:off x="11410901" y="2473937"/>
            <a:ext cx="6558988" cy="358163"/>
          </a:xfrm>
          <a:prstGeom prst="rect">
            <a:avLst/>
          </a:prstGeom>
          <a:noFill/>
          <a:ln>
            <a:noFill/>
          </a:ln>
        </p:spPr>
        <p:txBody>
          <a:bodyPr anchorCtr="0" anchor="t" bIns="25400" lIns="25400" spcFirstLastPara="1" rIns="25400" wrap="square" tIns="25400">
            <a:normAutofit/>
          </a:bodyPr>
          <a:lstStyle/>
          <a:p>
            <a:pPr indent="0" lvl="0" marL="0" marR="0" rtl="0" algn="l">
              <a:lnSpc>
                <a:spcPct val="91636"/>
              </a:lnSpc>
              <a:spcBef>
                <a:spcPts val="0"/>
              </a:spcBef>
              <a:spcAft>
                <a:spcPts val="0"/>
              </a:spcAft>
              <a:buClr>
                <a:srgbClr val="161616"/>
              </a:buClr>
              <a:buSzPts val="2100"/>
              <a:buFont typeface="IBM Plex Sans"/>
              <a:buNone/>
            </a:pPr>
            <a:r>
              <a:rPr b="1" lang="en-US" sz="2100">
                <a:solidFill>
                  <a:srgbClr val="161616"/>
                </a:solidFill>
                <a:latin typeface="IBM Plex Sans"/>
                <a:ea typeface="IBM Plex Sans"/>
                <a:cs typeface="IBM Plex Sans"/>
                <a:sym typeface="IBM Plex Sans"/>
              </a:rPr>
              <a:t>2 LPARs · 6 vLLM · 24 Spyre</a:t>
            </a:r>
            <a:endParaRPr sz="2100">
              <a:solidFill>
                <a:schemeClr val="dk1"/>
              </a:solidFill>
              <a:latin typeface="Calibri"/>
              <a:ea typeface="Calibri"/>
              <a:cs typeface="Calibri"/>
              <a:sym typeface="Calibri"/>
            </a:endParaRPr>
          </a:p>
        </p:txBody>
      </p:sp>
      <p:sp>
        <p:nvSpPr>
          <p:cNvPr id="709" name="Google Shape;709;p14"/>
          <p:cNvSpPr/>
          <p:nvPr/>
        </p:nvSpPr>
        <p:spPr>
          <a:xfrm>
            <a:off x="11410901" y="2832034"/>
            <a:ext cx="6558988" cy="346670"/>
          </a:xfrm>
          <a:prstGeom prst="rect">
            <a:avLst/>
          </a:prstGeom>
          <a:noFill/>
          <a:ln>
            <a:noFill/>
          </a:ln>
        </p:spPr>
        <p:txBody>
          <a:bodyPr anchorCtr="0" anchor="t" bIns="25400" lIns="25400" spcFirstLastPara="1" rIns="25400" wrap="square" tIns="25400">
            <a:normAutofit/>
          </a:bodyPr>
          <a:lstStyle/>
          <a:p>
            <a:pPr indent="0" lvl="0" marL="0" marR="0" rtl="0" algn="l">
              <a:lnSpc>
                <a:spcPct val="104143"/>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3 vLLM × 4 Spyre per LPAR, 9 IFLs each, 18 IFLs total</a:t>
            </a:r>
            <a:endParaRPr sz="1800">
              <a:solidFill>
                <a:schemeClr val="dk1"/>
              </a:solidFill>
              <a:latin typeface="Calibri"/>
              <a:ea typeface="Calibri"/>
              <a:cs typeface="Calibri"/>
              <a:sym typeface="Calibri"/>
            </a:endParaRPr>
          </a:p>
        </p:txBody>
      </p:sp>
      <p:sp>
        <p:nvSpPr>
          <p:cNvPr id="710" name="Google Shape;710;p14"/>
          <p:cNvSpPr/>
          <p:nvPr/>
        </p:nvSpPr>
        <p:spPr>
          <a:xfrm>
            <a:off x="11410901" y="4798302"/>
            <a:ext cx="5962716"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14"/>
          <p:cNvSpPr/>
          <p:nvPr/>
        </p:nvSpPr>
        <p:spPr>
          <a:xfrm>
            <a:off x="11410901" y="3374430"/>
            <a:ext cx="655898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SETUP 1 · HAPROXY</a:t>
            </a:r>
            <a:endParaRPr sz="1800">
              <a:solidFill>
                <a:schemeClr val="dk1"/>
              </a:solidFill>
              <a:latin typeface="Calibri"/>
              <a:ea typeface="Calibri"/>
              <a:cs typeface="Calibri"/>
              <a:sym typeface="Calibri"/>
            </a:endParaRPr>
          </a:p>
        </p:txBody>
      </p:sp>
      <p:sp>
        <p:nvSpPr>
          <p:cNvPr id="712" name="Google Shape;712;p14"/>
          <p:cNvSpPr/>
          <p:nvPr/>
        </p:nvSpPr>
        <p:spPr>
          <a:xfrm>
            <a:off x="11410901" y="3708797"/>
            <a:ext cx="6558988" cy="358163"/>
          </a:xfrm>
          <a:prstGeom prst="rect">
            <a:avLst/>
          </a:prstGeom>
          <a:noFill/>
          <a:ln>
            <a:noFill/>
          </a:ln>
        </p:spPr>
        <p:txBody>
          <a:bodyPr anchorCtr="0" anchor="t" bIns="25400" lIns="25400" spcFirstLastPara="1" rIns="25400" wrap="square" tIns="25400">
            <a:normAutofit/>
          </a:bodyPr>
          <a:lstStyle/>
          <a:p>
            <a:pPr indent="0" lvl="0" marL="0" marR="0" rtl="0" algn="l">
              <a:lnSpc>
                <a:spcPct val="91636"/>
              </a:lnSpc>
              <a:spcBef>
                <a:spcPts val="0"/>
              </a:spcBef>
              <a:spcAft>
                <a:spcPts val="0"/>
              </a:spcAft>
              <a:buClr>
                <a:srgbClr val="161616"/>
              </a:buClr>
              <a:buSzPts val="2100"/>
              <a:buFont typeface="IBM Plex Sans"/>
              <a:buNone/>
            </a:pPr>
            <a:r>
              <a:rPr b="1" lang="en-US" sz="2100">
                <a:solidFill>
                  <a:srgbClr val="161616"/>
                </a:solidFill>
                <a:latin typeface="IBM Plex Sans"/>
                <a:ea typeface="IBM Plex Sans"/>
                <a:cs typeface="IBM Plex Sans"/>
                <a:sym typeface="IBM Plex Sans"/>
              </a:rPr>
              <a:t>Static TCP/HTTP balancer</a:t>
            </a:r>
            <a:endParaRPr sz="2100">
              <a:solidFill>
                <a:schemeClr val="dk1"/>
              </a:solidFill>
              <a:latin typeface="Calibri"/>
              <a:ea typeface="Calibri"/>
              <a:cs typeface="Calibri"/>
              <a:sym typeface="Calibri"/>
            </a:endParaRPr>
          </a:p>
        </p:txBody>
      </p:sp>
      <p:sp>
        <p:nvSpPr>
          <p:cNvPr id="713" name="Google Shape;713;p14"/>
          <p:cNvSpPr/>
          <p:nvPr/>
        </p:nvSpPr>
        <p:spPr>
          <a:xfrm>
            <a:off x="11410901" y="4066894"/>
            <a:ext cx="6141598" cy="655241"/>
          </a:xfrm>
          <a:prstGeom prst="rect">
            <a:avLst/>
          </a:prstGeom>
          <a:noFill/>
          <a:ln>
            <a:noFill/>
          </a:ln>
        </p:spPr>
        <p:txBody>
          <a:bodyPr anchorCtr="0" anchor="t" bIns="25400" lIns="25400" spcFirstLastPara="1" rIns="25400" wrap="square" tIns="25400">
            <a:normAutofit/>
          </a:bodyPr>
          <a:lstStyle/>
          <a:p>
            <a:pPr indent="0" lvl="0" marL="0" marR="0" rtl="0" algn="l">
              <a:lnSpc>
                <a:spcPct val="104143"/>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Round-robin or least-conn across LPARs, no LLM awareness. A local llm-d inside each LPAR.</a:t>
            </a:r>
            <a:endParaRPr sz="1800">
              <a:solidFill>
                <a:schemeClr val="dk1"/>
              </a:solidFill>
              <a:latin typeface="Calibri"/>
              <a:ea typeface="Calibri"/>
              <a:cs typeface="Calibri"/>
              <a:sym typeface="Calibri"/>
            </a:endParaRPr>
          </a:p>
        </p:txBody>
      </p:sp>
      <p:sp>
        <p:nvSpPr>
          <p:cNvPr id="714" name="Google Shape;714;p14"/>
          <p:cNvSpPr/>
          <p:nvPr/>
        </p:nvSpPr>
        <p:spPr>
          <a:xfrm>
            <a:off x="11410901" y="6341732"/>
            <a:ext cx="5962716"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14"/>
          <p:cNvSpPr/>
          <p:nvPr/>
        </p:nvSpPr>
        <p:spPr>
          <a:xfrm>
            <a:off x="11410901" y="4917860"/>
            <a:ext cx="655898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SETUP 2 · LLM-D DIRECT</a:t>
            </a:r>
            <a:endParaRPr sz="1800">
              <a:solidFill>
                <a:schemeClr val="dk1"/>
              </a:solidFill>
              <a:latin typeface="Calibri"/>
              <a:ea typeface="Calibri"/>
              <a:cs typeface="Calibri"/>
              <a:sym typeface="Calibri"/>
            </a:endParaRPr>
          </a:p>
        </p:txBody>
      </p:sp>
      <p:sp>
        <p:nvSpPr>
          <p:cNvPr id="716" name="Google Shape;716;p14"/>
          <p:cNvSpPr/>
          <p:nvPr/>
        </p:nvSpPr>
        <p:spPr>
          <a:xfrm>
            <a:off x="11410901" y="5252228"/>
            <a:ext cx="6558988" cy="358163"/>
          </a:xfrm>
          <a:prstGeom prst="rect">
            <a:avLst/>
          </a:prstGeom>
          <a:noFill/>
          <a:ln>
            <a:noFill/>
          </a:ln>
        </p:spPr>
        <p:txBody>
          <a:bodyPr anchorCtr="0" anchor="t" bIns="25400" lIns="25400" spcFirstLastPara="1" rIns="25400" wrap="square" tIns="25400">
            <a:normAutofit/>
          </a:bodyPr>
          <a:lstStyle/>
          <a:p>
            <a:pPr indent="0" lvl="0" marL="0" marR="0" rtl="0" algn="l">
              <a:lnSpc>
                <a:spcPct val="91636"/>
              </a:lnSpc>
              <a:spcBef>
                <a:spcPts val="0"/>
              </a:spcBef>
              <a:spcAft>
                <a:spcPts val="0"/>
              </a:spcAft>
              <a:buClr>
                <a:srgbClr val="161616"/>
              </a:buClr>
              <a:buSzPts val="2100"/>
              <a:buFont typeface="IBM Plex Sans"/>
              <a:buNone/>
            </a:pPr>
            <a:r>
              <a:rPr b="1" lang="en-US" sz="2100">
                <a:solidFill>
                  <a:srgbClr val="161616"/>
                </a:solidFill>
                <a:latin typeface="IBM Plex Sans"/>
                <a:ea typeface="IBM Plex Sans"/>
                <a:cs typeface="IBM Plex Sans"/>
                <a:sym typeface="IBM Plex Sans"/>
              </a:rPr>
              <a:t>One router sees all 6 instances</a:t>
            </a:r>
            <a:endParaRPr sz="2100">
              <a:solidFill>
                <a:schemeClr val="dk1"/>
              </a:solidFill>
              <a:latin typeface="Calibri"/>
              <a:ea typeface="Calibri"/>
              <a:cs typeface="Calibri"/>
              <a:sym typeface="Calibri"/>
            </a:endParaRPr>
          </a:p>
        </p:txBody>
      </p:sp>
      <p:sp>
        <p:nvSpPr>
          <p:cNvPr id="717" name="Google Shape;717;p14"/>
          <p:cNvSpPr/>
          <p:nvPr/>
        </p:nvSpPr>
        <p:spPr>
          <a:xfrm>
            <a:off x="11410901" y="5610324"/>
            <a:ext cx="6141598" cy="655241"/>
          </a:xfrm>
          <a:prstGeom prst="rect">
            <a:avLst/>
          </a:prstGeom>
          <a:noFill/>
          <a:ln>
            <a:noFill/>
          </a:ln>
        </p:spPr>
        <p:txBody>
          <a:bodyPr anchorCtr="0" anchor="t" bIns="25400" lIns="25400" spcFirstLastPara="1" rIns="25400" wrap="square" tIns="25400">
            <a:normAutofit/>
          </a:bodyPr>
          <a:lstStyle/>
          <a:p>
            <a:pPr indent="0" lvl="0" marL="0" marR="0" rtl="0" algn="l">
              <a:lnSpc>
                <a:spcPct val="104143"/>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Direct cross-LPAR routing with static weights; no extra intra-LPAR hop.</a:t>
            </a:r>
            <a:endParaRPr sz="1800">
              <a:solidFill>
                <a:schemeClr val="dk1"/>
              </a:solidFill>
              <a:latin typeface="Calibri"/>
              <a:ea typeface="Calibri"/>
              <a:cs typeface="Calibri"/>
              <a:sym typeface="Calibri"/>
            </a:endParaRPr>
          </a:p>
        </p:txBody>
      </p:sp>
      <p:sp>
        <p:nvSpPr>
          <p:cNvPr id="718" name="Google Shape;718;p14"/>
          <p:cNvSpPr/>
          <p:nvPr/>
        </p:nvSpPr>
        <p:spPr>
          <a:xfrm>
            <a:off x="11410901" y="7885162"/>
            <a:ext cx="5962716" cy="9525"/>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p14"/>
          <p:cNvSpPr/>
          <p:nvPr/>
        </p:nvSpPr>
        <p:spPr>
          <a:xfrm>
            <a:off x="11410901" y="6461290"/>
            <a:ext cx="6558988"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62FE"/>
              </a:buClr>
              <a:buSzPts val="1800"/>
              <a:buFont typeface="IBM Plex Mono"/>
              <a:buNone/>
            </a:pPr>
            <a:r>
              <a:rPr b="1" lang="en-US" sz="1800">
                <a:solidFill>
                  <a:srgbClr val="0F62FE"/>
                </a:solidFill>
                <a:latin typeface="IBM Plex Mono"/>
                <a:ea typeface="IBM Plex Mono"/>
                <a:cs typeface="IBM Plex Mono"/>
                <a:sym typeface="IBM Plex Mono"/>
              </a:rPr>
              <a:t>NEXT</a:t>
            </a:r>
            <a:endParaRPr sz="1800">
              <a:solidFill>
                <a:schemeClr val="dk1"/>
              </a:solidFill>
              <a:latin typeface="Calibri"/>
              <a:ea typeface="Calibri"/>
              <a:cs typeface="Calibri"/>
              <a:sym typeface="Calibri"/>
            </a:endParaRPr>
          </a:p>
        </p:txBody>
      </p:sp>
      <p:sp>
        <p:nvSpPr>
          <p:cNvPr id="720" name="Google Shape;720;p14"/>
          <p:cNvSpPr/>
          <p:nvPr/>
        </p:nvSpPr>
        <p:spPr>
          <a:xfrm>
            <a:off x="11410901" y="6795658"/>
            <a:ext cx="6558988" cy="358163"/>
          </a:xfrm>
          <a:prstGeom prst="rect">
            <a:avLst/>
          </a:prstGeom>
          <a:noFill/>
          <a:ln>
            <a:noFill/>
          </a:ln>
        </p:spPr>
        <p:txBody>
          <a:bodyPr anchorCtr="0" anchor="t" bIns="25400" lIns="25400" spcFirstLastPara="1" rIns="25400" wrap="square" tIns="25400">
            <a:normAutofit/>
          </a:bodyPr>
          <a:lstStyle/>
          <a:p>
            <a:pPr indent="0" lvl="0" marL="0" marR="0" rtl="0" algn="l">
              <a:lnSpc>
                <a:spcPct val="91636"/>
              </a:lnSpc>
              <a:spcBef>
                <a:spcPts val="0"/>
              </a:spcBef>
              <a:spcAft>
                <a:spcPts val="0"/>
              </a:spcAft>
              <a:buClr>
                <a:srgbClr val="161616"/>
              </a:buClr>
              <a:buSzPts val="2100"/>
              <a:buFont typeface="IBM Plex Sans"/>
              <a:buNone/>
            </a:pPr>
            <a:r>
              <a:rPr b="1" lang="en-US" sz="2100">
                <a:solidFill>
                  <a:srgbClr val="161616"/>
                </a:solidFill>
                <a:latin typeface="IBM Plex Sans"/>
                <a:ea typeface="IBM Plex Sans"/>
                <a:cs typeface="IBM Plex Sans"/>
                <a:sym typeface="IBM Plex Sans"/>
              </a:rPr>
              <a:t>Static weights → learned</a:t>
            </a:r>
            <a:endParaRPr sz="2100">
              <a:solidFill>
                <a:schemeClr val="dk1"/>
              </a:solidFill>
              <a:latin typeface="Calibri"/>
              <a:ea typeface="Calibri"/>
              <a:cs typeface="Calibri"/>
              <a:sym typeface="Calibri"/>
            </a:endParaRPr>
          </a:p>
        </p:txBody>
      </p:sp>
      <p:sp>
        <p:nvSpPr>
          <p:cNvPr id="721" name="Google Shape;721;p14"/>
          <p:cNvSpPr/>
          <p:nvPr/>
        </p:nvSpPr>
        <p:spPr>
          <a:xfrm>
            <a:off x="11410901" y="7153755"/>
            <a:ext cx="6141598" cy="655241"/>
          </a:xfrm>
          <a:prstGeom prst="rect">
            <a:avLst/>
          </a:prstGeom>
          <a:noFill/>
          <a:ln>
            <a:noFill/>
          </a:ln>
        </p:spPr>
        <p:txBody>
          <a:bodyPr anchorCtr="0" anchor="t" bIns="25400" lIns="25400" spcFirstLastPara="1" rIns="25400" wrap="square" tIns="25400">
            <a:normAutofit/>
          </a:bodyPr>
          <a:lstStyle/>
          <a:p>
            <a:pPr indent="0" lvl="0" marL="0" marR="0" rtl="0" algn="l">
              <a:lnSpc>
                <a:spcPct val="104143"/>
              </a:lnSpc>
              <a:spcBef>
                <a:spcPts val="0"/>
              </a:spcBef>
              <a:spcAft>
                <a:spcPts val="0"/>
              </a:spcAft>
              <a:buClr>
                <a:srgbClr val="393939"/>
              </a:buClr>
              <a:buSzPts val="1800"/>
              <a:buFont typeface="IBM Plex Sans"/>
              <a:buNone/>
            </a:pPr>
            <a:r>
              <a:rPr lang="en-US" sz="1800">
                <a:solidFill>
                  <a:srgbClr val="393939"/>
                </a:solidFill>
                <a:latin typeface="IBM Plex Sans"/>
                <a:ea typeface="IBM Plex Sans"/>
                <a:cs typeface="IBM Plex Sans"/>
                <a:sym typeface="IBM Plex Sans"/>
              </a:rPr>
              <a:t>XGBoost-based weighting predicts per-request plugin weights from live signals.</a:t>
            </a:r>
            <a:endParaRPr sz="1800">
              <a:solidFill>
                <a:schemeClr val="dk1"/>
              </a:solidFill>
              <a:latin typeface="Calibri"/>
              <a:ea typeface="Calibri"/>
              <a:cs typeface="Calibri"/>
              <a:sym typeface="Calibri"/>
            </a:endParaRPr>
          </a:p>
        </p:txBody>
      </p:sp>
      <p:pic>
        <p:nvPicPr>
          <p:cNvPr descr="preencoded.png" id="722" name="Google Shape;722;p14"/>
          <p:cNvPicPr preferRelativeResize="0"/>
          <p:nvPr/>
        </p:nvPicPr>
        <p:blipFill rotWithShape="1">
          <a:blip r:embed="rId4">
            <a:alphaModFix/>
          </a:blip>
          <a:srcRect b="0" l="0" r="0" t="0"/>
          <a:stretch/>
        </p:blipFill>
        <p:spPr>
          <a:xfrm>
            <a:off x="914384" y="9677467"/>
            <a:ext cx="310968" cy="342883"/>
          </a:xfrm>
          <a:prstGeom prst="rect">
            <a:avLst/>
          </a:prstGeom>
          <a:noFill/>
          <a:ln>
            <a:noFill/>
          </a:ln>
        </p:spPr>
      </p:pic>
      <p:sp>
        <p:nvSpPr>
          <p:cNvPr id="723" name="Google Shape;723;p14"/>
          <p:cNvSpPr/>
          <p:nvPr/>
        </p:nvSpPr>
        <p:spPr>
          <a:xfrm>
            <a:off x="1415852" y="9700700"/>
            <a:ext cx="7748257"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Sans"/>
              <a:buNone/>
            </a:pPr>
            <a:r>
              <a:rPr lang="en-US" sz="1800">
                <a:solidFill>
                  <a:srgbClr val="6F6F6F"/>
                </a:solidFill>
                <a:latin typeface="IBM Plex Sans"/>
                <a:ea typeface="IBM Plex Sans"/>
                <a:cs typeface="IBM Plex Sans"/>
                <a:sym typeface="IBM Plex Sans"/>
              </a:rPr>
              <a:t>Bangalore Performance &amp; Scale Meetup 2026 · From Tokens to Scale</a:t>
            </a:r>
            <a:endParaRPr sz="1800">
              <a:solidFill>
                <a:schemeClr val="dk1"/>
              </a:solidFill>
              <a:latin typeface="Calibri"/>
              <a:ea typeface="Calibri"/>
              <a:cs typeface="Calibri"/>
              <a:sym typeface="Calibri"/>
            </a:endParaRPr>
          </a:p>
        </p:txBody>
      </p:sp>
      <p:sp>
        <p:nvSpPr>
          <p:cNvPr id="724" name="Google Shape;724;p14"/>
          <p:cNvSpPr/>
          <p:nvPr/>
        </p:nvSpPr>
        <p:spPr>
          <a:xfrm>
            <a:off x="16550846" y="9700700"/>
            <a:ext cx="898972"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F6F6F"/>
              </a:buClr>
              <a:buSzPts val="1800"/>
              <a:buFont typeface="IBM Plex Mono"/>
              <a:buNone/>
            </a:pPr>
            <a:r>
              <a:rPr lang="en-US" sz="1800">
                <a:solidFill>
                  <a:srgbClr val="6F6F6F"/>
                </a:solidFill>
                <a:latin typeface="IBM Plex Mono"/>
                <a:ea typeface="IBM Plex Mono"/>
                <a:cs typeface="IBM Plex Mono"/>
                <a:sym typeface="IBM Plex Mono"/>
              </a:rPr>
              <a:t>Backup</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2026-10-09T19:28:45Z</dcterms:created>
  <dc:creator>PptxGenJS</dc:creator>
</cp:coreProperties>
</file>