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Quattrocento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s0KXAqKGGpxJ0l+4a413iMya6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QuattrocentoSans-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QuattrocentoSa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QuattrocentoSans-italic.fntdata"/><Relationship Id="rId6" Type="http://schemas.openxmlformats.org/officeDocument/2006/relationships/slide" Target="slides/slide2.xml"/><Relationship Id="rId18" Type="http://schemas.openxmlformats.org/officeDocument/2006/relationships/font" Target="fonts/QuattrocentoSa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rPr lang="en-US" sz="1200"/>
              <a:t>Worldwide cloud IAAS market is growing rapidly &amp; is forecast to experience the highest end user spending growth around 30% in 2024. Such large scale growth introduces complexities and challenges involved in management of the cloud resources. Cloud itself is a distributed ecosystem of infra, virtual resources, applications, microservices, etc…with a control plane &amp; dataplane architecture. Application runtime &amp; any associated IO operations happen in the dataplane while the management of the cloud resources happens on the control plane. Control plane comprises multiple services and components which plays an important role in the orchestration and management of the cloud resources.Explain architecture. With increased complexity in the cloud environment , performance problems like slow response time, timeout , unplanned downtime has become more common than an exception. Perf characterization across multi-layer multi component becomes a huge challenge that needs a systematic approach and methodology to tackle it efficiently. Through our paper we put forth perf chara model which is a workflow with a comprehensive &amp; systematic approach for performance characterization of the cloud control plane. Through this work flow we can handle both reactive &amp; proactive problem identification &amp; resolution.</a:t>
            </a:r>
            <a:endParaRPr sz="1200"/>
          </a:p>
        </p:txBody>
      </p:sp>
      <p:sp>
        <p:nvSpPr>
          <p:cNvPr id="113" name="Google Shape;11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presents our Hybrid Cloud Performance Characterization Model — the structured lifecycle we have developed to tackle the challenges we just described. This is a workflow-based methodology, not just a collection of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lifecycle is a feedback loop with seven stages. Let me walk through each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 ROAD MAP FEATURE — PERFORMANCE PLAN</a:t>
            </a:r>
            <a:endParaRPr/>
          </a:p>
          <a:p>
            <a:pPr indent="0" lvl="0" marL="0" rtl="0" algn="l">
              <a:spcBef>
                <a:spcPts val="0"/>
              </a:spcBef>
              <a:spcAft>
                <a:spcPts val="0"/>
              </a:spcAft>
              <a:buNone/>
            </a:pPr>
            <a:r>
              <a:rPr lang="en-US"/>
              <a:t>Every performance characterization effort starts with a plan tied to the product roadmap. We identify which features or changes are coming and proactively define performance goals and test strategies for them. This shifts our work from purely reactive fire-fighting to proactive performance assurance.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2. PERFORMANCE METRIC CHARACTERIZATION</a:t>
            </a:r>
            <a:endParaRPr/>
          </a:p>
          <a:p>
            <a:pPr indent="0" lvl="0" marL="0" rtl="0" algn="l">
              <a:spcBef>
                <a:spcPts val="0"/>
              </a:spcBef>
              <a:spcAft>
                <a:spcPts val="0"/>
              </a:spcAft>
              <a:buNone/>
            </a:pPr>
            <a:r>
              <a:rPr lang="en-US"/>
              <a:t>Before running any load, we define the KPIs — the key performance indicators — for the use case we are testing. Use Case Analysis with KPIs: What is the acceptable response time threshold? What throughput must be sustained? What concurrency level reflects production? Without well-defined KPIs upfront, you cannot objectively assess the results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3. LOAD GENERATION</a:t>
            </a:r>
            <a:endParaRPr/>
          </a:p>
          <a:p>
            <a:pPr indent="0" lvl="0" marL="0" rtl="0" algn="l">
              <a:spcBef>
                <a:spcPts val="0"/>
              </a:spcBef>
              <a:spcAft>
                <a:spcPts val="0"/>
              </a:spcAft>
              <a:buNone/>
            </a:pPr>
            <a:r>
              <a:rPr lang="en-US"/>
              <a:t>We generate load that accurately reflects real-world scale and access patterns. This is not just about sending requests — it is about simulating realistic multi-tenant concurrency, request mixes, and scale levels. The load generation phase is informed directly by the KPIs defined in the previous step.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4. PERFORMANCE DATA COLLECTION</a:t>
            </a:r>
            <a:endParaRPr/>
          </a:p>
          <a:p>
            <a:pPr indent="0" lvl="0" marL="0" rtl="0" algn="l">
              <a:spcBef>
                <a:spcPts val="0"/>
              </a:spcBef>
              <a:spcAft>
                <a:spcPts val="0"/>
              </a:spcAft>
              <a:buNone/>
            </a:pPr>
            <a:r>
              <a:rPr lang="en-US"/>
              <a:t>During load runs, we collect comprehensive performance data across all layers — API response times, resource utilization (CPU, memory, network, disk), and component-level metrics. This is the fine-grained, multi-source data collection we discussed in the challenges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5. PERFORMANCE ANALYSIS</a:t>
            </a:r>
            <a:endParaRPr/>
          </a:p>
          <a:p>
            <a:pPr indent="0" lvl="0" marL="0" rtl="0" algn="l">
              <a:spcBef>
                <a:spcPts val="0"/>
              </a:spcBef>
              <a:spcAft>
                <a:spcPts val="0"/>
              </a:spcAft>
              <a:buNone/>
            </a:pPr>
            <a:r>
              <a:rPr lang="en-US"/>
              <a:t>We analyze the collected data to identify patterns, bottlenecks, and optimization opportunities. This involves statistical analysis, time-series analysis, and correlation across data sources to find root causes.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6. INFERENCE AND INSIGHT GENERATION</a:t>
            </a:r>
            <a:endParaRPr/>
          </a:p>
          <a:p>
            <a:pPr indent="0" lvl="0" marL="0" rtl="0" algn="l">
              <a:spcBef>
                <a:spcPts val="0"/>
              </a:spcBef>
              <a:spcAft>
                <a:spcPts val="0"/>
              </a:spcAft>
              <a:buNone/>
            </a:pPr>
            <a:r>
              <a:rPr lang="en-US"/>
              <a:t>We go beyond raw analysis to generate actionable insights using regression analysis and time-series analysis. The goal is not just to describe what happened — it is to predict what will happen at different scale levels and identify the levers that can be tuned.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7. OPTIMIZATION AND DC CONFIGURATION TUNING</a:t>
            </a:r>
            <a:endParaRPr/>
          </a:p>
          <a:p>
            <a:pPr indent="0" lvl="0" marL="0" rtl="0" algn="l">
              <a:spcBef>
                <a:spcPts val="0"/>
              </a:spcBef>
              <a:spcAft>
                <a:spcPts val="0"/>
              </a:spcAft>
              <a:buNone/>
            </a:pPr>
            <a:r>
              <a:rPr lang="en-US"/>
              <a:t>Insights feed directly into optimization recommendations. This includes tuning data center configurations — queue depths, thread pools, timeout values, resource limits — based on the evidence gathered. This closes the feedback loop back to the Performance Plan.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FEEDBACK arrow is critical: this is a continuous cycle, not a one-time exercise. Each run informs the next.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also maintain a library of Custom Tools and Methodology that supports this workflow, ensuring repeatability and consistency across studies.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Transition: Now — this lifecycle model is sound, but doing it manually is slow, error-prone, and hard to scale. That is exactly the problem the Agentic Pipeline we are about to show solves.</a:t>
            </a:r>
            <a:endParaRPr/>
          </a:p>
        </p:txBody>
      </p:sp>
      <p:sp>
        <p:nvSpPr>
          <p:cNvPr id="199" name="Google Shape;19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pc="0" sz="1200" u="none" cap="none" strike="noStrike">
                <a:solidFill>
                  <a:srgbClr val="000000"/>
                </a:solidFill>
                <a:latin typeface="Calibri"/>
                <a:ea typeface="Calibri"/>
                <a:cs typeface="Calibri"/>
                <a:sym typeface="Calibri"/>
              </a:rPr>
              <a:t>‹#›</a:t>
            </a:fld>
            <a:endParaRPr b="0" i="0" spc="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pc="0" sz="1200" u="none" cap="none" strike="noStrike">
                <a:solidFill>
                  <a:srgbClr val="000000"/>
                </a:solidFill>
                <a:latin typeface="Calibri"/>
                <a:ea typeface="Calibri"/>
                <a:cs typeface="Calibri"/>
                <a:sym typeface="Calibri"/>
              </a:rPr>
              <a:t>‹#›</a:t>
            </a:fld>
            <a:endParaRPr b="0" i="0" spc="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pc="0" sz="1200" u="none" cap="none" strike="noStrike">
                <a:solidFill>
                  <a:srgbClr val="000000"/>
                </a:solidFill>
                <a:latin typeface="Calibri"/>
                <a:ea typeface="Calibri"/>
                <a:cs typeface="Calibri"/>
                <a:sym typeface="Calibri"/>
              </a:rPr>
              <a:t>‹#›</a:t>
            </a:fld>
            <a:endParaRPr b="0" i="0" spc="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4" name="Google Shape;24;p14"/>
          <p:cNvPicPr preferRelativeResize="0"/>
          <p:nvPr/>
        </p:nvPicPr>
        <p:blipFill rotWithShape="1">
          <a:blip r:embed="rId2">
            <a:alphaModFix/>
          </a:blip>
          <a:srcRect b="0" l="0" r="0" t="0"/>
          <a:stretch/>
        </p:blipFill>
        <p:spPr>
          <a:xfrm rot="10800000">
            <a:off x="20" y="10"/>
            <a:ext cx="12191980" cy="68579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15"/>
          <p:cNvSpPr txBox="1"/>
          <p:nvPr/>
        </p:nvSpPr>
        <p:spPr>
          <a:xfrm>
            <a:off x="10047112" y="6598364"/>
            <a:ext cx="2009422"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chemeClr val="dk1"/>
                </a:solidFill>
                <a:latin typeface="Calibri"/>
                <a:ea typeface="Calibri"/>
                <a:cs typeface="Calibri"/>
                <a:sym typeface="Calibri"/>
              </a:rPr>
              <a:t>IBM Power Systems Performance</a:t>
            </a:r>
            <a:endParaRPr/>
          </a:p>
        </p:txBody>
      </p:sp>
      <p:sp>
        <p:nvSpPr>
          <p:cNvPr id="32" name="Google Shape;32;p15"/>
          <p:cNvSpPr txBox="1"/>
          <p:nvPr/>
        </p:nvSpPr>
        <p:spPr>
          <a:xfrm>
            <a:off x="5091289" y="6596441"/>
            <a:ext cx="2009422" cy="24622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000" u="none" cap="none" strike="noStrike">
                <a:solidFill>
                  <a:schemeClr val="dk1"/>
                </a:solidFill>
                <a:latin typeface="Calibri"/>
                <a:ea typeface="Calibri"/>
                <a:cs typeface="Calibri"/>
                <a:sym typeface="Calibri"/>
              </a:rPr>
              <a:t>IBM Confidential</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6" name="Google Shape;3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2"/>
          <p:cNvSpPr/>
          <p:nvPr>
            <p:ph idx="2" type="pic"/>
          </p:nvPr>
        </p:nvSpPr>
        <p:spPr>
          <a:xfrm>
            <a:off x="5183188" y="987425"/>
            <a:ext cx="6172200" cy="4873625"/>
          </a:xfrm>
          <a:prstGeom prst="rect">
            <a:avLst/>
          </a:prstGeom>
          <a:noFill/>
          <a:ln>
            <a:noFill/>
          </a:ln>
        </p:spPr>
      </p:sp>
      <p:sp>
        <p:nvSpPr>
          <p:cNvPr id="74" name="Google Shape;74;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3"/>
          <p:cNvSpPr txBox="1"/>
          <p:nvPr/>
        </p:nvSpPr>
        <p:spPr>
          <a:xfrm>
            <a:off x="-12307" y="6537325"/>
            <a:ext cx="491994" cy="1841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pic>
        <p:nvPicPr>
          <p:cNvPr descr="IBMlogo" id="16" name="Google Shape;16;p13"/>
          <p:cNvPicPr preferRelativeResize="0"/>
          <p:nvPr/>
        </p:nvPicPr>
        <p:blipFill rotWithShape="1">
          <a:blip r:embed="rId1">
            <a:alphaModFix/>
          </a:blip>
          <a:srcRect b="0" l="0" r="0" t="0"/>
          <a:stretch/>
        </p:blipFill>
        <p:spPr>
          <a:xfrm>
            <a:off x="11079164" y="277814"/>
            <a:ext cx="655638" cy="255587"/>
          </a:xfrm>
          <a:prstGeom prst="rect">
            <a:avLst/>
          </a:prstGeom>
          <a:noFill/>
          <a:ln>
            <a:noFill/>
          </a:ln>
        </p:spPr>
      </p:pic>
      <p:pic>
        <p:nvPicPr>
          <p:cNvPr id="17" name="Google Shape;17;p13"/>
          <p:cNvPicPr preferRelativeResize="0"/>
          <p:nvPr/>
        </p:nvPicPr>
        <p:blipFill rotWithShape="1">
          <a:blip r:embed="rId2">
            <a:alphaModFix/>
          </a:blip>
          <a:srcRect b="0" l="0" r="0" t="0"/>
          <a:stretch/>
        </p:blipFill>
        <p:spPr>
          <a:xfrm>
            <a:off x="173624" y="92230"/>
            <a:ext cx="567147" cy="62675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drive.google.com/file/d/1KRTBATHGJyz7ICNYx5Zp4HV7ZUy5zjh3/view" TargetMode="External"/><Relationship Id="rId4"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1"/>
          <p:cNvSpPr/>
          <p:nvPr/>
        </p:nvSpPr>
        <p:spPr>
          <a:xfrm rot="10800000">
            <a:off x="-2" y="-22693"/>
            <a:ext cx="12191999" cy="4374129"/>
          </a:xfrm>
          <a:prstGeom prst="rect">
            <a:avLst/>
          </a:prstGeom>
          <a:gradFill>
            <a:gsLst>
              <a:gs pos="0">
                <a:srgbClr val="2F5496"/>
              </a:gs>
              <a:gs pos="100000">
                <a:srgbClr val="000000"/>
              </a:gs>
            </a:gsLst>
            <a:lin ang="15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7" name="Google Shape;97;p1"/>
          <p:cNvSpPr/>
          <p:nvPr/>
        </p:nvSpPr>
        <p:spPr>
          <a:xfrm rot="5400000">
            <a:off x="3908719" y="-3931841"/>
            <a:ext cx="4374557" cy="12192000"/>
          </a:xfrm>
          <a:prstGeom prst="rect">
            <a:avLst/>
          </a:prstGeom>
          <a:gradFill>
            <a:gsLst>
              <a:gs pos="0">
                <a:srgbClr val="4472C4">
                  <a:alpha val="0"/>
                </a:srgbClr>
              </a:gs>
              <a:gs pos="40000">
                <a:srgbClr val="4472C4">
                  <a:alpha val="0"/>
                </a:srgbClr>
              </a:gs>
              <a:gs pos="100000">
                <a:srgbClr val="2F5496">
                  <a:alpha val="52157"/>
                </a:srgbClr>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1"/>
          <p:cNvSpPr/>
          <p:nvPr/>
        </p:nvSpPr>
        <p:spPr>
          <a:xfrm rot="5400000">
            <a:off x="4136696" y="-3703868"/>
            <a:ext cx="4374128" cy="11736479"/>
          </a:xfrm>
          <a:prstGeom prst="rect">
            <a:avLst/>
          </a:prstGeom>
          <a:gradFill>
            <a:gsLst>
              <a:gs pos="0">
                <a:srgbClr val="4472C4">
                  <a:alpha val="0"/>
                </a:srgbClr>
              </a:gs>
              <a:gs pos="17000">
                <a:srgbClr val="4472C4">
                  <a:alpha val="0"/>
                </a:srgbClr>
              </a:gs>
              <a:gs pos="100000">
                <a:srgbClr val="000000">
                  <a:alpha val="36863"/>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
          <p:cNvSpPr/>
          <p:nvPr/>
        </p:nvSpPr>
        <p:spPr>
          <a:xfrm>
            <a:off x="-5" y="-22690"/>
            <a:ext cx="8542485" cy="4374126"/>
          </a:xfrm>
          <a:prstGeom prst="rect">
            <a:avLst/>
          </a:prstGeom>
          <a:gradFill>
            <a:gsLst>
              <a:gs pos="0">
                <a:srgbClr val="1F3864">
                  <a:alpha val="0"/>
                </a:srgbClr>
              </a:gs>
              <a:gs pos="100000">
                <a:srgbClr val="000000">
                  <a:alpha val="25098"/>
                </a:srgbClr>
              </a:gs>
            </a:gsLst>
            <a:lin ang="18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 name="Google Shape;100;p1"/>
          <p:cNvSpPr/>
          <p:nvPr/>
        </p:nvSpPr>
        <p:spPr>
          <a:xfrm rot="-9091028">
            <a:off x="5945431" y="-1032053"/>
            <a:ext cx="4990147" cy="4439131"/>
          </a:xfrm>
          <a:custGeom>
            <a:rect b="b" l="l" r="r" t="t"/>
            <a:pathLst>
              <a:path extrusionOk="0" h="4439131" w="4990147">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4472C4">
                  <a:alpha val="21961"/>
                </a:srgbClr>
              </a:gs>
              <a:gs pos="87000">
                <a:srgbClr val="8DA9DB">
                  <a:alpha val="1961"/>
                </a:srgbClr>
              </a:gs>
              <a:gs pos="100000">
                <a:srgbClr val="8DA9DB">
                  <a:alpha val="1961"/>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1"/>
          <p:cNvSpPr txBox="1"/>
          <p:nvPr>
            <p:ph type="ctrTitle"/>
          </p:nvPr>
        </p:nvSpPr>
        <p:spPr>
          <a:xfrm>
            <a:off x="780872" y="651979"/>
            <a:ext cx="10630249" cy="322729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4000">
                <a:solidFill>
                  <a:schemeClr val="lt1"/>
                </a:solidFill>
              </a:rPr>
              <a:t>Agentic Pipeline: From Unified Planning &amp; Execution to Intelligent Telemetry and Insight</a:t>
            </a:r>
            <a:br>
              <a:rPr b="1" lang="en-US" sz="3600">
                <a:solidFill>
                  <a:srgbClr val="FFFFFF"/>
                </a:solidFill>
                <a:latin typeface="Calibri"/>
                <a:ea typeface="Calibri"/>
                <a:cs typeface="Calibri"/>
                <a:sym typeface="Calibri"/>
              </a:rPr>
            </a:br>
            <a:br>
              <a:rPr b="1" lang="en-US" sz="2400">
                <a:solidFill>
                  <a:srgbClr val="FFFFFF"/>
                </a:solidFill>
                <a:latin typeface="Calibri"/>
                <a:ea typeface="Calibri"/>
                <a:cs typeface="Calibri"/>
                <a:sym typeface="Calibri"/>
              </a:rPr>
            </a:br>
            <a:br>
              <a:rPr b="1" lang="en-US" sz="2400">
                <a:solidFill>
                  <a:srgbClr val="FFFFFF"/>
                </a:solidFill>
              </a:rPr>
            </a:br>
            <a:r>
              <a:rPr b="1" lang="en-US" sz="2400">
                <a:solidFill>
                  <a:srgbClr val="FFFFFF"/>
                </a:solidFill>
              </a:rPr>
              <a:t>Bangalore Performance and Scale Meet 2026</a:t>
            </a:r>
            <a:endParaRPr b="1" sz="4800">
              <a:solidFill>
                <a:srgbClr val="FFFFFF"/>
              </a:solidFill>
              <a:latin typeface="Calibri"/>
              <a:ea typeface="Calibri"/>
              <a:cs typeface="Calibri"/>
              <a:sym typeface="Calibri"/>
            </a:endParaRPr>
          </a:p>
        </p:txBody>
      </p:sp>
      <p:sp>
        <p:nvSpPr>
          <p:cNvPr id="102" name="Google Shape;102;p1"/>
          <p:cNvSpPr txBox="1"/>
          <p:nvPr/>
        </p:nvSpPr>
        <p:spPr>
          <a:xfrm>
            <a:off x="111327" y="4303405"/>
            <a:ext cx="10005951" cy="1278188"/>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Calibri"/>
                <a:ea typeface="Calibri"/>
                <a:cs typeface="Calibri"/>
                <a:sym typeface="Calibri"/>
              </a:rPr>
              <a:t>Prachi Gupta, Priya K</a:t>
            </a:r>
            <a:endParaRPr/>
          </a:p>
          <a:p>
            <a:pPr indent="0" lvl="0" marL="0" marR="0" rtl="0" algn="l">
              <a:lnSpc>
                <a:spcPct val="100000"/>
              </a:lnSpc>
              <a:spcBef>
                <a:spcPts val="1000"/>
              </a:spcBef>
              <a:spcAft>
                <a:spcPts val="0"/>
              </a:spcAft>
              <a:buNone/>
            </a:pPr>
            <a:r>
              <a:rPr b="0" i="0" lang="en-US" sz="1800" u="none" cap="none" strike="noStrike">
                <a:solidFill>
                  <a:schemeClr val="dk1"/>
                </a:solidFill>
                <a:latin typeface="Calibri"/>
                <a:ea typeface="Calibri"/>
                <a:cs typeface="Calibri"/>
                <a:sym typeface="Calibri"/>
              </a:rPr>
              <a:t>Hybrid cloud performance engineering team @ ISDL (IBM India Systems Development Lab)</a:t>
            </a:r>
            <a:endParaRPr b="1" i="0" sz="2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403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Agenda</a:t>
            </a:r>
            <a:endParaRPr/>
          </a:p>
        </p:txBody>
      </p:sp>
      <p:sp>
        <p:nvSpPr>
          <p:cNvPr id="109" name="Google Shape;109;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Introduction</a:t>
            </a:r>
            <a:endParaRPr/>
          </a:p>
          <a:p>
            <a:pPr indent="-228600" lvl="0" marL="228600" rtl="0" algn="l">
              <a:lnSpc>
                <a:spcPct val="90000"/>
              </a:lnSpc>
              <a:spcBef>
                <a:spcPts val="1000"/>
              </a:spcBef>
              <a:spcAft>
                <a:spcPts val="0"/>
              </a:spcAft>
              <a:buClr>
                <a:schemeClr val="dk1"/>
              </a:buClr>
              <a:buSzPts val="2800"/>
              <a:buChar char="•"/>
            </a:pPr>
            <a:r>
              <a:rPr lang="en-US"/>
              <a:t>Performance Challenges at Cloud scale</a:t>
            </a:r>
            <a:endParaRPr/>
          </a:p>
          <a:p>
            <a:pPr indent="-228600" lvl="0" marL="228600" rtl="0" algn="l">
              <a:lnSpc>
                <a:spcPct val="90000"/>
              </a:lnSpc>
              <a:spcBef>
                <a:spcPts val="1000"/>
              </a:spcBef>
              <a:spcAft>
                <a:spcPts val="0"/>
              </a:spcAft>
              <a:buClr>
                <a:schemeClr val="dk1"/>
              </a:buClr>
              <a:buSzPts val="2800"/>
              <a:buChar char="•"/>
            </a:pPr>
            <a:r>
              <a:rPr lang="en-US"/>
              <a:t>Performance characterization Cycle</a:t>
            </a:r>
            <a:endParaRPr/>
          </a:p>
          <a:p>
            <a:pPr indent="-228600" lvl="0" marL="228600" rtl="0" algn="l">
              <a:lnSpc>
                <a:spcPct val="90000"/>
              </a:lnSpc>
              <a:spcBef>
                <a:spcPts val="1000"/>
              </a:spcBef>
              <a:spcAft>
                <a:spcPts val="0"/>
              </a:spcAft>
              <a:buClr>
                <a:schemeClr val="dk1"/>
              </a:buClr>
              <a:buSzPts val="2800"/>
              <a:buChar char="•"/>
            </a:pPr>
            <a:r>
              <a:rPr lang="en-US"/>
              <a:t>Agentic Pipeline Architecture </a:t>
            </a:r>
            <a:endParaRPr/>
          </a:p>
          <a:p>
            <a:pPr indent="-228600" lvl="0" marL="228600" rtl="0" algn="l">
              <a:lnSpc>
                <a:spcPct val="90000"/>
              </a:lnSpc>
              <a:spcBef>
                <a:spcPts val="1000"/>
              </a:spcBef>
              <a:spcAft>
                <a:spcPts val="0"/>
              </a:spcAft>
              <a:buClr>
                <a:schemeClr val="dk1"/>
              </a:buClr>
              <a:buSzPts val="2800"/>
              <a:buChar char="•"/>
            </a:pPr>
            <a:r>
              <a:rPr lang="en-US"/>
              <a:t>Use Cases with Demo</a:t>
            </a:r>
            <a:endParaRPr/>
          </a:p>
        </p:txBody>
      </p:sp>
      <p:sp>
        <p:nvSpPr>
          <p:cNvPr id="110" name="Google Shape;110;p2"/>
          <p:cNvSpPr txBox="1"/>
          <p:nvPr>
            <p:ph type="title"/>
          </p:nvPr>
        </p:nvSpPr>
        <p:spPr>
          <a:xfrm>
            <a:off x="0" y="6176974"/>
            <a:ext cx="12192000" cy="6246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0" y="170778"/>
            <a:ext cx="12192000" cy="55159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Introduction</a:t>
            </a:r>
            <a:endParaRPr/>
          </a:p>
        </p:txBody>
      </p:sp>
      <p:grpSp>
        <p:nvGrpSpPr>
          <p:cNvPr id="116" name="Google Shape;116;p3"/>
          <p:cNvGrpSpPr/>
          <p:nvPr/>
        </p:nvGrpSpPr>
        <p:grpSpPr>
          <a:xfrm>
            <a:off x="548640" y="1280160"/>
            <a:ext cx="5760720" cy="1097280"/>
            <a:chOff x="548640" y="1280160"/>
            <a:chExt cx="5760720" cy="1097280"/>
          </a:xfrm>
        </p:grpSpPr>
        <p:sp>
          <p:nvSpPr>
            <p:cNvPr id="117" name="Google Shape;117;p3"/>
            <p:cNvSpPr/>
            <p:nvPr/>
          </p:nvSpPr>
          <p:spPr>
            <a:xfrm>
              <a:off x="548640" y="1280160"/>
              <a:ext cx="5760720" cy="109728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118" name="Google Shape;118;p3"/>
            <p:cNvSpPr/>
            <p:nvPr/>
          </p:nvSpPr>
          <p:spPr>
            <a:xfrm>
              <a:off x="749808" y="1508760"/>
              <a:ext cx="640080" cy="64008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cloud icon" id="119" name="Google Shape;119;p3"/>
            <p:cNvPicPr preferRelativeResize="0"/>
            <p:nvPr/>
          </p:nvPicPr>
          <p:blipFill rotWithShape="1">
            <a:blip r:embed="rId3">
              <a:alphaModFix/>
            </a:blip>
            <a:srcRect b="0" l="0" r="0" t="0"/>
            <a:stretch/>
          </p:blipFill>
          <p:spPr>
            <a:xfrm>
              <a:off x="909828" y="1668780"/>
              <a:ext cx="320040" cy="320040"/>
            </a:xfrm>
            <a:prstGeom prst="rect">
              <a:avLst/>
            </a:prstGeom>
            <a:noFill/>
            <a:ln>
              <a:noFill/>
            </a:ln>
          </p:spPr>
        </p:pic>
        <p:sp>
          <p:nvSpPr>
            <p:cNvPr id="120" name="Google Shape;120;p3"/>
            <p:cNvSpPr txBox="1"/>
            <p:nvPr/>
          </p:nvSpPr>
          <p:spPr>
            <a:xfrm>
              <a:off x="1600200" y="1371600"/>
              <a:ext cx="45720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400"/>
                <a:buFont typeface="Calibri"/>
                <a:buNone/>
              </a:pPr>
              <a:r>
                <a:rPr b="0" i="0" lang="en-US" spc="0" sz="1400" u="none" cap="none" strike="noStrike">
                  <a:solidFill>
                    <a:srgbClr val="393939"/>
                  </a:solidFill>
                  <a:latin typeface="Calibri"/>
                  <a:ea typeface="Calibri"/>
                  <a:cs typeface="Calibri"/>
                  <a:sym typeface="Calibri"/>
                </a:rPr>
                <a:t>Cloud datacenters have become complex environments due to the large amount of heterogeneous hardware and software resources.</a:t>
              </a:r>
              <a:endParaRPr/>
            </a:p>
          </p:txBody>
        </p:sp>
      </p:grpSp>
      <p:grpSp>
        <p:nvGrpSpPr>
          <p:cNvPr id="121" name="Google Shape;121;p3"/>
          <p:cNvGrpSpPr/>
          <p:nvPr/>
        </p:nvGrpSpPr>
        <p:grpSpPr>
          <a:xfrm>
            <a:off x="548640" y="2514600"/>
            <a:ext cx="5760720" cy="1097280"/>
            <a:chOff x="548640" y="2514600"/>
            <a:chExt cx="5760720" cy="1097280"/>
          </a:xfrm>
        </p:grpSpPr>
        <p:sp>
          <p:nvSpPr>
            <p:cNvPr id="122" name="Google Shape;122;p3"/>
            <p:cNvSpPr/>
            <p:nvPr/>
          </p:nvSpPr>
          <p:spPr>
            <a:xfrm>
              <a:off x="548640" y="2514600"/>
              <a:ext cx="5760720" cy="109728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123" name="Google Shape;123;p3"/>
            <p:cNvSpPr/>
            <p:nvPr/>
          </p:nvSpPr>
          <p:spPr>
            <a:xfrm>
              <a:off x="749808" y="2743200"/>
              <a:ext cx="640080" cy="64008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layers icon" id="124" name="Google Shape;124;p3"/>
            <p:cNvPicPr preferRelativeResize="0"/>
            <p:nvPr/>
          </p:nvPicPr>
          <p:blipFill rotWithShape="1">
            <a:blip r:embed="rId4">
              <a:alphaModFix/>
            </a:blip>
            <a:srcRect b="0" l="0" r="0" t="0"/>
            <a:stretch/>
          </p:blipFill>
          <p:spPr>
            <a:xfrm>
              <a:off x="909828" y="2903220"/>
              <a:ext cx="320040" cy="320040"/>
            </a:xfrm>
            <a:prstGeom prst="rect">
              <a:avLst/>
            </a:prstGeom>
            <a:noFill/>
            <a:ln>
              <a:noFill/>
            </a:ln>
          </p:spPr>
        </p:pic>
        <p:sp>
          <p:nvSpPr>
            <p:cNvPr id="125" name="Google Shape;125;p3"/>
            <p:cNvSpPr txBox="1"/>
            <p:nvPr/>
          </p:nvSpPr>
          <p:spPr>
            <a:xfrm>
              <a:off x="1600200" y="2606040"/>
              <a:ext cx="45720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400"/>
                <a:buFont typeface="Calibri"/>
                <a:buNone/>
              </a:pPr>
              <a:r>
                <a:rPr b="0" i="0" lang="en-US" spc="0" sz="1400" u="none" cap="none" strike="noStrike">
                  <a:solidFill>
                    <a:srgbClr val="393939"/>
                  </a:solidFill>
                  <a:latin typeface="Calibri"/>
                  <a:ea typeface="Calibri"/>
                  <a:cs typeface="Calibri"/>
                  <a:sym typeface="Calibri"/>
                </a:rPr>
                <a:t>IAAS cloud providers should seamlessly share resources across multiple tenants and dynamically scale with increase in user requests without any performance impact.</a:t>
              </a:r>
              <a:endParaRPr/>
            </a:p>
          </p:txBody>
        </p:sp>
      </p:grpSp>
      <p:grpSp>
        <p:nvGrpSpPr>
          <p:cNvPr id="126" name="Google Shape;126;p3"/>
          <p:cNvGrpSpPr/>
          <p:nvPr/>
        </p:nvGrpSpPr>
        <p:grpSpPr>
          <a:xfrm>
            <a:off x="548640" y="3749040"/>
            <a:ext cx="5760720" cy="1097280"/>
            <a:chOff x="548640" y="3749040"/>
            <a:chExt cx="5760720" cy="1097280"/>
          </a:xfrm>
        </p:grpSpPr>
        <p:sp>
          <p:nvSpPr>
            <p:cNvPr id="127" name="Google Shape;127;p3"/>
            <p:cNvSpPr/>
            <p:nvPr/>
          </p:nvSpPr>
          <p:spPr>
            <a:xfrm>
              <a:off x="548640" y="3749040"/>
              <a:ext cx="5760720" cy="109728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128" name="Google Shape;128;p3"/>
            <p:cNvSpPr/>
            <p:nvPr/>
          </p:nvSpPr>
          <p:spPr>
            <a:xfrm>
              <a:off x="749808" y="3977640"/>
              <a:ext cx="640080" cy="64008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warn icon" id="129" name="Google Shape;129;p3"/>
            <p:cNvPicPr preferRelativeResize="0"/>
            <p:nvPr/>
          </p:nvPicPr>
          <p:blipFill rotWithShape="1">
            <a:blip r:embed="rId5">
              <a:alphaModFix/>
            </a:blip>
            <a:srcRect b="0" l="0" r="0" t="0"/>
            <a:stretch/>
          </p:blipFill>
          <p:spPr>
            <a:xfrm>
              <a:off x="909828" y="4137660"/>
              <a:ext cx="320040" cy="320040"/>
            </a:xfrm>
            <a:prstGeom prst="rect">
              <a:avLst/>
            </a:prstGeom>
            <a:noFill/>
            <a:ln>
              <a:noFill/>
            </a:ln>
          </p:spPr>
        </p:pic>
        <p:sp>
          <p:nvSpPr>
            <p:cNvPr id="130" name="Google Shape;130;p3"/>
            <p:cNvSpPr txBox="1"/>
            <p:nvPr/>
          </p:nvSpPr>
          <p:spPr>
            <a:xfrm>
              <a:off x="1600200" y="3840480"/>
              <a:ext cx="45720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400"/>
                <a:buFont typeface="Calibri"/>
                <a:buNone/>
              </a:pPr>
              <a:r>
                <a:rPr b="0" i="0" lang="en-US" spc="0" sz="1400" u="none" cap="none" strike="noStrike">
                  <a:solidFill>
                    <a:srgbClr val="393939"/>
                  </a:solidFill>
                  <a:latin typeface="Calibri"/>
                  <a:ea typeface="Calibri"/>
                  <a:cs typeface="Calibri"/>
                  <a:sym typeface="Calibri"/>
                </a:rPr>
                <a:t>Common performance problems in high scale IAAS cloud environment include timeouts, high latency, downtime etc.</a:t>
              </a:r>
              <a:endParaRPr/>
            </a:p>
          </p:txBody>
        </p:sp>
      </p:grpSp>
      <p:grpSp>
        <p:nvGrpSpPr>
          <p:cNvPr id="131" name="Google Shape;131;p3"/>
          <p:cNvGrpSpPr/>
          <p:nvPr/>
        </p:nvGrpSpPr>
        <p:grpSpPr>
          <a:xfrm>
            <a:off x="548640" y="4983480"/>
            <a:ext cx="5760720" cy="1097280"/>
            <a:chOff x="548640" y="4983480"/>
            <a:chExt cx="5760720" cy="1097280"/>
          </a:xfrm>
        </p:grpSpPr>
        <p:sp>
          <p:nvSpPr>
            <p:cNvPr id="132" name="Google Shape;132;p3"/>
            <p:cNvSpPr/>
            <p:nvPr/>
          </p:nvSpPr>
          <p:spPr>
            <a:xfrm>
              <a:off x="548640" y="4983480"/>
              <a:ext cx="5760720" cy="109728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133" name="Google Shape;133;p3"/>
            <p:cNvSpPr/>
            <p:nvPr/>
          </p:nvSpPr>
          <p:spPr>
            <a:xfrm>
              <a:off x="749808" y="5212080"/>
              <a:ext cx="640080" cy="64008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cogs icon" id="134" name="Google Shape;134;p3"/>
            <p:cNvPicPr preferRelativeResize="0"/>
            <p:nvPr/>
          </p:nvPicPr>
          <p:blipFill rotWithShape="1">
            <a:blip r:embed="rId6">
              <a:alphaModFix/>
            </a:blip>
            <a:srcRect b="0" l="0" r="0" t="0"/>
            <a:stretch/>
          </p:blipFill>
          <p:spPr>
            <a:xfrm>
              <a:off x="909828" y="5372100"/>
              <a:ext cx="320040" cy="320040"/>
            </a:xfrm>
            <a:prstGeom prst="rect">
              <a:avLst/>
            </a:prstGeom>
            <a:noFill/>
            <a:ln>
              <a:noFill/>
            </a:ln>
          </p:spPr>
        </p:pic>
        <p:sp>
          <p:nvSpPr>
            <p:cNvPr id="135" name="Google Shape;135;p3"/>
            <p:cNvSpPr txBox="1"/>
            <p:nvPr/>
          </p:nvSpPr>
          <p:spPr>
            <a:xfrm>
              <a:off x="1600200" y="5074920"/>
              <a:ext cx="45720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400"/>
                <a:buFont typeface="Calibri"/>
                <a:buNone/>
              </a:pPr>
              <a:r>
                <a:rPr b="0" i="0" lang="en-US" spc="0" sz="1400" u="none" cap="none" strike="noStrike">
                  <a:solidFill>
                    <a:srgbClr val="393939"/>
                  </a:solidFill>
                  <a:latin typeface="Calibri"/>
                  <a:ea typeface="Calibri"/>
                  <a:cs typeface="Calibri"/>
                  <a:sym typeface="Calibri"/>
                </a:rPr>
                <a:t>Performance characterization approach across multi-layered, multi-component, end-to-end control plane stack is complex necessitating a systematic approach and usage of cohesive tools.</a:t>
              </a:r>
              <a:endParaRPr/>
            </a:p>
          </p:txBody>
        </p:sp>
      </p:grpSp>
      <p:grpSp>
        <p:nvGrpSpPr>
          <p:cNvPr id="136" name="Google Shape;136;p3"/>
          <p:cNvGrpSpPr/>
          <p:nvPr/>
        </p:nvGrpSpPr>
        <p:grpSpPr>
          <a:xfrm>
            <a:off x="6766560" y="1280160"/>
            <a:ext cx="4846320" cy="731520"/>
            <a:chOff x="6766560" y="1280160"/>
            <a:chExt cx="4846320" cy="731520"/>
          </a:xfrm>
        </p:grpSpPr>
        <p:sp>
          <p:nvSpPr>
            <p:cNvPr id="137" name="Google Shape;137;p3"/>
            <p:cNvSpPr/>
            <p:nvPr/>
          </p:nvSpPr>
          <p:spPr>
            <a:xfrm>
              <a:off x="6766560" y="1280160"/>
              <a:ext cx="1463040" cy="457200"/>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Cloud consumer1</a:t>
              </a:r>
              <a:endParaRPr/>
            </a:p>
          </p:txBody>
        </p:sp>
        <p:cxnSp>
          <p:nvCxnSpPr>
            <p:cNvPr id="138" name="Google Shape;138;p3"/>
            <p:cNvCxnSpPr/>
            <p:nvPr/>
          </p:nvCxnSpPr>
          <p:spPr>
            <a:xfrm>
              <a:off x="7498080" y="1755648"/>
              <a:ext cx="0" cy="256032"/>
            </a:xfrm>
            <a:prstGeom prst="straightConnector1">
              <a:avLst/>
            </a:prstGeom>
            <a:noFill/>
            <a:ln cap="rnd" cmpd="sng" w="19050">
              <a:solidFill>
                <a:srgbClr val="0F62FE"/>
              </a:solidFill>
              <a:prstDash val="solid"/>
              <a:round/>
              <a:headEnd len="med" w="med" type="triangle"/>
              <a:tailEnd len="med" w="med" type="triangle"/>
            </a:ln>
          </p:spPr>
        </p:cxnSp>
        <p:sp>
          <p:nvSpPr>
            <p:cNvPr id="139" name="Google Shape;139;p3"/>
            <p:cNvSpPr/>
            <p:nvPr/>
          </p:nvSpPr>
          <p:spPr>
            <a:xfrm>
              <a:off x="8458200" y="1280160"/>
              <a:ext cx="1463040" cy="457200"/>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Cloud consumer2</a:t>
              </a:r>
              <a:endParaRPr/>
            </a:p>
          </p:txBody>
        </p:sp>
        <p:cxnSp>
          <p:nvCxnSpPr>
            <p:cNvPr id="140" name="Google Shape;140;p3"/>
            <p:cNvCxnSpPr/>
            <p:nvPr/>
          </p:nvCxnSpPr>
          <p:spPr>
            <a:xfrm>
              <a:off x="9189720" y="1755648"/>
              <a:ext cx="0" cy="256032"/>
            </a:xfrm>
            <a:prstGeom prst="straightConnector1">
              <a:avLst/>
            </a:prstGeom>
            <a:noFill/>
            <a:ln cap="rnd" cmpd="sng" w="19050">
              <a:solidFill>
                <a:srgbClr val="0F62FE"/>
              </a:solidFill>
              <a:prstDash val="solid"/>
              <a:round/>
              <a:headEnd len="med" w="med" type="triangle"/>
              <a:tailEnd len="med" w="med" type="triangle"/>
            </a:ln>
          </p:spPr>
        </p:cxnSp>
        <p:sp>
          <p:nvSpPr>
            <p:cNvPr id="141" name="Google Shape;141;p3"/>
            <p:cNvSpPr/>
            <p:nvPr/>
          </p:nvSpPr>
          <p:spPr>
            <a:xfrm>
              <a:off x="10149840" y="1280160"/>
              <a:ext cx="1463040" cy="457200"/>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Cloud consumer3</a:t>
              </a:r>
              <a:endParaRPr/>
            </a:p>
          </p:txBody>
        </p:sp>
        <p:cxnSp>
          <p:nvCxnSpPr>
            <p:cNvPr id="142" name="Google Shape;142;p3"/>
            <p:cNvCxnSpPr/>
            <p:nvPr/>
          </p:nvCxnSpPr>
          <p:spPr>
            <a:xfrm>
              <a:off x="10881360" y="1755648"/>
              <a:ext cx="0" cy="256032"/>
            </a:xfrm>
            <a:prstGeom prst="straightConnector1">
              <a:avLst/>
            </a:prstGeom>
            <a:noFill/>
            <a:ln cap="rnd" cmpd="sng" w="19050">
              <a:solidFill>
                <a:srgbClr val="0F62FE"/>
              </a:solidFill>
              <a:prstDash val="solid"/>
              <a:round/>
              <a:headEnd len="med" w="med" type="triangle"/>
              <a:tailEnd len="med" w="med" type="triangle"/>
            </a:ln>
          </p:spPr>
        </p:cxnSp>
      </p:grpSp>
      <p:sp>
        <p:nvSpPr>
          <p:cNvPr id="143" name="Google Shape;143;p3"/>
          <p:cNvSpPr/>
          <p:nvPr/>
        </p:nvSpPr>
        <p:spPr>
          <a:xfrm>
            <a:off x="6766560" y="2029968"/>
            <a:ext cx="4846320" cy="384048"/>
          </a:xfrm>
          <a:prstGeom prst="roundRect">
            <a:avLst>
              <a:gd fmla="val 12000" name="adj"/>
            </a:avLst>
          </a:prstGeom>
          <a:solidFill>
            <a:srgbClr val="DCE8FF"/>
          </a:solidFill>
          <a:ln cap="flat" cmpd="sng" w="12700">
            <a:solidFill>
              <a:srgbClr val="D0D7E2"/>
            </a:solidFill>
            <a:prstDash val="solid"/>
            <a:round/>
            <a:headEnd len="sm" w="sm" type="none"/>
            <a:tailEnd len="sm" w="sm" type="none"/>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0043CE"/>
              </a:buClr>
              <a:buSzPts val="1200"/>
              <a:buFont typeface="Calibri"/>
              <a:buNone/>
            </a:pPr>
            <a:r>
              <a:rPr b="1" i="0" lang="en-US" spc="0" sz="1200" u="none" cap="none" strike="noStrike">
                <a:solidFill>
                  <a:srgbClr val="0043CE"/>
                </a:solidFill>
                <a:latin typeface="Calibri"/>
                <a:ea typeface="Calibri"/>
                <a:cs typeface="Calibri"/>
                <a:sym typeface="Calibri"/>
              </a:rPr>
              <a:t>API Layer</a:t>
            </a:r>
            <a:endParaRPr/>
          </a:p>
        </p:txBody>
      </p:sp>
      <p:sp>
        <p:nvSpPr>
          <p:cNvPr id="144" name="Google Shape;144;p3"/>
          <p:cNvSpPr/>
          <p:nvPr/>
        </p:nvSpPr>
        <p:spPr>
          <a:xfrm>
            <a:off x="6766560" y="2487168"/>
            <a:ext cx="4846320" cy="384048"/>
          </a:xfrm>
          <a:prstGeom prst="roundRect">
            <a:avLst>
              <a:gd fmla="val 12000" name="adj"/>
            </a:avLst>
          </a:prstGeom>
          <a:solidFill>
            <a:srgbClr val="FFF4D6"/>
          </a:solidFill>
          <a:ln cap="flat" cmpd="sng" w="12700">
            <a:solidFill>
              <a:srgbClr val="D0D7E2"/>
            </a:solidFill>
            <a:prstDash val="solid"/>
            <a:round/>
            <a:headEnd len="sm" w="sm" type="none"/>
            <a:tailEnd len="sm" w="sm" type="none"/>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8A5A00"/>
              </a:buClr>
              <a:buSzPts val="1200"/>
              <a:buFont typeface="Calibri"/>
              <a:buNone/>
            </a:pPr>
            <a:r>
              <a:rPr b="1" i="0" lang="en-US" spc="0" sz="1200" u="none" cap="none" strike="noStrike">
                <a:solidFill>
                  <a:srgbClr val="8A5A00"/>
                </a:solidFill>
                <a:latin typeface="Calibri"/>
                <a:ea typeface="Calibri"/>
                <a:cs typeface="Calibri"/>
                <a:sym typeface="Calibri"/>
              </a:rPr>
              <a:t>Front end cloud controller</a:t>
            </a:r>
            <a:endParaRPr/>
          </a:p>
        </p:txBody>
      </p:sp>
      <p:grpSp>
        <p:nvGrpSpPr>
          <p:cNvPr id="145" name="Google Shape;145;p3"/>
          <p:cNvGrpSpPr/>
          <p:nvPr/>
        </p:nvGrpSpPr>
        <p:grpSpPr>
          <a:xfrm>
            <a:off x="6766560" y="2962656"/>
            <a:ext cx="4846320" cy="1371600"/>
            <a:chOff x="6766560" y="2962656"/>
            <a:chExt cx="4846320" cy="1371600"/>
          </a:xfrm>
        </p:grpSpPr>
        <p:sp>
          <p:nvSpPr>
            <p:cNvPr id="146" name="Google Shape;146;p3"/>
            <p:cNvSpPr/>
            <p:nvPr/>
          </p:nvSpPr>
          <p:spPr>
            <a:xfrm>
              <a:off x="6766560" y="2962656"/>
              <a:ext cx="4846320" cy="1371600"/>
            </a:xfrm>
            <a:prstGeom prst="roundRect">
              <a:avLst>
                <a:gd fmla="val 5000" name="adj"/>
              </a:avLst>
            </a:prstGeom>
            <a:solidFill>
              <a:srgbClr val="EEF2F8"/>
            </a:solidFill>
            <a:ln cap="flat" cmpd="sng" w="9525">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147" name="Google Shape;147;p3"/>
            <p:cNvSpPr txBox="1"/>
            <p:nvPr/>
          </p:nvSpPr>
          <p:spPr>
            <a:xfrm>
              <a:off x="6766560" y="2999232"/>
              <a:ext cx="4846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616"/>
                </a:buClr>
                <a:buSzPts val="1200"/>
                <a:buFont typeface="Calibri"/>
                <a:buNone/>
              </a:pPr>
              <a:r>
                <a:rPr b="1" i="0" lang="en-US" spc="0" sz="1200" u="none" cap="none" strike="noStrike">
                  <a:solidFill>
                    <a:srgbClr val="161616"/>
                  </a:solidFill>
                  <a:latin typeface="Calibri"/>
                  <a:ea typeface="Calibri"/>
                  <a:cs typeface="Calibri"/>
                  <a:sym typeface="Calibri"/>
                </a:rPr>
                <a:t>IAAS Backend Cloud Controller</a:t>
              </a:r>
              <a:endParaRPr/>
            </a:p>
          </p:txBody>
        </p:sp>
        <p:sp>
          <p:nvSpPr>
            <p:cNvPr id="148" name="Google Shape;148;p3"/>
            <p:cNvSpPr/>
            <p:nvPr/>
          </p:nvSpPr>
          <p:spPr>
            <a:xfrm>
              <a:off x="7040880" y="3337560"/>
              <a:ext cx="3017520" cy="329184"/>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Message broker</a:t>
              </a:r>
              <a:endParaRPr/>
            </a:p>
          </p:txBody>
        </p:sp>
        <p:sp>
          <p:nvSpPr>
            <p:cNvPr id="149" name="Google Shape;149;p3"/>
            <p:cNvSpPr/>
            <p:nvPr/>
          </p:nvSpPr>
          <p:spPr>
            <a:xfrm>
              <a:off x="10287000" y="3310128"/>
              <a:ext cx="1005840" cy="868680"/>
            </a:xfrm>
            <a:prstGeom prst="can">
              <a:avLst>
                <a:gd fmla="val 25000" name="adj"/>
              </a:avLst>
            </a:prstGeom>
            <a:solidFill>
              <a:srgbClr val="0F62FE"/>
            </a:solidFill>
            <a:ln>
              <a:noFill/>
            </a:ln>
          </p:spPr>
          <p:txBody>
            <a:bodyPr anchorCtr="0" anchor="ctr" bIns="27425" lIns="45700" spcFirstLastPara="1" rIns="45700" wrap="square" tIns="27425">
              <a:noAutofit/>
            </a:bodyPr>
            <a:lstStyle/>
            <a:p>
              <a:pPr indent="0" lvl="0" marL="0" marR="0" rtl="0" algn="ctr">
                <a:lnSpc>
                  <a:spcPct val="100000"/>
                </a:lnSpc>
                <a:spcBef>
                  <a:spcPts val="0"/>
                </a:spcBef>
                <a:spcAft>
                  <a:spcPts val="0"/>
                </a:spcAft>
                <a:buClr>
                  <a:srgbClr val="FFFFFF"/>
                </a:buClr>
                <a:buSzPts val="1200"/>
                <a:buFont typeface="Calibri"/>
                <a:buNone/>
              </a:pPr>
              <a:r>
                <a:rPr b="1" i="0" lang="en-US" spc="0" sz="1200" u="none" cap="none" strike="noStrike">
                  <a:solidFill>
                    <a:srgbClr val="FFFFFF"/>
                  </a:solidFill>
                  <a:latin typeface="Calibri"/>
                  <a:ea typeface="Calibri"/>
                  <a:cs typeface="Calibri"/>
                  <a:sym typeface="Calibri"/>
                </a:rPr>
                <a:t>DB</a:t>
              </a:r>
              <a:endParaRPr/>
            </a:p>
          </p:txBody>
        </p:sp>
        <p:sp>
          <p:nvSpPr>
            <p:cNvPr id="150" name="Google Shape;150;p3"/>
            <p:cNvSpPr/>
            <p:nvPr/>
          </p:nvSpPr>
          <p:spPr>
            <a:xfrm>
              <a:off x="7040880" y="3767328"/>
              <a:ext cx="932688" cy="384048"/>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Storage</a:t>
              </a:r>
              <a:endParaRPr/>
            </a:p>
          </p:txBody>
        </p:sp>
        <p:sp>
          <p:nvSpPr>
            <p:cNvPr id="151" name="Google Shape;151;p3"/>
            <p:cNvSpPr/>
            <p:nvPr/>
          </p:nvSpPr>
          <p:spPr>
            <a:xfrm>
              <a:off x="8065008" y="3767328"/>
              <a:ext cx="932688" cy="384048"/>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compute</a:t>
              </a:r>
              <a:endParaRPr/>
            </a:p>
          </p:txBody>
        </p:sp>
        <p:sp>
          <p:nvSpPr>
            <p:cNvPr id="152" name="Google Shape;152;p3"/>
            <p:cNvSpPr/>
            <p:nvPr/>
          </p:nvSpPr>
          <p:spPr>
            <a:xfrm>
              <a:off x="9089136" y="3767328"/>
              <a:ext cx="932688" cy="384048"/>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Network</a:t>
              </a:r>
              <a:endParaRPr/>
            </a:p>
          </p:txBody>
        </p:sp>
      </p:grpSp>
      <p:sp>
        <p:nvSpPr>
          <p:cNvPr id="153" name="Google Shape;153;p3"/>
          <p:cNvSpPr/>
          <p:nvPr/>
        </p:nvSpPr>
        <p:spPr>
          <a:xfrm>
            <a:off x="6766560" y="4462272"/>
            <a:ext cx="4846320" cy="384048"/>
          </a:xfrm>
          <a:prstGeom prst="roundRect">
            <a:avLst>
              <a:gd fmla="val 12000" name="adj"/>
            </a:avLst>
          </a:prstGeom>
          <a:solidFill>
            <a:srgbClr val="DCE8FF"/>
          </a:solidFill>
          <a:ln cap="flat" cmpd="sng" w="12700">
            <a:solidFill>
              <a:srgbClr val="D0D7E2"/>
            </a:solidFill>
            <a:prstDash val="solid"/>
            <a:round/>
            <a:headEnd len="sm" w="sm" type="none"/>
            <a:tailEnd len="sm" w="sm" type="none"/>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0043CE"/>
              </a:buClr>
              <a:buSzPts val="1200"/>
              <a:buFont typeface="Calibri"/>
              <a:buNone/>
            </a:pPr>
            <a:r>
              <a:rPr b="1" i="0" lang="en-US" spc="0" sz="1200" u="none" cap="none" strike="noStrike">
                <a:solidFill>
                  <a:srgbClr val="0043CE"/>
                </a:solidFill>
                <a:latin typeface="Calibri"/>
                <a:ea typeface="Calibri"/>
                <a:cs typeface="Calibri"/>
                <a:sym typeface="Calibri"/>
              </a:rPr>
              <a:t>Virtualization Layer</a:t>
            </a:r>
            <a:endParaRPr/>
          </a:p>
        </p:txBody>
      </p:sp>
      <p:grpSp>
        <p:nvGrpSpPr>
          <p:cNvPr id="154" name="Google Shape;154;p3"/>
          <p:cNvGrpSpPr/>
          <p:nvPr/>
        </p:nvGrpSpPr>
        <p:grpSpPr>
          <a:xfrm>
            <a:off x="6766560" y="4974336"/>
            <a:ext cx="4846320" cy="1097280"/>
            <a:chOff x="6766560" y="4974336"/>
            <a:chExt cx="4846320" cy="1097280"/>
          </a:xfrm>
        </p:grpSpPr>
        <p:sp>
          <p:nvSpPr>
            <p:cNvPr id="155" name="Google Shape;155;p3"/>
            <p:cNvSpPr/>
            <p:nvPr/>
          </p:nvSpPr>
          <p:spPr>
            <a:xfrm>
              <a:off x="6766560" y="4974336"/>
              <a:ext cx="4846320" cy="1097280"/>
            </a:xfrm>
            <a:prstGeom prst="roundRect">
              <a:avLst>
                <a:gd fmla="val 6000" name="adj"/>
              </a:avLst>
            </a:prstGeom>
            <a:solidFill>
              <a:srgbClr val="E4E7EC"/>
            </a:solidFill>
            <a:ln cap="flat" cmpd="sng" w="9525">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156" name="Google Shape;156;p3"/>
            <p:cNvSpPr txBox="1"/>
            <p:nvPr/>
          </p:nvSpPr>
          <p:spPr>
            <a:xfrm>
              <a:off x="6766560" y="5010912"/>
              <a:ext cx="4846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616"/>
                </a:buClr>
                <a:buSzPts val="1200"/>
                <a:buFont typeface="Calibri"/>
                <a:buNone/>
              </a:pPr>
              <a:r>
                <a:rPr b="1" i="0" lang="en-US" spc="0" sz="1200" u="none" cap="none" strike="noStrike">
                  <a:solidFill>
                    <a:srgbClr val="161616"/>
                  </a:solidFill>
                  <a:latin typeface="Calibri"/>
                  <a:ea typeface="Calibri"/>
                  <a:cs typeface="Calibri"/>
                  <a:sym typeface="Calibri"/>
                </a:rPr>
                <a:t>Physical Resources</a:t>
              </a:r>
              <a:endParaRPr/>
            </a:p>
          </p:txBody>
        </p:sp>
        <p:sp>
          <p:nvSpPr>
            <p:cNvPr id="157" name="Google Shape;157;p3"/>
            <p:cNvSpPr/>
            <p:nvPr/>
          </p:nvSpPr>
          <p:spPr>
            <a:xfrm>
              <a:off x="7040880" y="5440680"/>
              <a:ext cx="1280160" cy="457200"/>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Compute</a:t>
              </a:r>
              <a:endParaRPr/>
            </a:p>
          </p:txBody>
        </p:sp>
        <p:sp>
          <p:nvSpPr>
            <p:cNvPr id="158" name="Google Shape;158;p3"/>
            <p:cNvSpPr/>
            <p:nvPr/>
          </p:nvSpPr>
          <p:spPr>
            <a:xfrm>
              <a:off x="8503920" y="5440680"/>
              <a:ext cx="1280160" cy="457200"/>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Network</a:t>
              </a:r>
              <a:endParaRPr/>
            </a:p>
          </p:txBody>
        </p:sp>
        <p:sp>
          <p:nvSpPr>
            <p:cNvPr id="159" name="Google Shape;159;p3"/>
            <p:cNvSpPr/>
            <p:nvPr/>
          </p:nvSpPr>
          <p:spPr>
            <a:xfrm>
              <a:off x="9966960" y="5440680"/>
              <a:ext cx="1280160" cy="457200"/>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storage</a:t>
              </a:r>
              <a:endParaRPr/>
            </a:p>
          </p:txBody>
        </p:sp>
      </p:grpSp>
      <p:sp>
        <p:nvSpPr>
          <p:cNvPr id="160" name="Google Shape;160;p3"/>
          <p:cNvSpPr txBox="1"/>
          <p:nvPr/>
        </p:nvSpPr>
        <p:spPr>
          <a:xfrm>
            <a:off x="6766560" y="6126480"/>
            <a:ext cx="4846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F6F6F"/>
              </a:buClr>
              <a:buSzPts val="1200"/>
              <a:buFont typeface="Calibri"/>
              <a:buNone/>
            </a:pPr>
            <a:r>
              <a:rPr b="0" i="1" lang="en-US" spc="0" sz="1200" u="none" cap="none" strike="noStrike">
                <a:solidFill>
                  <a:srgbClr val="6F6F6F"/>
                </a:solidFill>
                <a:latin typeface="Calibri"/>
                <a:ea typeface="Calibri"/>
                <a:cs typeface="Calibri"/>
                <a:sym typeface="Calibri"/>
              </a:rPr>
              <a:t>IAAS Cloud Controller Software Stack</a:t>
            </a:r>
            <a:endParaRPr/>
          </a:p>
        </p:txBody>
      </p:sp>
      <p:sp>
        <p:nvSpPr>
          <p:cNvPr id="161" name="Google Shape;161;p3"/>
          <p:cNvSpPr txBox="1"/>
          <p:nvPr/>
        </p:nvSpPr>
        <p:spPr>
          <a:xfrm>
            <a:off x="459352" y="807727"/>
            <a:ext cx="76056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6F6F6F"/>
                </a:solidFill>
                <a:latin typeface="Calibri"/>
                <a:ea typeface="Calibri"/>
                <a:cs typeface="Calibri"/>
                <a:sym typeface="Calibri"/>
              </a:rPr>
              <a:t>Performance Characterization of Cloud control plane – Why it Matters</a:t>
            </a:r>
            <a:endParaRPr/>
          </a:p>
        </p:txBody>
      </p:sp>
      <p:sp>
        <p:nvSpPr>
          <p:cNvPr id="162" name="Google Shape;162;p3"/>
          <p:cNvSpPr txBox="1"/>
          <p:nvPr>
            <p:ph type="title"/>
          </p:nvPr>
        </p:nvSpPr>
        <p:spPr>
          <a:xfrm>
            <a:off x="-403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Introduction</a:t>
            </a:r>
            <a:endParaRPr/>
          </a:p>
        </p:txBody>
      </p:sp>
      <p:sp>
        <p:nvSpPr>
          <p:cNvPr id="163" name="Google Shape;163;p3"/>
          <p:cNvSpPr txBox="1"/>
          <p:nvPr>
            <p:ph type="title"/>
          </p:nvPr>
        </p:nvSpPr>
        <p:spPr>
          <a:xfrm>
            <a:off x="-8075" y="6199625"/>
            <a:ext cx="12232500" cy="6585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title"/>
          </p:nvPr>
        </p:nvSpPr>
        <p:spPr>
          <a:xfrm>
            <a:off x="0" y="182880"/>
            <a:ext cx="12192000" cy="54864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Challenges in Performance Analysis at Cloud Scale</a:t>
            </a:r>
            <a:endParaRPr/>
          </a:p>
        </p:txBody>
      </p:sp>
      <p:grpSp>
        <p:nvGrpSpPr>
          <p:cNvPr id="170" name="Google Shape;170;p4"/>
          <p:cNvGrpSpPr/>
          <p:nvPr/>
        </p:nvGrpSpPr>
        <p:grpSpPr>
          <a:xfrm>
            <a:off x="548640" y="1280160"/>
            <a:ext cx="5440680" cy="2331720"/>
            <a:chOff x="548640" y="1280160"/>
            <a:chExt cx="5440680" cy="2331720"/>
          </a:xfrm>
        </p:grpSpPr>
        <p:sp>
          <p:nvSpPr>
            <p:cNvPr id="171" name="Google Shape;171;p4"/>
            <p:cNvSpPr/>
            <p:nvPr/>
          </p:nvSpPr>
          <p:spPr>
            <a:xfrm>
              <a:off x="548640" y="1280160"/>
              <a:ext cx="5440680" cy="233172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4"/>
            <p:cNvSpPr/>
            <p:nvPr/>
          </p:nvSpPr>
          <p:spPr>
            <a:xfrm>
              <a:off x="777240" y="1481328"/>
              <a:ext cx="685800" cy="685800"/>
            </a:xfrm>
            <a:prstGeom prst="ellipse">
              <a:avLst/>
            </a:prstGeom>
            <a:solidFill>
              <a:srgbClr val="E5EEFF"/>
            </a:solidFill>
            <a:ln cap="flat" cmpd="sng" w="12700">
              <a:solidFill>
                <a:srgbClr val="E5EEFF"/>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ck icon" id="173" name="Google Shape;173;p4"/>
            <p:cNvPicPr preferRelativeResize="0"/>
            <p:nvPr/>
          </p:nvPicPr>
          <p:blipFill rotWithShape="1">
            <a:blip r:embed="rId3">
              <a:alphaModFix/>
            </a:blip>
            <a:srcRect b="0" l="0" r="0" t="0"/>
            <a:stretch/>
          </p:blipFill>
          <p:spPr>
            <a:xfrm>
              <a:off x="948690" y="1652778"/>
              <a:ext cx="342900" cy="342900"/>
            </a:xfrm>
            <a:prstGeom prst="rect">
              <a:avLst/>
            </a:prstGeom>
            <a:noFill/>
            <a:ln>
              <a:noFill/>
            </a:ln>
          </p:spPr>
        </p:pic>
        <p:sp>
          <p:nvSpPr>
            <p:cNvPr id="174" name="Google Shape;174;p4"/>
            <p:cNvSpPr txBox="1"/>
            <p:nvPr/>
          </p:nvSpPr>
          <p:spPr>
            <a:xfrm>
              <a:off x="1645920" y="1463040"/>
              <a:ext cx="41605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700"/>
                <a:buFont typeface="Calibri"/>
                <a:buNone/>
              </a:pPr>
              <a:r>
                <a:rPr b="1" i="0" lang="en-US" sz="1700">
                  <a:solidFill>
                    <a:srgbClr val="161616"/>
                  </a:solidFill>
                  <a:latin typeface="Calibri"/>
                  <a:ea typeface="Calibri"/>
                  <a:cs typeface="Calibri"/>
                  <a:sym typeface="Calibri"/>
                </a:rPr>
                <a:t>Setup and Readiness</a:t>
              </a:r>
              <a:endParaRPr/>
            </a:p>
          </p:txBody>
        </p:sp>
        <p:sp>
          <p:nvSpPr>
            <p:cNvPr id="175" name="Google Shape;175;p4"/>
            <p:cNvSpPr txBox="1"/>
            <p:nvPr/>
          </p:nvSpPr>
          <p:spPr>
            <a:xfrm>
              <a:off x="822960" y="2331720"/>
              <a:ext cx="4892040" cy="1188720"/>
            </a:xfrm>
            <a:prstGeom prst="rect">
              <a:avLst/>
            </a:prstGeom>
            <a:noFill/>
            <a:ln>
              <a:noFill/>
            </a:ln>
          </p:spPr>
          <p:txBody>
            <a:bodyPr anchorCtr="0" anchor="t" bIns="0" lIns="0" spcFirstLastPara="1" rIns="0" wrap="square" tIns="0">
              <a:noAutofit/>
            </a:bodyPr>
            <a:lstStyle/>
            <a:p>
              <a:pPr indent="-155448" lvl="0" marL="155448" marR="0" rtl="0" algn="l">
                <a:spcBef>
                  <a:spcPts val="0"/>
                </a:spcBef>
                <a:spcAft>
                  <a:spcPts val="0"/>
                </a:spcAft>
                <a:buClr>
                  <a:srgbClr val="0F62FE"/>
                </a:buClr>
                <a:buSzPts val="1400"/>
                <a:buFont typeface="Arial"/>
                <a:buChar char="•"/>
              </a:pPr>
              <a:r>
                <a:rPr b="0" i="0" lang="en-US" sz="1400">
                  <a:solidFill>
                    <a:srgbClr val="393939"/>
                  </a:solidFill>
                  <a:latin typeface="Calibri"/>
                  <a:ea typeface="Calibri"/>
                  <a:cs typeface="Calibri"/>
                  <a:sym typeface="Calibri"/>
                </a:rPr>
                <a:t>Request access pattern , scaling  &amp; concurrency requirments</a:t>
              </a:r>
              <a:endParaRPr b="0" i="0" sz="1400">
                <a:solidFill>
                  <a:srgbClr val="393939"/>
                </a:solidFill>
                <a:latin typeface="Calibri"/>
                <a:ea typeface="Calibri"/>
                <a:cs typeface="Calibri"/>
                <a:sym typeface="Calibri"/>
              </a:endParaRPr>
            </a:p>
            <a:p>
              <a:pPr indent="-155448" lvl="0" marL="155448" marR="0" rtl="0" algn="l">
                <a:spcBef>
                  <a:spcPts val="500"/>
                </a:spcBef>
                <a:spcAft>
                  <a:spcPts val="0"/>
                </a:spcAft>
                <a:buClr>
                  <a:srgbClr val="0F62FE"/>
                </a:buClr>
                <a:buSzPts val="1400"/>
                <a:buFont typeface="Arial"/>
                <a:buChar char="•"/>
              </a:pPr>
              <a:r>
                <a:rPr lang="en-US" sz="1400">
                  <a:solidFill>
                    <a:srgbClr val="393939"/>
                  </a:solidFill>
                  <a:latin typeface="Calibri"/>
                  <a:ea typeface="Calibri"/>
                  <a:cs typeface="Calibri"/>
                  <a:sym typeface="Calibri"/>
                </a:rPr>
                <a:t>E</a:t>
              </a:r>
              <a:r>
                <a:rPr b="0" i="0" lang="en-US" sz="1400">
                  <a:solidFill>
                    <a:srgbClr val="393939"/>
                  </a:solidFill>
                  <a:latin typeface="Calibri"/>
                  <a:ea typeface="Calibri"/>
                  <a:cs typeface="Calibri"/>
                  <a:sym typeface="Calibri"/>
                </a:rPr>
                <a:t>nvironment readiness (scale &amp; resource estimation)</a:t>
              </a:r>
              <a:endParaRPr/>
            </a:p>
          </p:txBody>
        </p:sp>
      </p:grpSp>
      <p:grpSp>
        <p:nvGrpSpPr>
          <p:cNvPr id="176" name="Google Shape;176;p4"/>
          <p:cNvGrpSpPr/>
          <p:nvPr/>
        </p:nvGrpSpPr>
        <p:grpSpPr>
          <a:xfrm>
            <a:off x="6217920" y="1280160"/>
            <a:ext cx="5440680" cy="2331720"/>
            <a:chOff x="6217920" y="1280160"/>
            <a:chExt cx="5440680" cy="2331720"/>
          </a:xfrm>
        </p:grpSpPr>
        <p:sp>
          <p:nvSpPr>
            <p:cNvPr id="177" name="Google Shape;177;p4"/>
            <p:cNvSpPr/>
            <p:nvPr/>
          </p:nvSpPr>
          <p:spPr>
            <a:xfrm>
              <a:off x="6217920" y="1280160"/>
              <a:ext cx="5440680" cy="233172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4"/>
            <p:cNvSpPr/>
            <p:nvPr/>
          </p:nvSpPr>
          <p:spPr>
            <a:xfrm>
              <a:off x="6446520" y="1481328"/>
              <a:ext cx="685800" cy="685800"/>
            </a:xfrm>
            <a:prstGeom prst="ellipse">
              <a:avLst/>
            </a:prstGeom>
            <a:solidFill>
              <a:srgbClr val="F0E8FF"/>
            </a:solidFill>
            <a:ln cap="flat" cmpd="sng" w="12700">
              <a:solidFill>
                <a:srgbClr val="F0E8FF"/>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ink icon" id="179" name="Google Shape;179;p4"/>
            <p:cNvPicPr preferRelativeResize="0"/>
            <p:nvPr/>
          </p:nvPicPr>
          <p:blipFill rotWithShape="1">
            <a:blip r:embed="rId4">
              <a:alphaModFix/>
            </a:blip>
            <a:srcRect b="0" l="0" r="0" t="0"/>
            <a:stretch/>
          </p:blipFill>
          <p:spPr>
            <a:xfrm>
              <a:off x="6617970" y="1652778"/>
              <a:ext cx="342900" cy="342900"/>
            </a:xfrm>
            <a:prstGeom prst="rect">
              <a:avLst/>
            </a:prstGeom>
            <a:noFill/>
            <a:ln>
              <a:noFill/>
            </a:ln>
          </p:spPr>
        </p:pic>
        <p:sp>
          <p:nvSpPr>
            <p:cNvPr id="180" name="Google Shape;180;p4"/>
            <p:cNvSpPr txBox="1"/>
            <p:nvPr/>
          </p:nvSpPr>
          <p:spPr>
            <a:xfrm>
              <a:off x="7315200" y="1463040"/>
              <a:ext cx="41605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700"/>
                <a:buFont typeface="Calibri"/>
                <a:buNone/>
              </a:pPr>
              <a:r>
                <a:rPr b="1" i="0" lang="en-US" sz="1700">
                  <a:solidFill>
                    <a:srgbClr val="161616"/>
                  </a:solidFill>
                  <a:latin typeface="Calibri"/>
                  <a:ea typeface="Calibri"/>
                  <a:cs typeface="Calibri"/>
                  <a:sym typeface="Calibri"/>
                </a:rPr>
                <a:t>Correlating data from different sources</a:t>
              </a:r>
              <a:endParaRPr/>
            </a:p>
          </p:txBody>
        </p:sp>
        <p:sp>
          <p:nvSpPr>
            <p:cNvPr id="181" name="Google Shape;181;p4"/>
            <p:cNvSpPr txBox="1"/>
            <p:nvPr/>
          </p:nvSpPr>
          <p:spPr>
            <a:xfrm>
              <a:off x="6492240" y="2331720"/>
              <a:ext cx="4892040" cy="1188720"/>
            </a:xfrm>
            <a:prstGeom prst="rect">
              <a:avLst/>
            </a:prstGeom>
            <a:noFill/>
            <a:ln>
              <a:noFill/>
            </a:ln>
          </p:spPr>
          <p:txBody>
            <a:bodyPr anchorCtr="0" anchor="t" bIns="0" lIns="0" spcFirstLastPara="1" rIns="0" wrap="square" tIns="0">
              <a:noAutofit/>
            </a:bodyPr>
            <a:lstStyle/>
            <a:p>
              <a:pPr indent="-155448" lvl="0" marL="155448" marR="0" rtl="0" algn="l">
                <a:spcBef>
                  <a:spcPts val="0"/>
                </a:spcBef>
                <a:spcAft>
                  <a:spcPts val="0"/>
                </a:spcAft>
                <a:buClr>
                  <a:srgbClr val="8A3FFC"/>
                </a:buClr>
                <a:buSzPts val="1400"/>
                <a:buFont typeface="Arial"/>
                <a:buChar char="•"/>
              </a:pPr>
              <a:r>
                <a:rPr b="0" i="0" lang="en-US" sz="1400">
                  <a:solidFill>
                    <a:srgbClr val="393939"/>
                  </a:solidFill>
                  <a:latin typeface="Calibri"/>
                  <a:ea typeface="Calibri"/>
                  <a:cs typeface="Calibri"/>
                  <a:sym typeface="Calibri"/>
                </a:rPr>
                <a:t>Consolidate and corelate data from diverse data sources (multiple components in the stack).</a:t>
              </a:r>
              <a:endParaRPr/>
            </a:p>
            <a:p>
              <a:pPr indent="-155448" lvl="0" marL="155448" marR="0" rtl="0" algn="l">
                <a:spcBef>
                  <a:spcPts val="500"/>
                </a:spcBef>
                <a:spcAft>
                  <a:spcPts val="0"/>
                </a:spcAft>
                <a:buClr>
                  <a:srgbClr val="8A3FFC"/>
                </a:buClr>
                <a:buSzPts val="1400"/>
                <a:buFont typeface="Arial"/>
                <a:buChar char="•"/>
              </a:pPr>
              <a:r>
                <a:rPr b="0" i="0" lang="en-US" sz="1400">
                  <a:solidFill>
                    <a:srgbClr val="393939"/>
                  </a:solidFill>
                  <a:latin typeface="Calibri"/>
                  <a:ea typeface="Calibri"/>
                  <a:cs typeface="Calibri"/>
                  <a:sym typeface="Calibri"/>
                </a:rPr>
                <a:t>Generate combined view for different data flows to detect and identify patterns.</a:t>
              </a:r>
              <a:endParaRPr/>
            </a:p>
          </p:txBody>
        </p:sp>
      </p:grpSp>
      <p:grpSp>
        <p:nvGrpSpPr>
          <p:cNvPr id="182" name="Google Shape;182;p4"/>
          <p:cNvGrpSpPr/>
          <p:nvPr/>
        </p:nvGrpSpPr>
        <p:grpSpPr>
          <a:xfrm>
            <a:off x="548640" y="3794760"/>
            <a:ext cx="5440680" cy="2331720"/>
            <a:chOff x="548640" y="3794760"/>
            <a:chExt cx="5440680" cy="2331720"/>
          </a:xfrm>
        </p:grpSpPr>
        <p:sp>
          <p:nvSpPr>
            <p:cNvPr id="183" name="Google Shape;183;p4"/>
            <p:cNvSpPr/>
            <p:nvPr/>
          </p:nvSpPr>
          <p:spPr>
            <a:xfrm>
              <a:off x="548640" y="3794760"/>
              <a:ext cx="5440680" cy="233172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4"/>
            <p:cNvSpPr/>
            <p:nvPr/>
          </p:nvSpPr>
          <p:spPr>
            <a:xfrm>
              <a:off x="777240" y="3995928"/>
              <a:ext cx="685800" cy="685800"/>
            </a:xfrm>
            <a:prstGeom prst="ellipse">
              <a:avLst/>
            </a:prstGeom>
            <a:solidFill>
              <a:srgbClr val="DDF5F4"/>
            </a:solidFill>
            <a:ln cap="flat" cmpd="sng" w="12700">
              <a:solidFill>
                <a:srgbClr val="DDF5F4"/>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iagram icon" id="185" name="Google Shape;185;p4"/>
            <p:cNvPicPr preferRelativeResize="0"/>
            <p:nvPr/>
          </p:nvPicPr>
          <p:blipFill rotWithShape="1">
            <a:blip r:embed="rId5">
              <a:alphaModFix/>
            </a:blip>
            <a:srcRect b="0" l="0" r="0" t="0"/>
            <a:stretch/>
          </p:blipFill>
          <p:spPr>
            <a:xfrm>
              <a:off x="948690" y="4167378"/>
              <a:ext cx="342900" cy="342900"/>
            </a:xfrm>
            <a:prstGeom prst="rect">
              <a:avLst/>
            </a:prstGeom>
            <a:noFill/>
            <a:ln>
              <a:noFill/>
            </a:ln>
          </p:spPr>
        </p:pic>
        <p:sp>
          <p:nvSpPr>
            <p:cNvPr id="186" name="Google Shape;186;p4"/>
            <p:cNvSpPr txBox="1"/>
            <p:nvPr/>
          </p:nvSpPr>
          <p:spPr>
            <a:xfrm>
              <a:off x="1645920" y="3977640"/>
              <a:ext cx="41605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700"/>
                <a:buFont typeface="Calibri"/>
                <a:buNone/>
              </a:pPr>
              <a:r>
                <a:rPr b="1" i="0" lang="en-US" sz="1700">
                  <a:solidFill>
                    <a:srgbClr val="161616"/>
                  </a:solidFill>
                  <a:latin typeface="Calibri"/>
                  <a:ea typeface="Calibri"/>
                  <a:cs typeface="Calibri"/>
                  <a:sym typeface="Calibri"/>
                </a:rPr>
                <a:t>Data/Metric collection from disparate sources</a:t>
              </a:r>
              <a:endParaRPr/>
            </a:p>
          </p:txBody>
        </p:sp>
        <p:sp>
          <p:nvSpPr>
            <p:cNvPr id="187" name="Google Shape;187;p4"/>
            <p:cNvSpPr txBox="1"/>
            <p:nvPr/>
          </p:nvSpPr>
          <p:spPr>
            <a:xfrm>
              <a:off x="822960" y="4846320"/>
              <a:ext cx="4892040" cy="1188720"/>
            </a:xfrm>
            <a:prstGeom prst="rect">
              <a:avLst/>
            </a:prstGeom>
            <a:noFill/>
            <a:ln>
              <a:noFill/>
            </a:ln>
          </p:spPr>
          <p:txBody>
            <a:bodyPr anchorCtr="0" anchor="t" bIns="0" lIns="0" spcFirstLastPara="1" rIns="0" wrap="square" tIns="0">
              <a:noAutofit/>
            </a:bodyPr>
            <a:lstStyle/>
            <a:p>
              <a:pPr indent="-155448" lvl="0" marL="155448" marR="0" rtl="0" algn="l">
                <a:spcBef>
                  <a:spcPts val="0"/>
                </a:spcBef>
                <a:spcAft>
                  <a:spcPts val="0"/>
                </a:spcAft>
                <a:buClr>
                  <a:srgbClr val="009D9A"/>
                </a:buClr>
                <a:buSzPts val="1400"/>
                <a:buFont typeface="Arial"/>
                <a:buChar char="•"/>
              </a:pPr>
              <a:r>
                <a:rPr b="0" i="0" lang="en-US" sz="1400">
                  <a:solidFill>
                    <a:srgbClr val="393939"/>
                  </a:solidFill>
                  <a:latin typeface="Calibri"/>
                  <a:ea typeface="Calibri"/>
                  <a:cs typeface="Calibri"/>
                  <a:sym typeface="Calibri"/>
                </a:rPr>
                <a:t>Huge volume of data due to fine grained data collection.</a:t>
              </a:r>
              <a:endParaRPr/>
            </a:p>
            <a:p>
              <a:pPr indent="-155448" lvl="0" marL="155448" marR="0" rtl="0" algn="l">
                <a:spcBef>
                  <a:spcPts val="500"/>
                </a:spcBef>
                <a:spcAft>
                  <a:spcPts val="0"/>
                </a:spcAft>
                <a:buClr>
                  <a:srgbClr val="009D9A"/>
                </a:buClr>
                <a:buSzPts val="1400"/>
                <a:buFont typeface="Arial"/>
                <a:buChar char="•"/>
              </a:pPr>
              <a:r>
                <a:rPr lang="en-US" sz="1400">
                  <a:solidFill>
                    <a:srgbClr val="393939"/>
                  </a:solidFill>
                  <a:latin typeface="Calibri"/>
                  <a:ea typeface="Calibri"/>
                  <a:cs typeface="Calibri"/>
                  <a:sym typeface="Calibri"/>
                </a:rPr>
                <a:t>Data segregation and storage</a:t>
              </a:r>
              <a:endParaRPr b="0" i="0" sz="1400">
                <a:solidFill>
                  <a:srgbClr val="393939"/>
                </a:solidFill>
                <a:latin typeface="Calibri"/>
                <a:ea typeface="Calibri"/>
                <a:cs typeface="Calibri"/>
                <a:sym typeface="Calibri"/>
              </a:endParaRPr>
            </a:p>
          </p:txBody>
        </p:sp>
      </p:grpSp>
      <p:grpSp>
        <p:nvGrpSpPr>
          <p:cNvPr id="188" name="Google Shape;188;p4"/>
          <p:cNvGrpSpPr/>
          <p:nvPr/>
        </p:nvGrpSpPr>
        <p:grpSpPr>
          <a:xfrm>
            <a:off x="6217920" y="3794760"/>
            <a:ext cx="5440680" cy="2331720"/>
            <a:chOff x="6217920" y="3794760"/>
            <a:chExt cx="5440680" cy="2331720"/>
          </a:xfrm>
        </p:grpSpPr>
        <p:sp>
          <p:nvSpPr>
            <p:cNvPr id="189" name="Google Shape;189;p4"/>
            <p:cNvSpPr/>
            <p:nvPr/>
          </p:nvSpPr>
          <p:spPr>
            <a:xfrm>
              <a:off x="6217920" y="3794760"/>
              <a:ext cx="5440680" cy="233172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4"/>
            <p:cNvSpPr/>
            <p:nvPr/>
          </p:nvSpPr>
          <p:spPr>
            <a:xfrm>
              <a:off x="6446520" y="3995928"/>
              <a:ext cx="685800" cy="685800"/>
            </a:xfrm>
            <a:prstGeom prst="ellipse">
              <a:avLst/>
            </a:prstGeom>
            <a:solidFill>
              <a:srgbClr val="FFEBDD"/>
            </a:solidFill>
            <a:ln cap="flat" cmpd="sng" w="12700">
              <a:solidFill>
                <a:srgbClr val="FFEBDD"/>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bulb icon" id="191" name="Google Shape;191;p4"/>
            <p:cNvPicPr preferRelativeResize="0"/>
            <p:nvPr/>
          </p:nvPicPr>
          <p:blipFill rotWithShape="1">
            <a:blip r:embed="rId6">
              <a:alphaModFix/>
            </a:blip>
            <a:srcRect b="0" l="0" r="0" t="0"/>
            <a:stretch/>
          </p:blipFill>
          <p:spPr>
            <a:xfrm>
              <a:off x="6617970" y="4167378"/>
              <a:ext cx="342900" cy="342900"/>
            </a:xfrm>
            <a:prstGeom prst="rect">
              <a:avLst/>
            </a:prstGeom>
            <a:noFill/>
            <a:ln>
              <a:noFill/>
            </a:ln>
          </p:spPr>
        </p:pic>
        <p:sp>
          <p:nvSpPr>
            <p:cNvPr id="192" name="Google Shape;192;p4"/>
            <p:cNvSpPr txBox="1"/>
            <p:nvPr/>
          </p:nvSpPr>
          <p:spPr>
            <a:xfrm>
              <a:off x="7315200" y="3977640"/>
              <a:ext cx="41605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700"/>
                <a:buFont typeface="Calibri"/>
                <a:buNone/>
              </a:pPr>
              <a:r>
                <a:rPr b="1" i="0" lang="en-US" sz="1700">
                  <a:solidFill>
                    <a:srgbClr val="161616"/>
                  </a:solidFill>
                  <a:latin typeface="Calibri"/>
                  <a:ea typeface="Calibri"/>
                  <a:cs typeface="Calibri"/>
                  <a:sym typeface="Calibri"/>
                </a:rPr>
                <a:t>Data to Insights</a:t>
              </a:r>
              <a:endParaRPr/>
            </a:p>
          </p:txBody>
        </p:sp>
        <p:sp>
          <p:nvSpPr>
            <p:cNvPr id="193" name="Google Shape;193;p4"/>
            <p:cNvSpPr txBox="1"/>
            <p:nvPr/>
          </p:nvSpPr>
          <p:spPr>
            <a:xfrm>
              <a:off x="6492240" y="4846320"/>
              <a:ext cx="4892040" cy="1188720"/>
            </a:xfrm>
            <a:prstGeom prst="rect">
              <a:avLst/>
            </a:prstGeom>
            <a:noFill/>
            <a:ln>
              <a:noFill/>
            </a:ln>
          </p:spPr>
          <p:txBody>
            <a:bodyPr anchorCtr="0" anchor="t" bIns="0" lIns="0" spcFirstLastPara="1" rIns="0" wrap="square" tIns="0">
              <a:noAutofit/>
            </a:bodyPr>
            <a:lstStyle/>
            <a:p>
              <a:pPr indent="-155448" lvl="0" marL="155448" marR="0" rtl="0" algn="l">
                <a:spcBef>
                  <a:spcPts val="0"/>
                </a:spcBef>
                <a:spcAft>
                  <a:spcPts val="0"/>
                </a:spcAft>
                <a:buClr>
                  <a:srgbClr val="FF832B"/>
                </a:buClr>
                <a:buSzPts val="1400"/>
                <a:buFont typeface="Arial"/>
                <a:buChar char="•"/>
              </a:pPr>
              <a:r>
                <a:rPr b="0" i="0" lang="en-US" sz="1400">
                  <a:solidFill>
                    <a:srgbClr val="393939"/>
                  </a:solidFill>
                  <a:latin typeface="Calibri"/>
                  <a:ea typeface="Calibri"/>
                  <a:cs typeface="Calibri"/>
                  <a:sym typeface="Calibri"/>
                </a:rPr>
                <a:t>Impact analysis from multiple attributes</a:t>
              </a:r>
              <a:endParaRPr/>
            </a:p>
            <a:p>
              <a:pPr indent="-155448" lvl="0" marL="155448" marR="0" rtl="0" algn="l">
                <a:spcBef>
                  <a:spcPts val="500"/>
                </a:spcBef>
                <a:spcAft>
                  <a:spcPts val="0"/>
                </a:spcAft>
                <a:buClr>
                  <a:srgbClr val="FF832B"/>
                </a:buClr>
                <a:buSzPts val="1400"/>
                <a:buFont typeface="Arial"/>
                <a:buChar char="•"/>
              </a:pPr>
              <a:r>
                <a:rPr b="0" i="0" lang="en-US" sz="1400">
                  <a:solidFill>
                    <a:srgbClr val="393939"/>
                  </a:solidFill>
                  <a:latin typeface="Calibri"/>
                  <a:ea typeface="Calibri"/>
                  <a:cs typeface="Calibri"/>
                  <a:sym typeface="Calibri"/>
                </a:rPr>
                <a:t>Drill down analysis for optimizations and streamlined decision-making.</a:t>
              </a:r>
              <a:endParaRPr/>
            </a:p>
          </p:txBody>
        </p:sp>
      </p:grpSp>
      <p:sp>
        <p:nvSpPr>
          <p:cNvPr id="194" name="Google Shape;194;p4"/>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Challenges in Performance Analysis at Cloud Scale</a:t>
            </a:r>
            <a:endParaRPr/>
          </a:p>
        </p:txBody>
      </p:sp>
      <p:sp>
        <p:nvSpPr>
          <p:cNvPr id="195" name="Google Shape;195;p4"/>
          <p:cNvSpPr txBox="1"/>
          <p:nvPr>
            <p:ph type="title"/>
          </p:nvPr>
        </p:nvSpPr>
        <p:spPr>
          <a:xfrm>
            <a:off x="-20250" y="6309350"/>
            <a:ext cx="12232500" cy="5658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50"/>
                                  </p:stCondLst>
                                  <p:childTnLst>
                                    <p:set>
                                      <p:cBhvr>
                                        <p:cTn dur="1" fill="hold">
                                          <p:stCondLst>
                                            <p:cond delay="0"/>
                                          </p:stCondLst>
                                        </p:cTn>
                                        <p:tgtEl>
                                          <p:spTgt spid="170"/>
                                        </p:tgtEl>
                                        <p:attrNameLst>
                                          <p:attrName>style.visibility</p:attrName>
                                        </p:attrNameLst>
                                      </p:cBhvr>
                                      <p:to>
                                        <p:strVal val="visible"/>
                                      </p:to>
                                    </p:set>
                                    <p:animEffect filter="fade" transition="in">
                                      <p:cBhvr>
                                        <p:cTn dur="600"/>
                                        <p:tgtEl>
                                          <p:spTgt spid="170"/>
                                        </p:tgtEl>
                                      </p:cBhvr>
                                    </p:animEffect>
                                  </p:childTnLst>
                                </p:cTn>
                              </p:par>
                              <p:par>
                                <p:cTn fill="hold" nodeType="withEffect" presetClass="entr" presetID="10" presetSubtype="0">
                                  <p:stCondLst>
                                    <p:cond delay="600"/>
                                  </p:stCondLst>
                                  <p:childTnLst>
                                    <p:set>
                                      <p:cBhvr>
                                        <p:cTn dur="1" fill="hold">
                                          <p:stCondLst>
                                            <p:cond delay="0"/>
                                          </p:stCondLst>
                                        </p:cTn>
                                        <p:tgtEl>
                                          <p:spTgt spid="176"/>
                                        </p:tgtEl>
                                        <p:attrNameLst>
                                          <p:attrName>style.visibility</p:attrName>
                                        </p:attrNameLst>
                                      </p:cBhvr>
                                      <p:to>
                                        <p:strVal val="visible"/>
                                      </p:to>
                                    </p:set>
                                    <p:animEffect filter="fade" transition="in">
                                      <p:cBhvr>
                                        <p:cTn dur="600"/>
                                        <p:tgtEl>
                                          <p:spTgt spid="176"/>
                                        </p:tgtEl>
                                      </p:cBhvr>
                                    </p:animEffect>
                                  </p:childTnLst>
                                </p:cTn>
                              </p:par>
                              <p:par>
                                <p:cTn fill="hold" nodeType="withEffect" presetClass="entr" presetID="10" presetSubtype="0">
                                  <p:stCondLst>
                                    <p:cond delay="1050"/>
                                  </p:stCondLst>
                                  <p:childTnLst>
                                    <p:set>
                                      <p:cBhvr>
                                        <p:cTn dur="1" fill="hold">
                                          <p:stCondLst>
                                            <p:cond delay="0"/>
                                          </p:stCondLst>
                                        </p:cTn>
                                        <p:tgtEl>
                                          <p:spTgt spid="182"/>
                                        </p:tgtEl>
                                        <p:attrNameLst>
                                          <p:attrName>style.visibility</p:attrName>
                                        </p:attrNameLst>
                                      </p:cBhvr>
                                      <p:to>
                                        <p:strVal val="visible"/>
                                      </p:to>
                                    </p:set>
                                    <p:animEffect filter="fade" transition="in">
                                      <p:cBhvr>
                                        <p:cTn dur="600"/>
                                        <p:tgtEl>
                                          <p:spTgt spid="182"/>
                                        </p:tgtEl>
                                      </p:cBhvr>
                                    </p:animEffect>
                                  </p:childTnLst>
                                </p:cTn>
                              </p:par>
                              <p:par>
                                <p:cTn fill="hold" nodeType="withEffect" presetClass="entr" presetID="10" presetSubtype="0">
                                  <p:stCondLst>
                                    <p:cond delay="1500"/>
                                  </p:stCondLst>
                                  <p:childTnLst>
                                    <p:set>
                                      <p:cBhvr>
                                        <p:cTn dur="1" fill="hold">
                                          <p:stCondLst>
                                            <p:cond delay="0"/>
                                          </p:stCondLst>
                                        </p:cTn>
                                        <p:tgtEl>
                                          <p:spTgt spid="188"/>
                                        </p:tgtEl>
                                        <p:attrNameLst>
                                          <p:attrName>style.visibility</p:attrName>
                                        </p:attrNameLst>
                                      </p:cBhvr>
                                      <p:to>
                                        <p:strVal val="visible"/>
                                      </p:to>
                                    </p:set>
                                    <p:animEffect filter="fade" transition="in">
                                      <p:cBhvr>
                                        <p:cTn dur="6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5"/>
          <p:cNvSpPr/>
          <p:nvPr/>
        </p:nvSpPr>
        <p:spPr>
          <a:xfrm>
            <a:off x="355001" y="1495315"/>
            <a:ext cx="7896113" cy="4970032"/>
          </a:xfrm>
          <a:prstGeom prst="rect">
            <a:avLst/>
          </a:prstGeom>
          <a:solidFill>
            <a:srgbClr val="DDEAF6"/>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pc="0" sz="1800" u="none" cap="none" strike="noStrike">
              <a:solidFill>
                <a:srgbClr val="FFFFFF"/>
              </a:solidFill>
              <a:latin typeface="Calibri"/>
              <a:ea typeface="Calibri"/>
              <a:cs typeface="Calibri"/>
              <a:sym typeface="Calibri"/>
            </a:endParaRPr>
          </a:p>
        </p:txBody>
      </p:sp>
      <p:sp>
        <p:nvSpPr>
          <p:cNvPr id="202" name="Google Shape;202;p5"/>
          <p:cNvSpPr txBox="1"/>
          <p:nvPr>
            <p:ph type="title"/>
          </p:nvPr>
        </p:nvSpPr>
        <p:spPr>
          <a:xfrm>
            <a:off x="-487680" y="176289"/>
            <a:ext cx="12192000" cy="66078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Cloud Control Plane Performance Characterization Life Cycle</a:t>
            </a:r>
            <a:endParaRPr/>
          </a:p>
        </p:txBody>
      </p:sp>
      <p:sp>
        <p:nvSpPr>
          <p:cNvPr id="203" name="Google Shape;203;p5"/>
          <p:cNvSpPr txBox="1"/>
          <p:nvPr/>
        </p:nvSpPr>
        <p:spPr>
          <a:xfrm>
            <a:off x="354999" y="837075"/>
            <a:ext cx="7151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F6F6F"/>
              </a:buClr>
              <a:buSzPts val="1800"/>
              <a:buFont typeface="Calibri"/>
              <a:buNone/>
            </a:pPr>
            <a:r>
              <a:rPr b="1" i="0" lang="en-US" spc="0" sz="1800" u="none" cap="none" strike="noStrike">
                <a:solidFill>
                  <a:srgbClr val="6F6F6F"/>
                </a:solidFill>
                <a:latin typeface="Calibri"/>
                <a:ea typeface="Calibri"/>
                <a:cs typeface="Calibri"/>
                <a:sym typeface="Calibri"/>
              </a:rPr>
              <a:t>Performance Characterization</a:t>
            </a:r>
            <a:r>
              <a:rPr b="1" lang="en-US" sz="1800">
                <a:solidFill>
                  <a:srgbClr val="6F6F6F"/>
                </a:solidFill>
                <a:latin typeface="Calibri"/>
                <a:ea typeface="Calibri"/>
                <a:cs typeface="Calibri"/>
                <a:sym typeface="Calibri"/>
              </a:rPr>
              <a:t> Approach - Consistency and Repeatability</a:t>
            </a:r>
            <a:endParaRPr/>
          </a:p>
        </p:txBody>
      </p:sp>
      <p:sp>
        <p:nvSpPr>
          <p:cNvPr id="204" name="Google Shape;204;p5"/>
          <p:cNvSpPr/>
          <p:nvPr/>
        </p:nvSpPr>
        <p:spPr>
          <a:xfrm>
            <a:off x="457200" y="1740051"/>
            <a:ext cx="1417320" cy="1051560"/>
          </a:xfrm>
          <a:prstGeom prst="roundRect">
            <a:avLst>
              <a:gd fmla="val 9000" name="adj"/>
            </a:avLst>
          </a:prstGeom>
          <a:solidFill>
            <a:srgbClr val="FFF1E6"/>
          </a:solidFill>
          <a:ln cap="flat" cmpd="sng" w="19050">
            <a:solidFill>
              <a:srgbClr val="FF832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161616"/>
              </a:buClr>
              <a:buSzPts val="1300"/>
              <a:buFont typeface="Calibri"/>
              <a:buNone/>
            </a:pPr>
            <a:r>
              <a:rPr b="1" i="0" lang="en-US" spc="0" sz="1300" u="none" cap="none" strike="noStrike">
                <a:solidFill>
                  <a:srgbClr val="161616"/>
                </a:solidFill>
                <a:latin typeface="Calibri"/>
                <a:ea typeface="Calibri"/>
                <a:cs typeface="Calibri"/>
                <a:sym typeface="Calibri"/>
              </a:rPr>
              <a:t>Road map feature – Performance Plan</a:t>
            </a:r>
            <a:endParaRPr/>
          </a:p>
        </p:txBody>
      </p:sp>
      <p:sp>
        <p:nvSpPr>
          <p:cNvPr id="205" name="Google Shape;205;p5"/>
          <p:cNvSpPr/>
          <p:nvPr/>
        </p:nvSpPr>
        <p:spPr>
          <a:xfrm>
            <a:off x="2240280" y="1740051"/>
            <a:ext cx="1691640" cy="1051560"/>
          </a:xfrm>
          <a:prstGeom prst="roundRect">
            <a:avLst>
              <a:gd fmla="val 9000" name="adj"/>
            </a:avLst>
          </a:prstGeom>
          <a:solidFill>
            <a:srgbClr val="FFF1E6"/>
          </a:solidFill>
          <a:ln cap="flat" cmpd="sng" w="19050">
            <a:solidFill>
              <a:srgbClr val="FF832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161616"/>
              </a:buClr>
              <a:buSzPts val="1300"/>
              <a:buFont typeface="Calibri"/>
              <a:buNone/>
            </a:pPr>
            <a:r>
              <a:rPr b="1" i="0" lang="en-US" spc="0" sz="1300" u="none" cap="none" strike="noStrike">
                <a:solidFill>
                  <a:srgbClr val="161616"/>
                </a:solidFill>
                <a:latin typeface="Calibri"/>
                <a:ea typeface="Calibri"/>
                <a:cs typeface="Calibri"/>
                <a:sym typeface="Calibri"/>
              </a:rPr>
              <a:t>Performance Planning &amp; Metric Characterization</a:t>
            </a:r>
            <a:endParaRPr/>
          </a:p>
        </p:txBody>
      </p:sp>
      <p:sp>
        <p:nvSpPr>
          <p:cNvPr id="206" name="Google Shape;206;p5"/>
          <p:cNvSpPr/>
          <p:nvPr/>
        </p:nvSpPr>
        <p:spPr>
          <a:xfrm>
            <a:off x="4297680" y="1740051"/>
            <a:ext cx="1691640" cy="1051560"/>
          </a:xfrm>
          <a:prstGeom prst="roundRect">
            <a:avLst>
              <a:gd fmla="val 9000" name="adj"/>
            </a:avLst>
          </a:prstGeom>
          <a:solidFill>
            <a:srgbClr val="0F62FE"/>
          </a:solidFill>
          <a:ln>
            <a:noFill/>
          </a:ln>
          <a:effectLst>
            <a:outerShdw blurRad="164592" rotWithShape="0" algn="t" dir="5400000" dist="36576">
              <a:srgbClr val="0F62FE">
                <a:alpha val="30196"/>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Load Generation</a:t>
            </a:r>
            <a:endParaRPr/>
          </a:p>
        </p:txBody>
      </p:sp>
      <p:sp>
        <p:nvSpPr>
          <p:cNvPr id="207" name="Google Shape;207;p5"/>
          <p:cNvSpPr/>
          <p:nvPr/>
        </p:nvSpPr>
        <p:spPr>
          <a:xfrm>
            <a:off x="6355080" y="1740051"/>
            <a:ext cx="1691640" cy="1051560"/>
          </a:xfrm>
          <a:prstGeom prst="roundRect">
            <a:avLst>
              <a:gd fmla="val 9000" name="adj"/>
            </a:avLst>
          </a:prstGeom>
          <a:solidFill>
            <a:srgbClr val="0F62FE"/>
          </a:solidFill>
          <a:ln>
            <a:noFill/>
          </a:ln>
          <a:effectLst>
            <a:outerShdw blurRad="164592" rotWithShape="0" algn="t" dir="5400000" dist="36576">
              <a:srgbClr val="0F62FE">
                <a:alpha val="30196"/>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Performance Data Collection</a:t>
            </a:r>
            <a:endParaRPr/>
          </a:p>
        </p:txBody>
      </p:sp>
      <p:sp>
        <p:nvSpPr>
          <p:cNvPr id="208" name="Google Shape;208;p5"/>
          <p:cNvSpPr/>
          <p:nvPr/>
        </p:nvSpPr>
        <p:spPr>
          <a:xfrm>
            <a:off x="6355080" y="3751731"/>
            <a:ext cx="1691640" cy="1051560"/>
          </a:xfrm>
          <a:prstGeom prst="roundRect">
            <a:avLst>
              <a:gd fmla="val 9000" name="adj"/>
            </a:avLst>
          </a:prstGeom>
          <a:solidFill>
            <a:srgbClr val="0F62FE"/>
          </a:solidFill>
          <a:ln>
            <a:noFill/>
          </a:ln>
          <a:effectLst>
            <a:outerShdw blurRad="164592" rotWithShape="0" algn="t" dir="5400000" dist="36576">
              <a:srgbClr val="0F62FE">
                <a:alpha val="30196"/>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Performance Analysis</a:t>
            </a:r>
            <a:endParaRPr/>
          </a:p>
        </p:txBody>
      </p:sp>
      <p:sp>
        <p:nvSpPr>
          <p:cNvPr id="209" name="Google Shape;209;p5"/>
          <p:cNvSpPr/>
          <p:nvPr/>
        </p:nvSpPr>
        <p:spPr>
          <a:xfrm>
            <a:off x="4297680" y="3751731"/>
            <a:ext cx="1691640" cy="1051560"/>
          </a:xfrm>
          <a:prstGeom prst="roundRect">
            <a:avLst>
              <a:gd fmla="val 9000" name="adj"/>
            </a:avLst>
          </a:prstGeom>
          <a:solidFill>
            <a:srgbClr val="0F62FE"/>
          </a:solidFill>
          <a:ln>
            <a:noFill/>
          </a:ln>
          <a:effectLst>
            <a:outerShdw blurRad="164592" rotWithShape="0" algn="t" dir="5400000" dist="36576">
              <a:srgbClr val="0F62FE">
                <a:alpha val="30196"/>
              </a:srgbClr>
            </a:outerShdw>
          </a:effectLst>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FFFFFF"/>
              </a:buClr>
              <a:buSzPts val="1300"/>
              <a:buFont typeface="Calibri"/>
              <a:buNone/>
            </a:pPr>
            <a:r>
              <a:rPr b="1" i="0" lang="en-US" spc="0" sz="1300" u="none" cap="none" strike="noStrike">
                <a:solidFill>
                  <a:srgbClr val="FFFFFF"/>
                </a:solidFill>
                <a:latin typeface="Calibri"/>
                <a:ea typeface="Calibri"/>
                <a:cs typeface="Calibri"/>
                <a:sym typeface="Calibri"/>
              </a:rPr>
              <a:t>Inference &amp; Insight generation</a:t>
            </a:r>
            <a:endParaRPr/>
          </a:p>
        </p:txBody>
      </p:sp>
      <p:sp>
        <p:nvSpPr>
          <p:cNvPr id="210" name="Google Shape;210;p5"/>
          <p:cNvSpPr/>
          <p:nvPr/>
        </p:nvSpPr>
        <p:spPr>
          <a:xfrm>
            <a:off x="2240280" y="3751731"/>
            <a:ext cx="1691640" cy="1051560"/>
          </a:xfrm>
          <a:prstGeom prst="roundRect">
            <a:avLst>
              <a:gd fmla="val 9000" name="adj"/>
            </a:avLst>
          </a:prstGeom>
          <a:solidFill>
            <a:srgbClr val="FFF1E6"/>
          </a:solidFill>
          <a:ln cap="flat" cmpd="sng" w="19050">
            <a:solidFill>
              <a:srgbClr val="FF832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161616"/>
              </a:buClr>
              <a:buSzPts val="1300"/>
              <a:buFont typeface="Calibri"/>
              <a:buNone/>
            </a:pPr>
            <a:r>
              <a:rPr b="1" i="0" lang="en-US" spc="0" sz="1300" u="none" cap="none" strike="noStrike">
                <a:solidFill>
                  <a:srgbClr val="161616"/>
                </a:solidFill>
                <a:latin typeface="Calibri"/>
                <a:ea typeface="Calibri"/>
                <a:cs typeface="Calibri"/>
                <a:sym typeface="Calibri"/>
              </a:rPr>
              <a:t>Optimization</a:t>
            </a:r>
            <a:endParaRPr/>
          </a:p>
        </p:txBody>
      </p:sp>
      <p:sp>
        <p:nvSpPr>
          <p:cNvPr id="211" name="Google Shape;211;p5"/>
          <p:cNvSpPr/>
          <p:nvPr/>
        </p:nvSpPr>
        <p:spPr>
          <a:xfrm>
            <a:off x="4389120" y="5123331"/>
            <a:ext cx="1508760" cy="685800"/>
          </a:xfrm>
          <a:prstGeom prst="roundRect">
            <a:avLst>
              <a:gd fmla="val 9000" name="adj"/>
            </a:avLst>
          </a:prstGeom>
          <a:solidFill>
            <a:srgbClr val="FFF1E6"/>
          </a:solidFill>
          <a:ln cap="flat" cmpd="sng" w="19050">
            <a:solidFill>
              <a:srgbClr val="FF832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161616"/>
              </a:buClr>
              <a:buSzPts val="1300"/>
              <a:buFont typeface="Calibri"/>
              <a:buNone/>
            </a:pPr>
            <a:r>
              <a:rPr b="1" i="0" lang="en-US" spc="0" sz="1300" u="none" cap="none" strike="noStrike">
                <a:solidFill>
                  <a:srgbClr val="161616"/>
                </a:solidFill>
                <a:latin typeface="Calibri"/>
                <a:ea typeface="Calibri"/>
                <a:cs typeface="Calibri"/>
                <a:sym typeface="Calibri"/>
              </a:rPr>
              <a:t>DC Configuration Tuning</a:t>
            </a:r>
            <a:endParaRPr b="1" i="0" spc="0" sz="1300" u="none" cap="none" strike="noStrike">
              <a:solidFill>
                <a:srgbClr val="161616"/>
              </a:solidFill>
              <a:latin typeface="Calibri"/>
              <a:ea typeface="Calibri"/>
              <a:cs typeface="Calibri"/>
              <a:sym typeface="Calibri"/>
            </a:endParaRPr>
          </a:p>
        </p:txBody>
      </p:sp>
      <p:cxnSp>
        <p:nvCxnSpPr>
          <p:cNvPr id="212" name="Google Shape;212;p5"/>
          <p:cNvCxnSpPr/>
          <p:nvPr/>
        </p:nvCxnSpPr>
        <p:spPr>
          <a:xfrm>
            <a:off x="1892808" y="2265831"/>
            <a:ext cx="310896" cy="0"/>
          </a:xfrm>
          <a:prstGeom prst="straightConnector1">
            <a:avLst/>
          </a:prstGeom>
          <a:noFill/>
          <a:ln cap="rnd" cmpd="sng" w="28575">
            <a:solidFill>
              <a:srgbClr val="0F62FE"/>
            </a:solidFill>
            <a:prstDash val="solid"/>
            <a:round/>
            <a:headEnd len="sm" w="sm" type="none"/>
            <a:tailEnd len="med" w="med" type="triangle"/>
          </a:ln>
        </p:spPr>
      </p:cxnSp>
      <p:cxnSp>
        <p:nvCxnSpPr>
          <p:cNvPr id="213" name="Google Shape;213;p5"/>
          <p:cNvCxnSpPr/>
          <p:nvPr/>
        </p:nvCxnSpPr>
        <p:spPr>
          <a:xfrm>
            <a:off x="3968496" y="2265831"/>
            <a:ext cx="292608" cy="0"/>
          </a:xfrm>
          <a:prstGeom prst="straightConnector1">
            <a:avLst/>
          </a:prstGeom>
          <a:noFill/>
          <a:ln cap="rnd" cmpd="sng" w="28575">
            <a:solidFill>
              <a:srgbClr val="0F62FE"/>
            </a:solidFill>
            <a:prstDash val="solid"/>
            <a:round/>
            <a:headEnd len="sm" w="sm" type="none"/>
            <a:tailEnd len="med" w="med" type="triangle"/>
          </a:ln>
        </p:spPr>
      </p:cxnSp>
      <p:cxnSp>
        <p:nvCxnSpPr>
          <p:cNvPr id="214" name="Google Shape;214;p5"/>
          <p:cNvCxnSpPr/>
          <p:nvPr/>
        </p:nvCxnSpPr>
        <p:spPr>
          <a:xfrm>
            <a:off x="6025896" y="2265831"/>
            <a:ext cx="292608" cy="0"/>
          </a:xfrm>
          <a:prstGeom prst="straightConnector1">
            <a:avLst/>
          </a:prstGeom>
          <a:noFill/>
          <a:ln cap="rnd" cmpd="sng" w="28575">
            <a:solidFill>
              <a:srgbClr val="0F62FE"/>
            </a:solidFill>
            <a:prstDash val="solid"/>
            <a:round/>
            <a:headEnd len="sm" w="sm" type="none"/>
            <a:tailEnd len="med" w="med" type="triangle"/>
          </a:ln>
        </p:spPr>
      </p:cxnSp>
      <p:cxnSp>
        <p:nvCxnSpPr>
          <p:cNvPr id="215" name="Google Shape;215;p5"/>
          <p:cNvCxnSpPr/>
          <p:nvPr/>
        </p:nvCxnSpPr>
        <p:spPr>
          <a:xfrm>
            <a:off x="7200900" y="2828187"/>
            <a:ext cx="0" cy="886968"/>
          </a:xfrm>
          <a:prstGeom prst="straightConnector1">
            <a:avLst/>
          </a:prstGeom>
          <a:noFill/>
          <a:ln cap="rnd" cmpd="sng" w="28575">
            <a:solidFill>
              <a:srgbClr val="0F62FE"/>
            </a:solidFill>
            <a:prstDash val="solid"/>
            <a:round/>
            <a:headEnd len="sm" w="sm" type="none"/>
            <a:tailEnd len="med" w="med" type="triangle"/>
          </a:ln>
        </p:spPr>
      </p:cxnSp>
      <p:cxnSp>
        <p:nvCxnSpPr>
          <p:cNvPr id="216" name="Google Shape;216;p5"/>
          <p:cNvCxnSpPr/>
          <p:nvPr/>
        </p:nvCxnSpPr>
        <p:spPr>
          <a:xfrm rot="10800000">
            <a:off x="6025896" y="4277511"/>
            <a:ext cx="292608" cy="0"/>
          </a:xfrm>
          <a:prstGeom prst="straightConnector1">
            <a:avLst/>
          </a:prstGeom>
          <a:noFill/>
          <a:ln cap="rnd" cmpd="sng" w="28575">
            <a:solidFill>
              <a:srgbClr val="0F62FE"/>
            </a:solidFill>
            <a:prstDash val="solid"/>
            <a:round/>
            <a:headEnd len="sm" w="sm" type="none"/>
            <a:tailEnd len="med" w="med" type="triangle"/>
          </a:ln>
        </p:spPr>
      </p:cxnSp>
      <p:cxnSp>
        <p:nvCxnSpPr>
          <p:cNvPr id="217" name="Google Shape;217;p5"/>
          <p:cNvCxnSpPr/>
          <p:nvPr/>
        </p:nvCxnSpPr>
        <p:spPr>
          <a:xfrm rot="10800000">
            <a:off x="3968496" y="4277511"/>
            <a:ext cx="292608" cy="0"/>
          </a:xfrm>
          <a:prstGeom prst="straightConnector1">
            <a:avLst/>
          </a:prstGeom>
          <a:noFill/>
          <a:ln cap="rnd" cmpd="sng" w="28575">
            <a:solidFill>
              <a:srgbClr val="0F62FE"/>
            </a:solidFill>
            <a:prstDash val="solid"/>
            <a:round/>
            <a:headEnd len="sm" w="sm" type="none"/>
            <a:tailEnd len="med" w="med" type="triangle"/>
          </a:ln>
        </p:spPr>
      </p:cxnSp>
      <p:cxnSp>
        <p:nvCxnSpPr>
          <p:cNvPr id="218" name="Google Shape;218;p5"/>
          <p:cNvCxnSpPr/>
          <p:nvPr/>
        </p:nvCxnSpPr>
        <p:spPr>
          <a:xfrm>
            <a:off x="5143500" y="4839867"/>
            <a:ext cx="0" cy="246888"/>
          </a:xfrm>
          <a:prstGeom prst="straightConnector1">
            <a:avLst/>
          </a:prstGeom>
          <a:noFill/>
          <a:ln cap="rnd" cmpd="sng" w="28575">
            <a:solidFill>
              <a:srgbClr val="0F62FE"/>
            </a:solidFill>
            <a:prstDash val="solid"/>
            <a:round/>
            <a:headEnd len="sm" w="sm" type="none"/>
            <a:tailEnd len="med" w="med" type="triangle"/>
          </a:ln>
        </p:spPr>
      </p:cxnSp>
      <p:cxnSp>
        <p:nvCxnSpPr>
          <p:cNvPr id="219" name="Google Shape;219;p5"/>
          <p:cNvCxnSpPr/>
          <p:nvPr/>
        </p:nvCxnSpPr>
        <p:spPr>
          <a:xfrm rot="10800000">
            <a:off x="3086100" y="2828187"/>
            <a:ext cx="0" cy="886968"/>
          </a:xfrm>
          <a:prstGeom prst="straightConnector1">
            <a:avLst/>
          </a:prstGeom>
          <a:noFill/>
          <a:ln cap="rnd" cmpd="sng" w="31750">
            <a:solidFill>
              <a:srgbClr val="FF832B"/>
            </a:solidFill>
            <a:prstDash val="dash"/>
            <a:round/>
            <a:headEnd len="sm" w="sm" type="none"/>
            <a:tailEnd len="med" w="med" type="triangle"/>
          </a:ln>
        </p:spPr>
      </p:cxnSp>
      <p:sp>
        <p:nvSpPr>
          <p:cNvPr id="220" name="Google Shape;220;p5"/>
          <p:cNvSpPr txBox="1"/>
          <p:nvPr/>
        </p:nvSpPr>
        <p:spPr>
          <a:xfrm>
            <a:off x="3195828" y="2974491"/>
            <a:ext cx="914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A4B00"/>
              </a:buClr>
              <a:buSzPts val="1200"/>
              <a:buFont typeface="Calibri"/>
              <a:buNone/>
            </a:pPr>
            <a:r>
              <a:rPr b="1" i="1" lang="en-US" spc="0" sz="1200" u="none" cap="none" strike="noStrike">
                <a:solidFill>
                  <a:srgbClr val="8A4B00"/>
                </a:solidFill>
                <a:latin typeface="Calibri"/>
                <a:ea typeface="Calibri"/>
                <a:cs typeface="Calibri"/>
                <a:sym typeface="Calibri"/>
              </a:rPr>
              <a:t>Feedback</a:t>
            </a:r>
            <a:endParaRPr/>
          </a:p>
        </p:txBody>
      </p:sp>
      <p:grpSp>
        <p:nvGrpSpPr>
          <p:cNvPr id="221" name="Google Shape;221;p5"/>
          <p:cNvGrpSpPr/>
          <p:nvPr/>
        </p:nvGrpSpPr>
        <p:grpSpPr>
          <a:xfrm>
            <a:off x="2240280" y="5973723"/>
            <a:ext cx="3291840" cy="274320"/>
            <a:chOff x="2240280" y="6016752"/>
            <a:chExt cx="3291840" cy="274320"/>
          </a:xfrm>
        </p:grpSpPr>
        <p:sp>
          <p:nvSpPr>
            <p:cNvPr id="222" name="Google Shape;222;p5"/>
            <p:cNvSpPr/>
            <p:nvPr/>
          </p:nvSpPr>
          <p:spPr>
            <a:xfrm>
              <a:off x="2240280" y="6053328"/>
              <a:ext cx="201168" cy="201168"/>
            </a:xfrm>
            <a:prstGeom prst="roundRect">
              <a:avLst>
                <a:gd fmla="val 20000" name="adj"/>
              </a:avLst>
            </a:prstGeom>
            <a:solidFill>
              <a:srgbClr val="0F62FE"/>
            </a:solidFill>
            <a:ln>
              <a:noFill/>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223" name="Google Shape;223;p5"/>
            <p:cNvSpPr txBox="1"/>
            <p:nvPr/>
          </p:nvSpPr>
          <p:spPr>
            <a:xfrm>
              <a:off x="2514600" y="6016752"/>
              <a:ext cx="1280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200"/>
                <a:buFont typeface="Calibri"/>
                <a:buNone/>
              </a:pPr>
              <a:r>
                <a:rPr b="0" i="0" lang="en-US" spc="0" sz="1200" u="none" cap="none" strike="noStrike">
                  <a:solidFill>
                    <a:srgbClr val="393939"/>
                  </a:solidFill>
                  <a:latin typeface="Calibri"/>
                  <a:ea typeface="Calibri"/>
                  <a:cs typeface="Calibri"/>
                  <a:sym typeface="Calibri"/>
                </a:rPr>
                <a:t>Custom Tools</a:t>
              </a:r>
              <a:endParaRPr/>
            </a:p>
          </p:txBody>
        </p:sp>
        <p:sp>
          <p:nvSpPr>
            <p:cNvPr id="224" name="Google Shape;224;p5"/>
            <p:cNvSpPr/>
            <p:nvPr/>
          </p:nvSpPr>
          <p:spPr>
            <a:xfrm>
              <a:off x="3977640" y="6053328"/>
              <a:ext cx="201168" cy="201168"/>
            </a:xfrm>
            <a:prstGeom prst="roundRect">
              <a:avLst>
                <a:gd fmla="val 20000" name="adj"/>
              </a:avLst>
            </a:prstGeom>
            <a:solidFill>
              <a:srgbClr val="FFF1E6"/>
            </a:solidFill>
            <a:ln cap="flat" cmpd="sng" w="15875">
              <a:solidFill>
                <a:srgbClr val="FF832B"/>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225" name="Google Shape;225;p5"/>
            <p:cNvSpPr txBox="1"/>
            <p:nvPr/>
          </p:nvSpPr>
          <p:spPr>
            <a:xfrm>
              <a:off x="4251960" y="6016752"/>
              <a:ext cx="1280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200"/>
                <a:buFont typeface="Calibri"/>
                <a:buNone/>
              </a:pPr>
              <a:r>
                <a:rPr b="0" i="0" lang="en-US" spc="0" sz="1200" u="none" cap="none" strike="noStrike">
                  <a:solidFill>
                    <a:srgbClr val="393939"/>
                  </a:solidFill>
                  <a:latin typeface="Calibri"/>
                  <a:ea typeface="Calibri"/>
                  <a:cs typeface="Calibri"/>
                  <a:sym typeface="Calibri"/>
                </a:rPr>
                <a:t>Methodology</a:t>
              </a:r>
              <a:endParaRPr/>
            </a:p>
          </p:txBody>
        </p:sp>
      </p:grpSp>
      <p:sp>
        <p:nvSpPr>
          <p:cNvPr id="226" name="Google Shape;226;p5"/>
          <p:cNvSpPr/>
          <p:nvPr/>
        </p:nvSpPr>
        <p:spPr>
          <a:xfrm>
            <a:off x="8412480" y="1495315"/>
            <a:ext cx="3291840" cy="4114800"/>
          </a:xfrm>
          <a:prstGeom prst="roundRect">
            <a:avLst>
              <a:gd fmla="val 40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ctr" bIns="182875" lIns="228600" spcFirstLastPara="1" rIns="182875" wrap="square" tIns="182875">
            <a:noAutofit/>
          </a:bodyPr>
          <a:lstStyle/>
          <a:p>
            <a:pPr indent="-155448" lvl="0" marL="155448" marR="0" rtl="0" algn="l">
              <a:lnSpc>
                <a:spcPct val="100000"/>
              </a:lnSpc>
              <a:spcBef>
                <a:spcPts val="0"/>
              </a:spcBef>
              <a:spcAft>
                <a:spcPts val="0"/>
              </a:spcAft>
              <a:buClr>
                <a:srgbClr val="0F62FE"/>
              </a:buClr>
              <a:buSzPts val="1300"/>
              <a:buFont typeface="Arial"/>
              <a:buChar char="•"/>
            </a:pPr>
            <a:r>
              <a:rPr b="0" i="1" lang="en-US" spc="0" sz="1300" u="none" cap="none" strike="noStrike">
                <a:solidFill>
                  <a:srgbClr val="393939"/>
                </a:solidFill>
                <a:latin typeface="Calibri"/>
                <a:ea typeface="Calibri"/>
                <a:cs typeface="Calibri"/>
                <a:sym typeface="Calibri"/>
              </a:rPr>
              <a:t>Use Case Analysis with KPIs</a:t>
            </a:r>
            <a:endParaRPr/>
          </a:p>
          <a:p>
            <a:pPr indent="-155448" lvl="0" marL="155448" marR="0" rtl="0" algn="l">
              <a:lnSpc>
                <a:spcPct val="100000"/>
              </a:lnSpc>
              <a:spcBef>
                <a:spcPts val="900"/>
              </a:spcBef>
              <a:spcAft>
                <a:spcPts val="0"/>
              </a:spcAft>
              <a:buClr>
                <a:srgbClr val="0F62FE"/>
              </a:buClr>
              <a:buSzPts val="1300"/>
              <a:buFont typeface="Arial"/>
              <a:buChar char="•"/>
            </a:pPr>
            <a:r>
              <a:rPr b="0" i="0" lang="en-US" spc="0" sz="1300" u="none" cap="none" strike="noStrike">
                <a:solidFill>
                  <a:srgbClr val="393939"/>
                </a:solidFill>
                <a:latin typeface="Calibri"/>
                <a:ea typeface="Calibri"/>
                <a:cs typeface="Calibri"/>
                <a:sym typeface="Calibri"/>
              </a:rPr>
              <a:t>Load generation – Scale &amp; Access patterns</a:t>
            </a:r>
            <a:endParaRPr/>
          </a:p>
          <a:p>
            <a:pPr indent="-155448" lvl="0" marL="155448" marR="0" rtl="0" algn="l">
              <a:lnSpc>
                <a:spcPct val="100000"/>
              </a:lnSpc>
              <a:spcBef>
                <a:spcPts val="900"/>
              </a:spcBef>
              <a:spcAft>
                <a:spcPts val="0"/>
              </a:spcAft>
              <a:buClr>
                <a:srgbClr val="0F62FE"/>
              </a:buClr>
              <a:buSzPts val="1300"/>
              <a:buFont typeface="Arial"/>
              <a:buChar char="•"/>
            </a:pPr>
            <a:r>
              <a:rPr b="0" i="0" lang="en-US" spc="0" sz="1300" u="none" cap="none" strike="noStrike">
                <a:solidFill>
                  <a:srgbClr val="393939"/>
                </a:solidFill>
                <a:latin typeface="Calibri"/>
                <a:ea typeface="Calibri"/>
                <a:cs typeface="Calibri"/>
                <a:sym typeface="Calibri"/>
              </a:rPr>
              <a:t>Performance Data Collection &amp; Analysis – Identify patterns, bottleneck &amp; optimization opportunities</a:t>
            </a:r>
            <a:endParaRPr/>
          </a:p>
          <a:p>
            <a:pPr indent="-155448" lvl="0" marL="155448" marR="0" rtl="0" algn="l">
              <a:lnSpc>
                <a:spcPct val="100000"/>
              </a:lnSpc>
              <a:spcBef>
                <a:spcPts val="900"/>
              </a:spcBef>
              <a:spcAft>
                <a:spcPts val="0"/>
              </a:spcAft>
              <a:buClr>
                <a:srgbClr val="0F62FE"/>
              </a:buClr>
              <a:buSzPts val="1300"/>
              <a:buFont typeface="Arial"/>
              <a:buChar char="•"/>
            </a:pPr>
            <a:r>
              <a:rPr b="0" i="0" lang="en-US" spc="0" sz="1300" u="none" cap="none" strike="noStrike">
                <a:solidFill>
                  <a:srgbClr val="393939"/>
                </a:solidFill>
                <a:latin typeface="Calibri"/>
                <a:ea typeface="Calibri"/>
                <a:cs typeface="Calibri"/>
                <a:sym typeface="Calibri"/>
              </a:rPr>
              <a:t>Inference &amp; Insight generation – Regression Analysis, Time series analysis.</a:t>
            </a:r>
            <a:endParaRPr/>
          </a:p>
          <a:p>
            <a:pPr indent="-155448" lvl="0" marL="155448" marR="0" rtl="0" algn="l">
              <a:lnSpc>
                <a:spcPct val="100000"/>
              </a:lnSpc>
              <a:spcBef>
                <a:spcPts val="900"/>
              </a:spcBef>
              <a:spcAft>
                <a:spcPts val="0"/>
              </a:spcAft>
              <a:buClr>
                <a:srgbClr val="0F62FE"/>
              </a:buClr>
              <a:buSzPts val="1300"/>
              <a:buFont typeface="Arial"/>
              <a:buChar char="•"/>
            </a:pPr>
            <a:r>
              <a:rPr b="0" i="0" lang="en-US" spc="0" sz="1300" u="none" cap="none" strike="noStrike">
                <a:solidFill>
                  <a:srgbClr val="393939"/>
                </a:solidFill>
                <a:latin typeface="Calibri"/>
                <a:ea typeface="Calibri"/>
                <a:cs typeface="Calibri"/>
                <a:sym typeface="Calibri"/>
              </a:rPr>
              <a:t>Threshold prediction – Provides data to tune the configurations in the high scale data centers to avoid potential performance problems.</a:t>
            </a:r>
            <a:endParaRPr/>
          </a:p>
        </p:txBody>
      </p:sp>
      <p:sp>
        <p:nvSpPr>
          <p:cNvPr id="227" name="Google Shape;227;p5"/>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t>
            </a:r>
            <a:r>
              <a:rPr lang="en-US"/>
              <a:t>Control Plane Performance Characterization</a:t>
            </a:r>
            <a:endParaRPr/>
          </a:p>
        </p:txBody>
      </p:sp>
      <p:sp>
        <p:nvSpPr>
          <p:cNvPr id="228" name="Google Shape;228;p5"/>
          <p:cNvSpPr txBox="1"/>
          <p:nvPr>
            <p:ph type="title"/>
          </p:nvPr>
        </p:nvSpPr>
        <p:spPr>
          <a:xfrm>
            <a:off x="-20250" y="6583800"/>
            <a:ext cx="12232500" cy="2742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6"/>
          <p:cNvSpPr txBox="1"/>
          <p:nvPr/>
        </p:nvSpPr>
        <p:spPr>
          <a:xfrm>
            <a:off x="830788" y="936828"/>
            <a:ext cx="54864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F6F6F"/>
              </a:buClr>
              <a:buSzPts val="1800"/>
              <a:buFont typeface="Calibri"/>
              <a:buNone/>
            </a:pPr>
            <a:r>
              <a:rPr b="1" i="0" lang="en-US" spc="0" sz="1800" u="none" cap="none" strike="noStrike">
                <a:solidFill>
                  <a:srgbClr val="6F6F6F"/>
                </a:solidFill>
                <a:latin typeface="Calibri"/>
                <a:ea typeface="Calibri"/>
                <a:cs typeface="Calibri"/>
                <a:sym typeface="Calibri"/>
              </a:rPr>
              <a:t>Key Architectural </a:t>
            </a:r>
            <a:r>
              <a:rPr b="1" i="0" lang="en-US" spc="0" sz="2000" u="none" cap="none" strike="noStrike">
                <a:solidFill>
                  <a:srgbClr val="6F6F6F"/>
                </a:solidFill>
                <a:latin typeface="Calibri"/>
                <a:ea typeface="Calibri"/>
                <a:cs typeface="Calibri"/>
                <a:sym typeface="Calibri"/>
              </a:rPr>
              <a:t>Pillars</a:t>
            </a:r>
            <a:r>
              <a:rPr b="1" i="0" lang="en-US" spc="0" sz="1800" u="none" cap="none" strike="noStrike">
                <a:solidFill>
                  <a:srgbClr val="6F6F6F"/>
                </a:solidFill>
                <a:latin typeface="Calibri"/>
                <a:ea typeface="Calibri"/>
                <a:cs typeface="Calibri"/>
                <a:sym typeface="Calibri"/>
              </a:rPr>
              <a:t> &amp; Design Principles</a:t>
            </a:r>
            <a:endParaRPr/>
          </a:p>
        </p:txBody>
      </p:sp>
      <p:cxnSp>
        <p:nvCxnSpPr>
          <p:cNvPr id="235" name="Google Shape;235;p6"/>
          <p:cNvCxnSpPr/>
          <p:nvPr/>
        </p:nvCxnSpPr>
        <p:spPr>
          <a:xfrm>
            <a:off x="3505260" y="4039500"/>
            <a:ext cx="283464" cy="0"/>
          </a:xfrm>
          <a:prstGeom prst="straightConnector1">
            <a:avLst/>
          </a:prstGeom>
          <a:noFill/>
          <a:ln cap="rnd" cmpd="sng" w="31750">
            <a:solidFill>
              <a:srgbClr val="0F62FE"/>
            </a:solidFill>
            <a:prstDash val="solid"/>
            <a:round/>
            <a:headEnd len="sm" w="sm" type="none"/>
            <a:tailEnd len="med" w="med" type="triangle"/>
          </a:ln>
        </p:spPr>
      </p:cxnSp>
      <p:grpSp>
        <p:nvGrpSpPr>
          <p:cNvPr id="236" name="Google Shape;236;p6"/>
          <p:cNvGrpSpPr/>
          <p:nvPr/>
        </p:nvGrpSpPr>
        <p:grpSpPr>
          <a:xfrm>
            <a:off x="4968758" y="2744240"/>
            <a:ext cx="1893017" cy="3402556"/>
            <a:chOff x="3562274" y="1828800"/>
            <a:chExt cx="2347200" cy="4023360"/>
          </a:xfrm>
        </p:grpSpPr>
        <p:sp>
          <p:nvSpPr>
            <p:cNvPr id="237" name="Google Shape;237;p6"/>
            <p:cNvSpPr/>
            <p:nvPr/>
          </p:nvSpPr>
          <p:spPr>
            <a:xfrm>
              <a:off x="3562274" y="1828800"/>
              <a:ext cx="2327834" cy="402336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238" name="Google Shape;238;p6"/>
            <p:cNvSpPr/>
            <p:nvPr/>
          </p:nvSpPr>
          <p:spPr>
            <a:xfrm>
              <a:off x="4269454" y="1944449"/>
              <a:ext cx="914400" cy="91440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Data Processing icon" id="239" name="Google Shape;239;p6"/>
            <p:cNvPicPr preferRelativeResize="0"/>
            <p:nvPr/>
          </p:nvPicPr>
          <p:blipFill rotWithShape="1">
            <a:blip r:embed="rId3">
              <a:alphaModFix/>
            </a:blip>
            <a:srcRect b="0" l="0" r="0" t="0"/>
            <a:stretch/>
          </p:blipFill>
          <p:spPr>
            <a:xfrm>
              <a:off x="4502618" y="2182054"/>
              <a:ext cx="457200" cy="457200"/>
            </a:xfrm>
            <a:prstGeom prst="rect">
              <a:avLst/>
            </a:prstGeom>
            <a:noFill/>
            <a:ln>
              <a:noFill/>
            </a:ln>
          </p:spPr>
        </p:pic>
        <p:sp>
          <p:nvSpPr>
            <p:cNvPr id="240" name="Google Shape;240;p6"/>
            <p:cNvSpPr txBox="1"/>
            <p:nvPr/>
          </p:nvSpPr>
          <p:spPr>
            <a:xfrm>
              <a:off x="3727944" y="2959007"/>
              <a:ext cx="2181530" cy="5943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61616"/>
                </a:buClr>
                <a:buSzPts val="1800"/>
                <a:buFont typeface="Calibri"/>
                <a:buNone/>
              </a:pPr>
              <a:r>
                <a:rPr b="1" i="0" lang="en-US" spc="0" sz="1800" u="none" cap="none" strike="noStrike">
                  <a:solidFill>
                    <a:srgbClr val="161616"/>
                  </a:solidFill>
                  <a:latin typeface="Calibri"/>
                  <a:ea typeface="Calibri"/>
                  <a:cs typeface="Calibri"/>
                  <a:sym typeface="Calibri"/>
                </a:rPr>
                <a:t>Data Processing</a:t>
              </a:r>
              <a:endParaRPr/>
            </a:p>
          </p:txBody>
        </p:sp>
      </p:grpSp>
      <p:cxnSp>
        <p:nvCxnSpPr>
          <p:cNvPr id="241" name="Google Shape;241;p6"/>
          <p:cNvCxnSpPr/>
          <p:nvPr/>
        </p:nvCxnSpPr>
        <p:spPr>
          <a:xfrm>
            <a:off x="2447926" y="4651206"/>
            <a:ext cx="283464" cy="0"/>
          </a:xfrm>
          <a:prstGeom prst="straightConnector1">
            <a:avLst/>
          </a:prstGeom>
          <a:noFill/>
          <a:ln cap="rnd" cmpd="sng" w="31750">
            <a:solidFill>
              <a:srgbClr val="0F62FE"/>
            </a:solidFill>
            <a:prstDash val="solid"/>
            <a:round/>
            <a:headEnd len="sm" w="sm" type="none"/>
            <a:tailEnd len="med" w="med" type="triangle"/>
          </a:ln>
        </p:spPr>
      </p:cxnSp>
      <p:grpSp>
        <p:nvGrpSpPr>
          <p:cNvPr id="242" name="Google Shape;242;p6"/>
          <p:cNvGrpSpPr/>
          <p:nvPr/>
        </p:nvGrpSpPr>
        <p:grpSpPr>
          <a:xfrm>
            <a:off x="7066870" y="2733399"/>
            <a:ext cx="2327834" cy="3402373"/>
            <a:chOff x="6301588" y="1828800"/>
            <a:chExt cx="2327834" cy="4023360"/>
          </a:xfrm>
        </p:grpSpPr>
        <p:sp>
          <p:nvSpPr>
            <p:cNvPr id="243" name="Google Shape;243;p6"/>
            <p:cNvSpPr/>
            <p:nvPr/>
          </p:nvSpPr>
          <p:spPr>
            <a:xfrm>
              <a:off x="6301588" y="1828800"/>
              <a:ext cx="2327834" cy="402336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244" name="Google Shape;244;p6"/>
            <p:cNvSpPr/>
            <p:nvPr/>
          </p:nvSpPr>
          <p:spPr>
            <a:xfrm>
              <a:off x="6927781" y="2057113"/>
              <a:ext cx="914400" cy="91440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Data staging icon" id="245" name="Google Shape;245;p6"/>
            <p:cNvPicPr preferRelativeResize="0"/>
            <p:nvPr/>
          </p:nvPicPr>
          <p:blipFill rotWithShape="1">
            <a:blip r:embed="rId4">
              <a:alphaModFix/>
            </a:blip>
            <a:srcRect b="0" l="0" r="0" t="0"/>
            <a:stretch/>
          </p:blipFill>
          <p:spPr>
            <a:xfrm>
              <a:off x="7236905" y="2264550"/>
              <a:ext cx="457200" cy="457200"/>
            </a:xfrm>
            <a:prstGeom prst="rect">
              <a:avLst/>
            </a:prstGeom>
            <a:noFill/>
            <a:ln>
              <a:noFill/>
            </a:ln>
          </p:spPr>
        </p:pic>
        <p:sp>
          <p:nvSpPr>
            <p:cNvPr id="246" name="Google Shape;246;p6"/>
            <p:cNvSpPr txBox="1"/>
            <p:nvPr/>
          </p:nvSpPr>
          <p:spPr>
            <a:xfrm>
              <a:off x="6359342" y="3024358"/>
              <a:ext cx="2181530" cy="5943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61616"/>
                </a:buClr>
                <a:buSzPts val="1800"/>
                <a:buFont typeface="Calibri"/>
                <a:buNone/>
              </a:pPr>
              <a:r>
                <a:rPr b="1" i="0" lang="en-US" spc="0" sz="1800" u="none" cap="none" strike="noStrike">
                  <a:solidFill>
                    <a:srgbClr val="161616"/>
                  </a:solidFill>
                  <a:latin typeface="Calibri"/>
                  <a:ea typeface="Calibri"/>
                  <a:cs typeface="Calibri"/>
                  <a:sym typeface="Calibri"/>
                </a:rPr>
                <a:t>Data staging</a:t>
              </a:r>
              <a:endParaRPr/>
            </a:p>
          </p:txBody>
        </p:sp>
      </p:grpSp>
      <p:cxnSp>
        <p:nvCxnSpPr>
          <p:cNvPr id="247" name="Google Shape;247;p6"/>
          <p:cNvCxnSpPr/>
          <p:nvPr/>
        </p:nvCxnSpPr>
        <p:spPr>
          <a:xfrm>
            <a:off x="9394704" y="4667655"/>
            <a:ext cx="283464" cy="0"/>
          </a:xfrm>
          <a:prstGeom prst="straightConnector1">
            <a:avLst/>
          </a:prstGeom>
          <a:noFill/>
          <a:ln cap="rnd" cmpd="sng" w="31750">
            <a:solidFill>
              <a:srgbClr val="0F62FE"/>
            </a:solidFill>
            <a:prstDash val="solid"/>
            <a:round/>
            <a:headEnd len="sm" w="sm" type="none"/>
            <a:tailEnd len="med" w="med" type="triangle"/>
          </a:ln>
        </p:spPr>
      </p:cxnSp>
      <p:grpSp>
        <p:nvGrpSpPr>
          <p:cNvPr id="248" name="Google Shape;248;p6"/>
          <p:cNvGrpSpPr/>
          <p:nvPr/>
        </p:nvGrpSpPr>
        <p:grpSpPr>
          <a:xfrm>
            <a:off x="9673026" y="2695527"/>
            <a:ext cx="2032596" cy="3440245"/>
            <a:chOff x="9040901" y="1828800"/>
            <a:chExt cx="2327834" cy="4023360"/>
          </a:xfrm>
        </p:grpSpPr>
        <p:sp>
          <p:nvSpPr>
            <p:cNvPr id="249" name="Google Shape;249;p6"/>
            <p:cNvSpPr/>
            <p:nvPr/>
          </p:nvSpPr>
          <p:spPr>
            <a:xfrm>
              <a:off x="9040901" y="1828800"/>
              <a:ext cx="2327834" cy="402336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250" name="Google Shape;250;p6"/>
            <p:cNvSpPr/>
            <p:nvPr/>
          </p:nvSpPr>
          <p:spPr>
            <a:xfrm>
              <a:off x="9747618" y="2194560"/>
              <a:ext cx="914400" cy="91440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Data Analysis &amp; Insight generation icon" id="251" name="Google Shape;251;p6"/>
            <p:cNvPicPr preferRelativeResize="0"/>
            <p:nvPr/>
          </p:nvPicPr>
          <p:blipFill rotWithShape="1">
            <a:blip r:embed="rId5">
              <a:alphaModFix/>
            </a:blip>
            <a:srcRect b="0" l="0" r="0" t="0"/>
            <a:stretch/>
          </p:blipFill>
          <p:spPr>
            <a:xfrm>
              <a:off x="9976218" y="2423160"/>
              <a:ext cx="457200" cy="457200"/>
            </a:xfrm>
            <a:prstGeom prst="rect">
              <a:avLst/>
            </a:prstGeom>
            <a:noFill/>
            <a:ln>
              <a:noFill/>
            </a:ln>
          </p:spPr>
        </p:pic>
        <p:sp>
          <p:nvSpPr>
            <p:cNvPr id="252" name="Google Shape;252;p6"/>
            <p:cNvSpPr txBox="1"/>
            <p:nvPr/>
          </p:nvSpPr>
          <p:spPr>
            <a:xfrm>
              <a:off x="9114053" y="3246120"/>
              <a:ext cx="2181530" cy="5943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61616"/>
                </a:buClr>
                <a:buSzPts val="1800"/>
                <a:buFont typeface="Calibri"/>
                <a:buNone/>
              </a:pPr>
              <a:r>
                <a:rPr b="1" i="0" lang="en-US" spc="0" sz="1800" u="none" cap="none" strike="noStrike">
                  <a:solidFill>
                    <a:srgbClr val="161616"/>
                  </a:solidFill>
                  <a:latin typeface="Calibri"/>
                  <a:ea typeface="Calibri"/>
                  <a:cs typeface="Calibri"/>
                  <a:sym typeface="Calibri"/>
                </a:rPr>
                <a:t>Data Analysis &amp; Insight generation</a:t>
              </a:r>
              <a:endParaRPr/>
            </a:p>
          </p:txBody>
        </p:sp>
        <p:sp>
          <p:nvSpPr>
            <p:cNvPr id="253" name="Google Shape;253;p6"/>
            <p:cNvSpPr txBox="1"/>
            <p:nvPr/>
          </p:nvSpPr>
          <p:spPr>
            <a:xfrm>
              <a:off x="9269501" y="3931920"/>
              <a:ext cx="1870634" cy="1783080"/>
            </a:xfrm>
            <a:prstGeom prst="rect">
              <a:avLst/>
            </a:prstGeom>
            <a:noFill/>
            <a:ln>
              <a:noFill/>
            </a:ln>
          </p:spPr>
          <p:txBody>
            <a:bodyPr anchorCtr="0" anchor="t" bIns="0" lIns="0" spcFirstLastPara="1" rIns="0" wrap="square" tIns="0">
              <a:noAutofit/>
            </a:bodyPr>
            <a:lstStyle/>
            <a:p>
              <a:pPr indent="-155448" lvl="0" marL="155448" marR="0" rtl="0" algn="l">
                <a:lnSpc>
                  <a:spcPct val="100000"/>
                </a:lnSpc>
                <a:spcBef>
                  <a:spcPts val="0"/>
                </a:spcBef>
                <a:spcAft>
                  <a:spcPts val="0"/>
                </a:spcAft>
                <a:buClr>
                  <a:srgbClr val="0F62FE"/>
                </a:buClr>
                <a:buSzPts val="1400"/>
                <a:buFont typeface="Arial"/>
                <a:buChar char="•"/>
              </a:pPr>
              <a:r>
                <a:rPr b="0" i="0" lang="en-US" spc="0" sz="1400" u="none" cap="none" strike="noStrike">
                  <a:solidFill>
                    <a:srgbClr val="393939"/>
                  </a:solidFill>
                  <a:latin typeface="Calibri"/>
                  <a:ea typeface="Calibri"/>
                  <a:cs typeface="Calibri"/>
                  <a:sym typeface="Calibri"/>
                </a:rPr>
                <a:t>API Response time</a:t>
              </a:r>
              <a:endParaRPr/>
            </a:p>
            <a:p>
              <a:pPr indent="-155448" lvl="0" marL="155448" marR="0" rtl="0" algn="l">
                <a:lnSpc>
                  <a:spcPct val="100000"/>
                </a:lnSpc>
                <a:spcBef>
                  <a:spcPts val="500"/>
                </a:spcBef>
                <a:spcAft>
                  <a:spcPts val="0"/>
                </a:spcAft>
                <a:buClr>
                  <a:srgbClr val="0F62FE"/>
                </a:buClr>
                <a:buSzPts val="1400"/>
                <a:buFont typeface="Arial"/>
                <a:buChar char="•"/>
              </a:pPr>
              <a:r>
                <a:rPr b="0" i="0" lang="en-US" spc="0" sz="1400" u="none" cap="none" strike="noStrike">
                  <a:solidFill>
                    <a:srgbClr val="393939"/>
                  </a:solidFill>
                  <a:latin typeface="Calibri"/>
                  <a:ea typeface="Calibri"/>
                  <a:cs typeface="Calibri"/>
                  <a:sym typeface="Calibri"/>
                </a:rPr>
                <a:t>Resource utilization</a:t>
              </a:r>
              <a:endParaRPr/>
            </a:p>
            <a:p>
              <a:pPr indent="-155448" lvl="0" marL="155448" marR="0" rtl="0" algn="l">
                <a:lnSpc>
                  <a:spcPct val="100000"/>
                </a:lnSpc>
                <a:spcBef>
                  <a:spcPts val="500"/>
                </a:spcBef>
                <a:spcAft>
                  <a:spcPts val="0"/>
                </a:spcAft>
                <a:buClr>
                  <a:srgbClr val="0F62FE"/>
                </a:buClr>
                <a:buSzPts val="1400"/>
                <a:buFont typeface="Arial"/>
                <a:buChar char="•"/>
              </a:pPr>
              <a:r>
                <a:rPr b="0" i="0" lang="en-US" spc="0" sz="1400" u="none" cap="none" strike="noStrike">
                  <a:solidFill>
                    <a:srgbClr val="393939"/>
                  </a:solidFill>
                  <a:latin typeface="Calibri"/>
                  <a:ea typeface="Calibri"/>
                  <a:cs typeface="Calibri"/>
                  <a:sym typeface="Calibri"/>
                </a:rPr>
                <a:t>Drill down</a:t>
              </a:r>
              <a:endParaRPr/>
            </a:p>
            <a:p>
              <a:pPr indent="-155448" lvl="0" marL="155448" marR="0" rtl="0" algn="l">
                <a:lnSpc>
                  <a:spcPct val="100000"/>
                </a:lnSpc>
                <a:spcBef>
                  <a:spcPts val="500"/>
                </a:spcBef>
                <a:spcAft>
                  <a:spcPts val="0"/>
                </a:spcAft>
                <a:buClr>
                  <a:srgbClr val="0F62FE"/>
                </a:buClr>
                <a:buSzPts val="1400"/>
                <a:buFont typeface="Arial"/>
                <a:buChar char="•"/>
              </a:pPr>
              <a:r>
                <a:rPr b="0" i="0" lang="en-US" spc="0" sz="1400" u="none" cap="none" strike="noStrike">
                  <a:solidFill>
                    <a:srgbClr val="393939"/>
                  </a:solidFill>
                  <a:latin typeface="Calibri"/>
                  <a:ea typeface="Calibri"/>
                  <a:cs typeface="Calibri"/>
                  <a:sym typeface="Calibri"/>
                </a:rPr>
                <a:t>Historical data patterns</a:t>
              </a:r>
              <a:endParaRPr/>
            </a:p>
            <a:p>
              <a:pPr indent="-155448" lvl="0" marL="155448" marR="0" rtl="0" algn="l">
                <a:lnSpc>
                  <a:spcPct val="100000"/>
                </a:lnSpc>
                <a:spcBef>
                  <a:spcPts val="500"/>
                </a:spcBef>
                <a:spcAft>
                  <a:spcPts val="0"/>
                </a:spcAft>
                <a:buClr>
                  <a:srgbClr val="0F62FE"/>
                </a:buClr>
                <a:buSzPts val="1400"/>
                <a:buFont typeface="Arial"/>
                <a:buChar char="•"/>
              </a:pPr>
              <a:r>
                <a:rPr b="0" i="0" lang="en-US" spc="0" sz="1400" u="none" cap="none" strike="noStrike">
                  <a:solidFill>
                    <a:srgbClr val="393939"/>
                  </a:solidFill>
                  <a:latin typeface="Calibri"/>
                  <a:ea typeface="Calibri"/>
                  <a:cs typeface="Calibri"/>
                  <a:sym typeface="Calibri"/>
                </a:rPr>
                <a:t>Alerts</a:t>
              </a:r>
              <a:endParaRPr/>
            </a:p>
          </p:txBody>
        </p:sp>
      </p:grpSp>
      <p:grpSp>
        <p:nvGrpSpPr>
          <p:cNvPr id="254" name="Google Shape;254;p6"/>
          <p:cNvGrpSpPr/>
          <p:nvPr/>
        </p:nvGrpSpPr>
        <p:grpSpPr>
          <a:xfrm>
            <a:off x="2706753" y="2744157"/>
            <a:ext cx="2092472" cy="3402375"/>
            <a:chOff x="795552" y="1828800"/>
            <a:chExt cx="2327834" cy="4023360"/>
          </a:xfrm>
        </p:grpSpPr>
        <p:sp>
          <p:nvSpPr>
            <p:cNvPr id="255" name="Google Shape;255;p6"/>
            <p:cNvSpPr/>
            <p:nvPr/>
          </p:nvSpPr>
          <p:spPr>
            <a:xfrm>
              <a:off x="795552" y="1828800"/>
              <a:ext cx="2327834" cy="402336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256" name="Google Shape;256;p6"/>
            <p:cNvSpPr/>
            <p:nvPr/>
          </p:nvSpPr>
          <p:spPr>
            <a:xfrm>
              <a:off x="1518337" y="1946441"/>
              <a:ext cx="914400" cy="91440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Data Collection icon" id="257" name="Google Shape;257;p6"/>
            <p:cNvPicPr preferRelativeResize="0"/>
            <p:nvPr/>
          </p:nvPicPr>
          <p:blipFill rotWithShape="1">
            <a:blip r:embed="rId6">
              <a:alphaModFix/>
            </a:blip>
            <a:srcRect b="0" l="0" r="0" t="0"/>
            <a:stretch/>
          </p:blipFill>
          <p:spPr>
            <a:xfrm>
              <a:off x="1760334" y="2175040"/>
              <a:ext cx="457201" cy="457201"/>
            </a:xfrm>
            <a:prstGeom prst="rect">
              <a:avLst/>
            </a:prstGeom>
            <a:noFill/>
            <a:ln>
              <a:noFill/>
            </a:ln>
          </p:spPr>
        </p:pic>
        <p:sp>
          <p:nvSpPr>
            <p:cNvPr id="258" name="Google Shape;258;p6"/>
            <p:cNvSpPr txBox="1"/>
            <p:nvPr/>
          </p:nvSpPr>
          <p:spPr>
            <a:xfrm>
              <a:off x="925718" y="2931634"/>
              <a:ext cx="2181529" cy="5943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61616"/>
                </a:buClr>
                <a:buSzPts val="1800"/>
                <a:buFont typeface="Calibri"/>
                <a:buNone/>
              </a:pPr>
              <a:r>
                <a:rPr b="1" i="0" lang="en-US" spc="0" sz="1800" u="none" cap="none" strike="noStrike">
                  <a:solidFill>
                    <a:srgbClr val="161616"/>
                  </a:solidFill>
                  <a:latin typeface="Calibri"/>
                  <a:ea typeface="Calibri"/>
                  <a:cs typeface="Calibri"/>
                  <a:sym typeface="Calibri"/>
                </a:rPr>
                <a:t>Load </a:t>
              </a:r>
              <a:r>
                <a:rPr b="1" lang="en-US" sz="1800">
                  <a:solidFill>
                    <a:srgbClr val="161616"/>
                  </a:solidFill>
                  <a:latin typeface="Calibri"/>
                  <a:ea typeface="Calibri"/>
                  <a:cs typeface="Calibri"/>
                  <a:sym typeface="Calibri"/>
                </a:rPr>
                <a:t>Generation &amp; </a:t>
              </a:r>
              <a:r>
                <a:rPr b="1" i="0" lang="en-US" spc="0" sz="1800" u="none" cap="none" strike="noStrike">
                  <a:solidFill>
                    <a:srgbClr val="161616"/>
                  </a:solidFill>
                  <a:latin typeface="Calibri"/>
                  <a:ea typeface="Calibri"/>
                  <a:cs typeface="Calibri"/>
                  <a:sym typeface="Calibri"/>
                </a:rPr>
                <a:t>Data Collection</a:t>
              </a:r>
              <a:endParaRPr/>
            </a:p>
          </p:txBody>
        </p:sp>
      </p:grpSp>
      <p:grpSp>
        <p:nvGrpSpPr>
          <p:cNvPr id="259" name="Google Shape;259;p6"/>
          <p:cNvGrpSpPr/>
          <p:nvPr/>
        </p:nvGrpSpPr>
        <p:grpSpPr>
          <a:xfrm>
            <a:off x="355773" y="2744158"/>
            <a:ext cx="2092153" cy="3402374"/>
            <a:chOff x="822960" y="1828800"/>
            <a:chExt cx="2327834" cy="4023360"/>
          </a:xfrm>
        </p:grpSpPr>
        <p:sp>
          <p:nvSpPr>
            <p:cNvPr id="260" name="Google Shape;260;p6"/>
            <p:cNvSpPr/>
            <p:nvPr/>
          </p:nvSpPr>
          <p:spPr>
            <a:xfrm>
              <a:off x="822960" y="1828800"/>
              <a:ext cx="2327834" cy="4023360"/>
            </a:xfrm>
            <a:prstGeom prst="roundRect">
              <a:avLst>
                <a:gd fmla="val 4500" name="adj"/>
              </a:avLst>
            </a:prstGeom>
            <a:solidFill>
              <a:srgbClr val="F4F7FB"/>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261" name="Google Shape;261;p6"/>
            <p:cNvSpPr/>
            <p:nvPr/>
          </p:nvSpPr>
          <p:spPr>
            <a:xfrm>
              <a:off x="1553253" y="2019204"/>
              <a:ext cx="914400" cy="594361"/>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262" name="Google Shape;262;p6"/>
            <p:cNvSpPr txBox="1"/>
            <p:nvPr/>
          </p:nvSpPr>
          <p:spPr>
            <a:xfrm>
              <a:off x="942470" y="2722770"/>
              <a:ext cx="2181529" cy="5943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61616"/>
                </a:buClr>
                <a:buSzPts val="1800"/>
                <a:buFont typeface="Calibri"/>
                <a:buNone/>
              </a:pPr>
              <a:r>
                <a:rPr b="1" i="0" lang="en-US" spc="0" sz="1800" u="none" cap="none" strike="noStrike">
                  <a:solidFill>
                    <a:srgbClr val="161616"/>
                  </a:solidFill>
                  <a:latin typeface="Calibri"/>
                  <a:ea typeface="Calibri"/>
                  <a:cs typeface="Calibri"/>
                  <a:sym typeface="Calibri"/>
                </a:rPr>
                <a:t>Performance Planning</a:t>
              </a:r>
              <a:endParaRPr/>
            </a:p>
          </p:txBody>
        </p:sp>
      </p:grpSp>
      <p:pic>
        <p:nvPicPr>
          <p:cNvPr id="263" name="Google Shape;263;p6"/>
          <p:cNvPicPr preferRelativeResize="0"/>
          <p:nvPr/>
        </p:nvPicPr>
        <p:blipFill rotWithShape="1">
          <a:blip r:embed="rId7">
            <a:alphaModFix/>
          </a:blip>
          <a:srcRect b="0" l="0" r="0" t="0"/>
          <a:stretch/>
        </p:blipFill>
        <p:spPr>
          <a:xfrm>
            <a:off x="1203304" y="3033320"/>
            <a:ext cx="434378" cy="358171"/>
          </a:xfrm>
          <a:prstGeom prst="rect">
            <a:avLst/>
          </a:prstGeom>
          <a:noFill/>
          <a:ln>
            <a:noFill/>
          </a:ln>
        </p:spPr>
      </p:pic>
      <p:cxnSp>
        <p:nvCxnSpPr>
          <p:cNvPr id="264" name="Google Shape;264;p6"/>
          <p:cNvCxnSpPr/>
          <p:nvPr/>
        </p:nvCxnSpPr>
        <p:spPr>
          <a:xfrm>
            <a:off x="6846302" y="4651206"/>
            <a:ext cx="220568" cy="0"/>
          </a:xfrm>
          <a:prstGeom prst="straightConnector1">
            <a:avLst/>
          </a:prstGeom>
          <a:noFill/>
          <a:ln cap="rnd" cmpd="sng" w="31750">
            <a:solidFill>
              <a:srgbClr val="0F62FE"/>
            </a:solidFill>
            <a:prstDash val="solid"/>
            <a:round/>
            <a:headEnd len="sm" w="sm" type="none"/>
            <a:tailEnd len="med" w="med" type="triangle"/>
          </a:ln>
        </p:spPr>
      </p:cxnSp>
      <p:cxnSp>
        <p:nvCxnSpPr>
          <p:cNvPr id="265" name="Google Shape;265;p6"/>
          <p:cNvCxnSpPr/>
          <p:nvPr/>
        </p:nvCxnSpPr>
        <p:spPr>
          <a:xfrm>
            <a:off x="4823310" y="4667655"/>
            <a:ext cx="204535" cy="0"/>
          </a:xfrm>
          <a:prstGeom prst="straightConnector1">
            <a:avLst/>
          </a:prstGeom>
          <a:noFill/>
          <a:ln cap="rnd" cmpd="sng" w="31750">
            <a:solidFill>
              <a:srgbClr val="0F62FE"/>
            </a:solidFill>
            <a:prstDash val="solid"/>
            <a:round/>
            <a:headEnd len="sm" w="sm" type="none"/>
            <a:tailEnd len="med" w="med" type="triangle"/>
          </a:ln>
        </p:spPr>
      </p:cxnSp>
      <p:sp>
        <p:nvSpPr>
          <p:cNvPr id="266" name="Google Shape;266;p6"/>
          <p:cNvSpPr txBox="1"/>
          <p:nvPr/>
        </p:nvSpPr>
        <p:spPr>
          <a:xfrm>
            <a:off x="94835" y="1617423"/>
            <a:ext cx="3479153" cy="1015663"/>
          </a:xfrm>
          <a:prstGeom prst="rect">
            <a:avLst/>
          </a:prstGeom>
          <a:solidFill>
            <a:schemeClr val="l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1" i="0" lang="en-US" sz="1800">
                <a:solidFill>
                  <a:schemeClr val="dk1"/>
                </a:solidFill>
                <a:latin typeface="Calibri"/>
                <a:ea typeface="Calibri"/>
                <a:cs typeface="Calibri"/>
                <a:sym typeface="Calibri"/>
              </a:rPr>
              <a:t>Hybrid Architecture</a:t>
            </a:r>
            <a:endParaRPr b="0" i="0" sz="1800">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Char char="•"/>
            </a:pPr>
            <a:r>
              <a:rPr b="0" i="0" lang="en-US" sz="1400">
                <a:solidFill>
                  <a:schemeClr val="dk1"/>
                </a:solidFill>
                <a:latin typeface="Calibri"/>
                <a:ea typeface="Calibri"/>
                <a:cs typeface="Calibri"/>
                <a:sym typeface="Calibri"/>
              </a:rPr>
              <a:t>AI agents + deterministic custom logic</a:t>
            </a:r>
            <a:endParaRPr/>
          </a:p>
          <a:p>
            <a:pPr indent="-342900" lvl="0" marL="342900" marR="0" rtl="0" algn="l">
              <a:lnSpc>
                <a:spcPct val="100000"/>
              </a:lnSpc>
              <a:spcBef>
                <a:spcPts val="0"/>
              </a:spcBef>
              <a:spcAft>
                <a:spcPts val="0"/>
              </a:spcAft>
              <a:buClr>
                <a:schemeClr val="dk1"/>
              </a:buClr>
              <a:buSzPts val="1400"/>
              <a:buFont typeface="Arial"/>
              <a:buChar char="•"/>
            </a:pPr>
            <a:r>
              <a:rPr b="0" i="0" lang="en-US" sz="1400">
                <a:solidFill>
                  <a:schemeClr val="dk1"/>
                </a:solidFill>
                <a:latin typeface="Calibri"/>
                <a:ea typeface="Calibri"/>
                <a:cs typeface="Calibri"/>
                <a:sym typeface="Calibri"/>
              </a:rPr>
              <a:t>Balance flexibility, control, and reliability</a:t>
            </a:r>
            <a:endParaRPr/>
          </a:p>
          <a:p>
            <a:pPr indent="0" lvl="0" marL="0" marR="0" rtl="0" algn="l">
              <a:lnSpc>
                <a:spcPct val="100000"/>
              </a:lnSpc>
              <a:spcBef>
                <a:spcPts val="0"/>
              </a:spcBef>
              <a:spcAft>
                <a:spcPts val="0"/>
              </a:spcAft>
              <a:buNone/>
            </a:pPr>
            <a:r>
              <a:t/>
            </a:r>
            <a:endParaRPr b="0" i="0" sz="1400">
              <a:solidFill>
                <a:schemeClr val="dk1"/>
              </a:solidFill>
              <a:latin typeface="Calibri"/>
              <a:ea typeface="Calibri"/>
              <a:cs typeface="Calibri"/>
              <a:sym typeface="Calibri"/>
            </a:endParaRPr>
          </a:p>
        </p:txBody>
      </p:sp>
      <p:sp>
        <p:nvSpPr>
          <p:cNvPr id="267" name="Google Shape;267;p6"/>
          <p:cNvSpPr txBox="1"/>
          <p:nvPr/>
        </p:nvSpPr>
        <p:spPr>
          <a:xfrm>
            <a:off x="3657601" y="1631836"/>
            <a:ext cx="4035462" cy="1015663"/>
          </a:xfrm>
          <a:prstGeom prst="rect">
            <a:avLst/>
          </a:prstGeom>
          <a:solidFill>
            <a:srgbClr val="DDEAF6"/>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1" i="0" lang="en-US" sz="1800">
                <a:solidFill>
                  <a:schemeClr val="dk1"/>
                </a:solidFill>
                <a:latin typeface="Calibri"/>
                <a:ea typeface="Calibri"/>
                <a:cs typeface="Calibri"/>
                <a:sym typeface="Calibri"/>
              </a:rPr>
              <a:t>Accuracy &amp; Effectiveness</a:t>
            </a:r>
            <a:endParaRPr b="0" i="0" sz="1800">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400"/>
              <a:buFont typeface="Arial"/>
              <a:buChar char="•"/>
            </a:pPr>
            <a:r>
              <a:rPr b="0" i="0" lang="en-US" sz="1400">
                <a:solidFill>
                  <a:schemeClr val="dk1"/>
                </a:solidFill>
                <a:latin typeface="Calibri"/>
                <a:ea typeface="Calibri"/>
                <a:cs typeface="Calibri"/>
                <a:sym typeface="Calibri"/>
              </a:rPr>
              <a:t>Clearly defined objectives though skills/rules</a:t>
            </a:r>
            <a:endParaRPr/>
          </a:p>
          <a:p>
            <a:pPr indent="-342900" lvl="0" marL="342900" marR="0" rtl="0" algn="l">
              <a:lnSpc>
                <a:spcPct val="100000"/>
              </a:lnSpc>
              <a:spcBef>
                <a:spcPts val="0"/>
              </a:spcBef>
              <a:spcAft>
                <a:spcPts val="0"/>
              </a:spcAft>
              <a:buClr>
                <a:schemeClr val="dk1"/>
              </a:buClr>
              <a:buSzPts val="1400"/>
              <a:buFont typeface="Arial"/>
              <a:buChar char="•"/>
            </a:pPr>
            <a:r>
              <a:rPr b="0" i="0" lang="en-US" sz="1400">
                <a:solidFill>
                  <a:schemeClr val="dk1"/>
                </a:solidFill>
                <a:latin typeface="Calibri"/>
                <a:ea typeface="Calibri"/>
                <a:cs typeface="Calibri"/>
                <a:sym typeface="Calibri"/>
              </a:rPr>
              <a:t>Deterministic custom logic for data measurement and validation</a:t>
            </a:r>
            <a:endParaRPr/>
          </a:p>
        </p:txBody>
      </p:sp>
      <p:sp>
        <p:nvSpPr>
          <p:cNvPr id="268" name="Google Shape;268;p6"/>
          <p:cNvSpPr txBox="1"/>
          <p:nvPr/>
        </p:nvSpPr>
        <p:spPr>
          <a:xfrm>
            <a:off x="7776676" y="1629362"/>
            <a:ext cx="3928946" cy="1015663"/>
          </a:xfrm>
          <a:prstGeom prst="rect">
            <a:avLst/>
          </a:prstGeom>
          <a:solidFill>
            <a:srgbClr val="E1EFD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1" i="0" lang="en-US" sz="1800">
                <a:solidFill>
                  <a:schemeClr val="dk1"/>
                </a:solidFill>
                <a:latin typeface="Calibri"/>
                <a:ea typeface="Calibri"/>
                <a:cs typeface="Calibri"/>
                <a:sym typeface="Calibri"/>
              </a:rPr>
              <a:t>Adaptive &amp; Extensible</a:t>
            </a:r>
            <a:endParaRPr b="0" i="0" sz="1800">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400"/>
              <a:buFont typeface="Arial"/>
              <a:buChar char="•"/>
            </a:pPr>
            <a:r>
              <a:rPr b="0" i="0" lang="en-US" sz="1400">
                <a:solidFill>
                  <a:schemeClr val="dk1"/>
                </a:solidFill>
                <a:latin typeface="Calibri"/>
                <a:ea typeface="Calibri"/>
                <a:cs typeface="Calibri"/>
                <a:sym typeface="Calibri"/>
              </a:rPr>
              <a:t>Bring Your Own Agent (BYOA) model</a:t>
            </a:r>
            <a:endParaRPr/>
          </a:p>
          <a:p>
            <a:pPr indent="-285750" lvl="0" marL="285750" marR="0" rtl="0" algn="l">
              <a:lnSpc>
                <a:spcPct val="100000"/>
              </a:lnSpc>
              <a:spcBef>
                <a:spcPts val="0"/>
              </a:spcBef>
              <a:spcAft>
                <a:spcPts val="0"/>
              </a:spcAft>
              <a:buClr>
                <a:schemeClr val="dk1"/>
              </a:buClr>
              <a:buSzPts val="1400"/>
              <a:buFont typeface="Arial"/>
              <a:buChar char="•"/>
            </a:pPr>
            <a:r>
              <a:rPr b="0" i="0" lang="en-US" sz="1400">
                <a:solidFill>
                  <a:schemeClr val="dk1"/>
                </a:solidFill>
                <a:latin typeface="Calibri"/>
                <a:ea typeface="Calibri"/>
                <a:cs typeface="Calibri"/>
                <a:sym typeface="Calibri"/>
              </a:rPr>
              <a:t>Support diverse performance engineering use cases</a:t>
            </a:r>
            <a:endParaRPr b="0" i="0" sz="1400">
              <a:solidFill>
                <a:schemeClr val="dk1"/>
              </a:solidFill>
              <a:latin typeface="Quattrocento Sans"/>
              <a:ea typeface="Quattrocento Sans"/>
              <a:cs typeface="Quattrocento Sans"/>
              <a:sym typeface="Quattrocento Sans"/>
            </a:endParaRPr>
          </a:p>
        </p:txBody>
      </p:sp>
      <p:sp>
        <p:nvSpPr>
          <p:cNvPr id="269" name="Google Shape;269;p6"/>
          <p:cNvSpPr txBox="1"/>
          <p:nvPr/>
        </p:nvSpPr>
        <p:spPr>
          <a:xfrm>
            <a:off x="506113" y="4278567"/>
            <a:ext cx="1742206" cy="155427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Golden dataset of historical studies, test plans, and KPIs</a:t>
            </a:r>
            <a:endParaRPr/>
          </a:p>
          <a:p>
            <a:pPr indent="0" lvl="0" marL="0" marR="0" rtl="0" algn="l">
              <a:lnSpc>
                <a:spcPct val="100000"/>
              </a:lnSpc>
              <a:spcBef>
                <a:spcPts val="0"/>
              </a:spcBef>
              <a:spcAft>
                <a:spcPts val="0"/>
              </a:spcAft>
              <a:buNone/>
            </a:pPr>
            <a:r>
              <a:t/>
            </a:r>
            <a:endParaRPr sz="1100">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Provides context and grounding for agent decisions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6"/>
          <p:cNvSpPr txBox="1"/>
          <p:nvPr/>
        </p:nvSpPr>
        <p:spPr>
          <a:xfrm>
            <a:off x="2751653" y="4342588"/>
            <a:ext cx="1912730" cy="138499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Agents orchestrate the right tools automatically</a:t>
            </a:r>
            <a:endParaRPr/>
          </a:p>
          <a:p>
            <a:pPr indent="0" lvl="0" marL="0" marR="0" rtl="0" algn="l">
              <a:lnSpc>
                <a:spcPct val="100000"/>
              </a:lnSpc>
              <a:spcBef>
                <a:spcPts val="0"/>
              </a:spcBef>
              <a:spcAft>
                <a:spcPts val="0"/>
              </a:spcAft>
              <a:buNone/>
            </a:pPr>
            <a:r>
              <a:t/>
            </a:r>
            <a:endParaRPr sz="1100">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Leverages custom load generation and monitoring frameworks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6"/>
          <p:cNvSpPr txBox="1"/>
          <p:nvPr/>
        </p:nvSpPr>
        <p:spPr>
          <a:xfrm>
            <a:off x="5125131" y="4160203"/>
            <a:ext cx="1632621" cy="127727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1100"/>
              <a:buFont typeface="Arial"/>
              <a:buChar char="•"/>
            </a:pPr>
            <a:r>
              <a:rPr b="0" i="0" lang="en-US" sz="1100">
                <a:solidFill>
                  <a:schemeClr val="dk1"/>
                </a:solidFill>
                <a:latin typeface="Calibri"/>
                <a:ea typeface="Calibri"/>
                <a:cs typeface="Calibri"/>
                <a:sym typeface="Calibri"/>
              </a:rPr>
              <a:t>Remove noise Normalize data across sources</a:t>
            </a:r>
            <a:endParaRPr/>
          </a:p>
          <a:p>
            <a:pPr indent="0" lvl="0" marL="0" marR="0" rtl="0" algn="l">
              <a:lnSpc>
                <a:spcPct val="100000"/>
              </a:lnSpc>
              <a:spcBef>
                <a:spcPts val="0"/>
              </a:spcBef>
              <a:spcAft>
                <a:spcPts val="0"/>
              </a:spcAft>
              <a:buNone/>
            </a:pPr>
            <a:r>
              <a:t/>
            </a:r>
            <a:endParaRPr b="0" i="0" sz="1100">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100"/>
              <a:buFont typeface="Arial"/>
              <a:buChar char="•"/>
            </a:pPr>
            <a:r>
              <a:rPr b="0" i="0" lang="en-US" sz="1100">
                <a:solidFill>
                  <a:schemeClr val="dk1"/>
                </a:solidFill>
                <a:latin typeface="Calibri"/>
                <a:ea typeface="Calibri"/>
                <a:cs typeface="Calibri"/>
                <a:sym typeface="Calibri"/>
              </a:rPr>
              <a:t>Generate LLM-ready datasets for meaningful insights</a:t>
            </a:r>
            <a:endParaRPr b="0" i="0" sz="1100">
              <a:solidFill>
                <a:schemeClr val="dk1"/>
              </a:solidFill>
              <a:latin typeface="Quattrocento Sans"/>
              <a:ea typeface="Quattrocento Sans"/>
              <a:cs typeface="Quattrocento Sans"/>
              <a:sym typeface="Quattrocento Sans"/>
            </a:endParaRPr>
          </a:p>
        </p:txBody>
      </p:sp>
      <p:sp>
        <p:nvSpPr>
          <p:cNvPr id="272" name="Google Shape;272;p6"/>
          <p:cNvSpPr txBox="1"/>
          <p:nvPr/>
        </p:nvSpPr>
        <p:spPr>
          <a:xfrm>
            <a:off x="7404812" y="4110161"/>
            <a:ext cx="1711968" cy="17851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Indexing &amp; Storing the data</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API metrics</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Resource Utilization</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Resource Inventory</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100"/>
              <a:buFont typeface="Arial"/>
              <a:buChar char="•"/>
            </a:pPr>
            <a:r>
              <a:rPr lang="en-US" sz="1100">
                <a:solidFill>
                  <a:schemeClr val="dk1"/>
                </a:solidFill>
                <a:latin typeface="Calibri"/>
                <a:ea typeface="Calibri"/>
                <a:cs typeface="Calibri"/>
                <a:sym typeface="Calibri"/>
              </a:rPr>
              <a:t>DB metrics</a:t>
            </a:r>
            <a:endParaRPr/>
          </a:p>
        </p:txBody>
      </p:sp>
      <p:sp>
        <p:nvSpPr>
          <p:cNvPr id="273" name="Google Shape;273;p6"/>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Agentic Pipeline - Performance Characterization</a:t>
            </a:r>
            <a:endParaRPr/>
          </a:p>
        </p:txBody>
      </p:sp>
      <p:sp>
        <p:nvSpPr>
          <p:cNvPr id="274" name="Google Shape;274;p6"/>
          <p:cNvSpPr txBox="1"/>
          <p:nvPr>
            <p:ph type="title"/>
          </p:nvPr>
        </p:nvSpPr>
        <p:spPr>
          <a:xfrm>
            <a:off x="-20250" y="6526475"/>
            <a:ext cx="12232500" cy="3582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7"/>
          <p:cNvSpPr txBox="1"/>
          <p:nvPr>
            <p:ph type="title"/>
          </p:nvPr>
        </p:nvSpPr>
        <p:spPr>
          <a:xfrm>
            <a:off x="914405" y="45728"/>
            <a:ext cx="9418200" cy="868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2600"/>
              <a:buFont typeface="Calibri"/>
              <a:buNone/>
            </a:pPr>
            <a:r>
              <a:rPr b="1" lang="en-US" sz="2600">
                <a:solidFill>
                  <a:srgbClr val="0070C0"/>
                </a:solidFill>
              </a:rPr>
              <a:t>Unified Performance Planning Execution Analysis Deployment</a:t>
            </a:r>
            <a:endParaRPr/>
          </a:p>
        </p:txBody>
      </p:sp>
      <p:grpSp>
        <p:nvGrpSpPr>
          <p:cNvPr id="281" name="Google Shape;281;p7"/>
          <p:cNvGrpSpPr/>
          <p:nvPr/>
        </p:nvGrpSpPr>
        <p:grpSpPr>
          <a:xfrm>
            <a:off x="548640" y="1097280"/>
            <a:ext cx="10241280" cy="502920"/>
            <a:chOff x="548640" y="1097280"/>
            <a:chExt cx="10241280" cy="502920"/>
          </a:xfrm>
        </p:grpSpPr>
        <p:pic>
          <p:nvPicPr>
            <p:cNvPr descr="Bob assistant" id="282" name="Google Shape;282;p7"/>
            <p:cNvPicPr preferRelativeResize="0"/>
            <p:nvPr/>
          </p:nvPicPr>
          <p:blipFill rotWithShape="1">
            <a:blip r:embed="rId3">
              <a:alphaModFix/>
            </a:blip>
            <a:srcRect b="0" l="0" r="0" t="0"/>
            <a:stretch/>
          </p:blipFill>
          <p:spPr>
            <a:xfrm>
              <a:off x="548640" y="1097280"/>
              <a:ext cx="502920" cy="502920"/>
            </a:xfrm>
            <a:prstGeom prst="rect">
              <a:avLst/>
            </a:prstGeom>
            <a:noFill/>
            <a:ln>
              <a:noFill/>
            </a:ln>
          </p:spPr>
        </p:pic>
        <p:sp>
          <p:nvSpPr>
            <p:cNvPr id="283" name="Google Shape;283;p7"/>
            <p:cNvSpPr txBox="1"/>
            <p:nvPr/>
          </p:nvSpPr>
          <p:spPr>
            <a:xfrm>
              <a:off x="1188720" y="1097280"/>
              <a:ext cx="96012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616"/>
                </a:buClr>
                <a:buSzPts val="1700"/>
                <a:buFont typeface="Calibri"/>
                <a:buNone/>
              </a:pPr>
              <a:r>
                <a:rPr b="1" i="0" lang="en-US" spc="0" sz="1700" u="none" cap="none" strike="noStrike">
                  <a:solidFill>
                    <a:srgbClr val="161616"/>
                  </a:solidFill>
                  <a:latin typeface="Calibri"/>
                  <a:ea typeface="Calibri"/>
                  <a:cs typeface="Calibri"/>
                  <a:sym typeface="Calibri"/>
                </a:rPr>
                <a:t>Orchestration UI and the pipeline agents are built using IBM Bob</a:t>
              </a:r>
              <a:endParaRPr/>
            </a:p>
          </p:txBody>
        </p:sp>
      </p:grpSp>
      <p:sp>
        <p:nvSpPr>
          <p:cNvPr id="284" name="Google Shape;284;p7"/>
          <p:cNvSpPr/>
          <p:nvPr/>
        </p:nvSpPr>
        <p:spPr>
          <a:xfrm>
            <a:off x="457200" y="1783080"/>
            <a:ext cx="11274552" cy="4526280"/>
          </a:xfrm>
          <a:prstGeom prst="roundRect">
            <a:avLst>
              <a:gd fmla="val 2500" name="adj"/>
            </a:avLst>
          </a:prstGeom>
          <a:noFill/>
          <a:ln cap="flat" cmpd="sng" w="15875">
            <a:solidFill>
              <a:srgbClr val="6F6F6F"/>
            </a:solidFill>
            <a:prstDash val="dash"/>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grpSp>
        <p:nvGrpSpPr>
          <p:cNvPr id="285" name="Google Shape;285;p7"/>
          <p:cNvGrpSpPr/>
          <p:nvPr/>
        </p:nvGrpSpPr>
        <p:grpSpPr>
          <a:xfrm>
            <a:off x="1188720" y="2194560"/>
            <a:ext cx="1097280" cy="850392"/>
            <a:chOff x="1188720" y="2194560"/>
            <a:chExt cx="1097280" cy="850392"/>
          </a:xfrm>
        </p:grpSpPr>
        <p:sp>
          <p:nvSpPr>
            <p:cNvPr id="286" name="Google Shape;286;p7"/>
            <p:cNvSpPr/>
            <p:nvPr/>
          </p:nvSpPr>
          <p:spPr>
            <a:xfrm>
              <a:off x="1463040" y="2194560"/>
              <a:ext cx="548640" cy="548640"/>
            </a:xfrm>
            <a:prstGeom prst="ellipse">
              <a:avLst/>
            </a:prstGeom>
            <a:solidFill>
              <a:srgbClr val="E5EEFF"/>
            </a:solidFill>
            <a:ln cap="flat" cmpd="sng" w="12700">
              <a:solidFill>
                <a:srgbClr val="E5EEFF"/>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user icon" id="287" name="Google Shape;287;p7"/>
            <p:cNvPicPr preferRelativeResize="0"/>
            <p:nvPr/>
          </p:nvPicPr>
          <p:blipFill rotWithShape="1">
            <a:blip r:embed="rId4">
              <a:alphaModFix/>
            </a:blip>
            <a:srcRect b="0" l="0" r="0" t="0"/>
            <a:stretch/>
          </p:blipFill>
          <p:spPr>
            <a:xfrm>
              <a:off x="1600200" y="2331720"/>
              <a:ext cx="274320" cy="274320"/>
            </a:xfrm>
            <a:prstGeom prst="rect">
              <a:avLst/>
            </a:prstGeom>
            <a:noFill/>
            <a:ln>
              <a:noFill/>
            </a:ln>
          </p:spPr>
        </p:pic>
        <p:sp>
          <p:nvSpPr>
            <p:cNvPr id="288" name="Google Shape;288;p7"/>
            <p:cNvSpPr txBox="1"/>
            <p:nvPr/>
          </p:nvSpPr>
          <p:spPr>
            <a:xfrm>
              <a:off x="1188720" y="2770632"/>
              <a:ext cx="109728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616"/>
                </a:buClr>
                <a:buSzPts val="1400"/>
                <a:buFont typeface="Calibri"/>
                <a:buNone/>
              </a:pPr>
              <a:r>
                <a:rPr b="1" i="0" lang="en-US" spc="0" sz="1400" u="none" cap="none" strike="noStrike">
                  <a:solidFill>
                    <a:srgbClr val="161616"/>
                  </a:solidFill>
                  <a:latin typeface="Calibri"/>
                  <a:ea typeface="Calibri"/>
                  <a:cs typeface="Calibri"/>
                  <a:sym typeface="Calibri"/>
                </a:rPr>
                <a:t>User1</a:t>
              </a:r>
              <a:endParaRPr/>
            </a:p>
          </p:txBody>
        </p:sp>
      </p:grpSp>
      <p:grpSp>
        <p:nvGrpSpPr>
          <p:cNvPr id="289" name="Google Shape;289;p7"/>
          <p:cNvGrpSpPr/>
          <p:nvPr/>
        </p:nvGrpSpPr>
        <p:grpSpPr>
          <a:xfrm>
            <a:off x="2926080" y="2194560"/>
            <a:ext cx="1097280" cy="850392"/>
            <a:chOff x="2926080" y="2194560"/>
            <a:chExt cx="1097280" cy="850392"/>
          </a:xfrm>
        </p:grpSpPr>
        <p:sp>
          <p:nvSpPr>
            <p:cNvPr id="290" name="Google Shape;290;p7"/>
            <p:cNvSpPr/>
            <p:nvPr/>
          </p:nvSpPr>
          <p:spPr>
            <a:xfrm>
              <a:off x="3200400" y="2194560"/>
              <a:ext cx="548640" cy="548640"/>
            </a:xfrm>
            <a:prstGeom prst="ellipse">
              <a:avLst/>
            </a:prstGeom>
            <a:solidFill>
              <a:srgbClr val="E5EEFF"/>
            </a:solidFill>
            <a:ln cap="flat" cmpd="sng" w="12700">
              <a:solidFill>
                <a:srgbClr val="E5EEFF"/>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user icon" id="291" name="Google Shape;291;p7"/>
            <p:cNvPicPr preferRelativeResize="0"/>
            <p:nvPr/>
          </p:nvPicPr>
          <p:blipFill rotWithShape="1">
            <a:blip r:embed="rId4">
              <a:alphaModFix/>
            </a:blip>
            <a:srcRect b="0" l="0" r="0" t="0"/>
            <a:stretch/>
          </p:blipFill>
          <p:spPr>
            <a:xfrm>
              <a:off x="3337560" y="2331720"/>
              <a:ext cx="274320" cy="274320"/>
            </a:xfrm>
            <a:prstGeom prst="rect">
              <a:avLst/>
            </a:prstGeom>
            <a:noFill/>
            <a:ln>
              <a:noFill/>
            </a:ln>
          </p:spPr>
        </p:pic>
        <p:sp>
          <p:nvSpPr>
            <p:cNvPr id="292" name="Google Shape;292;p7"/>
            <p:cNvSpPr txBox="1"/>
            <p:nvPr/>
          </p:nvSpPr>
          <p:spPr>
            <a:xfrm>
              <a:off x="2926080" y="2770632"/>
              <a:ext cx="109728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616"/>
                </a:buClr>
                <a:buSzPts val="1400"/>
                <a:buFont typeface="Calibri"/>
                <a:buNone/>
              </a:pPr>
              <a:r>
                <a:rPr b="1" i="0" lang="en-US" spc="0" sz="1400" u="none" cap="none" strike="noStrike">
                  <a:solidFill>
                    <a:srgbClr val="161616"/>
                  </a:solidFill>
                  <a:latin typeface="Calibri"/>
                  <a:ea typeface="Calibri"/>
                  <a:cs typeface="Calibri"/>
                  <a:sym typeface="Calibri"/>
                </a:rPr>
                <a:t>User2</a:t>
              </a:r>
              <a:endParaRPr/>
            </a:p>
          </p:txBody>
        </p:sp>
      </p:grpSp>
      <p:grpSp>
        <p:nvGrpSpPr>
          <p:cNvPr id="293" name="Google Shape;293;p7"/>
          <p:cNvGrpSpPr/>
          <p:nvPr/>
        </p:nvGrpSpPr>
        <p:grpSpPr>
          <a:xfrm>
            <a:off x="4663440" y="2194560"/>
            <a:ext cx="1097280" cy="850392"/>
            <a:chOff x="4663440" y="2194560"/>
            <a:chExt cx="1097280" cy="850392"/>
          </a:xfrm>
        </p:grpSpPr>
        <p:sp>
          <p:nvSpPr>
            <p:cNvPr id="294" name="Google Shape;294;p7"/>
            <p:cNvSpPr/>
            <p:nvPr/>
          </p:nvSpPr>
          <p:spPr>
            <a:xfrm>
              <a:off x="4937760" y="2194560"/>
              <a:ext cx="548640" cy="548640"/>
            </a:xfrm>
            <a:prstGeom prst="ellipse">
              <a:avLst/>
            </a:prstGeom>
            <a:solidFill>
              <a:srgbClr val="E5EEFF"/>
            </a:solidFill>
            <a:ln cap="flat" cmpd="sng" w="12700">
              <a:solidFill>
                <a:srgbClr val="E5EEFF"/>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user icon" id="295" name="Google Shape;295;p7"/>
            <p:cNvPicPr preferRelativeResize="0"/>
            <p:nvPr/>
          </p:nvPicPr>
          <p:blipFill rotWithShape="1">
            <a:blip r:embed="rId4">
              <a:alphaModFix/>
            </a:blip>
            <a:srcRect b="0" l="0" r="0" t="0"/>
            <a:stretch/>
          </p:blipFill>
          <p:spPr>
            <a:xfrm>
              <a:off x="5074920" y="2331720"/>
              <a:ext cx="274320" cy="274320"/>
            </a:xfrm>
            <a:prstGeom prst="rect">
              <a:avLst/>
            </a:prstGeom>
            <a:noFill/>
            <a:ln>
              <a:noFill/>
            </a:ln>
          </p:spPr>
        </p:pic>
        <p:sp>
          <p:nvSpPr>
            <p:cNvPr id="296" name="Google Shape;296;p7"/>
            <p:cNvSpPr txBox="1"/>
            <p:nvPr/>
          </p:nvSpPr>
          <p:spPr>
            <a:xfrm>
              <a:off x="4663440" y="2770632"/>
              <a:ext cx="109728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616"/>
                </a:buClr>
                <a:buSzPts val="1400"/>
                <a:buFont typeface="Calibri"/>
                <a:buNone/>
              </a:pPr>
              <a:r>
                <a:rPr b="1" i="0" lang="en-US" spc="0" sz="1400" u="none" cap="none" strike="noStrike">
                  <a:solidFill>
                    <a:srgbClr val="161616"/>
                  </a:solidFill>
                  <a:latin typeface="Calibri"/>
                  <a:ea typeface="Calibri"/>
                  <a:cs typeface="Calibri"/>
                  <a:sym typeface="Calibri"/>
                </a:rPr>
                <a:t>User3</a:t>
              </a:r>
              <a:endParaRPr/>
            </a:p>
          </p:txBody>
        </p:sp>
      </p:grpSp>
      <p:sp>
        <p:nvSpPr>
          <p:cNvPr id="297" name="Google Shape;297;p7"/>
          <p:cNvSpPr/>
          <p:nvPr/>
        </p:nvSpPr>
        <p:spPr>
          <a:xfrm>
            <a:off x="914400" y="3749040"/>
            <a:ext cx="5120640" cy="502920"/>
          </a:xfrm>
          <a:prstGeom prst="roundRect">
            <a:avLst>
              <a:gd fmla="val 15000" name="adj"/>
            </a:avLst>
          </a:prstGeom>
          <a:solidFill>
            <a:srgbClr val="0F62FE"/>
          </a:solidFill>
          <a:ln>
            <a:noFill/>
          </a:ln>
          <a:effectLst>
            <a:outerShdw blurRad="164592" rotWithShape="0" algn="t" dir="5400000" dist="36576">
              <a:srgbClr val="0F62FE">
                <a:alpha val="30196"/>
              </a:srgbClr>
            </a:outerShdw>
          </a:effectLst>
        </p:spPr>
        <p:txBody>
          <a:bodyPr anchorCtr="0" anchor="ctr" bIns="27425" lIns="45700" spcFirstLastPara="1" rIns="45700" wrap="square" tIns="27425">
            <a:noAutofit/>
          </a:bodyPr>
          <a:lstStyle/>
          <a:p>
            <a:pPr indent="0" lvl="0" marL="0" marR="0" rtl="0" algn="ctr">
              <a:lnSpc>
                <a:spcPct val="100000"/>
              </a:lnSpc>
              <a:spcBef>
                <a:spcPts val="0"/>
              </a:spcBef>
              <a:spcAft>
                <a:spcPts val="0"/>
              </a:spcAft>
              <a:buClr>
                <a:srgbClr val="FFFFFF"/>
              </a:buClr>
              <a:buSzPts val="1500"/>
              <a:buFont typeface="Calibri"/>
              <a:buNone/>
            </a:pPr>
            <a:r>
              <a:rPr b="1" i="0" lang="en-US" spc="0" sz="1500" u="none" cap="none" strike="noStrike">
                <a:solidFill>
                  <a:srgbClr val="FFFFFF"/>
                </a:solidFill>
                <a:latin typeface="Calibri"/>
                <a:ea typeface="Calibri"/>
                <a:cs typeface="Calibri"/>
                <a:sym typeface="Calibri"/>
              </a:rPr>
              <a:t>Performance Orchestration UI</a:t>
            </a:r>
            <a:endParaRPr/>
          </a:p>
        </p:txBody>
      </p:sp>
      <p:cxnSp>
        <p:nvCxnSpPr>
          <p:cNvPr id="298" name="Google Shape;298;p7"/>
          <p:cNvCxnSpPr/>
          <p:nvPr/>
        </p:nvCxnSpPr>
        <p:spPr>
          <a:xfrm>
            <a:off x="1737360" y="3090672"/>
            <a:ext cx="0" cy="640080"/>
          </a:xfrm>
          <a:prstGeom prst="straightConnector1">
            <a:avLst/>
          </a:prstGeom>
          <a:noFill/>
          <a:ln cap="rnd" cmpd="sng" w="22225">
            <a:solidFill>
              <a:srgbClr val="0F62FE"/>
            </a:solidFill>
            <a:prstDash val="solid"/>
            <a:round/>
            <a:headEnd len="med" w="med" type="triangle"/>
            <a:tailEnd len="med" w="med" type="triangle"/>
          </a:ln>
        </p:spPr>
      </p:cxnSp>
      <p:cxnSp>
        <p:nvCxnSpPr>
          <p:cNvPr id="299" name="Google Shape;299;p7"/>
          <p:cNvCxnSpPr/>
          <p:nvPr/>
        </p:nvCxnSpPr>
        <p:spPr>
          <a:xfrm>
            <a:off x="3474720" y="3090672"/>
            <a:ext cx="0" cy="640080"/>
          </a:xfrm>
          <a:prstGeom prst="straightConnector1">
            <a:avLst/>
          </a:prstGeom>
          <a:noFill/>
          <a:ln cap="rnd" cmpd="sng" w="22225">
            <a:solidFill>
              <a:srgbClr val="0F62FE"/>
            </a:solidFill>
            <a:prstDash val="solid"/>
            <a:round/>
            <a:headEnd len="sm" w="sm" type="none"/>
            <a:tailEnd len="med" w="med" type="triangle"/>
          </a:ln>
        </p:spPr>
      </p:cxnSp>
      <p:cxnSp>
        <p:nvCxnSpPr>
          <p:cNvPr id="300" name="Google Shape;300;p7"/>
          <p:cNvCxnSpPr/>
          <p:nvPr/>
        </p:nvCxnSpPr>
        <p:spPr>
          <a:xfrm>
            <a:off x="5212080" y="3090672"/>
            <a:ext cx="0" cy="640080"/>
          </a:xfrm>
          <a:prstGeom prst="straightConnector1">
            <a:avLst/>
          </a:prstGeom>
          <a:noFill/>
          <a:ln cap="rnd" cmpd="sng" w="22225">
            <a:solidFill>
              <a:srgbClr val="0F62FE"/>
            </a:solidFill>
            <a:prstDash val="solid"/>
            <a:round/>
            <a:headEnd len="sm" w="sm" type="none"/>
            <a:tailEnd len="med" w="med" type="triangle"/>
          </a:ln>
        </p:spPr>
      </p:cxnSp>
      <p:grpSp>
        <p:nvGrpSpPr>
          <p:cNvPr id="301" name="Google Shape;301;p7"/>
          <p:cNvGrpSpPr/>
          <p:nvPr/>
        </p:nvGrpSpPr>
        <p:grpSpPr>
          <a:xfrm>
            <a:off x="1828800" y="3154680"/>
            <a:ext cx="4389120" cy="502920"/>
            <a:chOff x="1828800" y="3154680"/>
            <a:chExt cx="4389120" cy="502920"/>
          </a:xfrm>
        </p:grpSpPr>
        <p:sp>
          <p:nvSpPr>
            <p:cNvPr id="302" name="Google Shape;302;p7"/>
            <p:cNvSpPr txBox="1"/>
            <p:nvPr/>
          </p:nvSpPr>
          <p:spPr>
            <a:xfrm>
              <a:off x="1828800" y="3154680"/>
              <a:ext cx="15544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100"/>
                <a:buFont typeface="Calibri"/>
                <a:buNone/>
              </a:pPr>
              <a:r>
                <a:rPr b="0" i="0" lang="en-US" spc="0" sz="1100" u="none" cap="none" strike="noStrike">
                  <a:solidFill>
                    <a:srgbClr val="393939"/>
                  </a:solidFill>
                  <a:latin typeface="Calibri"/>
                  <a:ea typeface="Calibri"/>
                  <a:cs typeface="Calibri"/>
                  <a:sym typeface="Calibri"/>
                </a:rPr>
                <a:t>Execution (VM deploy)</a:t>
              </a:r>
              <a:endParaRPr/>
            </a:p>
            <a:p>
              <a:pPr indent="0" lvl="0" marL="0" marR="0" rtl="0" algn="l">
                <a:lnSpc>
                  <a:spcPct val="100000"/>
                </a:lnSpc>
                <a:spcBef>
                  <a:spcPts val="0"/>
                </a:spcBef>
                <a:spcAft>
                  <a:spcPts val="0"/>
                </a:spcAft>
                <a:buClr>
                  <a:srgbClr val="393939"/>
                </a:buClr>
                <a:buSzPts val="1100"/>
                <a:buFont typeface="Calibri"/>
                <a:buNone/>
              </a:pPr>
              <a:r>
                <a:rPr b="0" i="0" lang="en-US" spc="0" sz="1100" u="none" cap="none" strike="noStrike">
                  <a:solidFill>
                    <a:srgbClr val="393939"/>
                  </a:solidFill>
                  <a:latin typeface="Calibri"/>
                  <a:ea typeface="Calibri"/>
                  <a:cs typeface="Calibri"/>
                  <a:sym typeface="Calibri"/>
                </a:rPr>
                <a:t>Analysis</a:t>
              </a:r>
              <a:endParaRPr/>
            </a:p>
          </p:txBody>
        </p:sp>
        <p:sp>
          <p:nvSpPr>
            <p:cNvPr id="303" name="Google Shape;303;p7"/>
            <p:cNvSpPr txBox="1"/>
            <p:nvPr/>
          </p:nvSpPr>
          <p:spPr>
            <a:xfrm>
              <a:off x="3566160" y="3154680"/>
              <a:ext cx="11887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100"/>
                <a:buFont typeface="Calibri"/>
                <a:buNone/>
              </a:pPr>
              <a:r>
                <a:rPr b="0" i="0" lang="en-US" spc="0" sz="1100" u="none" cap="none" strike="noStrike">
                  <a:solidFill>
                    <a:srgbClr val="393939"/>
                  </a:solidFill>
                  <a:latin typeface="Calibri"/>
                  <a:ea typeface="Calibri"/>
                  <a:cs typeface="Calibri"/>
                  <a:sym typeface="Calibri"/>
                </a:rPr>
                <a:t>Volume create</a:t>
              </a:r>
              <a:endParaRPr/>
            </a:p>
          </p:txBody>
        </p:sp>
        <p:sp>
          <p:nvSpPr>
            <p:cNvPr id="304" name="Google Shape;304;p7"/>
            <p:cNvSpPr txBox="1"/>
            <p:nvPr/>
          </p:nvSpPr>
          <p:spPr>
            <a:xfrm>
              <a:off x="5303520" y="3154680"/>
              <a:ext cx="914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100"/>
                <a:buFont typeface="Calibri"/>
                <a:buNone/>
              </a:pPr>
              <a:r>
                <a:rPr b="0" i="0" lang="en-US" spc="0" sz="1100" u="none" cap="none" strike="noStrike">
                  <a:solidFill>
                    <a:srgbClr val="393939"/>
                  </a:solidFill>
                  <a:latin typeface="Calibri"/>
                  <a:ea typeface="Calibri"/>
                  <a:cs typeface="Calibri"/>
                  <a:sym typeface="Calibri"/>
                </a:rPr>
                <a:t>Image operations</a:t>
              </a:r>
              <a:endParaRPr/>
            </a:p>
          </p:txBody>
        </p:sp>
      </p:grpSp>
      <p:grpSp>
        <p:nvGrpSpPr>
          <p:cNvPr id="305" name="Google Shape;305;p7"/>
          <p:cNvGrpSpPr/>
          <p:nvPr/>
        </p:nvGrpSpPr>
        <p:grpSpPr>
          <a:xfrm>
            <a:off x="914400" y="4572000"/>
            <a:ext cx="5120640" cy="1600200"/>
            <a:chOff x="914400" y="4572000"/>
            <a:chExt cx="5120640" cy="1600200"/>
          </a:xfrm>
        </p:grpSpPr>
        <p:sp>
          <p:nvSpPr>
            <p:cNvPr id="306" name="Google Shape;306;p7"/>
            <p:cNvSpPr/>
            <p:nvPr/>
          </p:nvSpPr>
          <p:spPr>
            <a:xfrm>
              <a:off x="914400" y="4572000"/>
              <a:ext cx="5120640" cy="1600200"/>
            </a:xfrm>
            <a:prstGeom prst="roundRect">
              <a:avLst>
                <a:gd fmla="val 4000" name="adj"/>
              </a:avLst>
            </a:prstGeom>
            <a:solidFill>
              <a:srgbClr val="DCE8FF"/>
            </a:solidFill>
            <a:ln cap="flat" cmpd="sng" w="12700">
              <a:solidFill>
                <a:srgbClr val="A6C8FF"/>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307" name="Google Shape;307;p7"/>
            <p:cNvSpPr txBox="1"/>
            <p:nvPr/>
          </p:nvSpPr>
          <p:spPr>
            <a:xfrm>
              <a:off x="914400" y="4599432"/>
              <a:ext cx="512064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616"/>
                </a:buClr>
                <a:buSzPts val="1400"/>
                <a:buFont typeface="Calibri"/>
                <a:buNone/>
              </a:pPr>
              <a:r>
                <a:rPr b="1" i="0" lang="en-US" spc="0" sz="1400" u="none" cap="none" strike="noStrike">
                  <a:solidFill>
                    <a:srgbClr val="161616"/>
                  </a:solidFill>
                  <a:latin typeface="Calibri"/>
                  <a:ea typeface="Calibri"/>
                  <a:cs typeface="Calibri"/>
                  <a:sym typeface="Calibri"/>
                </a:rPr>
                <a:t>Performance Orchestration Server</a:t>
              </a:r>
              <a:endParaRPr/>
            </a:p>
          </p:txBody>
        </p:sp>
        <p:sp>
          <p:nvSpPr>
            <p:cNvPr id="308" name="Google Shape;308;p7"/>
            <p:cNvSpPr/>
            <p:nvPr/>
          </p:nvSpPr>
          <p:spPr>
            <a:xfrm>
              <a:off x="1143000" y="4919472"/>
              <a:ext cx="4663440" cy="566928"/>
            </a:xfrm>
            <a:prstGeom prst="roundRect">
              <a:avLst>
                <a:gd fmla="val 8000" name="adj"/>
              </a:avLst>
            </a:prstGeom>
            <a:solidFill>
              <a:srgbClr val="FFFFFF"/>
            </a:solidFill>
            <a:ln cap="flat" cmpd="sng" w="12700">
              <a:solidFill>
                <a:srgbClr val="A6C8FF"/>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309" name="Google Shape;309;p7"/>
            <p:cNvSpPr txBox="1"/>
            <p:nvPr/>
          </p:nvSpPr>
          <p:spPr>
            <a:xfrm>
              <a:off x="1280160" y="4919472"/>
              <a:ext cx="237744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616"/>
                </a:buClr>
                <a:buSzPts val="1200"/>
                <a:buFont typeface="Calibri"/>
                <a:buNone/>
              </a:pPr>
              <a:r>
                <a:rPr b="1" i="0" lang="en-US" spc="0" sz="1200" u="none" cap="none" strike="noStrike">
                  <a:solidFill>
                    <a:srgbClr val="161616"/>
                  </a:solidFill>
                  <a:latin typeface="Calibri"/>
                  <a:ea typeface="Calibri"/>
                  <a:cs typeface="Calibri"/>
                  <a:sym typeface="Calibri"/>
                </a:rPr>
                <a:t>Bob Driven Orchestration server</a:t>
              </a:r>
              <a:endParaRPr/>
            </a:p>
          </p:txBody>
        </p:sp>
        <p:sp>
          <p:nvSpPr>
            <p:cNvPr id="310" name="Google Shape;310;p7"/>
            <p:cNvSpPr/>
            <p:nvPr/>
          </p:nvSpPr>
          <p:spPr>
            <a:xfrm>
              <a:off x="3749040" y="5029200"/>
              <a:ext cx="1874520" cy="347472"/>
            </a:xfrm>
            <a:prstGeom prst="roundRect">
              <a:avLst>
                <a:gd fmla="val 12000" name="adj"/>
              </a:avLst>
            </a:prstGeom>
            <a:solidFill>
              <a:srgbClr val="0F62FE"/>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FFFFFF"/>
                </a:buClr>
                <a:buSzPts val="1100"/>
                <a:buFont typeface="Calibri"/>
                <a:buNone/>
              </a:pPr>
              <a:r>
                <a:rPr b="1" i="0" lang="en-US" spc="0" sz="1100" u="none" cap="none" strike="noStrike">
                  <a:solidFill>
                    <a:srgbClr val="FFFFFF"/>
                  </a:solidFill>
                  <a:latin typeface="Calibri"/>
                  <a:ea typeface="Calibri"/>
                  <a:cs typeface="Calibri"/>
                  <a:sym typeface="Calibri"/>
                </a:rPr>
                <a:t>Collection of agents</a:t>
              </a:r>
              <a:endParaRPr/>
            </a:p>
          </p:txBody>
        </p:sp>
        <p:cxnSp>
          <p:nvCxnSpPr>
            <p:cNvPr id="311" name="Google Shape;311;p7"/>
            <p:cNvCxnSpPr/>
            <p:nvPr/>
          </p:nvCxnSpPr>
          <p:spPr>
            <a:xfrm>
              <a:off x="4681728" y="5394960"/>
              <a:ext cx="0" cy="201168"/>
            </a:xfrm>
            <a:prstGeom prst="straightConnector1">
              <a:avLst/>
            </a:prstGeom>
            <a:noFill/>
            <a:ln cap="rnd" cmpd="sng" w="22225">
              <a:solidFill>
                <a:srgbClr val="0F62FE"/>
              </a:solidFill>
              <a:prstDash val="solid"/>
              <a:round/>
              <a:headEnd len="sm" w="sm" type="none"/>
              <a:tailEnd len="med" w="med" type="triangle"/>
            </a:ln>
          </p:spPr>
        </p:cxnSp>
        <p:sp>
          <p:nvSpPr>
            <p:cNvPr id="312" name="Google Shape;312;p7"/>
            <p:cNvSpPr/>
            <p:nvPr/>
          </p:nvSpPr>
          <p:spPr>
            <a:xfrm>
              <a:off x="1143000" y="5614416"/>
              <a:ext cx="4663440" cy="384048"/>
            </a:xfrm>
            <a:prstGeom prst="roundRect">
              <a:avLst>
                <a:gd fmla="val 12000" name="adj"/>
              </a:avLst>
            </a:prstGeom>
            <a:solidFill>
              <a:srgbClr val="E0E0E0"/>
            </a:solidFill>
            <a:ln>
              <a:noFill/>
            </a:ln>
          </p:spPr>
          <p:txBody>
            <a:bodyPr anchorCtr="0" anchor="ctr" bIns="18275" lIns="45700" spcFirstLastPara="1" rIns="45700" wrap="square" tIns="18275">
              <a:noAutofit/>
            </a:bodyPr>
            <a:lstStyle/>
            <a:p>
              <a:pPr indent="0" lvl="0" marL="0" marR="0" rtl="0" algn="ctr">
                <a:lnSpc>
                  <a:spcPct val="100000"/>
                </a:lnSpc>
                <a:spcBef>
                  <a:spcPts val="0"/>
                </a:spcBef>
                <a:spcAft>
                  <a:spcPts val="0"/>
                </a:spcAft>
                <a:buClr>
                  <a:srgbClr val="161616"/>
                </a:buClr>
                <a:buSzPts val="1200"/>
                <a:buFont typeface="Calibri"/>
                <a:buNone/>
              </a:pPr>
              <a:r>
                <a:rPr b="1" i="0" lang="en-US" spc="0" sz="1200" u="none" cap="none" strike="noStrike">
                  <a:solidFill>
                    <a:srgbClr val="161616"/>
                  </a:solidFill>
                  <a:latin typeface="Calibri"/>
                  <a:ea typeface="Calibri"/>
                  <a:cs typeface="Calibri"/>
                  <a:sym typeface="Calibri"/>
                </a:rPr>
                <a:t>Legacy Automation suite</a:t>
              </a:r>
              <a:endParaRPr/>
            </a:p>
          </p:txBody>
        </p:sp>
      </p:grpSp>
      <p:cxnSp>
        <p:nvCxnSpPr>
          <p:cNvPr id="313" name="Google Shape;313;p7"/>
          <p:cNvCxnSpPr/>
          <p:nvPr/>
        </p:nvCxnSpPr>
        <p:spPr>
          <a:xfrm>
            <a:off x="3474720" y="4270248"/>
            <a:ext cx="0" cy="283464"/>
          </a:xfrm>
          <a:prstGeom prst="straightConnector1">
            <a:avLst/>
          </a:prstGeom>
          <a:noFill/>
          <a:ln cap="rnd" cmpd="sng" w="25400">
            <a:solidFill>
              <a:srgbClr val="0F62FE"/>
            </a:solidFill>
            <a:prstDash val="solid"/>
            <a:round/>
            <a:headEnd len="sm" w="sm" type="none"/>
            <a:tailEnd len="med" w="med" type="triangle"/>
          </a:ln>
        </p:spPr>
      </p:cxnSp>
      <p:grpSp>
        <p:nvGrpSpPr>
          <p:cNvPr id="314" name="Google Shape;314;p7"/>
          <p:cNvGrpSpPr/>
          <p:nvPr/>
        </p:nvGrpSpPr>
        <p:grpSpPr>
          <a:xfrm>
            <a:off x="8961120" y="2194560"/>
            <a:ext cx="1097280" cy="850392"/>
            <a:chOff x="8961120" y="2194560"/>
            <a:chExt cx="1097280" cy="850392"/>
          </a:xfrm>
        </p:grpSpPr>
        <p:sp>
          <p:nvSpPr>
            <p:cNvPr id="315" name="Google Shape;315;p7"/>
            <p:cNvSpPr/>
            <p:nvPr/>
          </p:nvSpPr>
          <p:spPr>
            <a:xfrm>
              <a:off x="9235440" y="2194560"/>
              <a:ext cx="548640" cy="548640"/>
            </a:xfrm>
            <a:prstGeom prst="ellipse">
              <a:avLst/>
            </a:prstGeom>
            <a:solidFill>
              <a:srgbClr val="E5EEFF"/>
            </a:solidFill>
            <a:ln cap="flat" cmpd="sng" w="12700">
              <a:solidFill>
                <a:srgbClr val="E5EEFF"/>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user icon" id="316" name="Google Shape;316;p7"/>
            <p:cNvPicPr preferRelativeResize="0"/>
            <p:nvPr/>
          </p:nvPicPr>
          <p:blipFill rotWithShape="1">
            <a:blip r:embed="rId4">
              <a:alphaModFix/>
            </a:blip>
            <a:srcRect b="0" l="0" r="0" t="0"/>
            <a:stretch/>
          </p:blipFill>
          <p:spPr>
            <a:xfrm>
              <a:off x="9372600" y="2331720"/>
              <a:ext cx="274320" cy="274320"/>
            </a:xfrm>
            <a:prstGeom prst="rect">
              <a:avLst/>
            </a:prstGeom>
            <a:noFill/>
            <a:ln>
              <a:noFill/>
            </a:ln>
          </p:spPr>
        </p:pic>
        <p:sp>
          <p:nvSpPr>
            <p:cNvPr id="317" name="Google Shape;317;p7"/>
            <p:cNvSpPr txBox="1"/>
            <p:nvPr/>
          </p:nvSpPr>
          <p:spPr>
            <a:xfrm>
              <a:off x="8961120" y="2770632"/>
              <a:ext cx="109728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616"/>
                </a:buClr>
                <a:buSzPts val="1400"/>
                <a:buFont typeface="Calibri"/>
                <a:buNone/>
              </a:pPr>
              <a:r>
                <a:rPr b="1" i="0" lang="en-US" spc="0" sz="1400" u="none" cap="none" strike="noStrike">
                  <a:solidFill>
                    <a:srgbClr val="161616"/>
                  </a:solidFill>
                  <a:latin typeface="Calibri"/>
                  <a:ea typeface="Calibri"/>
                  <a:cs typeface="Calibri"/>
                  <a:sym typeface="Calibri"/>
                </a:rPr>
                <a:t>User4</a:t>
              </a:r>
              <a:endParaRPr/>
            </a:p>
          </p:txBody>
        </p:sp>
      </p:grpSp>
      <p:sp>
        <p:nvSpPr>
          <p:cNvPr id="318" name="Google Shape;318;p7"/>
          <p:cNvSpPr/>
          <p:nvPr/>
        </p:nvSpPr>
        <p:spPr>
          <a:xfrm>
            <a:off x="8595360" y="3749040"/>
            <a:ext cx="1828800" cy="502920"/>
          </a:xfrm>
          <a:prstGeom prst="roundRect">
            <a:avLst>
              <a:gd fmla="val 15000" name="adj"/>
            </a:avLst>
          </a:prstGeom>
          <a:solidFill>
            <a:srgbClr val="0F62FE"/>
          </a:solidFill>
          <a:ln>
            <a:noFill/>
          </a:ln>
          <a:effectLst>
            <a:outerShdw blurRad="164592" rotWithShape="0" algn="t" dir="5400000" dist="36576">
              <a:srgbClr val="0F62FE">
                <a:alpha val="30196"/>
              </a:srgbClr>
            </a:outerShdw>
          </a:effectLst>
        </p:spPr>
        <p:txBody>
          <a:bodyPr anchorCtr="0" anchor="ctr" bIns="27425" lIns="45700" spcFirstLastPara="1" rIns="45700" wrap="square" tIns="27425">
            <a:noAutofit/>
          </a:bodyPr>
          <a:lstStyle/>
          <a:p>
            <a:pPr indent="0" lvl="0" marL="0" marR="0" rtl="0" algn="ctr">
              <a:lnSpc>
                <a:spcPct val="100000"/>
              </a:lnSpc>
              <a:spcBef>
                <a:spcPts val="0"/>
              </a:spcBef>
              <a:spcAft>
                <a:spcPts val="0"/>
              </a:spcAft>
              <a:buClr>
                <a:srgbClr val="FFFFFF"/>
              </a:buClr>
              <a:buSzPts val="1500"/>
              <a:buFont typeface="Calibri"/>
              <a:buNone/>
            </a:pPr>
            <a:r>
              <a:rPr b="1" i="0" lang="en-US" spc="0" sz="1500" u="none" cap="none" strike="noStrike">
                <a:solidFill>
                  <a:srgbClr val="FFFFFF"/>
                </a:solidFill>
                <a:latin typeface="Calibri"/>
                <a:ea typeface="Calibri"/>
                <a:cs typeface="Calibri"/>
                <a:sym typeface="Calibri"/>
              </a:rPr>
              <a:t>Bob prompt</a:t>
            </a:r>
            <a:endParaRPr/>
          </a:p>
        </p:txBody>
      </p:sp>
      <p:cxnSp>
        <p:nvCxnSpPr>
          <p:cNvPr id="319" name="Google Shape;319;p7"/>
          <p:cNvCxnSpPr/>
          <p:nvPr/>
        </p:nvCxnSpPr>
        <p:spPr>
          <a:xfrm>
            <a:off x="9509760" y="3090672"/>
            <a:ext cx="0" cy="640080"/>
          </a:xfrm>
          <a:prstGeom prst="straightConnector1">
            <a:avLst/>
          </a:prstGeom>
          <a:noFill/>
          <a:ln cap="rnd" cmpd="sng" w="22225">
            <a:solidFill>
              <a:srgbClr val="0F62FE"/>
            </a:solidFill>
            <a:prstDash val="solid"/>
            <a:round/>
            <a:headEnd len="sm" w="sm" type="none"/>
            <a:tailEnd len="med" w="med" type="triangle"/>
          </a:ln>
        </p:spPr>
      </p:cxnSp>
      <p:sp>
        <p:nvSpPr>
          <p:cNvPr id="320" name="Google Shape;320;p7"/>
          <p:cNvSpPr txBox="1"/>
          <p:nvPr/>
        </p:nvSpPr>
        <p:spPr>
          <a:xfrm>
            <a:off x="9601200" y="3200400"/>
            <a:ext cx="914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93939"/>
              </a:buClr>
              <a:buSzPts val="1100"/>
              <a:buFont typeface="Calibri"/>
              <a:buNone/>
            </a:pPr>
            <a:r>
              <a:rPr b="0" i="0" lang="en-US" spc="0" sz="1100" u="none" cap="none" strike="noStrike">
                <a:solidFill>
                  <a:srgbClr val="393939"/>
                </a:solidFill>
                <a:latin typeface="Calibri"/>
                <a:ea typeface="Calibri"/>
                <a:cs typeface="Calibri"/>
                <a:sym typeface="Calibri"/>
              </a:rPr>
              <a:t>Analysis</a:t>
            </a:r>
            <a:endParaRPr/>
          </a:p>
        </p:txBody>
      </p:sp>
      <p:grpSp>
        <p:nvGrpSpPr>
          <p:cNvPr id="321" name="Google Shape;321;p7"/>
          <p:cNvGrpSpPr/>
          <p:nvPr/>
        </p:nvGrpSpPr>
        <p:grpSpPr>
          <a:xfrm>
            <a:off x="7955280" y="4572000"/>
            <a:ext cx="3291840" cy="1600200"/>
            <a:chOff x="7955280" y="4572000"/>
            <a:chExt cx="3291840" cy="1600200"/>
          </a:xfrm>
        </p:grpSpPr>
        <p:sp>
          <p:nvSpPr>
            <p:cNvPr id="322" name="Google Shape;322;p7"/>
            <p:cNvSpPr/>
            <p:nvPr/>
          </p:nvSpPr>
          <p:spPr>
            <a:xfrm>
              <a:off x="7955280" y="4572000"/>
              <a:ext cx="3291840" cy="1600200"/>
            </a:xfrm>
            <a:prstGeom prst="roundRect">
              <a:avLst>
                <a:gd fmla="val 4500" name="adj"/>
              </a:avLst>
            </a:prstGeom>
            <a:solidFill>
              <a:srgbClr val="E9EDF4"/>
            </a:solidFill>
            <a:ln cap="flat" cmpd="sng" w="9525">
              <a:solidFill>
                <a:srgbClr val="D0D7E2"/>
              </a:solidFill>
              <a:prstDash val="solid"/>
              <a:round/>
              <a:headEnd len="sm" w="sm" type="none"/>
              <a:tailEnd len="sm" w="sm" type="none"/>
            </a:ln>
            <a:effectLst>
              <a:outerShdw blurRad="164592" rotWithShape="0" algn="t" dir="5400000" dist="36576">
                <a:srgbClr val="161616">
                  <a:alpha val="14118"/>
                </a:srgbClr>
              </a:outerShdw>
            </a:effectLst>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sp>
          <p:nvSpPr>
            <p:cNvPr id="323" name="Google Shape;323;p7"/>
            <p:cNvSpPr/>
            <p:nvPr/>
          </p:nvSpPr>
          <p:spPr>
            <a:xfrm>
              <a:off x="8229600" y="4846320"/>
              <a:ext cx="640080" cy="640080"/>
            </a:xfrm>
            <a:prstGeom prst="ellipse">
              <a:avLst/>
            </a:prstGeom>
            <a:solidFill>
              <a:srgbClr val="FFFFFF"/>
            </a:solidFill>
            <a:ln cap="flat" cmpd="sng" w="12700">
              <a:solidFill>
                <a:srgbClr val="D0D7E2"/>
              </a:solidFill>
              <a:prstDash val="solid"/>
              <a:round/>
              <a:headEnd len="sm" w="sm" type="none"/>
              <a:tailEnd len="sm" w="sm" type="none"/>
            </a:ln>
          </p:spPr>
          <p:txBody>
            <a:bodyPr anchorCtr="0" anchor="t" bIns="27425" lIns="45700" spcFirstLastPara="1" rIns="45700" wrap="square" tIns="27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pc="0" sz="1800" u="none" cap="none" strike="noStrike">
                <a:solidFill>
                  <a:srgbClr val="000000"/>
                </a:solidFill>
                <a:latin typeface="Calibri"/>
                <a:ea typeface="Calibri"/>
                <a:cs typeface="Calibri"/>
                <a:sym typeface="Calibri"/>
              </a:endParaRPr>
            </a:p>
          </p:txBody>
        </p:sp>
        <p:pic>
          <p:nvPicPr>
            <p:cNvPr descr="search icon" id="324" name="Google Shape;324;p7"/>
            <p:cNvPicPr preferRelativeResize="0"/>
            <p:nvPr/>
          </p:nvPicPr>
          <p:blipFill rotWithShape="1">
            <a:blip r:embed="rId5">
              <a:alphaModFix/>
            </a:blip>
            <a:srcRect b="0" l="0" r="0" t="0"/>
            <a:stretch/>
          </p:blipFill>
          <p:spPr>
            <a:xfrm>
              <a:off x="8389620" y="5006340"/>
              <a:ext cx="320040" cy="320040"/>
            </a:xfrm>
            <a:prstGeom prst="rect">
              <a:avLst/>
            </a:prstGeom>
            <a:noFill/>
            <a:ln>
              <a:noFill/>
            </a:ln>
          </p:spPr>
        </p:pic>
        <p:sp>
          <p:nvSpPr>
            <p:cNvPr id="325" name="Google Shape;325;p7"/>
            <p:cNvSpPr txBox="1"/>
            <p:nvPr/>
          </p:nvSpPr>
          <p:spPr>
            <a:xfrm>
              <a:off x="9006840" y="4754880"/>
              <a:ext cx="2194560" cy="10972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616"/>
                </a:buClr>
                <a:buSzPts val="1600"/>
                <a:buFont typeface="Calibri"/>
                <a:buNone/>
              </a:pPr>
              <a:r>
                <a:rPr b="1" i="0" lang="en-US" spc="0" sz="1600" u="none" cap="none" strike="noStrike">
                  <a:solidFill>
                    <a:srgbClr val="161616"/>
                  </a:solidFill>
                  <a:latin typeface="Calibri"/>
                  <a:ea typeface="Calibri"/>
                  <a:cs typeface="Calibri"/>
                  <a:sym typeface="Calibri"/>
                </a:rPr>
                <a:t>Database server</a:t>
              </a:r>
              <a:endParaRPr/>
            </a:p>
            <a:p>
              <a:pPr indent="0" lvl="0" marL="0" marR="0" rtl="0" algn="l">
                <a:lnSpc>
                  <a:spcPct val="100000"/>
                </a:lnSpc>
                <a:spcBef>
                  <a:spcPts val="300"/>
                </a:spcBef>
                <a:spcAft>
                  <a:spcPts val="0"/>
                </a:spcAft>
                <a:buClr>
                  <a:srgbClr val="393939"/>
                </a:buClr>
                <a:buSzPts val="1200"/>
                <a:buFont typeface="Calibri"/>
                <a:buNone/>
              </a:pPr>
              <a:r>
                <a:rPr b="0" i="0" lang="en-US" spc="0" sz="1200" u="none" cap="none" strike="noStrike">
                  <a:solidFill>
                    <a:srgbClr val="393939"/>
                  </a:solidFill>
                  <a:latin typeface="Calibri"/>
                  <a:ea typeface="Calibri"/>
                  <a:cs typeface="Calibri"/>
                  <a:sym typeface="Calibri"/>
                </a:rPr>
                <a:t>Metric store</a:t>
              </a:r>
              <a:endParaRPr/>
            </a:p>
          </p:txBody>
        </p:sp>
      </p:grpSp>
      <p:cxnSp>
        <p:nvCxnSpPr>
          <p:cNvPr id="326" name="Google Shape;326;p7"/>
          <p:cNvCxnSpPr/>
          <p:nvPr/>
        </p:nvCxnSpPr>
        <p:spPr>
          <a:xfrm>
            <a:off x="9509760" y="4270248"/>
            <a:ext cx="0" cy="283464"/>
          </a:xfrm>
          <a:prstGeom prst="straightConnector1">
            <a:avLst/>
          </a:prstGeom>
          <a:noFill/>
          <a:ln cap="rnd" cmpd="sng" w="25400">
            <a:solidFill>
              <a:srgbClr val="0F62FE"/>
            </a:solidFill>
            <a:prstDash val="solid"/>
            <a:round/>
            <a:headEnd len="sm" w="sm" type="none"/>
            <a:tailEnd len="med" w="med" type="triangle"/>
          </a:ln>
        </p:spPr>
      </p:cxnSp>
      <p:cxnSp>
        <p:nvCxnSpPr>
          <p:cNvPr id="327" name="Google Shape;327;p7"/>
          <p:cNvCxnSpPr/>
          <p:nvPr/>
        </p:nvCxnSpPr>
        <p:spPr>
          <a:xfrm>
            <a:off x="6080760" y="5349240"/>
            <a:ext cx="1828800" cy="0"/>
          </a:xfrm>
          <a:prstGeom prst="straightConnector1">
            <a:avLst/>
          </a:prstGeom>
          <a:noFill/>
          <a:ln cap="rnd" cmpd="sng" w="34925">
            <a:solidFill>
              <a:srgbClr val="0F62FE"/>
            </a:solidFill>
            <a:prstDash val="solid"/>
            <a:round/>
            <a:headEnd len="med" w="med" type="triangle"/>
            <a:tailEnd len="med" w="med" type="triangle"/>
          </a:ln>
        </p:spPr>
      </p:cxnSp>
      <p:sp>
        <p:nvSpPr>
          <p:cNvPr id="328" name="Google Shape;328;p7"/>
          <p:cNvSpPr txBox="1"/>
          <p:nvPr/>
        </p:nvSpPr>
        <p:spPr>
          <a:xfrm>
            <a:off x="6080760" y="4983480"/>
            <a:ext cx="18288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616"/>
              </a:buClr>
              <a:buSzPts val="1200"/>
              <a:buFont typeface="Calibri"/>
              <a:buNone/>
            </a:pPr>
            <a:r>
              <a:rPr b="1" i="0" lang="en-US" spc="0" sz="1200" u="none" cap="none" strike="noStrike">
                <a:solidFill>
                  <a:srgbClr val="161616"/>
                </a:solidFill>
                <a:latin typeface="Calibri"/>
                <a:ea typeface="Calibri"/>
                <a:cs typeface="Calibri"/>
                <a:sym typeface="Calibri"/>
              </a:rPr>
              <a:t>Metric read/write</a:t>
            </a:r>
            <a:endParaRPr/>
          </a:p>
        </p:txBody>
      </p:sp>
      <p:sp>
        <p:nvSpPr>
          <p:cNvPr id="329" name="Google Shape;329;p7"/>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Agentic Pipeline - Performance Environment</a:t>
            </a:r>
            <a:endParaRPr/>
          </a:p>
        </p:txBody>
      </p:sp>
      <p:sp>
        <p:nvSpPr>
          <p:cNvPr id="330" name="Google Shape;330;p7"/>
          <p:cNvSpPr txBox="1"/>
          <p:nvPr>
            <p:ph type="title"/>
          </p:nvPr>
        </p:nvSpPr>
        <p:spPr>
          <a:xfrm>
            <a:off x="-21775" y="6555125"/>
            <a:ext cx="12232500" cy="3657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350"/>
                                        <p:tgtEl>
                                          <p:spTgt spid="285"/>
                                        </p:tgtEl>
                                        <p:attrNameLst>
                                          <p:attrName>ppt_w</p:attrName>
                                        </p:attrNameLst>
                                      </p:cBhvr>
                                      <p:tavLst>
                                        <p:tav fmla="" tm="0">
                                          <p:val>
                                            <p:strVal val="0"/>
                                          </p:val>
                                        </p:tav>
                                        <p:tav fmla="" tm="100000">
                                          <p:val>
                                            <p:strVal val="#ppt_w"/>
                                          </p:val>
                                        </p:tav>
                                      </p:tavLst>
                                    </p:anim>
                                    <p:anim calcmode="lin" valueType="num">
                                      <p:cBhvr additive="base">
                                        <p:cTn dur="350"/>
                                        <p:tgtEl>
                                          <p:spTgt spid="28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5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350"/>
                                        <p:tgtEl>
                                          <p:spTgt spid="289"/>
                                        </p:tgtEl>
                                        <p:attrNameLst>
                                          <p:attrName>ppt_w</p:attrName>
                                        </p:attrNameLst>
                                      </p:cBhvr>
                                      <p:tavLst>
                                        <p:tav fmla="" tm="0">
                                          <p:val>
                                            <p:strVal val="0"/>
                                          </p:val>
                                        </p:tav>
                                        <p:tav fmla="" tm="100000">
                                          <p:val>
                                            <p:strVal val="#ppt_w"/>
                                          </p:val>
                                        </p:tav>
                                      </p:tavLst>
                                    </p:anim>
                                    <p:anim calcmode="lin" valueType="num">
                                      <p:cBhvr additive="base">
                                        <p:cTn dur="350"/>
                                        <p:tgtEl>
                                          <p:spTgt spid="28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350"/>
                                        <p:tgtEl>
                                          <p:spTgt spid="293"/>
                                        </p:tgtEl>
                                        <p:attrNameLst>
                                          <p:attrName>ppt_w</p:attrName>
                                        </p:attrNameLst>
                                      </p:cBhvr>
                                      <p:tavLst>
                                        <p:tav fmla="" tm="0">
                                          <p:val>
                                            <p:strVal val="0"/>
                                          </p:val>
                                        </p:tav>
                                        <p:tav fmla="" tm="100000">
                                          <p:val>
                                            <p:strVal val="#ppt_w"/>
                                          </p:val>
                                        </p:tav>
                                      </p:tavLst>
                                    </p:anim>
                                    <p:anim calcmode="lin" valueType="num">
                                      <p:cBhvr additive="base">
                                        <p:cTn dur="350"/>
                                        <p:tgtEl>
                                          <p:spTgt spid="29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800"/>
                                  </p:stCondLst>
                                  <p:childTnLst>
                                    <p:set>
                                      <p:cBhvr>
                                        <p:cTn dur="1" fill="hold">
                                          <p:stCondLst>
                                            <p:cond delay="0"/>
                                          </p:stCondLst>
                                        </p:cTn>
                                        <p:tgtEl>
                                          <p:spTgt spid="298"/>
                                        </p:tgtEl>
                                        <p:attrNameLst>
                                          <p:attrName>style.visibility</p:attrName>
                                        </p:attrNameLst>
                                      </p:cBhvr>
                                      <p:to>
                                        <p:strVal val="visible"/>
                                      </p:to>
                                    </p:set>
                                    <p:animEffect filter="fade" transition="in">
                                      <p:cBhvr>
                                        <p:cTn dur="300"/>
                                        <p:tgtEl>
                                          <p:spTgt spid="298"/>
                                        </p:tgtEl>
                                      </p:cBhvr>
                                    </p:animEffect>
                                  </p:childTnLst>
                                </p:cTn>
                              </p:par>
                              <p:par>
                                <p:cTn fill="hold" nodeType="withEffect" presetClass="entr" presetID="10" presetSubtype="0">
                                  <p:stCondLst>
                                    <p:cond delay="900"/>
                                  </p:stCondLst>
                                  <p:childTnLst>
                                    <p:set>
                                      <p:cBhvr>
                                        <p:cTn dur="1" fill="hold">
                                          <p:stCondLst>
                                            <p:cond delay="0"/>
                                          </p:stCondLst>
                                        </p:cTn>
                                        <p:tgtEl>
                                          <p:spTgt spid="299"/>
                                        </p:tgtEl>
                                        <p:attrNameLst>
                                          <p:attrName>style.visibility</p:attrName>
                                        </p:attrNameLst>
                                      </p:cBhvr>
                                      <p:to>
                                        <p:strVal val="visible"/>
                                      </p:to>
                                    </p:set>
                                    <p:animEffect filter="fade" transition="in">
                                      <p:cBhvr>
                                        <p:cTn dur="300"/>
                                        <p:tgtEl>
                                          <p:spTgt spid="299"/>
                                        </p:tgtEl>
                                      </p:cBhvr>
                                    </p:animEffect>
                                  </p:childTnLst>
                                </p:cTn>
                              </p:par>
                              <p:par>
                                <p:cTn fill="hold" nodeType="withEffect" presetClass="entr" presetID="10" presetSubtype="0">
                                  <p:stCondLst>
                                    <p:cond delay="1000"/>
                                  </p:stCondLst>
                                  <p:childTnLst>
                                    <p:set>
                                      <p:cBhvr>
                                        <p:cTn dur="1" fill="hold">
                                          <p:stCondLst>
                                            <p:cond delay="0"/>
                                          </p:stCondLst>
                                        </p:cTn>
                                        <p:tgtEl>
                                          <p:spTgt spid="300"/>
                                        </p:tgtEl>
                                        <p:attrNameLst>
                                          <p:attrName>style.visibility</p:attrName>
                                        </p:attrNameLst>
                                      </p:cBhvr>
                                      <p:to>
                                        <p:strVal val="visible"/>
                                      </p:to>
                                    </p:set>
                                    <p:animEffect filter="fade" transition="in">
                                      <p:cBhvr>
                                        <p:cTn dur="300"/>
                                        <p:tgtEl>
                                          <p:spTgt spid="300"/>
                                        </p:tgtEl>
                                      </p:cBhvr>
                                    </p:animEffect>
                                  </p:childTnLst>
                                </p:cTn>
                              </p:par>
                              <p:par>
                                <p:cTn fill="hold" nodeType="withEffect" presetClass="entr" presetID="10" presetSubtype="0">
                                  <p:stCondLst>
                                    <p:cond delay="1100"/>
                                  </p:stCondLst>
                                  <p:childTnLst>
                                    <p:set>
                                      <p:cBhvr>
                                        <p:cTn dur="1" fill="hold">
                                          <p:stCondLst>
                                            <p:cond delay="0"/>
                                          </p:stCondLst>
                                        </p:cTn>
                                        <p:tgtEl>
                                          <p:spTgt spid="301"/>
                                        </p:tgtEl>
                                        <p:attrNameLst>
                                          <p:attrName>style.visibility</p:attrName>
                                        </p:attrNameLst>
                                      </p:cBhvr>
                                      <p:to>
                                        <p:strVal val="visible"/>
                                      </p:to>
                                    </p:set>
                                    <p:animEffect filter="fade" transition="in">
                                      <p:cBhvr>
                                        <p:cTn dur="350"/>
                                        <p:tgtEl>
                                          <p:spTgt spid="301"/>
                                        </p:tgtEl>
                                      </p:cBhvr>
                                    </p:animEffect>
                                  </p:childTnLst>
                                </p:cTn>
                              </p:par>
                              <p:par>
                                <p:cTn fill="hold" nodeType="withEffect" presetClass="entr" presetID="10" presetSubtype="0">
                                  <p:stCondLst>
                                    <p:cond delay="130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350"/>
                                        <p:tgtEl>
                                          <p:spTgt spid="313"/>
                                        </p:tgtEl>
                                      </p:cBhvr>
                                    </p:animEffect>
                                  </p:childTnLst>
                                </p:cTn>
                              </p:par>
                              <p:par>
                                <p:cTn fill="hold" nodeType="withEffect" presetClass="entr" presetID="10" presetSubtype="0">
                                  <p:stCondLst>
                                    <p:cond delay="300"/>
                                  </p:stCondLst>
                                  <p:childTnLst>
                                    <p:set>
                                      <p:cBhvr>
                                        <p:cTn dur="1" fill="hold">
                                          <p:stCondLst>
                                            <p:cond delay="0"/>
                                          </p:stCondLst>
                                        </p:cTn>
                                        <p:tgtEl>
                                          <p:spTgt spid="305"/>
                                        </p:tgtEl>
                                        <p:attrNameLst>
                                          <p:attrName>style.visibility</p:attrName>
                                        </p:attrNameLst>
                                      </p:cBhvr>
                                      <p:to>
                                        <p:strVal val="visible"/>
                                      </p:to>
                                    </p:set>
                                    <p:animEffect filter="fade" transition="in">
                                      <p:cBhvr>
                                        <p:cTn dur="600"/>
                                        <p:tgtEl>
                                          <p:spTgt spid="3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4"/>
                                        </p:tgtEl>
                                        <p:attrNameLst>
                                          <p:attrName>style.visibility</p:attrName>
                                        </p:attrNameLst>
                                      </p:cBhvr>
                                      <p:to>
                                        <p:strVal val="visible"/>
                                      </p:to>
                                    </p:set>
                                    <p:anim calcmode="lin" valueType="num">
                                      <p:cBhvr additive="base">
                                        <p:cTn dur="350"/>
                                        <p:tgtEl>
                                          <p:spTgt spid="314"/>
                                        </p:tgtEl>
                                        <p:attrNameLst>
                                          <p:attrName>ppt_w</p:attrName>
                                        </p:attrNameLst>
                                      </p:cBhvr>
                                      <p:tavLst>
                                        <p:tav fmla="" tm="0">
                                          <p:val>
                                            <p:strVal val="0"/>
                                          </p:val>
                                        </p:tav>
                                        <p:tav fmla="" tm="100000">
                                          <p:val>
                                            <p:strVal val="#ppt_w"/>
                                          </p:val>
                                        </p:tav>
                                      </p:tavLst>
                                    </p:anim>
                                    <p:anim calcmode="lin" valueType="num">
                                      <p:cBhvr additive="base">
                                        <p:cTn dur="350"/>
                                        <p:tgtEl>
                                          <p:spTgt spid="31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50"/>
                                  </p:stCondLst>
                                  <p:childTnLst>
                                    <p:set>
                                      <p:cBhvr>
                                        <p:cTn dur="1" fill="hold">
                                          <p:stCondLst>
                                            <p:cond delay="0"/>
                                          </p:stCondLst>
                                        </p:cTn>
                                        <p:tgtEl>
                                          <p:spTgt spid="319"/>
                                        </p:tgtEl>
                                        <p:attrNameLst>
                                          <p:attrName>style.visibility</p:attrName>
                                        </p:attrNameLst>
                                      </p:cBhvr>
                                      <p:to>
                                        <p:strVal val="visible"/>
                                      </p:to>
                                    </p:set>
                                    <p:animEffect filter="fade" transition="in">
                                      <p:cBhvr>
                                        <p:cTn dur="300"/>
                                        <p:tgtEl>
                                          <p:spTgt spid="319"/>
                                        </p:tgtEl>
                                      </p:cBhvr>
                                    </p:animEffect>
                                  </p:childTnLst>
                                </p:cTn>
                              </p:par>
                              <p:par>
                                <p:cTn fill="hold" nodeType="withEffect" presetClass="entr" presetID="10" presetSubtype="0">
                                  <p:stCondLst>
                                    <p:cond delay="450"/>
                                  </p:stCondLst>
                                  <p:childTnLst>
                                    <p:set>
                                      <p:cBhvr>
                                        <p:cTn dur="1" fill="hold">
                                          <p:stCondLst>
                                            <p:cond delay="0"/>
                                          </p:stCondLst>
                                        </p:cTn>
                                        <p:tgtEl>
                                          <p:spTgt spid="320"/>
                                        </p:tgtEl>
                                        <p:attrNameLst>
                                          <p:attrName>style.visibility</p:attrName>
                                        </p:attrNameLst>
                                      </p:cBhvr>
                                      <p:to>
                                        <p:strVal val="visible"/>
                                      </p:to>
                                    </p:set>
                                    <p:animEffect filter="fade" transition="in">
                                      <p:cBhvr>
                                        <p:cTn dur="300"/>
                                        <p:tgtEl>
                                          <p:spTgt spid="320"/>
                                        </p:tgtEl>
                                      </p:cBhvr>
                                    </p:animEffect>
                                  </p:childTnLst>
                                </p:cTn>
                              </p:par>
                              <p:par>
                                <p:cTn fill="hold" nodeType="withEffect" presetClass="entr" presetID="10" presetSubtype="0">
                                  <p:stCondLst>
                                    <p:cond delay="60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par>
                                <p:cTn fill="hold" nodeType="withEffect" presetClass="entr" presetID="10" presetSubtype="0">
                                  <p:stCondLst>
                                    <p:cond delay="1000"/>
                                  </p:stCondLst>
                                  <p:childTnLst>
                                    <p:set>
                                      <p:cBhvr>
                                        <p:cTn dur="1" fill="hold">
                                          <p:stCondLst>
                                            <p:cond delay="0"/>
                                          </p:stCondLst>
                                        </p:cTn>
                                        <p:tgtEl>
                                          <p:spTgt spid="326"/>
                                        </p:tgtEl>
                                        <p:attrNameLst>
                                          <p:attrName>style.visibility</p:attrName>
                                        </p:attrNameLst>
                                      </p:cBhvr>
                                      <p:to>
                                        <p:strVal val="visible"/>
                                      </p:to>
                                    </p:set>
                                    <p:animEffect filter="fade" transition="in">
                                      <p:cBhvr>
                                        <p:cTn dur="300"/>
                                        <p:tgtEl>
                                          <p:spTgt spid="326"/>
                                        </p:tgtEl>
                                      </p:cBhvr>
                                    </p:animEffect>
                                  </p:childTnLst>
                                </p:cTn>
                              </p:par>
                              <p:par>
                                <p:cTn fill="hold" nodeType="withEffect" presetClass="entr" presetID="10" presetSubtype="0">
                                  <p:stCondLst>
                                    <p:cond delay="1250"/>
                                  </p:stCondLst>
                                  <p:childTnLst>
                                    <p:set>
                                      <p:cBhvr>
                                        <p:cTn dur="1" fill="hold">
                                          <p:stCondLst>
                                            <p:cond delay="0"/>
                                          </p:stCondLst>
                                        </p:cTn>
                                        <p:tgtEl>
                                          <p:spTgt spid="321"/>
                                        </p:tgtEl>
                                        <p:attrNameLst>
                                          <p:attrName>style.visibility</p:attrName>
                                        </p:attrNameLst>
                                      </p:cBhvr>
                                      <p:to>
                                        <p:strVal val="visible"/>
                                      </p:to>
                                    </p:set>
                                    <p:animEffect filter="fade" transition="in">
                                      <p:cBhvr>
                                        <p:cTn dur="600"/>
                                        <p:tgtEl>
                                          <p:spTgt spid="321"/>
                                        </p:tgtEl>
                                      </p:cBhvr>
                                    </p:animEffect>
                                  </p:childTnLst>
                                </p:cTn>
                              </p:par>
                              <p:par>
                                <p:cTn fill="hold" nodeType="withEffect" presetClass="entr" presetID="10" presetSubtype="0">
                                  <p:stCondLst>
                                    <p:cond delay="1700"/>
                                  </p:stCondLst>
                                  <p:childTnLst>
                                    <p:set>
                                      <p:cBhvr>
                                        <p:cTn dur="1" fill="hold">
                                          <p:stCondLst>
                                            <p:cond delay="0"/>
                                          </p:stCondLst>
                                        </p:cTn>
                                        <p:tgtEl>
                                          <p:spTgt spid="327"/>
                                        </p:tgtEl>
                                        <p:attrNameLst>
                                          <p:attrName>style.visibility</p:attrName>
                                        </p:attrNameLst>
                                      </p:cBhvr>
                                      <p:to>
                                        <p:strVal val="visible"/>
                                      </p:to>
                                    </p:set>
                                    <p:animEffect filter="fade" transition="in">
                                      <p:cBhvr>
                                        <p:cTn dur="400"/>
                                        <p:tgtEl>
                                          <p:spTgt spid="327"/>
                                        </p:tgtEl>
                                      </p:cBhvr>
                                    </p:animEffect>
                                  </p:childTnLst>
                                </p:cTn>
                              </p:par>
                              <p:par>
                                <p:cTn fill="hold" nodeType="withEffect" presetClass="entr" presetID="10" presetSubtype="0">
                                  <p:stCondLst>
                                    <p:cond delay="1900"/>
                                  </p:stCondLst>
                                  <p:childTnLst>
                                    <p:set>
                                      <p:cBhvr>
                                        <p:cTn dur="1" fill="hold">
                                          <p:stCondLst>
                                            <p:cond delay="0"/>
                                          </p:stCondLst>
                                        </p:cTn>
                                        <p:tgtEl>
                                          <p:spTgt spid="328"/>
                                        </p:tgtEl>
                                        <p:attrNameLst>
                                          <p:attrName>style.visibility</p:attrName>
                                        </p:attrNameLst>
                                      </p:cBhvr>
                                      <p:to>
                                        <p:strVal val="visible"/>
                                      </p:to>
                                    </p:set>
                                    <p:animEffect filter="fade" transition="in">
                                      <p:cBhvr>
                                        <p:cTn dur="35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8"/>
          <p:cNvSpPr txBox="1"/>
          <p:nvPr>
            <p:ph type="title"/>
          </p:nvPr>
        </p:nvSpPr>
        <p:spPr>
          <a:xfrm>
            <a:off x="838200" y="57475"/>
            <a:ext cx="11490600" cy="839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70C0"/>
              </a:buClr>
              <a:buSzPts val="2800"/>
              <a:buFont typeface="Calibri"/>
              <a:buNone/>
            </a:pPr>
            <a:r>
              <a:rPr b="1" lang="en-US" sz="2800">
                <a:solidFill>
                  <a:srgbClr val="0070C0"/>
                </a:solidFill>
              </a:rPr>
              <a:t>Agentic Pipeline - Unified Framework for Performance Execution &amp; Analysis</a:t>
            </a:r>
            <a:endParaRPr sz="2800"/>
          </a:p>
        </p:txBody>
      </p:sp>
      <p:pic>
        <p:nvPicPr>
          <p:cNvPr id="336" name="Google Shape;336;p8" title="redhat_demo.mp4">
            <a:hlinkClick r:id="rId3"/>
          </p:cNvPr>
          <p:cNvPicPr preferRelativeResize="0"/>
          <p:nvPr/>
        </p:nvPicPr>
        <p:blipFill>
          <a:blip r:embed="rId4">
            <a:alphaModFix/>
          </a:blip>
          <a:stretch>
            <a:fillRect/>
          </a:stretch>
        </p:blipFill>
        <p:spPr>
          <a:xfrm>
            <a:off x="0" y="897175"/>
            <a:ext cx="12192000" cy="5904376"/>
          </a:xfrm>
          <a:prstGeom prst="rect">
            <a:avLst/>
          </a:prstGeom>
          <a:noFill/>
          <a:ln>
            <a:noFill/>
          </a:ln>
        </p:spPr>
      </p:pic>
      <p:sp>
        <p:nvSpPr>
          <p:cNvPr id="337" name="Google Shape;337;p8"/>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Agentic Pipeline - Demo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9"/>
          <p:cNvSpPr txBox="1"/>
          <p:nvPr>
            <p:ph type="title"/>
          </p:nvPr>
        </p:nvSpPr>
        <p:spPr>
          <a:xfrm>
            <a:off x="868680" y="109728"/>
            <a:ext cx="9418320" cy="8686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2600"/>
              <a:buFont typeface="Calibri"/>
              <a:buNone/>
            </a:pPr>
            <a:r>
              <a:rPr b="1" lang="en-US" sz="2600">
                <a:solidFill>
                  <a:srgbClr val="0070C0"/>
                </a:solidFill>
              </a:rPr>
              <a:t>Case Study : API Response Time Regression Analysis</a:t>
            </a:r>
            <a:endParaRPr/>
          </a:p>
        </p:txBody>
      </p:sp>
      <p:sp>
        <p:nvSpPr>
          <p:cNvPr id="343" name="Google Shape;343;p9"/>
          <p:cNvSpPr txBox="1"/>
          <p:nvPr/>
        </p:nvSpPr>
        <p:spPr>
          <a:xfrm>
            <a:off x="457200" y="1051560"/>
            <a:ext cx="112745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3939"/>
              </a:buClr>
              <a:buSzPts val="1600"/>
              <a:buFont typeface="Calibri"/>
              <a:buNone/>
            </a:pPr>
            <a:r>
              <a:rPr b="1" lang="en-US" sz="1600">
                <a:solidFill>
                  <a:srgbClr val="393939"/>
                </a:solidFill>
                <a:latin typeface="Calibri"/>
                <a:ea typeface="Calibri"/>
                <a:cs typeface="Calibri"/>
                <a:sym typeface="Calibri"/>
              </a:rPr>
              <a:t>The pipeline traced the response-time regression to a pod configuration issue</a:t>
            </a:r>
            <a:endParaRPr/>
          </a:p>
        </p:txBody>
      </p:sp>
      <p:sp>
        <p:nvSpPr>
          <p:cNvPr id="344" name="Google Shape;344;p9"/>
          <p:cNvSpPr/>
          <p:nvPr/>
        </p:nvSpPr>
        <p:spPr>
          <a:xfrm>
            <a:off x="457200" y="1600200"/>
            <a:ext cx="2900000" cy="4389120"/>
          </a:xfrm>
          <a:prstGeom prst="roundRect">
            <a:avLst>
              <a:gd fmla="val 3500" name="adj"/>
            </a:avLst>
          </a:prstGeom>
          <a:solidFill>
            <a:srgbClr val="F4F7FB"/>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9"/>
          <p:cNvSpPr/>
          <p:nvPr/>
        </p:nvSpPr>
        <p:spPr>
          <a:xfrm>
            <a:off x="3677240" y="1600200"/>
            <a:ext cx="4900000" cy="4389120"/>
          </a:xfrm>
          <a:prstGeom prst="roundRect">
            <a:avLst>
              <a:gd fmla="val 3500" name="adj"/>
            </a:avLst>
          </a:prstGeom>
          <a:solidFill>
            <a:srgbClr val="F4F7FB"/>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9"/>
          <p:cNvSpPr/>
          <p:nvPr/>
        </p:nvSpPr>
        <p:spPr>
          <a:xfrm>
            <a:off x="8897280" y="1600200"/>
            <a:ext cx="2837520" cy="4389120"/>
          </a:xfrm>
          <a:prstGeom prst="roundRect">
            <a:avLst>
              <a:gd fmla="val 3500" name="adj"/>
            </a:avLst>
          </a:prstGeom>
          <a:solidFill>
            <a:srgbClr val="F4F7FB"/>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9"/>
          <p:cNvSpPr/>
          <p:nvPr/>
        </p:nvSpPr>
        <p:spPr>
          <a:xfrm>
            <a:off x="3402920" y="3634740"/>
            <a:ext cx="228600" cy="320040"/>
          </a:xfrm>
          <a:prstGeom prst="rightArrow">
            <a:avLst>
              <a:gd fmla="val 50000" name="adj1"/>
              <a:gd fmla="val 50000" name="adj2"/>
            </a:avLst>
          </a:prstGeom>
          <a:solidFill>
            <a:srgbClr val="0F62FE"/>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9"/>
          <p:cNvSpPr/>
          <p:nvPr/>
        </p:nvSpPr>
        <p:spPr>
          <a:xfrm>
            <a:off x="8622960" y="3634740"/>
            <a:ext cx="228600" cy="320040"/>
          </a:xfrm>
          <a:prstGeom prst="rightArrow">
            <a:avLst>
              <a:gd fmla="val 50000" name="adj1"/>
              <a:gd fmla="val 50000" name="adj2"/>
            </a:avLst>
          </a:prstGeom>
          <a:solidFill>
            <a:srgbClr val="0F62FE"/>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9"/>
          <p:cNvSpPr/>
          <p:nvPr/>
        </p:nvSpPr>
        <p:spPr>
          <a:xfrm>
            <a:off x="576072" y="1728216"/>
            <a:ext cx="329184" cy="329184"/>
          </a:xfrm>
          <a:prstGeom prst="ellipse">
            <a:avLst/>
          </a:prstGeom>
          <a:solidFill>
            <a:srgbClr val="0F62FE"/>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1</a:t>
            </a:r>
            <a:endParaRPr/>
          </a:p>
        </p:txBody>
      </p:sp>
      <p:sp>
        <p:nvSpPr>
          <p:cNvPr id="350" name="Google Shape;350;p9"/>
          <p:cNvSpPr txBox="1"/>
          <p:nvPr/>
        </p:nvSpPr>
        <p:spPr>
          <a:xfrm>
            <a:off x="987552" y="1728216"/>
            <a:ext cx="225077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Calibri"/>
              <a:buNone/>
            </a:pPr>
            <a:r>
              <a:rPr b="1" lang="en-US" sz="1600">
                <a:solidFill>
                  <a:srgbClr val="161616"/>
                </a:solidFill>
                <a:latin typeface="Calibri"/>
                <a:ea typeface="Calibri"/>
                <a:cs typeface="Calibri"/>
                <a:sym typeface="Calibri"/>
              </a:rPr>
              <a:t>Regression detected</a:t>
            </a:r>
            <a:endParaRPr/>
          </a:p>
        </p:txBody>
      </p:sp>
      <p:sp>
        <p:nvSpPr>
          <p:cNvPr id="351" name="Google Shape;351;p9"/>
          <p:cNvSpPr/>
          <p:nvPr/>
        </p:nvSpPr>
        <p:spPr>
          <a:xfrm>
            <a:off x="3796112" y="1728216"/>
            <a:ext cx="329184" cy="329184"/>
          </a:xfrm>
          <a:prstGeom prst="ellipse">
            <a:avLst/>
          </a:prstGeom>
          <a:solidFill>
            <a:srgbClr val="0F62FE"/>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2</a:t>
            </a:r>
            <a:endParaRPr/>
          </a:p>
        </p:txBody>
      </p:sp>
      <p:sp>
        <p:nvSpPr>
          <p:cNvPr id="352" name="Google Shape;352;p9"/>
          <p:cNvSpPr txBox="1"/>
          <p:nvPr/>
        </p:nvSpPr>
        <p:spPr>
          <a:xfrm>
            <a:off x="4207592" y="1728216"/>
            <a:ext cx="425077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Calibri"/>
              <a:buNone/>
            </a:pPr>
            <a:r>
              <a:rPr b="1" lang="en-US" sz="1600">
                <a:solidFill>
                  <a:srgbClr val="161616"/>
                </a:solidFill>
                <a:latin typeface="Calibri"/>
                <a:ea typeface="Calibri"/>
                <a:cs typeface="Calibri"/>
                <a:sym typeface="Calibri"/>
              </a:rPr>
              <a:t>Requests served by ServiceBroker pods</a:t>
            </a:r>
            <a:endParaRPr/>
          </a:p>
        </p:txBody>
      </p:sp>
      <p:sp>
        <p:nvSpPr>
          <p:cNvPr id="353" name="Google Shape;353;p9"/>
          <p:cNvSpPr/>
          <p:nvPr/>
        </p:nvSpPr>
        <p:spPr>
          <a:xfrm>
            <a:off x="9016152" y="1728216"/>
            <a:ext cx="329184" cy="329184"/>
          </a:xfrm>
          <a:prstGeom prst="ellipse">
            <a:avLst/>
          </a:prstGeom>
          <a:solidFill>
            <a:srgbClr val="0F62FE"/>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3</a:t>
            </a:r>
            <a:endParaRPr/>
          </a:p>
        </p:txBody>
      </p:sp>
      <p:sp>
        <p:nvSpPr>
          <p:cNvPr id="354" name="Google Shape;354;p9"/>
          <p:cNvSpPr txBox="1"/>
          <p:nvPr/>
        </p:nvSpPr>
        <p:spPr>
          <a:xfrm>
            <a:off x="9427632" y="1728216"/>
            <a:ext cx="218829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Calibri"/>
              <a:buNone/>
            </a:pPr>
            <a:r>
              <a:rPr b="1" lang="en-US" sz="1600">
                <a:solidFill>
                  <a:srgbClr val="161616"/>
                </a:solidFill>
                <a:latin typeface="Calibri"/>
                <a:ea typeface="Calibri"/>
                <a:cs typeface="Calibri"/>
                <a:sym typeface="Calibri"/>
              </a:rPr>
              <a:t>Configuration issue</a:t>
            </a:r>
            <a:endParaRPr/>
          </a:p>
        </p:txBody>
      </p:sp>
      <p:pic>
        <p:nvPicPr>
          <p:cNvPr descr="Baseline vs latest average response time charts for API v1 and v2" id="355" name="Google Shape;355;p9"/>
          <p:cNvPicPr preferRelativeResize="0"/>
          <p:nvPr/>
        </p:nvPicPr>
        <p:blipFill rotWithShape="1">
          <a:blip r:embed="rId3">
            <a:alphaModFix/>
          </a:blip>
          <a:srcRect b="0" l="0" r="0" t="0"/>
          <a:stretch/>
        </p:blipFill>
        <p:spPr>
          <a:xfrm>
            <a:off x="576072" y="2167128"/>
            <a:ext cx="2662256" cy="1594827"/>
          </a:xfrm>
          <a:prstGeom prst="rect">
            <a:avLst/>
          </a:prstGeom>
          <a:noFill/>
          <a:ln cap="flat" cmpd="sng" w="9525">
            <a:solidFill>
              <a:srgbClr val="D0D7E2"/>
            </a:solidFill>
            <a:prstDash val="solid"/>
            <a:round/>
            <a:headEnd len="sm" w="sm" type="none"/>
            <a:tailEnd len="sm" w="sm" type="none"/>
          </a:ln>
        </p:spPr>
      </p:pic>
      <p:sp>
        <p:nvSpPr>
          <p:cNvPr id="356" name="Google Shape;356;p9"/>
          <p:cNvSpPr txBox="1"/>
          <p:nvPr/>
        </p:nvSpPr>
        <p:spPr>
          <a:xfrm>
            <a:off x="576072" y="3807675"/>
            <a:ext cx="2662256" cy="2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F6F6F"/>
              </a:buClr>
              <a:buSzPts val="1200"/>
              <a:buFont typeface="Calibri"/>
              <a:buNone/>
            </a:pPr>
            <a:r>
              <a:rPr b="0" lang="en-US" sz="1200">
                <a:solidFill>
                  <a:srgbClr val="6F6F6F"/>
                </a:solidFill>
                <a:latin typeface="Calibri"/>
                <a:ea typeface="Calibri"/>
                <a:cs typeface="Calibri"/>
                <a:sym typeface="Calibri"/>
              </a:rPr>
              <a:t>Baseline vs latest, by concurrency</a:t>
            </a:r>
            <a:endParaRPr/>
          </a:p>
        </p:txBody>
      </p:sp>
      <p:pic>
        <p:nvPicPr>
          <p:cNvPr descr="Regression table per concurrency level with severity and status" id="357" name="Google Shape;357;p9"/>
          <p:cNvPicPr preferRelativeResize="0"/>
          <p:nvPr/>
        </p:nvPicPr>
        <p:blipFill rotWithShape="1">
          <a:blip r:embed="rId4">
            <a:alphaModFix/>
          </a:blip>
          <a:srcRect b="0" l="0" r="0" t="0"/>
          <a:stretch/>
        </p:blipFill>
        <p:spPr>
          <a:xfrm>
            <a:off x="576072" y="4097675"/>
            <a:ext cx="2662256" cy="1371077"/>
          </a:xfrm>
          <a:prstGeom prst="rect">
            <a:avLst/>
          </a:prstGeom>
          <a:noFill/>
          <a:ln cap="flat" cmpd="sng" w="9525">
            <a:solidFill>
              <a:srgbClr val="D0D7E2"/>
            </a:solidFill>
            <a:prstDash val="solid"/>
            <a:round/>
            <a:headEnd len="sm" w="sm" type="none"/>
            <a:tailEnd len="sm" w="sm" type="none"/>
          </a:ln>
        </p:spPr>
      </p:pic>
      <p:sp>
        <p:nvSpPr>
          <p:cNvPr id="358" name="Google Shape;358;p9"/>
          <p:cNvSpPr txBox="1"/>
          <p:nvPr/>
        </p:nvSpPr>
        <p:spPr>
          <a:xfrm>
            <a:off x="576072" y="5514472"/>
            <a:ext cx="2662256" cy="2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F6F6F"/>
              </a:buClr>
              <a:buSzPts val="1200"/>
              <a:buFont typeface="Calibri"/>
              <a:buNone/>
            </a:pPr>
            <a:r>
              <a:rPr b="0" lang="en-US" sz="1200">
                <a:solidFill>
                  <a:srgbClr val="6F6F6F"/>
                </a:solidFill>
                <a:latin typeface="Calibri"/>
                <a:ea typeface="Calibri"/>
                <a:cs typeface="Calibri"/>
                <a:sym typeface="Calibri"/>
              </a:rPr>
              <a:t>Regression table with severity</a:t>
            </a:r>
            <a:endParaRPr/>
          </a:p>
        </p:txBody>
      </p:sp>
      <p:pic>
        <p:nvPicPr>
          <p:cNvPr descr="Correlation report mapping each request to the ServiceBroker pod that served it" id="359" name="Google Shape;359;p9"/>
          <p:cNvPicPr preferRelativeResize="0"/>
          <p:nvPr/>
        </p:nvPicPr>
        <p:blipFill rotWithShape="1">
          <a:blip r:embed="rId5">
            <a:alphaModFix/>
          </a:blip>
          <a:srcRect b="0" l="0" r="0" t="0"/>
          <a:stretch/>
        </p:blipFill>
        <p:spPr>
          <a:xfrm>
            <a:off x="3796112" y="2167128"/>
            <a:ext cx="2285408" cy="1365308"/>
          </a:xfrm>
          <a:prstGeom prst="rect">
            <a:avLst/>
          </a:prstGeom>
          <a:noFill/>
          <a:ln cap="flat" cmpd="sng" w="9525">
            <a:solidFill>
              <a:srgbClr val="D0D7E2"/>
            </a:solidFill>
            <a:prstDash val="solid"/>
            <a:round/>
            <a:headEnd len="sm" w="sm" type="none"/>
            <a:tailEnd len="sm" w="sm" type="none"/>
          </a:ln>
        </p:spPr>
      </p:pic>
      <p:pic>
        <p:nvPicPr>
          <p:cNvPr descr="RCA report with signals, root cause findings and recommendations" id="360" name="Google Shape;360;p9"/>
          <p:cNvPicPr preferRelativeResize="0"/>
          <p:nvPr/>
        </p:nvPicPr>
        <p:blipFill rotWithShape="1">
          <a:blip r:embed="rId6">
            <a:alphaModFix/>
          </a:blip>
          <a:srcRect b="0" l="0" r="0" t="0"/>
          <a:stretch/>
        </p:blipFill>
        <p:spPr>
          <a:xfrm>
            <a:off x="6172960" y="2167128"/>
            <a:ext cx="2285408" cy="1392291"/>
          </a:xfrm>
          <a:prstGeom prst="rect">
            <a:avLst/>
          </a:prstGeom>
          <a:noFill/>
          <a:ln cap="flat" cmpd="sng" w="9525">
            <a:solidFill>
              <a:srgbClr val="D0D7E2"/>
            </a:solidFill>
            <a:prstDash val="solid"/>
            <a:round/>
            <a:headEnd len="sm" w="sm" type="none"/>
            <a:tailEnd len="sm" w="sm" type="none"/>
          </a:ln>
        </p:spPr>
      </p:pic>
      <p:sp>
        <p:nvSpPr>
          <p:cNvPr id="361" name="Google Shape;361;p9"/>
          <p:cNvSpPr txBox="1"/>
          <p:nvPr/>
        </p:nvSpPr>
        <p:spPr>
          <a:xfrm>
            <a:off x="3796112" y="3605139"/>
            <a:ext cx="2285408" cy="2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F6F6F"/>
              </a:buClr>
              <a:buSzPts val="1200"/>
              <a:buFont typeface="Calibri"/>
              <a:buNone/>
            </a:pPr>
            <a:r>
              <a:rPr b="0" lang="en-US" sz="1200">
                <a:solidFill>
                  <a:srgbClr val="6F6F6F"/>
                </a:solidFill>
                <a:latin typeface="Calibri"/>
                <a:ea typeface="Calibri"/>
                <a:cs typeface="Calibri"/>
                <a:sym typeface="Calibri"/>
              </a:rPr>
              <a:t>Correlation report</a:t>
            </a:r>
            <a:endParaRPr/>
          </a:p>
        </p:txBody>
      </p:sp>
      <p:sp>
        <p:nvSpPr>
          <p:cNvPr id="362" name="Google Shape;362;p9"/>
          <p:cNvSpPr txBox="1"/>
          <p:nvPr/>
        </p:nvSpPr>
        <p:spPr>
          <a:xfrm>
            <a:off x="6172960" y="3605139"/>
            <a:ext cx="2285408" cy="2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F6F6F"/>
              </a:buClr>
              <a:buSzPts val="1200"/>
              <a:buFont typeface="Calibri"/>
              <a:buNone/>
            </a:pPr>
            <a:r>
              <a:rPr b="0" lang="en-US" sz="1200">
                <a:solidFill>
                  <a:srgbClr val="6F6F6F"/>
                </a:solidFill>
                <a:latin typeface="Calibri"/>
                <a:ea typeface="Calibri"/>
                <a:cs typeface="Calibri"/>
                <a:sym typeface="Calibri"/>
              </a:rPr>
              <a:t>RCA report</a:t>
            </a:r>
            <a:endParaRPr/>
          </a:p>
        </p:txBody>
      </p:sp>
      <p:sp>
        <p:nvSpPr>
          <p:cNvPr id="363" name="Google Shape;363;p9"/>
          <p:cNvSpPr txBox="1"/>
          <p:nvPr/>
        </p:nvSpPr>
        <p:spPr>
          <a:xfrm>
            <a:off x="3796112" y="4055139"/>
            <a:ext cx="4662256" cy="19000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Requests are served by the frontend controller (ServiceBroker) pods</a:t>
            </a:r>
            <a:endParaRPr/>
          </a:p>
          <a:p>
            <a:pPr indent="-228600" lvl="0" marL="228600" marR="0" rtl="0" algn="l">
              <a:spcBef>
                <a:spcPts val="60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Correlation report maps each API request to the pod that served it</a:t>
            </a:r>
            <a:endParaRPr/>
          </a:p>
          <a:p>
            <a:pPr indent="-228600" lvl="0" marL="228600" marR="0" rtl="0" algn="l">
              <a:spcBef>
                <a:spcPts val="60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Regressed APIs landed on pods that took too many requests</a:t>
            </a:r>
            <a:endParaRPr/>
          </a:p>
        </p:txBody>
      </p:sp>
      <p:sp>
        <p:nvSpPr>
          <p:cNvPr id="364" name="Google Shape;364;p9"/>
          <p:cNvSpPr/>
          <p:nvPr/>
        </p:nvSpPr>
        <p:spPr>
          <a:xfrm>
            <a:off x="9016152" y="2167128"/>
            <a:ext cx="2599776" cy="700000"/>
          </a:xfrm>
          <a:prstGeom prst="roundRect">
            <a:avLst>
              <a:gd fmla="val 12000" name="adj"/>
            </a:avLst>
          </a:prstGeom>
          <a:solidFill>
            <a:srgbClr val="FFFFFF"/>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61616"/>
              </a:buClr>
              <a:buSzPts val="1400"/>
              <a:buFont typeface="Calibri"/>
              <a:buNone/>
            </a:pPr>
            <a:r>
              <a:rPr b="0" lang="en-US" sz="1400">
                <a:solidFill>
                  <a:srgbClr val="161616"/>
                </a:solidFill>
                <a:latin typeface="Calibri"/>
                <a:ea typeface="Calibri"/>
                <a:cs typeface="Calibri"/>
                <a:sym typeface="Calibri"/>
              </a:rPr>
              <a:t>Pods auto-scaled to accommodate the requests</a:t>
            </a:r>
            <a:endParaRPr/>
          </a:p>
        </p:txBody>
      </p:sp>
      <p:sp>
        <p:nvSpPr>
          <p:cNvPr id="365" name="Google Shape;365;p9"/>
          <p:cNvSpPr/>
          <p:nvPr/>
        </p:nvSpPr>
        <p:spPr>
          <a:xfrm>
            <a:off x="10201740" y="2892128"/>
            <a:ext cx="228600" cy="250000"/>
          </a:xfrm>
          <a:prstGeom prst="downArrow">
            <a:avLst>
              <a:gd fmla="val 50000" name="adj1"/>
              <a:gd fmla="val 50000" name="adj2"/>
            </a:avLst>
          </a:prstGeom>
          <a:solidFill>
            <a:srgbClr val="0F62FE"/>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9"/>
          <p:cNvSpPr/>
          <p:nvPr/>
        </p:nvSpPr>
        <p:spPr>
          <a:xfrm>
            <a:off x="9016152" y="3167128"/>
            <a:ext cx="2599776" cy="700000"/>
          </a:xfrm>
          <a:prstGeom prst="roundRect">
            <a:avLst>
              <a:gd fmla="val 12000" name="adj"/>
            </a:avLst>
          </a:prstGeom>
          <a:solidFill>
            <a:srgbClr val="FFFFFF"/>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61616"/>
              </a:buClr>
              <a:buSzPts val="1400"/>
              <a:buFont typeface="Calibri"/>
              <a:buNone/>
            </a:pPr>
            <a:r>
              <a:rPr b="0" lang="en-US" sz="1400">
                <a:solidFill>
                  <a:srgbClr val="161616"/>
                </a:solidFill>
                <a:latin typeface="Calibri"/>
                <a:ea typeface="Calibri"/>
                <a:cs typeface="Calibri"/>
                <a:sym typeface="Calibri"/>
              </a:rPr>
              <a:t>Scaling during the test led to high response time</a:t>
            </a:r>
            <a:endParaRPr/>
          </a:p>
        </p:txBody>
      </p:sp>
      <p:sp>
        <p:nvSpPr>
          <p:cNvPr id="367" name="Google Shape;367;p9"/>
          <p:cNvSpPr/>
          <p:nvPr/>
        </p:nvSpPr>
        <p:spPr>
          <a:xfrm>
            <a:off x="10201740" y="3892128"/>
            <a:ext cx="228600" cy="250000"/>
          </a:xfrm>
          <a:prstGeom prst="downArrow">
            <a:avLst>
              <a:gd fmla="val 50000" name="adj1"/>
              <a:gd fmla="val 50000" name="adj2"/>
            </a:avLst>
          </a:prstGeom>
          <a:solidFill>
            <a:srgbClr val="0F62FE"/>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9"/>
          <p:cNvSpPr/>
          <p:nvPr/>
        </p:nvSpPr>
        <p:spPr>
          <a:xfrm>
            <a:off x="9016152" y="4167128"/>
            <a:ext cx="2599776" cy="700000"/>
          </a:xfrm>
          <a:prstGeom prst="roundRect">
            <a:avLst>
              <a:gd fmla="val 12000" name="adj"/>
            </a:avLst>
          </a:prstGeom>
          <a:solidFill>
            <a:srgbClr val="FFFFFF"/>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161616"/>
              </a:buClr>
              <a:buSzPts val="1400"/>
              <a:buFont typeface="Calibri"/>
              <a:buNone/>
            </a:pPr>
            <a:r>
              <a:rPr b="1" lang="en-US" sz="1400">
                <a:solidFill>
                  <a:srgbClr val="161616"/>
                </a:solidFill>
                <a:latin typeface="Calibri"/>
                <a:ea typeface="Calibri"/>
                <a:cs typeface="Calibri"/>
                <a:sym typeface="Calibri"/>
              </a:rPr>
              <a:t>Pod count was configured too low</a:t>
            </a:r>
            <a:endParaRPr/>
          </a:p>
        </p:txBody>
      </p:sp>
      <p:sp>
        <p:nvSpPr>
          <p:cNvPr id="369" name="Google Shape;369;p9"/>
          <p:cNvSpPr/>
          <p:nvPr/>
        </p:nvSpPr>
        <p:spPr>
          <a:xfrm>
            <a:off x="10201740" y="4892128"/>
            <a:ext cx="228600" cy="250000"/>
          </a:xfrm>
          <a:prstGeom prst="downArrow">
            <a:avLst>
              <a:gd fmla="val 50000" name="adj1"/>
              <a:gd fmla="val 50000" name="adj2"/>
            </a:avLst>
          </a:prstGeom>
          <a:solidFill>
            <a:srgbClr val="0F62FE"/>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9"/>
          <p:cNvSpPr/>
          <p:nvPr/>
        </p:nvSpPr>
        <p:spPr>
          <a:xfrm>
            <a:off x="9016152" y="5257800"/>
            <a:ext cx="2599776" cy="566928"/>
          </a:xfrm>
          <a:prstGeom prst="roundRect">
            <a:avLst>
              <a:gd fmla="val 12000" name="adj"/>
            </a:avLst>
          </a:prstGeom>
          <a:solidFill>
            <a:srgbClr val="0F62FE"/>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Fix: configure more pods</a:t>
            </a:r>
            <a:endParaRPr/>
          </a:p>
        </p:txBody>
      </p:sp>
      <p:sp>
        <p:nvSpPr>
          <p:cNvPr id="371" name="Google Shape;371;p9"/>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Case Study - API Time Regression Analysis</a:t>
            </a:r>
            <a:endParaRPr/>
          </a:p>
        </p:txBody>
      </p:sp>
      <p:sp>
        <p:nvSpPr>
          <p:cNvPr id="372" name="Google Shape;372;p9"/>
          <p:cNvSpPr txBox="1"/>
          <p:nvPr>
            <p:ph type="title"/>
          </p:nvPr>
        </p:nvSpPr>
        <p:spPr>
          <a:xfrm>
            <a:off x="-21775" y="6354075"/>
            <a:ext cx="12232500" cy="5670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0"/>
          <p:cNvSpPr txBox="1"/>
          <p:nvPr>
            <p:ph type="title"/>
          </p:nvPr>
        </p:nvSpPr>
        <p:spPr>
          <a:xfrm>
            <a:off x="868680" y="109728"/>
            <a:ext cx="9418320" cy="8686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2600"/>
              <a:buFont typeface="Calibri"/>
              <a:buNone/>
            </a:pPr>
            <a:r>
              <a:rPr b="1" lang="en-US" sz="2600">
                <a:solidFill>
                  <a:srgbClr val="0070C0"/>
                </a:solidFill>
              </a:rPr>
              <a:t>Use Case : API Response Time Anomaly Detection</a:t>
            </a:r>
            <a:endParaRPr/>
          </a:p>
        </p:txBody>
      </p:sp>
      <p:sp>
        <p:nvSpPr>
          <p:cNvPr id="378" name="Google Shape;378;p10"/>
          <p:cNvSpPr txBox="1"/>
          <p:nvPr/>
        </p:nvSpPr>
        <p:spPr>
          <a:xfrm>
            <a:off x="457200" y="1051560"/>
            <a:ext cx="112745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93939"/>
              </a:buClr>
              <a:buSzPts val="1600"/>
              <a:buFont typeface="Calibri"/>
              <a:buNone/>
            </a:pPr>
            <a:r>
              <a:rPr b="1" lang="en-US" sz="1600">
                <a:solidFill>
                  <a:srgbClr val="393939"/>
                </a:solidFill>
                <a:latin typeface="Calibri"/>
                <a:ea typeface="Calibri"/>
                <a:cs typeface="Calibri"/>
                <a:sym typeface="Calibri"/>
              </a:rPr>
              <a:t>Performance data stored in the DB unlocks many kinds of analysis – here is one such use case</a:t>
            </a:r>
            <a:endParaRPr/>
          </a:p>
        </p:txBody>
      </p:sp>
      <p:sp>
        <p:nvSpPr>
          <p:cNvPr id="379" name="Google Shape;379;p10"/>
          <p:cNvSpPr/>
          <p:nvPr/>
        </p:nvSpPr>
        <p:spPr>
          <a:xfrm>
            <a:off x="457200" y="1600200"/>
            <a:ext cx="3383280" cy="4389120"/>
          </a:xfrm>
          <a:prstGeom prst="roundRect">
            <a:avLst>
              <a:gd fmla="val 3500" name="adj"/>
            </a:avLst>
          </a:prstGeom>
          <a:solidFill>
            <a:srgbClr val="F4F7FB"/>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0"/>
          <p:cNvSpPr/>
          <p:nvPr/>
        </p:nvSpPr>
        <p:spPr>
          <a:xfrm>
            <a:off x="4206240" y="1600200"/>
            <a:ext cx="4114800" cy="4389120"/>
          </a:xfrm>
          <a:prstGeom prst="roundRect">
            <a:avLst>
              <a:gd fmla="val 3500" name="adj"/>
            </a:avLst>
          </a:prstGeom>
          <a:solidFill>
            <a:srgbClr val="F4F7FB"/>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0"/>
          <p:cNvSpPr/>
          <p:nvPr/>
        </p:nvSpPr>
        <p:spPr>
          <a:xfrm>
            <a:off x="8686800" y="1600200"/>
            <a:ext cx="3044952" cy="4389120"/>
          </a:xfrm>
          <a:prstGeom prst="roundRect">
            <a:avLst>
              <a:gd fmla="val 3500" name="adj"/>
            </a:avLst>
          </a:prstGeom>
          <a:solidFill>
            <a:srgbClr val="F4F7FB"/>
          </a:solidFill>
          <a:ln cap="flat" cmpd="sng" w="9525">
            <a:solidFill>
              <a:srgbClr val="D0D7E2"/>
            </a:solidFill>
            <a:prstDash val="solid"/>
            <a:round/>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2" name="Google Shape;382;p10"/>
          <p:cNvSpPr/>
          <p:nvPr/>
        </p:nvSpPr>
        <p:spPr>
          <a:xfrm>
            <a:off x="3886200" y="3611880"/>
            <a:ext cx="274320" cy="365760"/>
          </a:xfrm>
          <a:prstGeom prst="rightArrow">
            <a:avLst>
              <a:gd fmla="val 50000" name="adj1"/>
              <a:gd fmla="val 50000" name="adj2"/>
            </a:avLst>
          </a:prstGeom>
          <a:solidFill>
            <a:srgbClr val="0F62FE"/>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0"/>
          <p:cNvSpPr/>
          <p:nvPr/>
        </p:nvSpPr>
        <p:spPr>
          <a:xfrm>
            <a:off x="8366760" y="3611880"/>
            <a:ext cx="274320" cy="365760"/>
          </a:xfrm>
          <a:prstGeom prst="rightArrow">
            <a:avLst>
              <a:gd fmla="val 50000" name="adj1"/>
              <a:gd fmla="val 50000" name="adj2"/>
            </a:avLst>
          </a:prstGeom>
          <a:solidFill>
            <a:srgbClr val="0F62FE"/>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0"/>
          <p:cNvSpPr/>
          <p:nvPr/>
        </p:nvSpPr>
        <p:spPr>
          <a:xfrm>
            <a:off x="594360" y="1728216"/>
            <a:ext cx="329184" cy="329184"/>
          </a:xfrm>
          <a:prstGeom prst="ellipse">
            <a:avLst/>
          </a:prstGeom>
          <a:solidFill>
            <a:srgbClr val="0F62FE"/>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1</a:t>
            </a:r>
            <a:endParaRPr/>
          </a:p>
        </p:txBody>
      </p:sp>
      <p:sp>
        <p:nvSpPr>
          <p:cNvPr id="385" name="Google Shape;385;p10"/>
          <p:cNvSpPr txBox="1"/>
          <p:nvPr/>
        </p:nvSpPr>
        <p:spPr>
          <a:xfrm>
            <a:off x="1024128" y="1728216"/>
            <a:ext cx="3566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Calibri"/>
              <a:buNone/>
            </a:pPr>
            <a:r>
              <a:rPr b="1" lang="en-US" sz="1600">
                <a:solidFill>
                  <a:srgbClr val="161616"/>
                </a:solidFill>
                <a:latin typeface="Calibri"/>
                <a:ea typeface="Calibri"/>
                <a:cs typeface="Calibri"/>
                <a:sym typeface="Calibri"/>
              </a:rPr>
              <a:t>Data stored in the DB</a:t>
            </a:r>
            <a:endParaRPr/>
          </a:p>
        </p:txBody>
      </p:sp>
      <p:pic>
        <p:nvPicPr>
          <p:cNvPr descr="Index Management view listing getvol indices and quarterly baseline indices" id="386" name="Google Shape;386;p10"/>
          <p:cNvPicPr preferRelativeResize="0"/>
          <p:nvPr/>
        </p:nvPicPr>
        <p:blipFill rotWithShape="1">
          <a:blip r:embed="rId3">
            <a:alphaModFix/>
          </a:blip>
          <a:srcRect b="0" l="0" r="0" t="0"/>
          <a:stretch/>
        </p:blipFill>
        <p:spPr>
          <a:xfrm>
            <a:off x="594360" y="2167128"/>
            <a:ext cx="3108960" cy="1431568"/>
          </a:xfrm>
          <a:prstGeom prst="rect">
            <a:avLst/>
          </a:prstGeom>
          <a:noFill/>
          <a:ln cap="flat" cmpd="sng" w="9525">
            <a:solidFill>
              <a:srgbClr val="D0D7E2"/>
            </a:solidFill>
            <a:prstDash val="solid"/>
            <a:round/>
            <a:headEnd len="sm" w="sm" type="none"/>
            <a:tailEnd len="sm" w="sm" type="none"/>
          </a:ln>
        </p:spPr>
      </p:pic>
      <p:sp>
        <p:nvSpPr>
          <p:cNvPr id="387" name="Google Shape;387;p10"/>
          <p:cNvSpPr txBox="1"/>
          <p:nvPr/>
        </p:nvSpPr>
        <p:spPr>
          <a:xfrm>
            <a:off x="594360" y="3653560"/>
            <a:ext cx="31089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F6F6F"/>
              </a:buClr>
              <a:buSzPts val="1200"/>
              <a:buFont typeface="Calibri"/>
              <a:buNone/>
            </a:pPr>
            <a:r>
              <a:rPr b="0" lang="en-US" sz="1200">
                <a:solidFill>
                  <a:srgbClr val="6F6F6F"/>
                </a:solidFill>
                <a:latin typeface="Calibri"/>
                <a:ea typeface="Calibri"/>
                <a:cs typeface="Calibri"/>
                <a:sym typeface="Calibri"/>
              </a:rPr>
              <a:t>Indices per run, plus quarterly baselines</a:t>
            </a:r>
            <a:endParaRPr/>
          </a:p>
        </p:txBody>
      </p:sp>
      <p:pic>
        <p:nvPicPr>
          <p:cNvPr descr="Index fields: Batch, Concurrency, EndTime, Iteration, ResponseTime, StartTime, StatusCode" id="388" name="Google Shape;388;p10"/>
          <p:cNvPicPr preferRelativeResize="0"/>
          <p:nvPr/>
        </p:nvPicPr>
        <p:blipFill rotWithShape="1">
          <a:blip r:embed="rId4">
            <a:alphaModFix/>
          </a:blip>
          <a:srcRect b="0" l="0" r="0" t="0"/>
          <a:stretch/>
        </p:blipFill>
        <p:spPr>
          <a:xfrm>
            <a:off x="594360" y="4010176"/>
            <a:ext cx="3108960" cy="1431568"/>
          </a:xfrm>
          <a:prstGeom prst="rect">
            <a:avLst/>
          </a:prstGeom>
          <a:noFill/>
          <a:ln cap="flat" cmpd="sng" w="9525">
            <a:solidFill>
              <a:srgbClr val="D0D7E2"/>
            </a:solidFill>
            <a:prstDash val="solid"/>
            <a:round/>
            <a:headEnd len="sm" w="sm" type="none"/>
            <a:tailEnd len="sm" w="sm" type="none"/>
          </a:ln>
        </p:spPr>
      </p:pic>
      <p:sp>
        <p:nvSpPr>
          <p:cNvPr id="389" name="Google Shape;389;p10"/>
          <p:cNvSpPr txBox="1"/>
          <p:nvPr/>
        </p:nvSpPr>
        <p:spPr>
          <a:xfrm>
            <a:off x="594360" y="5496607"/>
            <a:ext cx="310896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F6F6F"/>
              </a:buClr>
              <a:buSzPts val="1200"/>
              <a:buFont typeface="Calibri"/>
              <a:buNone/>
            </a:pPr>
            <a:r>
              <a:rPr b="0" lang="en-US" sz="1200">
                <a:solidFill>
                  <a:srgbClr val="6F6F6F"/>
                </a:solidFill>
                <a:latin typeface="Calibri"/>
                <a:ea typeface="Calibri"/>
                <a:cs typeface="Calibri"/>
                <a:sym typeface="Calibri"/>
              </a:rPr>
              <a:t>Fields: Concurrency, Iteration, ResponseTime, StatusCode, Start/End time</a:t>
            </a:r>
            <a:endParaRPr/>
          </a:p>
        </p:txBody>
      </p:sp>
      <p:sp>
        <p:nvSpPr>
          <p:cNvPr id="390" name="Google Shape;390;p10"/>
          <p:cNvSpPr/>
          <p:nvPr/>
        </p:nvSpPr>
        <p:spPr>
          <a:xfrm>
            <a:off x="4343400" y="1728216"/>
            <a:ext cx="329184" cy="329184"/>
          </a:xfrm>
          <a:prstGeom prst="ellipse">
            <a:avLst/>
          </a:prstGeom>
          <a:solidFill>
            <a:srgbClr val="0F62FE"/>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2</a:t>
            </a:r>
            <a:endParaRPr/>
          </a:p>
        </p:txBody>
      </p:sp>
      <p:sp>
        <p:nvSpPr>
          <p:cNvPr id="391" name="Google Shape;391;p10"/>
          <p:cNvSpPr txBox="1"/>
          <p:nvPr/>
        </p:nvSpPr>
        <p:spPr>
          <a:xfrm>
            <a:off x="4773168" y="1728216"/>
            <a:ext cx="3566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Calibri"/>
              <a:buNone/>
            </a:pPr>
            <a:r>
              <a:rPr b="1" lang="en-US" sz="1600">
                <a:solidFill>
                  <a:srgbClr val="161616"/>
                </a:solidFill>
                <a:latin typeface="Calibri"/>
                <a:ea typeface="Calibri"/>
                <a:cs typeface="Calibri"/>
                <a:sym typeface="Calibri"/>
              </a:rPr>
              <a:t>Train and detect anomalies</a:t>
            </a:r>
            <a:endParaRPr/>
          </a:p>
        </p:txBody>
      </p:sp>
      <p:pic>
        <p:nvPicPr>
          <p:cNvPr descr="Anomaly Detection and Prediction Engine: preprocessing, ML training, inference, RCA engine, Grafana dashboards and Alert Manager" id="392" name="Google Shape;392;p10"/>
          <p:cNvPicPr preferRelativeResize="0"/>
          <p:nvPr/>
        </p:nvPicPr>
        <p:blipFill rotWithShape="1">
          <a:blip r:embed="rId5">
            <a:alphaModFix/>
          </a:blip>
          <a:srcRect b="0" l="0" r="0" t="0"/>
          <a:stretch/>
        </p:blipFill>
        <p:spPr>
          <a:xfrm>
            <a:off x="4343400" y="2167128"/>
            <a:ext cx="3840480" cy="1570843"/>
          </a:xfrm>
          <a:prstGeom prst="rect">
            <a:avLst/>
          </a:prstGeom>
          <a:noFill/>
          <a:ln cap="flat" cmpd="sng" w="9525">
            <a:solidFill>
              <a:srgbClr val="D0D7E2"/>
            </a:solidFill>
            <a:prstDash val="solid"/>
            <a:round/>
            <a:headEnd len="sm" w="sm" type="none"/>
            <a:tailEnd len="sm" w="sm" type="none"/>
          </a:ln>
        </p:spPr>
      </p:pic>
      <p:sp>
        <p:nvSpPr>
          <p:cNvPr id="393" name="Google Shape;393;p10"/>
          <p:cNvSpPr txBox="1"/>
          <p:nvPr/>
        </p:nvSpPr>
        <p:spPr>
          <a:xfrm>
            <a:off x="4343400" y="3920851"/>
            <a:ext cx="3840480" cy="182880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Train on historical data across timelines and features</a:t>
            </a:r>
            <a:endParaRPr/>
          </a:p>
          <a:p>
            <a:pPr indent="-228600" lvl="0" marL="228600" marR="0" rtl="0" algn="l">
              <a:spcBef>
                <a:spcPts val="60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Score real-time data with the trained model</a:t>
            </a:r>
            <a:endParaRPr/>
          </a:p>
          <a:p>
            <a:pPr indent="-228600" lvl="0" marL="228600" marR="0" rtl="0" algn="l">
              <a:spcBef>
                <a:spcPts val="60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RCA engine narrows down the likely causes</a:t>
            </a:r>
            <a:endParaRPr/>
          </a:p>
          <a:p>
            <a:pPr indent="-228600" lvl="0" marL="228600" marR="0" rtl="0" algn="l">
              <a:spcBef>
                <a:spcPts val="60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Results flow to Grafana dashboards and Alert Manager</a:t>
            </a:r>
            <a:endParaRPr/>
          </a:p>
        </p:txBody>
      </p:sp>
      <p:sp>
        <p:nvSpPr>
          <p:cNvPr id="394" name="Google Shape;394;p10"/>
          <p:cNvSpPr/>
          <p:nvPr/>
        </p:nvSpPr>
        <p:spPr>
          <a:xfrm>
            <a:off x="8823960" y="1728216"/>
            <a:ext cx="329184" cy="329184"/>
          </a:xfrm>
          <a:prstGeom prst="ellipse">
            <a:avLst/>
          </a:prstGeom>
          <a:solidFill>
            <a:srgbClr val="0F62FE"/>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3</a:t>
            </a:r>
            <a:endParaRPr/>
          </a:p>
        </p:txBody>
      </p:sp>
      <p:sp>
        <p:nvSpPr>
          <p:cNvPr id="395" name="Google Shape;395;p10"/>
          <p:cNvSpPr txBox="1"/>
          <p:nvPr/>
        </p:nvSpPr>
        <p:spPr>
          <a:xfrm>
            <a:off x="9253728" y="1728216"/>
            <a:ext cx="3566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Calibri"/>
              <a:buNone/>
            </a:pPr>
            <a:r>
              <a:rPr b="1" lang="en-US" sz="1600">
                <a:solidFill>
                  <a:srgbClr val="161616"/>
                </a:solidFill>
                <a:latin typeface="Calibri"/>
                <a:ea typeface="Calibri"/>
                <a:cs typeface="Calibri"/>
                <a:sym typeface="Calibri"/>
              </a:rPr>
              <a:t>Alert on Slack</a:t>
            </a:r>
            <a:endParaRPr/>
          </a:p>
        </p:txBody>
      </p:sp>
      <p:pic>
        <p:nvPicPr>
          <p:cNvPr descr="Slack API Performance Alert: 249 of 422 APIs show high response time, with likely causes" id="396" name="Google Shape;396;p10"/>
          <p:cNvPicPr preferRelativeResize="0"/>
          <p:nvPr/>
        </p:nvPicPr>
        <p:blipFill rotWithShape="1">
          <a:blip r:embed="rId6">
            <a:alphaModFix/>
          </a:blip>
          <a:srcRect b="0" l="0" r="0" t="0"/>
          <a:stretch/>
        </p:blipFill>
        <p:spPr>
          <a:xfrm>
            <a:off x="8823960" y="2167128"/>
            <a:ext cx="2770632" cy="1175420"/>
          </a:xfrm>
          <a:prstGeom prst="rect">
            <a:avLst/>
          </a:prstGeom>
          <a:noFill/>
          <a:ln cap="flat" cmpd="sng" w="9525">
            <a:solidFill>
              <a:srgbClr val="D0D7E2"/>
            </a:solidFill>
            <a:prstDash val="solid"/>
            <a:round/>
            <a:headEnd len="sm" w="sm" type="none"/>
            <a:tailEnd len="sm" w="sm" type="none"/>
          </a:ln>
        </p:spPr>
      </p:pic>
      <p:sp>
        <p:nvSpPr>
          <p:cNvPr id="397" name="Google Shape;397;p10"/>
          <p:cNvSpPr txBox="1"/>
          <p:nvPr/>
        </p:nvSpPr>
        <p:spPr>
          <a:xfrm>
            <a:off x="8823960" y="3525428"/>
            <a:ext cx="2770632" cy="155448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Severity and share of APIs affected (249 of 422)</a:t>
            </a:r>
            <a:endParaRPr/>
          </a:p>
          <a:p>
            <a:pPr indent="-228600" lvl="0" marL="228600" marR="0" rtl="0" algn="l">
              <a:spcBef>
                <a:spcPts val="60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Likely causes ranked by confidence and impact</a:t>
            </a:r>
            <a:endParaRPr/>
          </a:p>
          <a:p>
            <a:pPr indent="-228600" lvl="0" marL="228600" marR="0" rtl="0" algn="l">
              <a:spcBef>
                <a:spcPts val="600"/>
              </a:spcBef>
              <a:spcAft>
                <a:spcPts val="0"/>
              </a:spcAft>
              <a:buClr>
                <a:srgbClr val="0F62FE"/>
              </a:buClr>
              <a:buSzPts val="1400"/>
              <a:buFont typeface="Arial"/>
              <a:buChar char="•"/>
            </a:pPr>
            <a:r>
              <a:rPr b="0" lang="en-US" sz="1400">
                <a:solidFill>
                  <a:srgbClr val="161616"/>
                </a:solidFill>
                <a:latin typeface="Calibri"/>
                <a:ea typeface="Calibri"/>
                <a:cs typeface="Calibri"/>
                <a:sym typeface="Calibri"/>
              </a:rPr>
              <a:t>Delivered automatically to the team</a:t>
            </a:r>
            <a:endParaRPr/>
          </a:p>
        </p:txBody>
      </p:sp>
      <p:sp>
        <p:nvSpPr>
          <p:cNvPr id="398" name="Google Shape;398;p10"/>
          <p:cNvSpPr/>
          <p:nvPr/>
        </p:nvSpPr>
        <p:spPr>
          <a:xfrm>
            <a:off x="8823960" y="5257800"/>
            <a:ext cx="2770632" cy="566928"/>
          </a:xfrm>
          <a:prstGeom prst="roundRect">
            <a:avLst>
              <a:gd fmla="val 12000" name="adj"/>
            </a:avLst>
          </a:prstGeom>
          <a:solidFill>
            <a:srgbClr val="0F62FE"/>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From metrics to actionable alerts</a:t>
            </a:r>
            <a:endParaRPr/>
          </a:p>
        </p:txBody>
      </p:sp>
      <p:sp>
        <p:nvSpPr>
          <p:cNvPr id="399" name="Google Shape;399;p10"/>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Use Case - API Response Anomaly Detection</a:t>
            </a:r>
            <a:endParaRPr/>
          </a:p>
        </p:txBody>
      </p:sp>
      <p:sp>
        <p:nvSpPr>
          <p:cNvPr id="400" name="Google Shape;400;p10"/>
          <p:cNvSpPr txBox="1"/>
          <p:nvPr>
            <p:ph type="title"/>
          </p:nvPr>
        </p:nvSpPr>
        <p:spPr>
          <a:xfrm>
            <a:off x="-20250" y="6354075"/>
            <a:ext cx="12232500" cy="5670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1"/>
          <p:cNvSpPr txBox="1"/>
          <p:nvPr/>
        </p:nvSpPr>
        <p:spPr>
          <a:xfrm>
            <a:off x="838200" y="1581374"/>
            <a:ext cx="9876300" cy="45252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Cloud Control Plane performance is critical to </a:t>
            </a:r>
            <a:r>
              <a:rPr b="1" lang="en-US" sz="1800">
                <a:solidFill>
                  <a:schemeClr val="dk1"/>
                </a:solidFill>
                <a:latin typeface="Calibri"/>
                <a:ea typeface="Calibri"/>
                <a:cs typeface="Calibri"/>
                <a:sym typeface="Calibri"/>
              </a:rPr>
              <a:t>customer experience, scalability, and reliability</a:t>
            </a:r>
            <a:r>
              <a:rPr lang="en-US" sz="1800">
                <a:solidFill>
                  <a:schemeClr val="dk1"/>
                </a:solidFill>
                <a:latin typeface="Calibri"/>
                <a:ea typeface="Calibri"/>
                <a:cs typeface="Calibri"/>
                <a:sym typeface="Calibri"/>
              </a:rPr>
              <a:t> in large-scale IaaS environments.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Performance characterization at cloud scale is inherently complex, requiring coordinated </a:t>
            </a:r>
            <a:r>
              <a:rPr b="1" lang="en-US" sz="1800">
                <a:solidFill>
                  <a:schemeClr val="dk1"/>
                </a:solidFill>
                <a:latin typeface="Calibri"/>
                <a:ea typeface="Calibri"/>
                <a:cs typeface="Calibri"/>
                <a:sym typeface="Calibri"/>
              </a:rPr>
              <a:t>planning, realistic workload simulation, multi-source telemetry collection, and data correlation.</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A structured Performance Characterization Lifecycle enables </a:t>
            </a:r>
            <a:r>
              <a:rPr b="1" lang="en-US" sz="1800">
                <a:solidFill>
                  <a:schemeClr val="dk1"/>
                </a:solidFill>
                <a:latin typeface="Calibri"/>
                <a:ea typeface="Calibri"/>
                <a:cs typeface="Calibri"/>
                <a:sym typeface="Calibri"/>
              </a:rPr>
              <a:t>repeatable, data-driven evaluation </a:t>
            </a:r>
            <a:r>
              <a:rPr lang="en-US" sz="1800">
                <a:solidFill>
                  <a:schemeClr val="dk1"/>
                </a:solidFill>
                <a:latin typeface="Calibri"/>
                <a:ea typeface="Calibri"/>
                <a:cs typeface="Calibri"/>
                <a:sym typeface="Calibri"/>
              </a:rPr>
              <a:t>and optimization across the cloud stack.</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Agentic Pipelines transform performance engineering </a:t>
            </a:r>
            <a:r>
              <a:rPr lang="en-US" sz="1800">
                <a:solidFill>
                  <a:schemeClr val="dk1"/>
                </a:solidFill>
                <a:latin typeface="Calibri"/>
                <a:ea typeface="Calibri"/>
                <a:cs typeface="Calibri"/>
                <a:sym typeface="Calibri"/>
              </a:rPr>
              <a:t>by automating planning, execution, telemetry processing, analysis, and insight generation.</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AI driven workflow </a:t>
            </a:r>
            <a:r>
              <a:rPr lang="en-US" sz="1800">
                <a:solidFill>
                  <a:schemeClr val="dk1"/>
                </a:solidFill>
                <a:latin typeface="Calibri"/>
                <a:ea typeface="Calibri"/>
                <a:cs typeface="Calibri"/>
                <a:sym typeface="Calibri"/>
              </a:rPr>
              <a:t>– Unlocks opportunity for multidimensional analysis.</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b="1" lang="en-US" sz="1800">
                <a:solidFill>
                  <a:schemeClr val="dk1"/>
                </a:solidFill>
                <a:latin typeface="Calibri"/>
                <a:ea typeface="Calibri"/>
                <a:cs typeface="Calibri"/>
                <a:sym typeface="Calibri"/>
              </a:rPr>
              <a:t>Hybrid Approach - AI + deterministic automation </a:t>
            </a:r>
            <a:r>
              <a:rPr lang="en-US" sz="1800">
                <a:solidFill>
                  <a:schemeClr val="dk1"/>
                </a:solidFill>
                <a:latin typeface="Calibri"/>
                <a:ea typeface="Calibri"/>
                <a:cs typeface="Calibri"/>
                <a:sym typeface="Calibri"/>
              </a:rPr>
              <a:t>delivers accurate, extensible, and scalable performance insights while reducing engineering effort and accelerating decision making.</a:t>
            </a:r>
            <a:endParaRPr/>
          </a:p>
        </p:txBody>
      </p:sp>
      <p:sp>
        <p:nvSpPr>
          <p:cNvPr id="407" name="Google Shape;407;p11"/>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Key </a:t>
            </a:r>
            <a:r>
              <a:rPr lang="en-US"/>
              <a:t>Takeaways</a:t>
            </a:r>
            <a:endParaRPr/>
          </a:p>
        </p:txBody>
      </p:sp>
      <p:sp>
        <p:nvSpPr>
          <p:cNvPr id="408" name="Google Shape;408;p11"/>
          <p:cNvSpPr txBox="1"/>
          <p:nvPr>
            <p:ph type="title"/>
          </p:nvPr>
        </p:nvSpPr>
        <p:spPr>
          <a:xfrm>
            <a:off x="-20250" y="6283550"/>
            <a:ext cx="12232500" cy="5718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2"/>
          <p:cNvSpPr txBox="1"/>
          <p:nvPr>
            <p:ph type="title"/>
          </p:nvPr>
        </p:nvSpPr>
        <p:spPr>
          <a:xfrm>
            <a:off x="1296878" y="992459"/>
            <a:ext cx="10053763" cy="256478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70C0"/>
              </a:buClr>
              <a:buSzPts val="5400"/>
              <a:buFont typeface="Calibri"/>
              <a:buNone/>
            </a:pPr>
            <a:r>
              <a:rPr b="1" lang="en-US" sz="5400">
                <a:solidFill>
                  <a:srgbClr val="0070C0"/>
                </a:solidFill>
                <a:latin typeface="Calibri"/>
                <a:ea typeface="Calibri"/>
                <a:cs typeface="Calibri"/>
                <a:sym typeface="Calibri"/>
              </a:rPr>
              <a:t>Thank You</a:t>
            </a:r>
            <a:endParaRPr/>
          </a:p>
        </p:txBody>
      </p:sp>
      <p:sp>
        <p:nvSpPr>
          <p:cNvPr id="414" name="Google Shape;414;p12"/>
          <p:cNvSpPr txBox="1"/>
          <p:nvPr/>
        </p:nvSpPr>
        <p:spPr>
          <a:xfrm>
            <a:off x="1278189" y="3091736"/>
            <a:ext cx="10053763" cy="256478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5400"/>
              <a:buFont typeface="Calibri"/>
              <a:buNone/>
            </a:pPr>
            <a:r>
              <a:rPr b="1" lang="en-US" sz="5400">
                <a:solidFill>
                  <a:schemeClr val="dk1"/>
                </a:solidFill>
                <a:latin typeface="Calibri"/>
                <a:ea typeface="Calibri"/>
                <a:cs typeface="Calibri"/>
                <a:sym typeface="Calibri"/>
              </a:rPr>
              <a:t>Questions?</a:t>
            </a:r>
            <a:endParaRPr/>
          </a:p>
        </p:txBody>
      </p:sp>
      <p:sp>
        <p:nvSpPr>
          <p:cNvPr id="415" name="Google Shape;415;p12"/>
          <p:cNvSpPr txBox="1"/>
          <p:nvPr>
            <p:ph type="title"/>
          </p:nvPr>
        </p:nvSpPr>
        <p:spPr>
          <a:xfrm>
            <a:off x="-20250" y="0"/>
            <a:ext cx="12232500" cy="748800"/>
          </a:xfrm>
          <a:prstGeom prst="rect">
            <a:avLst/>
          </a:prstGeom>
          <a:solidFill>
            <a:srgbClr val="D4DBE5"/>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r>
              <a:rPr lang="en-US"/>
              <a:t>  </a:t>
            </a:r>
            <a:endParaRPr/>
          </a:p>
          <a:p>
            <a:pPr indent="0" lvl="0" marL="0" rtl="0" algn="l">
              <a:lnSpc>
                <a:spcPct val="90000"/>
              </a:lnSpc>
              <a:spcBef>
                <a:spcPts val="0"/>
              </a:spcBef>
              <a:spcAft>
                <a:spcPts val="0"/>
              </a:spcAft>
              <a:buClr>
                <a:schemeClr val="dk1"/>
              </a:buClr>
              <a:buSzPct val="100000"/>
              <a:buFont typeface="Calibri"/>
              <a:buNone/>
            </a:pPr>
            <a:r>
              <a:t/>
            </a:r>
            <a:endParaRPr/>
          </a:p>
        </p:txBody>
      </p:sp>
      <p:sp>
        <p:nvSpPr>
          <p:cNvPr id="416" name="Google Shape;416;p12"/>
          <p:cNvSpPr txBox="1"/>
          <p:nvPr>
            <p:ph type="title"/>
          </p:nvPr>
        </p:nvSpPr>
        <p:spPr>
          <a:xfrm>
            <a:off x="-20250" y="6109200"/>
            <a:ext cx="12232500" cy="748800"/>
          </a:xfrm>
          <a:prstGeom prst="rect">
            <a:avLst/>
          </a:prstGeom>
          <a:solidFill>
            <a:srgbClr val="D4DBE5"/>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par>
                                <p:cTn fill="hold" nodeType="withEffect" presetClass="entr" presetID="10" presetSubtype="0">
                                  <p:stCondLst>
                                    <p:cond delay="50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2020-01-29T14:25:19Z</dcterms:created>
  <dc:creator>Saritha Vinod</dc:creator>
</cp:coreProperties>
</file>