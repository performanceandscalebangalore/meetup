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10287000" cx="18288000"/>
  <p:notesSz cx="10287000" cy="18288000"/>
  <p:embeddedFontLst>
    <p:embeddedFont>
      <p:font typeface="Mate"/>
      <p:regular r:id="rId35"/>
      <p:italic r:id="rId36"/>
    </p:embeddedFont>
    <p:embeddedFont>
      <p:font typeface="Manrope SemiBold"/>
      <p:regular r:id="rId37"/>
      <p:bold r:id="rId38"/>
    </p:embeddedFont>
    <p:embeddedFont>
      <p:font typeface="Manrope"/>
      <p:regular r:id="rId39"/>
      <p:bold r:id="rId40"/>
    </p:embeddedFont>
    <p:embeddedFont>
      <p:font typeface="Manrope Medium"/>
      <p:regular r:id="rId41"/>
      <p:bold r:id="rId42"/>
    </p:embeddedFont>
    <p:embeddedFont>
      <p:font typeface="Manrope ExtraBold"/>
      <p:bold r:id="rId43"/>
    </p:embeddedFont>
    <p:embeddedFont>
      <p:font typeface="Roboto Mono"/>
      <p:regular r:id="rId44"/>
      <p:bold r:id="rId45"/>
      <p:italic r:id="rId46"/>
      <p:boldItalic r:id="rId47"/>
    </p:embeddedFont>
    <p:embeddedFont>
      <p:font typeface="JetBrains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iExGvdlHdhE4jsvdTyZ1x8GWTG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288BA4-1B51-4969-8497-83678D9B9862}">
  <a:tblStyle styleId="{CF288BA4-1B51-4969-8497-83678D9B986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anrope-bold.fntdata"/><Relationship Id="rId42" Type="http://schemas.openxmlformats.org/officeDocument/2006/relationships/font" Target="fonts/ManropeMedium-bold.fntdata"/><Relationship Id="rId41" Type="http://schemas.openxmlformats.org/officeDocument/2006/relationships/font" Target="fonts/ManropeMedium-regular.fntdata"/><Relationship Id="rId44" Type="http://schemas.openxmlformats.org/officeDocument/2006/relationships/font" Target="fonts/RobotoMono-regular.fntdata"/><Relationship Id="rId43" Type="http://schemas.openxmlformats.org/officeDocument/2006/relationships/font" Target="fonts/ManropeExtraBold-bold.fntdata"/><Relationship Id="rId46" Type="http://schemas.openxmlformats.org/officeDocument/2006/relationships/font" Target="fonts/RobotoMono-italic.fntdata"/><Relationship Id="rId45"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JetBrainsMono-regular.fntdata"/><Relationship Id="rId47" Type="http://schemas.openxmlformats.org/officeDocument/2006/relationships/font" Target="fonts/RobotoMono-boldItalic.fntdata"/><Relationship Id="rId49" Type="http://schemas.openxmlformats.org/officeDocument/2006/relationships/font" Target="fonts/JetBrainsMon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Mate-regular.fntdata"/><Relationship Id="rId34" Type="http://schemas.openxmlformats.org/officeDocument/2006/relationships/slide" Target="slides/slide29.xml"/><Relationship Id="rId37" Type="http://schemas.openxmlformats.org/officeDocument/2006/relationships/font" Target="fonts/ManropeSemiBold-regular.fntdata"/><Relationship Id="rId36" Type="http://schemas.openxmlformats.org/officeDocument/2006/relationships/font" Target="fonts/Mate-italic.fntdata"/><Relationship Id="rId39" Type="http://schemas.openxmlformats.org/officeDocument/2006/relationships/font" Target="fonts/Manrope-regular.fntdata"/><Relationship Id="rId38" Type="http://schemas.openxmlformats.org/officeDocument/2006/relationships/font" Target="fonts/ManropeSemi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etBrainsMono-boldItalic.fntdata"/><Relationship Id="rId50" Type="http://schemas.openxmlformats.org/officeDocument/2006/relationships/font" Target="fonts/JetBrainsMono-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 the session. Welcome, house-keeping, and hand over to the first speaker.</a:t>
            </a:r>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notes follow the 35-slide conference deck in order. Text in </a:t>
            </a:r>
            <a:r>
              <a:rPr b="1" lang="en-US" sz="1100">
                <a:latin typeface="Arial"/>
                <a:ea typeface="Arial"/>
                <a:cs typeface="Arial"/>
                <a:sym typeface="Arial"/>
              </a:rPr>
              <a:t>Demo cue</a:t>
            </a:r>
            <a:r>
              <a:rPr lang="en-US" sz="1100">
                <a:latin typeface="Arial"/>
                <a:ea typeface="Arial"/>
                <a:cs typeface="Arial"/>
                <a:sym typeface="Arial"/>
              </a:rPr>
              <a:t> is a prompt for the presenter, not audience-facing content.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8" name="Google Shape;18;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Preview the six parts: kube-burner fundamentals, its measurement family, pprof, and three demos covering CNI policy, KubeVirt density, and KEDA scaling. Call out that the KEDA demo is the longest section because it connects lifecycle latency, telemetry, and profiling.</a:t>
            </a:r>
            <a:endParaRPr/>
          </a:p>
          <a:p>
            <a:pPr indent="0" lvl="0" marL="0" rtl="0" algn="l">
              <a:lnSpc>
                <a:spcPct val="100000"/>
              </a:lnSpc>
              <a:spcBef>
                <a:spcPts val="1200"/>
              </a:spcBef>
              <a:spcAft>
                <a:spcPts val="0"/>
              </a:spcAft>
              <a:buSzPts val="1400"/>
              <a:buNone/>
            </a:pPr>
            <a:r>
              <a:t/>
            </a:r>
            <a:endParaRPr/>
          </a:p>
        </p:txBody>
      </p:sp>
      <p:sp>
        <p:nvSpPr>
          <p:cNvPr id="31" name="Google Shape;3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Transition from the agenda into the core tool. Tell the audience they only need to retain three ideas: kube-burner creates controlled load, observes the cluster, and measures lifecycle outcomes.</a:t>
            </a: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kube-burner asks: “How much load can Kubernetes handle, and how does its performance change as load/scale increases?”</a:t>
            </a:r>
            <a:endParaRPr b="1"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Chaos Engineering asks: “What happens when Kubernetes or the application experiences failures, and can it recover correctly?”</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kube-burner is a vendor-neutral, open-source Kubernetes performance and scale test orchestration framework written in Go. It makes experiments reproducible through workload templates, Prometheus queries, lifecycle measurements, and threshold checks.</a:t>
            </a:r>
            <a:endParaRPr/>
          </a:p>
          <a:p>
            <a:pPr indent="0" lvl="0" marL="0" rtl="0" algn="l">
              <a:lnSpc>
                <a:spcPct val="115000"/>
              </a:lnSpc>
              <a:spcBef>
                <a:spcPts val="1200"/>
              </a:spcBef>
              <a:spcAft>
                <a:spcPts val="0"/>
              </a:spcAft>
              <a:buClr>
                <a:schemeClr val="dk1"/>
              </a:buClr>
              <a:buSzPts val="1100"/>
              <a:buFont typeface="Arial"/>
              <a:buNone/>
            </a:pPr>
            <a:r>
              <a:rPr lang="en-US"/>
              <a:t>Emphasize that it is platform agnostic: the purpose is to establish a baseline, reveal bottlenecks, and catch regressions before users encounter them.</a:t>
            </a:r>
            <a:endParaRPr/>
          </a:p>
          <a:p>
            <a:pPr indent="0" lvl="0" marL="0" rtl="0" algn="l">
              <a:lnSpc>
                <a:spcPct val="100000"/>
              </a:lnSpc>
              <a:spcBef>
                <a:spcPts val="1200"/>
              </a:spcBef>
              <a:spcAft>
                <a:spcPts val="0"/>
              </a:spcAft>
              <a:buSzPts val="1400"/>
              <a:buNone/>
            </a:pPr>
            <a:r>
              <a:t/>
            </a:r>
            <a:endParaRPr/>
          </a:p>
        </p:txBody>
      </p:sp>
      <p:sp>
        <p:nvSpPr>
          <p:cNvPr id="85" name="Google Shape;8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Use the visual to reinforce the previous definition. Do not describe kube-burner as a load generator alone; it combines workload generation with the evidence needed to interpret the run.</a:t>
            </a:r>
            <a:endParaRPr/>
          </a:p>
          <a:p>
            <a:pPr indent="0" lvl="0" marL="0" rtl="0" algn="l">
              <a:lnSpc>
                <a:spcPct val="100000"/>
              </a:lnSpc>
              <a:spcBef>
                <a:spcPts val="1200"/>
              </a:spcBef>
              <a:spcAft>
                <a:spcPts val="0"/>
              </a:spcAft>
              <a:buSzPts val="1400"/>
              <a:buNone/>
            </a:pPr>
            <a:r>
              <a:t/>
            </a:r>
            <a:endParaRPr/>
          </a:p>
        </p:txBody>
      </p:sp>
      <p:sp>
        <p:nvSpPr>
          <p:cNvPr id="97" name="Google Shape;97;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Start with YAML: it defines jobs, resource templates, and actions such as create, read, patch, and delete. During the run, kube-burner scrapes configured Prometheus queries and watches resource transitions.</a:t>
            </a:r>
            <a:endParaRPr/>
          </a:p>
          <a:p>
            <a:pPr indent="0" lvl="0" marL="0" rtl="0" algn="l">
              <a:lnSpc>
                <a:spcPct val="115000"/>
              </a:lnSpc>
              <a:spcBef>
                <a:spcPts val="1200"/>
              </a:spcBef>
              <a:spcAft>
                <a:spcPts val="0"/>
              </a:spcAft>
              <a:buClr>
                <a:schemeClr val="dk1"/>
              </a:buClr>
              <a:buSzPts val="1100"/>
              <a:buFont typeface="Arial"/>
              <a:buNone/>
            </a:pPr>
            <a:r>
              <a:rPr lang="en-US"/>
              <a:t>Results can remain as local JSON or be indexed in Elasticsearch or OpenSearch. The important distinction is that platform metrics show system behavior while application metrics explain workload-specific behavior.</a:t>
            </a:r>
            <a:endParaRPr/>
          </a:p>
          <a:p>
            <a:pPr indent="0" lvl="0" marL="0" rtl="0" algn="l">
              <a:lnSpc>
                <a:spcPct val="100000"/>
              </a:lnSpc>
              <a:spcBef>
                <a:spcPts val="1200"/>
              </a:spcBef>
              <a:spcAft>
                <a:spcPts val="0"/>
              </a:spcAft>
              <a:buSzPts val="1400"/>
              <a:buNone/>
            </a:pPr>
            <a:r>
              <a:t/>
            </a:r>
            <a:endParaRPr/>
          </a:p>
        </p:txBody>
      </p:sp>
      <p:sp>
        <p:nvSpPr>
          <p:cNvPr id="104" name="Google Shape;104;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7: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125" name="Google Shape;125;p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Compare the Kubernetes control plane to the IRCTC booking backend: every request competes for authentication, availability checks, rules, and assignment. Worker nodes are the finite train and seat inventory, and workloads are many passengers submitting requests at once.</a:t>
            </a:r>
            <a:endParaRPr/>
          </a:p>
          <a:p>
            <a:pPr indent="0" lvl="0" marL="0" rtl="0" algn="l">
              <a:lnSpc>
                <a:spcPct val="115000"/>
              </a:lnSpc>
              <a:spcBef>
                <a:spcPts val="1200"/>
              </a:spcBef>
              <a:spcAft>
                <a:spcPts val="0"/>
              </a:spcAft>
              <a:buClr>
                <a:schemeClr val="dk1"/>
              </a:buClr>
              <a:buSzPts val="1100"/>
              <a:buFont typeface="Arial"/>
              <a:buNone/>
            </a:pPr>
            <a:r>
              <a:rPr lang="en-US"/>
              <a:t>kube-burner is the controlled Tatkal-rush drill. A quiet cluster may look healthy; the experiment shows what happens when many objects arrive concurrently.</a:t>
            </a:r>
            <a:endParaRPr/>
          </a:p>
          <a:p>
            <a:pPr indent="0" lvl="0" marL="0" rtl="0" algn="l">
              <a:lnSpc>
                <a:spcPct val="115000"/>
              </a:lnSpc>
              <a:spcBef>
                <a:spcPts val="1200"/>
              </a:spcBef>
              <a:spcAft>
                <a:spcPts val="0"/>
              </a:spcAft>
              <a:buClr>
                <a:schemeClr val="dk1"/>
              </a:buClr>
              <a:buSzPts val="1100"/>
              <a:buFont typeface="Arial"/>
              <a:buNone/>
            </a:pPr>
            <a:r>
              <a:rPr lang="en-US"/>
              <a:t>—-----</a:t>
            </a:r>
            <a:endParaRPr/>
          </a:p>
          <a:p>
            <a:pPr indent="0" lvl="0" marL="381000" marR="381000" rtl="0" algn="l">
              <a:lnSpc>
                <a:spcPct val="115000"/>
              </a:lnSpc>
              <a:spcBef>
                <a:spcPts val="1200"/>
              </a:spcBef>
              <a:spcAft>
                <a:spcPts val="0"/>
              </a:spcAft>
              <a:buClr>
                <a:schemeClr val="dk1"/>
              </a:buClr>
              <a:buSzPts val="1100"/>
              <a:buFont typeface="Arial"/>
              <a:buNone/>
            </a:pPr>
            <a:r>
              <a:rPr lang="en-US"/>
              <a:t>A cluster can look healthy while it is quiet. The real question is what happens when thousands of objects arrive together.</a:t>
            </a:r>
            <a:endParaRPr/>
          </a:p>
          <a:p>
            <a:pPr indent="0" lvl="0" marL="381000" marR="381000" rtl="0" algn="l">
              <a:lnSpc>
                <a:spcPct val="115000"/>
              </a:lnSpc>
              <a:spcBef>
                <a:spcPts val="1200"/>
              </a:spcBef>
              <a:spcAft>
                <a:spcPts val="0"/>
              </a:spcAft>
              <a:buClr>
                <a:schemeClr val="dk1"/>
              </a:buClr>
              <a:buSzPts val="1100"/>
              <a:buFont typeface="Arial"/>
              <a:buNone/>
            </a:pPr>
            <a:r>
              <a:rPr lang="en-US"/>
              <a:t>Think of IRCTC the instant Tatkal booking opens: the booking backend must authenticate users, check availability, enforce reservation rules, and assign a limited number of seats while a huge wave of requests arrives at once.</a:t>
            </a:r>
            <a:endParaRPr/>
          </a:p>
          <a:p>
            <a:pPr indent="0" lvl="0" marL="381000" marR="381000" rtl="0" algn="l">
              <a:lnSpc>
                <a:spcPct val="115000"/>
              </a:lnSpc>
              <a:spcBef>
                <a:spcPts val="1200"/>
              </a:spcBef>
              <a:spcAft>
                <a:spcPts val="0"/>
              </a:spcAft>
              <a:buClr>
                <a:schemeClr val="dk1"/>
              </a:buClr>
              <a:buSzPts val="1100"/>
              <a:buFont typeface="Arial"/>
              <a:buNone/>
            </a:pPr>
            <a:r>
              <a:rPr lang="en-US"/>
              <a:t>In Kubernetes, the control plane performs that coordination, worker nodes provide finite capacity, and workloads are the booking requests. kube-burner recreates that rush so we can measure request latency, failures, and capacity limits before real production traffic does.</a:t>
            </a:r>
            <a:endParaRPr/>
          </a:p>
          <a:p>
            <a:pPr indent="0" lvl="0" marL="0" rtl="0" algn="l">
              <a:lnSpc>
                <a:spcPct val="100000"/>
              </a:lnSpc>
              <a:spcBef>
                <a:spcPts val="1200"/>
              </a:spcBef>
              <a:spcAft>
                <a:spcPts val="0"/>
              </a:spcAft>
              <a:buSzPts val="1400"/>
              <a:buNone/>
            </a:pPr>
            <a:r>
              <a:t/>
            </a:r>
            <a:endParaRPr/>
          </a:p>
        </p:txBody>
      </p:sp>
      <p:sp>
        <p:nvSpPr>
          <p:cNvPr id="127" name="Google Shape;127;p7: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Move from generating load to measuring its outcome. Explain that a useful benchmark needs both the system-wide view and the per-object lifecycle view.</a:t>
            </a:r>
            <a:endParaRPr/>
          </a:p>
          <a:p>
            <a:pPr indent="0" lvl="0" marL="0" rtl="0" algn="l">
              <a:lnSpc>
                <a:spcPct val="100000"/>
              </a:lnSpc>
              <a:spcBef>
                <a:spcPts val="1200"/>
              </a:spcBef>
              <a:spcAft>
                <a:spcPts val="0"/>
              </a:spcAft>
              <a:buSzPts val="1400"/>
              <a:buNone/>
            </a:pPr>
            <a:r>
              <a:t/>
            </a:r>
            <a:endParaRPr/>
          </a:p>
        </p:txBody>
      </p:sp>
      <p:sp>
        <p:nvSpPr>
          <p:cNvPr id="147" name="Google Shape;14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9: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155" name="Google Shape;155;p9: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&gt; Prometheus is essential, but it samples. It can show an API-server spike or node pressure, yet it may not preserve the exact instant every object changed condition.</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&gt; Measurements fill that gap by watching Kubernetes state transitions directly. Prometheus gives us the surrounding system behavior; measurements give us the end-to-end outcome experienced by each object.</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Key message: You need both views. System pressure explains lifecycle latency.</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1"/>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t/>
            </a:r>
            <a:endParaRPr sz="1050">
              <a:highlight>
                <a:schemeClr val="lt1"/>
              </a:highlight>
              <a:latin typeface="Courier New"/>
              <a:ea typeface="Courier New"/>
              <a:cs typeface="Courier New"/>
              <a:sym typeface="Courier New"/>
            </a:endParaRPr>
          </a:p>
        </p:txBody>
      </p:sp>
      <p:sp>
        <p:nvSpPr>
          <p:cNvPr id="157" name="Google Shape;157;p9: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0: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175" name="Google Shape;175;p10: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35714"/>
              </a:lnSpc>
              <a:spcBef>
                <a:spcPts val="0"/>
              </a:spcBef>
              <a:spcAft>
                <a:spcPts val="0"/>
              </a:spcAft>
              <a:buSzPts val="1400"/>
              <a:buNone/>
            </a:pPr>
            <a:r>
              <a:rPr lang="en-US" sz="1050">
                <a:highlight>
                  <a:schemeClr val="lt1"/>
                </a:highlight>
                <a:latin typeface="Courier New"/>
                <a:ea typeface="Courier New"/>
                <a:cs typeface="Courier New"/>
                <a:sym typeface="Courier New"/>
              </a:rPr>
              <a:t>&gt; For every object, kube-burner creates a detailed record. Across the population, it calculates quantiles.</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400"/>
              <a:buNone/>
            </a:pPr>
            <a:r>
              <a:rPr lang="en-US" sz="1050">
                <a:highlight>
                  <a:schemeClr val="lt1"/>
                </a:highlight>
                <a:latin typeface="Courier New"/>
                <a:ea typeface="Courier New"/>
                <a:cs typeface="Courier New"/>
                <a:sym typeface="Courier New"/>
              </a:rPr>
              <a:t>&gt; P50 describes the typical object; P95 and P99 expose the slow tail that averages hide. We can then encode an expectation—for example, P99 Pod Ready must stay below two seconds.</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400"/>
              <a:buNone/>
            </a:pPr>
            <a:r>
              <a:rPr lang="en-US" sz="1050">
                <a:highlight>
                  <a:schemeClr val="lt1"/>
                </a:highlight>
                <a:latin typeface="Courier New"/>
                <a:ea typeface="Courier New"/>
                <a:cs typeface="Courier New"/>
                <a:sym typeface="Courier New"/>
              </a:rPr>
              <a:t>&gt; A breach is machine-readable, so the benchmark can become a release or CI gate.</a:t>
            </a:r>
            <a:endParaRPr sz="1050">
              <a:highlight>
                <a:schemeClr val="lt1"/>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t/>
            </a:r>
            <a:endParaRPr>
              <a:highlight>
                <a:schemeClr val="lt1"/>
              </a:highlight>
            </a:endParaRPr>
          </a:p>
        </p:txBody>
      </p:sp>
      <p:sp>
        <p:nvSpPr>
          <p:cNvPr id="177" name="Google Shape;177;p10: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Lifecycle latency tells us that a delay exists; pprof helps attribute CPU time or retained heap to the code paths involved. This section explains how kube-burner captures profiles without requiring manual collection during a run.</a:t>
            </a:r>
            <a:endParaRPr/>
          </a:p>
          <a:p>
            <a:pPr indent="0" lvl="0" marL="0" rtl="0" algn="l">
              <a:lnSpc>
                <a:spcPct val="100000"/>
              </a:lnSpc>
              <a:spcBef>
                <a:spcPts val="1200"/>
              </a:spcBef>
              <a:spcAft>
                <a:spcPts val="0"/>
              </a:spcAft>
              <a:buSzPts val="1400"/>
              <a:buNone/>
            </a:pPr>
            <a:r>
              <a:t/>
            </a:r>
            <a:endParaRPr/>
          </a:p>
        </p:txBody>
      </p:sp>
      <p:sp>
        <p:nvSpPr>
          <p:cNvPr id="207" name="Google Shape;20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pod profiling, kube-burner selects target pods using namespace and label selectors, then uses a curl-like request from inside the selected pod to fetch the pprof endpoint. Profiles are captured at measurement start and stop, with optional periodic captures through </a:t>
            </a:r>
            <a:r>
              <a:rPr lang="en-US" sz="1100">
                <a:solidFill>
                  <a:srgbClr val="188038"/>
                </a:solidFill>
                <a:latin typeface="Roboto Mono"/>
                <a:ea typeface="Roboto Mono"/>
                <a:cs typeface="Roboto Mono"/>
                <a:sym typeface="Roboto Mono"/>
              </a:rPr>
              <a:t>pprofInterval</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Mention the practical requirement: the target pod needs curl. For distroless images, use a separate curl-capable helper pod that can reach the profiling endpoint.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rPr lang="en-US"/>
              <a:t>go v1.27 would make use of goroutine leaks profiling to implementation </a:t>
            </a:r>
            <a:endParaRPr/>
          </a:p>
        </p:txBody>
      </p:sp>
      <p:sp>
        <p:nvSpPr>
          <p:cNvPr id="215" name="Google Shape;215;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35714"/>
              </a:lnSpc>
              <a:spcBef>
                <a:spcPts val="0"/>
              </a:spcBef>
              <a:spcAft>
                <a:spcPts val="0"/>
              </a:spcAft>
              <a:buClr>
                <a:schemeClr val="dk1"/>
              </a:buClr>
              <a:buSzPts val="1100"/>
              <a:buFont typeface="Arial"/>
              <a:buNone/>
            </a:pPr>
            <a:r>
              <a:rPr b="1" lang="en-US" sz="1050">
                <a:highlight>
                  <a:schemeClr val="lt1"/>
                </a:highlight>
                <a:latin typeface="Courier New"/>
                <a:ea typeface="Courier New"/>
                <a:cs typeface="Courier New"/>
                <a:sym typeface="Courier New"/>
              </a:rPr>
              <a:t>What the profile files answer</a:t>
            </a:r>
            <a:endParaRPr b="1"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 Profile | Question answered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 CPU | Which functions consumed CPU while the experiment was running?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 Heap | Which functions retained memory at the time of capture?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 Start versus end heap | Did retained memory grow across the experiment?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 Periodic profiles | At what phase did a hotspot or allocation pattern appear?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US" sz="1050">
                <a:highlight>
                  <a:schemeClr val="lt1"/>
                </a:highlight>
                <a:latin typeface="Courier New"/>
                <a:ea typeface="Courier New"/>
                <a:cs typeface="Courier New"/>
                <a:sym typeface="Courier New"/>
              </a:rPr>
              <a:t>### Speaker notes</a:t>
            </a:r>
            <a:endParaRPr b="1"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&gt; Lifecycle measurements tell us which transition became slow. pprof takes the next step and attributes that slowdown to code.</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&gt;</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&gt; For a Pod target, kube-burner execs into a selected Pod and curls its Go profiling endpoint at the start and end, or periodically. For node profiling, it schedules a helper DaemonSet on selected workers and reaches kubelet or CRI-O through host endpoints and sockets.</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&gt;</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050">
                <a:highlight>
                  <a:schemeClr val="lt1"/>
                </a:highlight>
                <a:latin typeface="Courier New"/>
                <a:ea typeface="Courier New"/>
                <a:cs typeface="Courier New"/>
                <a:sym typeface="Courier New"/>
              </a:rPr>
              <a:t>&gt; We can then compare CPU hotspots and retained heap before and after the experiment.</a:t>
            </a:r>
            <a:endParaRPr sz="1050">
              <a:highlight>
                <a:schemeClr val="lt1"/>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t/>
            </a:r>
            <a:endParaRPr>
              <a:highlight>
                <a:schemeClr val="lt1"/>
              </a:highlight>
            </a:endParaRPr>
          </a:p>
        </p:txBody>
      </p:sp>
      <p:sp>
        <p:nvSpPr>
          <p:cNvPr id="223" name="Google Shape;223;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35714"/>
              </a:lnSpc>
              <a:spcBef>
                <a:spcPts val="0"/>
              </a:spcBef>
              <a:spcAft>
                <a:spcPts val="0"/>
              </a:spcAft>
              <a:buSzPts val="1100"/>
              <a:buNone/>
            </a:pPr>
            <a:r>
              <a:rPr b="1" lang="en-US" sz="1050">
                <a:highlight>
                  <a:schemeClr val="lt1"/>
                </a:highlight>
                <a:latin typeface="Courier New"/>
                <a:ea typeface="Courier New"/>
                <a:cs typeface="Courier New"/>
                <a:sym typeface="Courier New"/>
              </a:rPr>
              <a:t>What the profile files answer</a:t>
            </a:r>
            <a:endParaRPr b="1"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 Profile | Question answered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 CPU | Which functions consumed CPU while the experiment was running?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 Heap | Which functions retained memory at the time of capture?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 Start versus end heap | Did retained memory grow across the experiment?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 Periodic profiles | At what phase did a hotspot or allocation pattern appear?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b="1" lang="en-US" sz="1050">
                <a:highlight>
                  <a:schemeClr val="lt1"/>
                </a:highlight>
                <a:latin typeface="Courier New"/>
                <a:ea typeface="Courier New"/>
                <a:cs typeface="Courier New"/>
                <a:sym typeface="Courier New"/>
              </a:rPr>
              <a:t>### Speaker notes</a:t>
            </a:r>
            <a:endParaRPr b="1"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&gt; Lifecycle measurements tell us which transition became slow. pprof takes the next step and attributes that slowdown to code.</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&gt;</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&gt; For a Pod target, kube-burner execs into a selected Pod and curls its Go profiling endpoint at the start and end, or periodically. For node profiling, it schedules a helper DaemonSet on selected workers and reaches kubelet or CRI-O through host endpoints and sockets.</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&gt;</a:t>
            </a:r>
            <a:endParaRPr sz="1050">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lang="en-US" sz="1050">
                <a:highlight>
                  <a:schemeClr val="lt1"/>
                </a:highlight>
                <a:latin typeface="Courier New"/>
                <a:ea typeface="Courier New"/>
                <a:cs typeface="Courier New"/>
                <a:sym typeface="Courier New"/>
              </a:rPr>
              <a:t>&gt; We can then compare CPU hotspots and retained heap before and after the experiment.</a:t>
            </a:r>
            <a:endParaRPr sz="1050">
              <a:highlight>
                <a:schemeClr val="lt1"/>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t/>
            </a:r>
            <a:endParaRPr>
              <a:highlight>
                <a:schemeClr val="lt1"/>
              </a:highlight>
            </a:endParaRPr>
          </a:p>
        </p:txBody>
      </p:sp>
      <p:sp>
        <p:nvSpPr>
          <p:cNvPr id="231" name="Google Shape;231;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Introduce the final case study as an end-to-end RabbitMQ scaler experiment. The aim is to establish a reproducible baseline first, then identify which phase regresses as ScaledObject density increases.</a:t>
            </a:r>
            <a:endParaRPr/>
          </a:p>
          <a:p>
            <a:pPr indent="0" lvl="0" marL="0" rtl="0" algn="l">
              <a:lnSpc>
                <a:spcPct val="100000"/>
              </a:lnSpc>
              <a:spcBef>
                <a:spcPts val="1200"/>
              </a:spcBef>
              <a:spcAft>
                <a:spcPts val="0"/>
              </a:spcAft>
              <a:buSzPts val="1400"/>
              <a:buNone/>
            </a:pPr>
            <a:r>
              <a:t/>
            </a:r>
            <a:endParaRPr/>
          </a:p>
        </p:txBody>
      </p:sp>
      <p:sp>
        <p:nvSpPr>
          <p:cNvPr id="238" name="Google Shape;238;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lifecycle measurement follows ScaledObject creation, KEDA-created HPA, the </a:t>
            </a:r>
            <a:r>
              <a:rPr lang="en-US" sz="1100">
                <a:solidFill>
                  <a:srgbClr val="188038"/>
                </a:solidFill>
                <a:latin typeface="Roboto Mono"/>
                <a:ea typeface="Roboto Mono"/>
                <a:cs typeface="Roboto Mono"/>
                <a:sym typeface="Roboto Mono"/>
              </a:rPr>
              <a:t>Active=True</a:t>
            </a:r>
            <a:r>
              <a:rPr lang="en-US" sz="1100">
                <a:latin typeface="Arial"/>
                <a:ea typeface="Arial"/>
                <a:cs typeface="Arial"/>
                <a:sym typeface="Arial"/>
              </a:rPr>
              <a:t> condition, and target deployment readiness. These events create a phase-split latency baseline.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Alongside it, collect KEDA controller metrics, API-server and etcd latency, replica state, node resource behavior, pod latency, and pprof snapshots. This gives both an outcome and the evidence required to explain it.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47" name="Google Shape;247;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RabbitMQ supplies backlog; the KEDA operator reconciles ScaledObjects and creates HPAs; the metrics apiserver serves external metrics; and the HPA plus consumer deployment requests and realizes replicas.</a:t>
            </a:r>
            <a:endParaRPr/>
          </a:p>
          <a:p>
            <a:pPr indent="0" lvl="0" marL="0" rtl="0" algn="l">
              <a:lnSpc>
                <a:spcPct val="115000"/>
              </a:lnSpc>
              <a:spcBef>
                <a:spcPts val="1200"/>
              </a:spcBef>
              <a:spcAft>
                <a:spcPts val="0"/>
              </a:spcAft>
              <a:buClr>
                <a:schemeClr val="dk1"/>
              </a:buClr>
              <a:buSzPts val="1100"/>
              <a:buFont typeface="Arial"/>
              <a:buNone/>
            </a:pPr>
            <a:r>
              <a:rPr lang="en-US"/>
              <a:t>Prometheus remains the query source, while kube-burner’s local indexer writes a portable JSON result set. Be precise: the local indexer does not replace Prometheus with OpenSearch.</a:t>
            </a:r>
            <a:endParaRPr/>
          </a:p>
          <a:p>
            <a:pPr indent="0" lvl="0" marL="0" rtl="0" algn="l">
              <a:lnSpc>
                <a:spcPct val="100000"/>
              </a:lnSpc>
              <a:spcBef>
                <a:spcPts val="1200"/>
              </a:spcBef>
              <a:spcAft>
                <a:spcPts val="0"/>
              </a:spcAft>
              <a:buSzPts val="1400"/>
              <a:buNone/>
            </a:pPr>
            <a:r>
              <a:t/>
            </a:r>
            <a:endParaRPr/>
          </a:p>
        </p:txBody>
      </p:sp>
      <p:sp>
        <p:nvSpPr>
          <p:cNvPr id="270" name="Google Shape;270;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Walk the run in order: expose KEDA metrics, create the pprof client, create queues, generate RabbitMQ backlog, create consumer deployments and ScaledObjects, observe them, then delete ScaledObjects before consumers and the remaining helpers.</a:t>
            </a:r>
            <a:endParaRPr/>
          </a:p>
          <a:p>
            <a:pPr indent="0" lvl="0" marL="0" rtl="0" algn="l">
              <a:lnSpc>
                <a:spcPct val="115000"/>
              </a:lnSpc>
              <a:spcBef>
                <a:spcPts val="1200"/>
              </a:spcBef>
              <a:spcAft>
                <a:spcPts val="0"/>
              </a:spcAft>
              <a:buClr>
                <a:schemeClr val="dk1"/>
              </a:buClr>
              <a:buSzPts val="1100"/>
              <a:buFont typeface="Arial"/>
              <a:buNone/>
            </a:pPr>
            <a:r>
              <a:rPr lang="en-US"/>
              <a:t>This deletion order matters because it leaves the namespace clean and avoids orphaned consumer deployments.</a:t>
            </a:r>
            <a:endParaRPr/>
          </a:p>
          <a:p>
            <a:pPr indent="0" lvl="0" marL="0" rtl="0" algn="l">
              <a:lnSpc>
                <a:spcPct val="100000"/>
              </a:lnSpc>
              <a:spcBef>
                <a:spcPts val="1200"/>
              </a:spcBef>
              <a:spcAft>
                <a:spcPts val="0"/>
              </a:spcAft>
              <a:buSzPts val="1400"/>
              <a:buNone/>
            </a:pPr>
            <a:r>
              <a:t/>
            </a:r>
            <a:endParaRPr/>
          </a:p>
        </p:txBody>
      </p:sp>
      <p:sp>
        <p:nvSpPr>
          <p:cNvPr id="283" name="Google Shape;283;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9: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19: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293" name="Google Shape;293;p19: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Demo cue:</a:t>
            </a:r>
            <a:r>
              <a:rPr lang="en-US" sz="1100">
                <a:latin typeface="Arial"/>
                <a:ea typeface="Arial"/>
                <a:cs typeface="Arial"/>
                <a:sym typeface="Arial"/>
              </a:rPr>
              <a:t> Show the queues, producer jobs, and the initial consumer deployment/ScaledObject creation. Explain the scaling controls: zero minimum replicas, eight maximum replicas, five-second polling, 15-second cooldown, and a queue length target of 25.</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Direct attention to the moment KEDA creates the HPA and the consumer deployment begins to become ready.</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95" name="Google Shape;295;p19: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0: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20: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304" name="Google Shape;304;p20: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Demo cue:</a:t>
            </a:r>
            <a:r>
              <a:rPr lang="en-US" sz="1100">
                <a:latin typeface="Arial"/>
                <a:ea typeface="Arial"/>
                <a:cs typeface="Arial"/>
                <a:sym typeface="Arial"/>
              </a:rPr>
              <a:t> Show the Grafana or Prometheus panels alongside Kubernetes objects. Correlate desired and current replicas with KEDA activity, API-server behavior, etcd latency, and target readiness rather than treating any one graph as the conclusion.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Remind the audience that this ten-object run is a baseline. It is not a statement about the maximum number of ScaledObjects the cluster can support.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06" name="Google Shape;306;p20: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script selects the end profile for the KEDA operator and derives the matching component files. It prints CPU samples, end in-use heap, and start-to-end retained-heap growth for the operator, metrics apiserver, and admission webhook.</a:t>
            </a:r>
            <a:endParaRPr/>
          </a:p>
          <a:p>
            <a:pPr indent="0" lvl="0" marL="0" rtl="0" algn="l">
              <a:lnSpc>
                <a:spcPct val="115000"/>
              </a:lnSpc>
              <a:spcBef>
                <a:spcPts val="1200"/>
              </a:spcBef>
              <a:spcAft>
                <a:spcPts val="0"/>
              </a:spcAft>
              <a:buClr>
                <a:schemeClr val="dk1"/>
              </a:buClr>
              <a:buSzPts val="1100"/>
              <a:buFont typeface="Arial"/>
              <a:buNone/>
            </a:pPr>
            <a:r>
              <a:rPr lang="en-US"/>
              <a:t>The practical point is repeatability: the same commands can compare identical windows between releases or density levels.</a:t>
            </a:r>
            <a:endParaRPr/>
          </a:p>
          <a:p>
            <a:pPr indent="0" lvl="0" marL="0" rtl="0" algn="l">
              <a:lnSpc>
                <a:spcPct val="100000"/>
              </a:lnSpc>
              <a:spcBef>
                <a:spcPts val="1200"/>
              </a:spcBef>
              <a:spcAft>
                <a:spcPts val="0"/>
              </a:spcAft>
              <a:buSzPts val="1400"/>
              <a:buNone/>
            </a:pPr>
            <a:r>
              <a:t/>
            </a:r>
            <a:endParaRPr/>
          </a:p>
        </p:txBody>
      </p:sp>
      <p:sp>
        <p:nvSpPr>
          <p:cNvPr id="315" name="Google Shape;315;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i="1" lang="en-US" sz="1300">
                <a:solidFill>
                  <a:srgbClr val="4B5563"/>
                </a:solidFill>
                <a:latin typeface="Arial"/>
                <a:ea typeface="Arial"/>
                <a:cs typeface="Arial"/>
                <a:sym typeface="Arial"/>
              </a:rPr>
              <a:t>Source: 10 records in scaledObjectLatencyMeasurement-rabbitmq-consumers.json. P95 uses linear interpolation over the recorded samples. Created-to-HPA is 52% of the mean 4.23-second path.</a:t>
            </a:r>
            <a:endParaRPr sz="1300">
              <a:solidFill>
                <a:srgbClr val="4B5563"/>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Explain the three questions behind the profile comparison: was CPU saturated, how much heap is retained at the end, and which paths account for net heap growth? Pair those answers with workload and node telemetry before assigning blame.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pprof values are Go </a:t>
            </a:r>
            <a:r>
              <a:rPr lang="en-US" sz="1100">
                <a:solidFill>
                  <a:srgbClr val="188038"/>
                </a:solidFill>
                <a:latin typeface="Roboto Mono"/>
                <a:ea typeface="Roboto Mono"/>
                <a:cs typeface="Roboto Mono"/>
                <a:sym typeface="Roboto Mono"/>
              </a:rPr>
              <a:t>inuse_space</a:t>
            </a:r>
            <a:r>
              <a:rPr lang="en-US" sz="1100">
                <a:latin typeface="Arial"/>
                <a:ea typeface="Arial"/>
                <a:cs typeface="Arial"/>
                <a:sym typeface="Arial"/>
              </a:rPr>
              <a:t> attribution, not full container RSS, so they must not be presented as total process memory.</a:t>
            </a:r>
            <a:endParaRPr sz="1100">
              <a:latin typeface="Arial"/>
              <a:ea typeface="Arial"/>
              <a:cs typeface="Arial"/>
              <a:sym typeface="Arial"/>
            </a:endParaRPr>
          </a:p>
          <a:p>
            <a:pPr indent="0" lvl="0" marL="0" rtl="0" algn="l">
              <a:lnSpc>
                <a:spcPct val="115000"/>
              </a:lnSpc>
              <a:spcBef>
                <a:spcPts val="1200"/>
              </a:spcBef>
              <a:spcAft>
                <a:spcPts val="1000"/>
              </a:spcAft>
              <a:buSzPts val="1100"/>
              <a:buNone/>
            </a:pPr>
            <a:r>
              <a:t/>
            </a:r>
            <a:endParaRPr sz="1300">
              <a:solidFill>
                <a:srgbClr val="4B5563"/>
              </a:solidFill>
              <a:latin typeface="Arial"/>
              <a:ea typeface="Arial"/>
              <a:cs typeface="Arial"/>
              <a:sym typeface="Arial"/>
            </a:endParaRPr>
          </a:p>
        </p:txBody>
      </p:sp>
      <p:sp>
        <p:nvSpPr>
          <p:cNvPr id="324" name="Google Shape;324;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operator recorded 210 milliseconds of sampled CPU and 2.51 MiB of retained heap growth. The metrics apiserver recorded 100 milliseconds and 1.38 MiB, while the admission webhook recorded 50 milliseconds and no retained-heap growth.</a:t>
            </a:r>
            <a:endParaRPr/>
          </a:p>
          <a:p>
            <a:pPr indent="0" lvl="0" marL="0" rtl="0" algn="l">
              <a:lnSpc>
                <a:spcPct val="115000"/>
              </a:lnSpc>
              <a:spcBef>
                <a:spcPts val="1200"/>
              </a:spcBef>
              <a:spcAft>
                <a:spcPts val="0"/>
              </a:spcAft>
              <a:buClr>
                <a:schemeClr val="dk1"/>
              </a:buClr>
              <a:buSzPts val="1100"/>
              <a:buFont typeface="Arial"/>
              <a:buNone/>
            </a:pPr>
            <a:r>
              <a:rPr lang="en-US"/>
              <a:t>The conclusion is limited to this capture window: there is no CPU saturation or large retained-allocation signature here. Earlier instability was node memory pressure, not evidence of a KEDA memory leak.</a:t>
            </a:r>
            <a:endParaRPr/>
          </a:p>
          <a:p>
            <a:pPr indent="0" lvl="0" marL="0" rtl="0" algn="l">
              <a:lnSpc>
                <a:spcPct val="100000"/>
              </a:lnSpc>
              <a:spcBef>
                <a:spcPts val="1200"/>
              </a:spcBef>
              <a:spcAft>
                <a:spcPts val="0"/>
              </a:spcAft>
              <a:buSzPts val="1400"/>
              <a:buNone/>
            </a:pPr>
            <a:r>
              <a:t/>
            </a:r>
            <a:endParaRPr/>
          </a:p>
        </p:txBody>
      </p:sp>
      <p:sp>
        <p:nvSpPr>
          <p:cNvPr id="332" name="Google Shape;332;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1000"/>
              </a:spcAft>
              <a:buSzPts val="1100"/>
              <a:buNone/>
            </a:pPr>
            <a:r>
              <a:rPr i="1" lang="en-US" sz="1300">
                <a:solidFill>
                  <a:srgbClr val="4B5563"/>
                </a:solidFill>
                <a:latin typeface="Arial"/>
                <a:ea typeface="Arial"/>
                <a:cs typeface="Arial"/>
                <a:sym typeface="Arial"/>
              </a:rPr>
              <a:t>Source: 10 records in scaledObjectLatencyMeasurement-rabbitmq-consumers.json. P95 uses linear interpolation over the recorded samples. Created-to-HPA is 52% of the mean 4.23-second path.</a:t>
            </a:r>
            <a:endParaRPr sz="1700"/>
          </a:p>
        </p:txBody>
      </p:sp>
      <p:sp>
        <p:nvSpPr>
          <p:cNvPr id="349" name="Google Shape;349;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456704698e0afe5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3" name="Google Shape;363;h456704698e0afe5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h456704698e0afe5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h456704698e0afe58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9" name="Google Shape;369;h456704698e0afe58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h456704698e0afe58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with the ask: slides link, QR, and where to find you during the day.</a:t>
            </a:r>
            <a:endParaRPr/>
          </a:p>
        </p:txBody>
      </p:sp>
      <p:sp>
        <p:nvSpPr>
          <p:cNvPr id="384" name="Google Shape;384;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7: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27: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
        <p:nvSpPr>
          <p:cNvPr id="397" name="Google Shape;397;p2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p27: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29"/>
          <p:cNvSpPr txBox="1"/>
          <p:nvPr>
            <p:ph idx="12" type="sldNum"/>
          </p:nvPr>
        </p:nvSpPr>
        <p:spPr>
          <a:xfrm>
            <a:off x="17113568" y="9499702"/>
            <a:ext cx="1097400" cy="787500"/>
          </a:xfrm>
          <a:prstGeom prst="rect">
            <a:avLst/>
          </a:prstGeom>
          <a:noFill/>
          <a:ln>
            <a:noFill/>
          </a:ln>
        </p:spPr>
        <p:txBody>
          <a:bodyPr anchorCtr="0" anchor="t" bIns="167625" lIns="167625" spcFirstLastPara="1" rIns="167625" wrap="square" tIns="167625">
            <a:noAutofit/>
          </a:bodyPr>
          <a:lstStyle>
            <a:lvl1pPr indent="0" lvl="0"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3dd3ca6b4_45_0)">
  <p:cSld name="Generated (g3f3dd3ca6b4_45_0)">
    <p:spTree>
      <p:nvGrpSpPr>
        <p:cNvPr id="13" name="Shape 13"/>
        <p:cNvGrpSpPr/>
        <p:nvPr/>
      </p:nvGrpSpPr>
      <p:grpSpPr>
        <a:xfrm>
          <a:off x="0" y="0"/>
          <a:ext cx="0" cy="0"/>
          <a:chOff x="0" y="0"/>
          <a:chExt cx="0" cy="0"/>
        </a:xfrm>
      </p:grpSpPr>
      <p:sp>
        <p:nvSpPr>
          <p:cNvPr id="14" name="Google Shape;14;p30"/>
          <p:cNvSpPr txBox="1"/>
          <p:nvPr>
            <p:ph idx="12" type="sldNum"/>
          </p:nvPr>
        </p:nvSpPr>
        <p:spPr>
          <a:xfrm>
            <a:off x="17113568" y="9499702"/>
            <a:ext cx="1097400" cy="787500"/>
          </a:xfrm>
          <a:prstGeom prst="rect">
            <a:avLst/>
          </a:prstGeom>
          <a:noFill/>
          <a:ln>
            <a:noFill/>
          </a:ln>
        </p:spPr>
        <p:txBody>
          <a:bodyPr anchorCtr="0" anchor="t" bIns="167625" lIns="167625" spcFirstLastPara="1" rIns="167625" wrap="square" tIns="167625">
            <a:noAutofit/>
          </a:bodyPr>
          <a:lstStyle>
            <a:lvl1pPr indent="0" lvl="0"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28"/>
          <p:cNvSpPr txBox="1"/>
          <p:nvPr>
            <p:ph idx="12" type="sldNum"/>
          </p:nvPr>
        </p:nvSpPr>
        <p:spPr>
          <a:xfrm>
            <a:off x="17113568" y="9499702"/>
            <a:ext cx="1097400" cy="787500"/>
          </a:xfrm>
          <a:prstGeom prst="rect">
            <a:avLst/>
          </a:prstGeom>
          <a:noFill/>
          <a:ln>
            <a:noFill/>
          </a:ln>
        </p:spPr>
        <p:txBody>
          <a:bodyPr anchorCtr="0" anchor="t" bIns="167625" lIns="167625" spcFirstLastPara="1" rIns="167625" wrap="square" tIns="167625">
            <a:noAutofit/>
          </a:bodyPr>
          <a:lstStyle>
            <a:lvl1pPr indent="0" lvl="0"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2400"/>
              <a:buFont typeface="Arial"/>
              <a:buNone/>
              <a:defRPr b="0" i="0" spc="0" sz="2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drive.google.com/file/d/1o98dptuOPOfFJ-8KRtRMYLw-3oka7AyA/view" TargetMode="Externa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drive.google.com/file/d/1RwMyr7VA6_hv5zbRJwOe-4xu7uLn2spx/view" TargetMode="Externa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19" name="Shape 19"/>
        <p:cNvGrpSpPr/>
        <p:nvPr/>
      </p:nvGrpSpPr>
      <p:grpSpPr>
        <a:xfrm>
          <a:off x="0" y="0"/>
          <a:ext cx="0" cy="0"/>
          <a:chOff x="0" y="0"/>
          <a:chExt cx="0" cy="0"/>
        </a:xfrm>
      </p:grpSpPr>
      <p:sp>
        <p:nvSpPr>
          <p:cNvPr id="20" name="Google Shape;20;p1"/>
          <p:cNvSpPr/>
          <p:nvPr/>
        </p:nvSpPr>
        <p:spPr>
          <a:xfrm>
            <a:off x="1047750" y="4467448"/>
            <a:ext cx="146685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928D9"/>
              </a:buClr>
              <a:buSzPts val="1800"/>
              <a:buFont typeface="JetBrains Mono"/>
              <a:buNone/>
            </a:pPr>
            <a:r>
              <a:rPr b="0" i="0" lang="en-US" spc="0" sz="1800" u="none" cap="none" strike="noStrike">
                <a:solidFill>
                  <a:srgbClr val="3928D9"/>
                </a:solidFill>
                <a:latin typeface="JetBrains Mono"/>
                <a:ea typeface="JetBrains Mono"/>
                <a:cs typeface="JetBrains Mono"/>
                <a:sym typeface="JetBrains Mono"/>
              </a:rPr>
              <a:t>SESSION TITLE</a:t>
            </a:r>
            <a:endParaRPr b="0" i="0" spc="0" sz="1800" u="none" cap="none" strike="noStrike">
              <a:solidFill>
                <a:schemeClr val="dk1"/>
              </a:solidFill>
              <a:latin typeface="Calibri"/>
              <a:ea typeface="Calibri"/>
              <a:cs typeface="Calibri"/>
              <a:sym typeface="Calibri"/>
            </a:endParaRPr>
          </a:p>
        </p:txBody>
      </p:sp>
      <p:sp>
        <p:nvSpPr>
          <p:cNvPr id="21" name="Google Shape;21;p1"/>
          <p:cNvSpPr/>
          <p:nvPr/>
        </p:nvSpPr>
        <p:spPr>
          <a:xfrm>
            <a:off x="1047750" y="5072275"/>
            <a:ext cx="17013600" cy="2437500"/>
          </a:xfrm>
          <a:prstGeom prst="rect">
            <a:avLst/>
          </a:prstGeom>
          <a:noFill/>
          <a:ln>
            <a:noFill/>
          </a:ln>
        </p:spPr>
        <p:txBody>
          <a:bodyPr anchorCtr="0" anchor="t" bIns="25400" lIns="25400" spcFirstLastPara="1" rIns="25400" wrap="square" tIns="25400">
            <a:noAutofit/>
          </a:bodyPr>
          <a:lstStyle/>
          <a:p>
            <a:pPr indent="0" lvl="0" marL="0" marR="0" rtl="0" algn="l">
              <a:lnSpc>
                <a:spcPct val="74464"/>
              </a:lnSpc>
              <a:spcBef>
                <a:spcPts val="0"/>
              </a:spcBef>
              <a:spcAft>
                <a:spcPts val="0"/>
              </a:spcAft>
              <a:buClr>
                <a:srgbClr val="12132A"/>
              </a:buClr>
              <a:buSzPts val="7200"/>
              <a:buFont typeface="Manrope"/>
              <a:buNone/>
            </a:pPr>
            <a:r>
              <a:rPr b="1" i="0" lang="en-US" spc="0" sz="7000" u="none" cap="none" strike="noStrike">
                <a:solidFill>
                  <a:srgbClr val="12132A"/>
                </a:solidFill>
                <a:latin typeface="Manrope"/>
                <a:ea typeface="Manrope"/>
                <a:cs typeface="Manrope"/>
                <a:sym typeface="Manrope"/>
              </a:rPr>
              <a:t>Scaling Event-Driven Workloads with KEDA and kube-burner</a:t>
            </a:r>
            <a:endParaRPr b="0" i="0" spc="0" sz="7000" u="none" cap="none" strike="noStrike">
              <a:solidFill>
                <a:schemeClr val="dk1"/>
              </a:solidFill>
              <a:latin typeface="Calibri"/>
              <a:ea typeface="Calibri"/>
              <a:cs typeface="Calibri"/>
              <a:sym typeface="Calibri"/>
            </a:endParaRPr>
          </a:p>
        </p:txBody>
      </p:sp>
      <p:sp>
        <p:nvSpPr>
          <p:cNvPr id="22" name="Google Shape;22;p1"/>
          <p:cNvSpPr/>
          <p:nvPr/>
        </p:nvSpPr>
        <p:spPr>
          <a:xfrm>
            <a:off x="1047750" y="7509867"/>
            <a:ext cx="14668500" cy="609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A5E7A"/>
              </a:buClr>
              <a:buSzPts val="3300"/>
              <a:buFont typeface="Manrope"/>
              <a:buNone/>
            </a:pPr>
            <a:r>
              <a:t/>
            </a:r>
            <a:endParaRPr b="0" i="0" spc="0" sz="3300" u="none" cap="none" strike="noStrike">
              <a:solidFill>
                <a:schemeClr val="dk1"/>
              </a:solidFill>
              <a:latin typeface="Calibri"/>
              <a:ea typeface="Calibri"/>
              <a:cs typeface="Calibri"/>
              <a:sym typeface="Calibri"/>
            </a:endParaRPr>
          </a:p>
        </p:txBody>
      </p:sp>
      <p:sp>
        <p:nvSpPr>
          <p:cNvPr id="23" name="Google Shape;23;p1"/>
          <p:cNvSpPr/>
          <p:nvPr/>
        </p:nvSpPr>
        <p:spPr>
          <a:xfrm>
            <a:off x="1047750" y="8301038"/>
            <a:ext cx="16192500" cy="19200"/>
          </a:xfrm>
          <a:prstGeom prst="rect">
            <a:avLst/>
          </a:prstGeom>
          <a:solidFill>
            <a:srgbClr val="DCDF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 name="Google Shape;24;p1"/>
          <p:cNvSpPr/>
          <p:nvPr/>
        </p:nvSpPr>
        <p:spPr>
          <a:xfrm>
            <a:off x="1047750" y="8663000"/>
            <a:ext cx="4953000" cy="476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2132A"/>
              </a:buClr>
              <a:buSzPts val="2550"/>
              <a:buFont typeface="Manrope"/>
              <a:buNone/>
            </a:pPr>
            <a:r>
              <a:rPr b="1" i="0" lang="en-US" spc="0" sz="2550" u="none" cap="none" strike="noStrike">
                <a:solidFill>
                  <a:srgbClr val="12132A"/>
                </a:solidFill>
                <a:latin typeface="Manrope"/>
                <a:ea typeface="Manrope"/>
                <a:cs typeface="Manrope"/>
                <a:sym typeface="Manrope"/>
              </a:rPr>
              <a:t>Sai Sanjay Kottakota</a:t>
            </a:r>
            <a:endParaRPr b="0" i="0" spc="0" sz="2550" u="none" cap="none" strike="noStrike">
              <a:solidFill>
                <a:schemeClr val="dk1"/>
              </a:solidFill>
              <a:latin typeface="Calibri"/>
              <a:ea typeface="Calibri"/>
              <a:cs typeface="Calibri"/>
              <a:sym typeface="Calibri"/>
            </a:endParaRPr>
          </a:p>
        </p:txBody>
      </p:sp>
      <p:sp>
        <p:nvSpPr>
          <p:cNvPr id="25" name="Google Shape;25;p1"/>
          <p:cNvSpPr/>
          <p:nvPr/>
        </p:nvSpPr>
        <p:spPr>
          <a:xfrm>
            <a:off x="1047750" y="9196400"/>
            <a:ext cx="10917900" cy="1090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A5E7A"/>
              </a:buClr>
              <a:buSzPts val="2100"/>
              <a:buFont typeface="Manrope"/>
              <a:buNone/>
            </a:pPr>
            <a:r>
              <a:rPr b="0" i="0" lang="en-US" spc="0" sz="2100" u="none" cap="none" strike="noStrike">
                <a:solidFill>
                  <a:srgbClr val="5A5E7A"/>
                </a:solidFill>
                <a:latin typeface="Manrope"/>
                <a:ea typeface="Manrope"/>
                <a:cs typeface="Manrope"/>
                <a:sym typeface="Manrope"/>
              </a:rPr>
              <a:t>Murf AI , Software Development Engineer 1</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0"/>
              </a:spcBef>
              <a:spcAft>
                <a:spcPts val="0"/>
              </a:spcAft>
              <a:buClr>
                <a:srgbClr val="5A5E7A"/>
              </a:buClr>
              <a:buSzPts val="2100"/>
              <a:buFont typeface="Manrope"/>
              <a:buNone/>
            </a:pPr>
            <a:r>
              <a:t/>
            </a:r>
            <a:endParaRPr b="0" i="0" spc="0" sz="2100" u="none" cap="none" strike="noStrike">
              <a:solidFill>
                <a:schemeClr val="dk1"/>
              </a:solidFill>
              <a:latin typeface="Calibri"/>
              <a:ea typeface="Calibri"/>
              <a:cs typeface="Calibri"/>
              <a:sym typeface="Calibri"/>
            </a:endParaRPr>
          </a:p>
        </p:txBody>
      </p:sp>
      <p:sp>
        <p:nvSpPr>
          <p:cNvPr id="26" name="Google Shape;26;p1"/>
          <p:cNvSpPr/>
          <p:nvPr/>
        </p:nvSpPr>
        <p:spPr>
          <a:xfrm>
            <a:off x="10199370" y="9210675"/>
            <a:ext cx="7041000" cy="390600"/>
          </a:xfrm>
          <a:prstGeom prst="rect">
            <a:avLst/>
          </a:prstGeom>
          <a:noFill/>
          <a:ln>
            <a:noFill/>
          </a:ln>
        </p:spPr>
        <p:txBody>
          <a:bodyPr anchorCtr="0" anchor="t" bIns="25400" lIns="25400" spcFirstLastPara="1" rIns="25400" wrap="square" tIns="25400">
            <a:noAutofit/>
          </a:bodyPr>
          <a:lstStyle/>
          <a:p>
            <a:pPr indent="0" lvl="0" marL="0" marR="0" rtl="0" algn="r">
              <a:lnSpc>
                <a:spcPct val="100000"/>
              </a:lnSpc>
              <a:spcBef>
                <a:spcPts val="0"/>
              </a:spcBef>
              <a:spcAft>
                <a:spcPts val="0"/>
              </a:spcAft>
              <a:buClr>
                <a:srgbClr val="5A5E7A"/>
              </a:buClr>
              <a:buSzPts val="2100"/>
              <a:buFont typeface="JetBrains Mono"/>
              <a:buNone/>
            </a:pPr>
            <a:r>
              <a:rPr b="0" i="0" lang="en-US" spc="0" sz="2100" u="none" cap="none" strike="noStrike">
                <a:solidFill>
                  <a:srgbClr val="5A5E7A"/>
                </a:solidFill>
                <a:latin typeface="JetBrains Mono"/>
                <a:ea typeface="JetBrains Mono"/>
                <a:cs typeface="JetBrains Mono"/>
                <a:sym typeface="JetBrains Mono"/>
              </a:rPr>
              <a:t>Sat, October 10, 2026 </a:t>
            </a:r>
            <a:endParaRPr b="0" i="0" spc="0" sz="2100" u="none" cap="none" strike="noStrike">
              <a:solidFill>
                <a:schemeClr val="dk1"/>
              </a:solidFill>
              <a:latin typeface="Calibri"/>
              <a:ea typeface="Calibri"/>
              <a:cs typeface="Calibri"/>
              <a:sym typeface="Calibri"/>
            </a:endParaRPr>
          </a:p>
        </p:txBody>
      </p:sp>
      <p:sp>
        <p:nvSpPr>
          <p:cNvPr id="27" name="Google Shape;27;p1"/>
          <p:cNvSpPr/>
          <p:nvPr/>
        </p:nvSpPr>
        <p:spPr>
          <a:xfrm>
            <a:off x="8953500" y="8662997"/>
            <a:ext cx="8286900" cy="4761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marR="0" rtl="0" algn="r">
              <a:lnSpc>
                <a:spcPct val="100000"/>
              </a:lnSpc>
              <a:spcBef>
                <a:spcPts val="0"/>
              </a:spcBef>
              <a:spcAft>
                <a:spcPts val="0"/>
              </a:spcAft>
              <a:buClr>
                <a:srgbClr val="000000"/>
              </a:buClr>
              <a:buSzPts val="2100"/>
              <a:buFont typeface="Arial"/>
              <a:buNone/>
            </a:pPr>
            <a:r>
              <a:rPr b="1" i="0" lang="en-US" spc="0" sz="2100" u="none" cap="none" strike="noStrike">
                <a:solidFill>
                  <a:srgbClr val="3928D9"/>
                </a:solidFill>
                <a:latin typeface="Manrope"/>
                <a:ea typeface="Manrope"/>
                <a:cs typeface="Manrope"/>
                <a:sym typeface="Manrope"/>
              </a:rPr>
              <a:t>Bangalore Performance and Scale Meetup - 2026 Q4!</a:t>
            </a:r>
            <a:endParaRPr b="1" i="0" spc="0" sz="2100" u="none" cap="none" strike="noStrike">
              <a:solidFill>
                <a:srgbClr val="3928D9"/>
              </a:solidFill>
              <a:latin typeface="Manrope"/>
              <a:ea typeface="Manrope"/>
              <a:cs typeface="Manrope"/>
              <a:sym typeface="Manrop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32" name="Shape 32"/>
        <p:cNvGrpSpPr/>
        <p:nvPr/>
      </p:nvGrpSpPr>
      <p:grpSpPr>
        <a:xfrm>
          <a:off x="0" y="0"/>
          <a:ext cx="0" cy="0"/>
          <a:chOff x="0" y="0"/>
          <a:chExt cx="0" cy="0"/>
        </a:xfrm>
      </p:grpSpPr>
      <p:sp>
        <p:nvSpPr>
          <p:cNvPr id="33" name="Google Shape;33;p2"/>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928D9"/>
              </a:buClr>
              <a:buSzPts val="1800"/>
              <a:buFont typeface="JetBrains Mono"/>
              <a:buNone/>
            </a:pPr>
            <a:r>
              <a:rPr b="0" i="0" lang="en-US" spc="0" sz="1800" u="none" cap="none" strike="noStrike">
                <a:solidFill>
                  <a:srgbClr val="3928D9"/>
                </a:solidFill>
                <a:latin typeface="JetBrains Mono"/>
                <a:ea typeface="JetBrains Mono"/>
                <a:cs typeface="JetBrains Mono"/>
                <a:sym typeface="JetBrains Mono"/>
              </a:rPr>
              <a:t>AGENDA</a:t>
            </a:r>
            <a:endParaRPr b="0" i="0" spc="0" sz="1800" u="none" cap="none" strike="noStrike">
              <a:solidFill>
                <a:schemeClr val="dk1"/>
              </a:solidFill>
              <a:latin typeface="Calibri"/>
              <a:ea typeface="Calibri"/>
              <a:cs typeface="Calibri"/>
              <a:sym typeface="Calibri"/>
            </a:endParaRPr>
          </a:p>
        </p:txBody>
      </p:sp>
      <p:sp>
        <p:nvSpPr>
          <p:cNvPr id="34" name="Google Shape;34;p2"/>
          <p:cNvSpPr/>
          <p:nvPr/>
        </p:nvSpPr>
        <p:spPr>
          <a:xfrm>
            <a:off x="1047750" y="1385888"/>
            <a:ext cx="17811900" cy="866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2132A"/>
              </a:buClr>
              <a:buSzPts val="4800"/>
              <a:buFont typeface="Manrope"/>
              <a:buNone/>
            </a:pPr>
            <a:r>
              <a:rPr b="1" i="0" lang="en-US" spc="0" sz="4800" u="none" cap="none" strike="noStrike">
                <a:solidFill>
                  <a:srgbClr val="12132A"/>
                </a:solidFill>
                <a:latin typeface="Manrope"/>
                <a:ea typeface="Manrope"/>
                <a:cs typeface="Manrope"/>
                <a:sym typeface="Manrope"/>
              </a:rPr>
              <a:t>What we will cover</a:t>
            </a:r>
            <a:endParaRPr b="0" i="0" spc="0" sz="4800" u="none" cap="none" strike="noStrike">
              <a:solidFill>
                <a:schemeClr val="dk1"/>
              </a:solidFill>
              <a:latin typeface="Calibri"/>
              <a:ea typeface="Calibri"/>
              <a:cs typeface="Calibri"/>
              <a:sym typeface="Calibri"/>
            </a:endParaRPr>
          </a:p>
        </p:txBody>
      </p:sp>
      <p:sp>
        <p:nvSpPr>
          <p:cNvPr id="35" name="Google Shape;35;p2"/>
          <p:cNvSpPr/>
          <p:nvPr/>
        </p:nvSpPr>
        <p:spPr>
          <a:xfrm>
            <a:off x="1047750" y="2667000"/>
            <a:ext cx="16192500" cy="192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 name="Google Shape;36;p2"/>
          <p:cNvSpPr/>
          <p:nvPr/>
        </p:nvSpPr>
        <p:spPr>
          <a:xfrm>
            <a:off x="1047750" y="3571875"/>
            <a:ext cx="16192500" cy="192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 name="Google Shape;37;p2"/>
          <p:cNvSpPr/>
          <p:nvPr/>
        </p:nvSpPr>
        <p:spPr>
          <a:xfrm>
            <a:off x="1047750" y="4476750"/>
            <a:ext cx="16192500" cy="192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 name="Google Shape;38;p2"/>
          <p:cNvSpPr/>
          <p:nvPr/>
        </p:nvSpPr>
        <p:spPr>
          <a:xfrm>
            <a:off x="1047750" y="5381625"/>
            <a:ext cx="16192500" cy="192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 name="Google Shape;39;p2"/>
          <p:cNvSpPr/>
          <p:nvPr/>
        </p:nvSpPr>
        <p:spPr>
          <a:xfrm>
            <a:off x="1047750" y="6286500"/>
            <a:ext cx="16192500" cy="192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40" name="Google Shape;40;p2"/>
          <p:cNvGrpSpPr/>
          <p:nvPr/>
        </p:nvGrpSpPr>
        <p:grpSpPr>
          <a:xfrm>
            <a:off x="1047750" y="2667000"/>
            <a:ext cx="762000" cy="904800"/>
            <a:chOff x="0" y="0"/>
            <a:chExt cx="762000" cy="904800"/>
          </a:xfrm>
        </p:grpSpPr>
        <p:sp>
          <p:nvSpPr>
            <p:cNvPr id="41" name="Google Shape;41;p2"/>
            <p:cNvSpPr/>
            <p:nvPr/>
          </p:nvSpPr>
          <p:spPr>
            <a:xfrm>
              <a:off x="0" y="0"/>
              <a:ext cx="7620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 name="Google Shape;42;p2"/>
            <p:cNvSpPr txBox="1"/>
            <p:nvPr/>
          </p:nvSpPr>
          <p:spPr>
            <a:xfrm>
              <a:off x="0" y="0"/>
              <a:ext cx="7620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928D9"/>
                  </a:solidFill>
                  <a:latin typeface="JetBrains Mono"/>
                  <a:ea typeface="JetBrains Mono"/>
                  <a:cs typeface="JetBrains Mono"/>
                  <a:sym typeface="JetBrains Mono"/>
                </a:rPr>
                <a:t>01</a:t>
              </a:r>
              <a:endParaRPr b="0" i="0" spc="0" sz="2100" u="none" cap="none" strike="noStrike">
                <a:solidFill>
                  <a:srgbClr val="3928D9"/>
                </a:solidFill>
                <a:latin typeface="JetBrains Mono"/>
                <a:ea typeface="JetBrains Mono"/>
                <a:cs typeface="JetBrains Mono"/>
                <a:sym typeface="JetBrains Mono"/>
              </a:endParaRPr>
            </a:p>
          </p:txBody>
        </p:sp>
      </p:grpSp>
      <p:sp>
        <p:nvSpPr>
          <p:cNvPr id="43" name="Google Shape;43;p2"/>
          <p:cNvSpPr/>
          <p:nvPr/>
        </p:nvSpPr>
        <p:spPr>
          <a:xfrm>
            <a:off x="1047750" y="7191375"/>
            <a:ext cx="16192500" cy="192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44" name="Google Shape;44;p2"/>
          <p:cNvGrpSpPr/>
          <p:nvPr/>
        </p:nvGrpSpPr>
        <p:grpSpPr>
          <a:xfrm>
            <a:off x="2171700" y="2667000"/>
            <a:ext cx="13811400" cy="904800"/>
            <a:chOff x="0" y="0"/>
            <a:chExt cx="13811400" cy="904800"/>
          </a:xfrm>
        </p:grpSpPr>
        <p:sp>
          <p:nvSpPr>
            <p:cNvPr id="45" name="Google Shape;45;p2"/>
            <p:cNvSpPr/>
            <p:nvPr/>
          </p:nvSpPr>
          <p:spPr>
            <a:xfrm>
              <a:off x="0" y="0"/>
              <a:ext cx="13811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 name="Google Shape;46;p2"/>
            <p:cNvSpPr txBox="1"/>
            <p:nvPr/>
          </p:nvSpPr>
          <p:spPr>
            <a:xfrm>
              <a:off x="0" y="0"/>
              <a:ext cx="13811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kube-burner in 90 seconds</a:t>
              </a:r>
              <a:endParaRPr b="1" i="0" spc="0" sz="2800" u="none" cap="none" strike="noStrike">
                <a:solidFill>
                  <a:srgbClr val="12132A"/>
                </a:solidFill>
                <a:latin typeface="Manrope"/>
                <a:ea typeface="Manrope"/>
                <a:cs typeface="Manrope"/>
                <a:sym typeface="Manrope"/>
              </a:endParaRPr>
            </a:p>
          </p:txBody>
        </p:sp>
      </p:grpSp>
      <p:grpSp>
        <p:nvGrpSpPr>
          <p:cNvPr id="47" name="Google Shape;47;p2"/>
          <p:cNvGrpSpPr/>
          <p:nvPr/>
        </p:nvGrpSpPr>
        <p:grpSpPr>
          <a:xfrm>
            <a:off x="1047750" y="3571875"/>
            <a:ext cx="762000" cy="904800"/>
            <a:chOff x="0" y="0"/>
            <a:chExt cx="762000" cy="904800"/>
          </a:xfrm>
        </p:grpSpPr>
        <p:sp>
          <p:nvSpPr>
            <p:cNvPr id="48" name="Google Shape;48;p2"/>
            <p:cNvSpPr/>
            <p:nvPr/>
          </p:nvSpPr>
          <p:spPr>
            <a:xfrm>
              <a:off x="0" y="0"/>
              <a:ext cx="7620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 name="Google Shape;49;p2"/>
            <p:cNvSpPr txBox="1"/>
            <p:nvPr/>
          </p:nvSpPr>
          <p:spPr>
            <a:xfrm>
              <a:off x="0" y="0"/>
              <a:ext cx="7620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928D9"/>
                  </a:solidFill>
                  <a:latin typeface="JetBrains Mono"/>
                  <a:ea typeface="JetBrains Mono"/>
                  <a:cs typeface="JetBrains Mono"/>
                  <a:sym typeface="JetBrains Mono"/>
                </a:rPr>
                <a:t>02</a:t>
              </a:r>
              <a:endParaRPr b="0" i="0" spc="0" sz="2100" u="none" cap="none" strike="noStrike">
                <a:solidFill>
                  <a:srgbClr val="3928D9"/>
                </a:solidFill>
                <a:latin typeface="JetBrains Mono"/>
                <a:ea typeface="JetBrains Mono"/>
                <a:cs typeface="JetBrains Mono"/>
                <a:sym typeface="JetBrains Mono"/>
              </a:endParaRPr>
            </a:p>
          </p:txBody>
        </p:sp>
      </p:grpSp>
      <p:grpSp>
        <p:nvGrpSpPr>
          <p:cNvPr id="50" name="Google Shape;50;p2"/>
          <p:cNvGrpSpPr/>
          <p:nvPr/>
        </p:nvGrpSpPr>
        <p:grpSpPr>
          <a:xfrm>
            <a:off x="2171700" y="3571875"/>
            <a:ext cx="13811400" cy="904800"/>
            <a:chOff x="0" y="0"/>
            <a:chExt cx="13811400" cy="904800"/>
          </a:xfrm>
        </p:grpSpPr>
        <p:sp>
          <p:nvSpPr>
            <p:cNvPr id="51" name="Google Shape;51;p2"/>
            <p:cNvSpPr/>
            <p:nvPr/>
          </p:nvSpPr>
          <p:spPr>
            <a:xfrm>
              <a:off x="0" y="0"/>
              <a:ext cx="13811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 name="Google Shape;52;p2"/>
            <p:cNvSpPr txBox="1"/>
            <p:nvPr/>
          </p:nvSpPr>
          <p:spPr>
            <a:xfrm>
              <a:off x="0" y="0"/>
              <a:ext cx="13811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The measurement family</a:t>
              </a:r>
              <a:endParaRPr b="1" i="0" spc="0" sz="2800" u="none" cap="none" strike="noStrike">
                <a:solidFill>
                  <a:srgbClr val="12132A"/>
                </a:solidFill>
                <a:latin typeface="Manrope"/>
                <a:ea typeface="Manrope"/>
                <a:cs typeface="Manrope"/>
                <a:sym typeface="Manrope"/>
              </a:endParaRPr>
            </a:p>
          </p:txBody>
        </p:sp>
      </p:grpSp>
      <p:grpSp>
        <p:nvGrpSpPr>
          <p:cNvPr id="53" name="Google Shape;53;p2"/>
          <p:cNvGrpSpPr/>
          <p:nvPr/>
        </p:nvGrpSpPr>
        <p:grpSpPr>
          <a:xfrm>
            <a:off x="16287750" y="3571875"/>
            <a:ext cx="952500" cy="904800"/>
            <a:chOff x="0" y="0"/>
            <a:chExt cx="952500" cy="904800"/>
          </a:xfrm>
        </p:grpSpPr>
        <p:sp>
          <p:nvSpPr>
            <p:cNvPr id="54" name="Google Shape;54;p2"/>
            <p:cNvSpPr/>
            <p:nvPr/>
          </p:nvSpPr>
          <p:spPr>
            <a:xfrm>
              <a:off x="0" y="0"/>
              <a:ext cx="95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 name="Google Shape;55;p2"/>
            <p:cNvSpPr txBox="1"/>
            <p:nvPr/>
          </p:nvSpPr>
          <p:spPr>
            <a:xfrm>
              <a:off x="0" y="0"/>
              <a:ext cx="95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3  min</a:t>
              </a:r>
              <a:endParaRPr b="0" i="0" spc="0" sz="2100" u="none" cap="none" strike="noStrike">
                <a:solidFill>
                  <a:srgbClr val="5A5E7A"/>
                </a:solidFill>
                <a:latin typeface="Manrope"/>
                <a:ea typeface="Manrope"/>
                <a:cs typeface="Manrope"/>
                <a:sym typeface="Manrope"/>
              </a:endParaRPr>
            </a:p>
          </p:txBody>
        </p:sp>
      </p:grpSp>
      <p:grpSp>
        <p:nvGrpSpPr>
          <p:cNvPr id="56" name="Google Shape;56;p2"/>
          <p:cNvGrpSpPr/>
          <p:nvPr/>
        </p:nvGrpSpPr>
        <p:grpSpPr>
          <a:xfrm>
            <a:off x="1047750" y="4476750"/>
            <a:ext cx="762000" cy="904800"/>
            <a:chOff x="0" y="0"/>
            <a:chExt cx="762000" cy="904800"/>
          </a:xfrm>
        </p:grpSpPr>
        <p:sp>
          <p:nvSpPr>
            <p:cNvPr id="57" name="Google Shape;57;p2"/>
            <p:cNvSpPr/>
            <p:nvPr/>
          </p:nvSpPr>
          <p:spPr>
            <a:xfrm>
              <a:off x="0" y="0"/>
              <a:ext cx="7620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 name="Google Shape;58;p2"/>
            <p:cNvSpPr txBox="1"/>
            <p:nvPr/>
          </p:nvSpPr>
          <p:spPr>
            <a:xfrm>
              <a:off x="0" y="0"/>
              <a:ext cx="7620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928D9"/>
                  </a:solidFill>
                  <a:latin typeface="JetBrains Mono"/>
                  <a:ea typeface="JetBrains Mono"/>
                  <a:cs typeface="JetBrains Mono"/>
                  <a:sym typeface="JetBrains Mono"/>
                </a:rPr>
                <a:t>03</a:t>
              </a:r>
              <a:endParaRPr b="0" i="0" spc="0" sz="2100" u="none" cap="none" strike="noStrike">
                <a:solidFill>
                  <a:srgbClr val="3928D9"/>
                </a:solidFill>
                <a:latin typeface="JetBrains Mono"/>
                <a:ea typeface="JetBrains Mono"/>
                <a:cs typeface="JetBrains Mono"/>
                <a:sym typeface="JetBrains Mono"/>
              </a:endParaRPr>
            </a:p>
          </p:txBody>
        </p:sp>
      </p:grpSp>
      <p:grpSp>
        <p:nvGrpSpPr>
          <p:cNvPr id="59" name="Google Shape;59;p2"/>
          <p:cNvGrpSpPr/>
          <p:nvPr/>
        </p:nvGrpSpPr>
        <p:grpSpPr>
          <a:xfrm>
            <a:off x="2171700" y="4476750"/>
            <a:ext cx="13811400" cy="904800"/>
            <a:chOff x="0" y="0"/>
            <a:chExt cx="13811400" cy="904800"/>
          </a:xfrm>
        </p:grpSpPr>
        <p:sp>
          <p:nvSpPr>
            <p:cNvPr id="60" name="Google Shape;60;p2"/>
            <p:cNvSpPr/>
            <p:nvPr/>
          </p:nvSpPr>
          <p:spPr>
            <a:xfrm>
              <a:off x="0" y="0"/>
              <a:ext cx="13811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 name="Google Shape;61;p2"/>
            <p:cNvSpPr txBox="1"/>
            <p:nvPr/>
          </p:nvSpPr>
          <p:spPr>
            <a:xfrm>
              <a:off x="0" y="0"/>
              <a:ext cx="13811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Pprof : Performance profiling</a:t>
              </a:r>
              <a:endParaRPr b="1" i="0" spc="0" sz="2800" u="none" cap="none" strike="noStrike">
                <a:solidFill>
                  <a:srgbClr val="12132A"/>
                </a:solidFill>
                <a:latin typeface="Manrope"/>
                <a:ea typeface="Manrope"/>
                <a:cs typeface="Manrope"/>
                <a:sym typeface="Manrope"/>
              </a:endParaRPr>
            </a:p>
          </p:txBody>
        </p:sp>
      </p:grpSp>
      <p:grpSp>
        <p:nvGrpSpPr>
          <p:cNvPr id="62" name="Google Shape;62;p2"/>
          <p:cNvGrpSpPr/>
          <p:nvPr/>
        </p:nvGrpSpPr>
        <p:grpSpPr>
          <a:xfrm>
            <a:off x="16287750" y="4476750"/>
            <a:ext cx="952500" cy="904800"/>
            <a:chOff x="0" y="0"/>
            <a:chExt cx="952500" cy="904800"/>
          </a:xfrm>
        </p:grpSpPr>
        <p:sp>
          <p:nvSpPr>
            <p:cNvPr id="63" name="Google Shape;63;p2"/>
            <p:cNvSpPr/>
            <p:nvPr/>
          </p:nvSpPr>
          <p:spPr>
            <a:xfrm>
              <a:off x="0" y="0"/>
              <a:ext cx="95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 name="Google Shape;64;p2"/>
            <p:cNvSpPr txBox="1"/>
            <p:nvPr/>
          </p:nvSpPr>
          <p:spPr>
            <a:xfrm>
              <a:off x="0" y="0"/>
              <a:ext cx="95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1.5 min</a:t>
              </a:r>
              <a:endParaRPr b="0" i="0" spc="0" sz="2100" u="none" cap="none" strike="noStrike">
                <a:solidFill>
                  <a:srgbClr val="5A5E7A"/>
                </a:solidFill>
                <a:latin typeface="Manrope"/>
                <a:ea typeface="Manrope"/>
                <a:cs typeface="Manrope"/>
                <a:sym typeface="Manrope"/>
              </a:endParaRPr>
            </a:p>
          </p:txBody>
        </p:sp>
      </p:grpSp>
      <p:sp>
        <p:nvSpPr>
          <p:cNvPr id="65" name="Google Shape;65;p2"/>
          <p:cNvSpPr txBox="1"/>
          <p:nvPr/>
        </p:nvSpPr>
        <p:spPr>
          <a:xfrm>
            <a:off x="1047750" y="5381625"/>
            <a:ext cx="762000" cy="9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928D9"/>
                </a:solidFill>
                <a:latin typeface="JetBrains Mono"/>
                <a:ea typeface="JetBrains Mono"/>
                <a:cs typeface="JetBrains Mono"/>
                <a:sym typeface="JetBrains Mono"/>
              </a:rPr>
              <a:t>04</a:t>
            </a:r>
            <a:endParaRPr b="0" i="0" spc="0" sz="2100" u="none" cap="none" strike="noStrike">
              <a:solidFill>
                <a:srgbClr val="3928D9"/>
              </a:solidFill>
              <a:latin typeface="JetBrains Mono"/>
              <a:ea typeface="JetBrains Mono"/>
              <a:cs typeface="JetBrains Mono"/>
              <a:sym typeface="JetBrains Mono"/>
            </a:endParaRPr>
          </a:p>
        </p:txBody>
      </p:sp>
      <p:sp>
        <p:nvSpPr>
          <p:cNvPr id="66" name="Google Shape;66;p2"/>
          <p:cNvSpPr txBox="1"/>
          <p:nvPr/>
        </p:nvSpPr>
        <p:spPr>
          <a:xfrm>
            <a:off x="2171700" y="5381625"/>
            <a:ext cx="13811400" cy="9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Demo: KEDA ScaledObject Performance Testing</a:t>
            </a:r>
            <a:endParaRPr b="1" i="0" spc="0" sz="2800" u="none" cap="none" strike="noStrike">
              <a:solidFill>
                <a:srgbClr val="12132A"/>
              </a:solidFill>
              <a:latin typeface="Manrope"/>
              <a:ea typeface="Manrope"/>
              <a:cs typeface="Manrope"/>
              <a:sym typeface="Manrope"/>
            </a:endParaRPr>
          </a:p>
        </p:txBody>
      </p:sp>
      <p:sp>
        <p:nvSpPr>
          <p:cNvPr id="67" name="Google Shape;67;p2"/>
          <p:cNvSpPr txBox="1"/>
          <p:nvPr/>
        </p:nvSpPr>
        <p:spPr>
          <a:xfrm>
            <a:off x="16287750" y="5381625"/>
            <a:ext cx="952500" cy="90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12 min</a:t>
            </a:r>
            <a:endParaRPr b="0" i="0" spc="0" sz="2100" u="none" cap="none" strike="noStrike">
              <a:solidFill>
                <a:srgbClr val="5A5E7A"/>
              </a:solidFill>
              <a:latin typeface="Manrope"/>
              <a:ea typeface="Manrope"/>
              <a:cs typeface="Manrope"/>
              <a:sym typeface="Manrope"/>
            </a:endParaRPr>
          </a:p>
        </p:txBody>
      </p:sp>
      <p:sp>
        <p:nvSpPr>
          <p:cNvPr id="68" name="Google Shape;68;p2"/>
          <p:cNvSpPr txBox="1"/>
          <p:nvPr/>
        </p:nvSpPr>
        <p:spPr>
          <a:xfrm>
            <a:off x="1047750" y="6286500"/>
            <a:ext cx="7620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928D9"/>
                </a:solidFill>
                <a:latin typeface="JetBrains Mono"/>
                <a:ea typeface="JetBrains Mono"/>
                <a:cs typeface="JetBrains Mono"/>
                <a:sym typeface="JetBrains Mono"/>
              </a:rPr>
              <a:t>05</a:t>
            </a:r>
            <a:endParaRPr b="0" i="0" spc="0" sz="2100" u="none" cap="none" strike="noStrike">
              <a:solidFill>
                <a:srgbClr val="3928D9"/>
              </a:solidFill>
              <a:latin typeface="JetBrains Mono"/>
              <a:ea typeface="JetBrains Mono"/>
              <a:cs typeface="JetBrains Mono"/>
              <a:sym typeface="JetBrains Mono"/>
            </a:endParaRPr>
          </a:p>
        </p:txBody>
      </p:sp>
      <p:sp>
        <p:nvSpPr>
          <p:cNvPr id="69" name="Google Shape;69;p2"/>
          <p:cNvSpPr txBox="1"/>
          <p:nvPr/>
        </p:nvSpPr>
        <p:spPr>
          <a:xfrm>
            <a:off x="2171700" y="6286500"/>
            <a:ext cx="13811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Q&amp;A</a:t>
            </a:r>
            <a:endParaRPr b="1" i="0" spc="0" sz="2800" u="none" cap="none" strike="noStrike">
              <a:solidFill>
                <a:srgbClr val="12132A"/>
              </a:solidFill>
              <a:latin typeface="Manrope"/>
              <a:ea typeface="Manrope"/>
              <a:cs typeface="Manrope"/>
              <a:sym typeface="Manrope"/>
            </a:endParaRPr>
          </a:p>
        </p:txBody>
      </p:sp>
      <p:sp>
        <p:nvSpPr>
          <p:cNvPr id="70" name="Google Shape;70;p2"/>
          <p:cNvSpPr txBox="1"/>
          <p:nvPr/>
        </p:nvSpPr>
        <p:spPr>
          <a:xfrm>
            <a:off x="16287750" y="6286500"/>
            <a:ext cx="95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7 min</a:t>
            </a:r>
            <a:endParaRPr b="0" i="0" spc="0" sz="2100" u="none" cap="none" strike="noStrike">
              <a:solidFill>
                <a:srgbClr val="5A5E7A"/>
              </a:solidFill>
              <a:latin typeface="Manrope"/>
              <a:ea typeface="Manrope"/>
              <a:cs typeface="Manrope"/>
              <a:sym typeface="Manrope"/>
            </a:endParaRPr>
          </a:p>
        </p:txBody>
      </p:sp>
      <p:grpSp>
        <p:nvGrpSpPr>
          <p:cNvPr id="71" name="Google Shape;71;p2"/>
          <p:cNvGrpSpPr/>
          <p:nvPr/>
        </p:nvGrpSpPr>
        <p:grpSpPr>
          <a:xfrm>
            <a:off x="16287750" y="2667000"/>
            <a:ext cx="952500" cy="904800"/>
            <a:chOff x="0" y="0"/>
            <a:chExt cx="952500" cy="904800"/>
          </a:xfrm>
        </p:grpSpPr>
        <p:sp>
          <p:nvSpPr>
            <p:cNvPr id="72" name="Google Shape;72;p2"/>
            <p:cNvSpPr/>
            <p:nvPr/>
          </p:nvSpPr>
          <p:spPr>
            <a:xfrm>
              <a:off x="0" y="0"/>
              <a:ext cx="95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 name="Google Shape;73;p2"/>
            <p:cNvSpPr txBox="1"/>
            <p:nvPr/>
          </p:nvSpPr>
          <p:spPr>
            <a:xfrm>
              <a:off x="0" y="0"/>
              <a:ext cx="95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1.5 min</a:t>
              </a:r>
              <a:endParaRPr b="0" i="0" spc="0" sz="2100" u="none" cap="none" strike="noStrike">
                <a:solidFill>
                  <a:srgbClr val="5A5E7A"/>
                </a:solidFill>
                <a:latin typeface="Manrope"/>
                <a:ea typeface="Manrope"/>
                <a:cs typeface="Manrope"/>
                <a:sym typeface="Manrope"/>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2A"/>
        </a:solidFill>
      </p:bgPr>
    </p:bg>
    <p:spTree>
      <p:nvGrpSpPr>
        <p:cNvPr id="78" name="Shape 78"/>
        <p:cNvGrpSpPr/>
        <p:nvPr/>
      </p:nvGrpSpPr>
      <p:grpSpPr>
        <a:xfrm>
          <a:off x="0" y="0"/>
          <a:ext cx="0" cy="0"/>
          <a:chOff x="0" y="0"/>
          <a:chExt cx="0" cy="0"/>
        </a:xfrm>
      </p:grpSpPr>
      <p:sp>
        <p:nvSpPr>
          <p:cNvPr id="79" name="Google Shape;79;p3"/>
          <p:cNvSpPr/>
          <p:nvPr/>
        </p:nvSpPr>
        <p:spPr>
          <a:xfrm>
            <a:off x="1047750" y="876300"/>
            <a:ext cx="17811750"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SECTION 01</a:t>
            </a:r>
            <a:endParaRPr b="0" i="0" spc="0" sz="1800" u="none" cap="none" strike="noStrike">
              <a:solidFill>
                <a:schemeClr val="dk1"/>
              </a:solidFill>
              <a:latin typeface="Calibri"/>
              <a:ea typeface="Calibri"/>
              <a:cs typeface="Calibri"/>
              <a:sym typeface="Calibri"/>
            </a:endParaRPr>
          </a:p>
        </p:txBody>
      </p:sp>
      <p:sp>
        <p:nvSpPr>
          <p:cNvPr id="80" name="Google Shape;80;p3"/>
          <p:cNvSpPr/>
          <p:nvPr/>
        </p:nvSpPr>
        <p:spPr>
          <a:xfrm>
            <a:off x="1047750" y="1423988"/>
            <a:ext cx="13620750" cy="926529"/>
          </a:xfrm>
          <a:prstGeom prst="rect">
            <a:avLst/>
          </a:prstGeom>
          <a:noFill/>
          <a:ln>
            <a:noFill/>
          </a:ln>
        </p:spPr>
        <p:txBody>
          <a:bodyPr anchorCtr="0" anchor="t" bIns="25400" lIns="25400" spcFirstLastPara="1" rIns="25400" wrap="square" tIns="25400">
            <a:noAutofit/>
          </a:bodyPr>
          <a:lstStyle/>
          <a:p>
            <a:pPr indent="0" lvl="0" marL="0" marR="0" rtl="0" algn="l">
              <a:lnSpc>
                <a:spcPct val="77411"/>
              </a:lnSpc>
              <a:spcBef>
                <a:spcPts val="0"/>
              </a:spcBef>
              <a:spcAft>
                <a:spcPts val="0"/>
              </a:spcAft>
              <a:buClr>
                <a:srgbClr val="FFFFFF"/>
              </a:buClr>
              <a:buSzPts val="6600"/>
              <a:buFont typeface="Manrope"/>
              <a:buNone/>
            </a:pPr>
            <a:r>
              <a:rPr b="1" i="0" lang="en-US" spc="0" sz="6600" u="none" cap="none" strike="noStrike">
                <a:solidFill>
                  <a:srgbClr val="FFFFFF"/>
                </a:solidFill>
                <a:latin typeface="Manrope"/>
                <a:ea typeface="Manrope"/>
                <a:cs typeface="Manrope"/>
                <a:sym typeface="Manrope"/>
              </a:rPr>
              <a:t>kube-burner in 90 seconds</a:t>
            </a:r>
            <a:endParaRPr b="1" i="0" spc="0" sz="6600" u="none" cap="none" strike="noStrike">
              <a:solidFill>
                <a:srgbClr val="FFFFFF"/>
              </a:solidFill>
              <a:latin typeface="Manrope"/>
              <a:ea typeface="Manrope"/>
              <a:cs typeface="Manrope"/>
              <a:sym typeface="Manrope"/>
            </a:endParaRPr>
          </a:p>
          <a:p>
            <a:pPr indent="0" lvl="0" marL="0" marR="0" rtl="0" algn="l">
              <a:lnSpc>
                <a:spcPct val="77411"/>
              </a:lnSpc>
              <a:spcBef>
                <a:spcPts val="0"/>
              </a:spcBef>
              <a:spcAft>
                <a:spcPts val="0"/>
              </a:spcAft>
              <a:buClr>
                <a:srgbClr val="FFFFFF"/>
              </a:buClr>
              <a:buSzPts val="6600"/>
              <a:buFont typeface="Manrope"/>
              <a:buNone/>
            </a:pPr>
            <a:r>
              <a:t/>
            </a:r>
            <a:endParaRPr b="1" i="0" spc="0" sz="6600" u="none" cap="none" strike="noStrike">
              <a:solidFill>
                <a:srgbClr val="FFFFFF"/>
              </a:solidFill>
              <a:latin typeface="Manrope"/>
              <a:ea typeface="Manrope"/>
              <a:cs typeface="Manrope"/>
              <a:sym typeface="Manrope"/>
            </a:endParaRPr>
          </a:p>
        </p:txBody>
      </p:sp>
      <p:sp>
        <p:nvSpPr>
          <p:cNvPr id="81" name="Google Shape;81;p3"/>
          <p:cNvSpPr/>
          <p:nvPr/>
        </p:nvSpPr>
        <p:spPr>
          <a:xfrm>
            <a:off x="1047750" y="2731517"/>
            <a:ext cx="1714500" cy="76200"/>
          </a:xfrm>
          <a:prstGeom prst="rect">
            <a:avLst/>
          </a:prstGeom>
          <a:solidFill>
            <a:srgbClr val="3928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4"/>
          <p:cNvSpPr txBox="1"/>
          <p:nvPr/>
        </p:nvSpPr>
        <p:spPr>
          <a:xfrm>
            <a:off x="1047750" y="876300"/>
            <a:ext cx="1619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3928D9"/>
                </a:solidFill>
                <a:latin typeface="JetBrains Mono"/>
                <a:ea typeface="JetBrains Mono"/>
                <a:cs typeface="JetBrains Mono"/>
                <a:sym typeface="JetBrains Mono"/>
              </a:rPr>
              <a:t>Overview</a:t>
            </a:r>
            <a:endParaRPr b="0" i="0" spc="0" sz="1800" u="none" cap="none" strike="noStrike">
              <a:solidFill>
                <a:srgbClr val="3928D9"/>
              </a:solidFill>
              <a:latin typeface="JetBrains Mono"/>
              <a:ea typeface="JetBrains Mono"/>
              <a:cs typeface="JetBrains Mono"/>
              <a:sym typeface="JetBrains Mono"/>
            </a:endParaRPr>
          </a:p>
        </p:txBody>
      </p:sp>
      <p:sp>
        <p:nvSpPr>
          <p:cNvPr id="88" name="Google Shape;88;p4"/>
          <p:cNvSpPr txBox="1"/>
          <p:nvPr/>
        </p:nvSpPr>
        <p:spPr>
          <a:xfrm>
            <a:off x="1047750" y="1381125"/>
            <a:ext cx="161925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800"/>
              <a:buFont typeface="Arial"/>
              <a:buNone/>
            </a:pPr>
            <a:r>
              <a:rPr b="1" i="0" lang="en-US" spc="0" sz="4800" u="none" cap="none" strike="noStrike">
                <a:solidFill>
                  <a:srgbClr val="12132A"/>
                </a:solidFill>
                <a:latin typeface="Manrope"/>
                <a:ea typeface="Manrope"/>
                <a:cs typeface="Manrope"/>
                <a:sym typeface="Manrope"/>
              </a:rPr>
              <a:t>What is kube-burner?</a:t>
            </a:r>
            <a:endParaRPr b="1" i="0" spc="0" sz="4800" u="none" cap="none" strike="noStrike">
              <a:solidFill>
                <a:srgbClr val="12132A"/>
              </a:solidFill>
              <a:latin typeface="Manrope"/>
              <a:ea typeface="Manrope"/>
              <a:cs typeface="Manrope"/>
              <a:sym typeface="Manrope"/>
            </a:endParaRPr>
          </a:p>
        </p:txBody>
      </p:sp>
      <p:sp>
        <p:nvSpPr>
          <p:cNvPr id="89" name="Google Shape;89;p4"/>
          <p:cNvSpPr txBox="1"/>
          <p:nvPr/>
        </p:nvSpPr>
        <p:spPr>
          <a:xfrm>
            <a:off x="1047750" y="2667000"/>
            <a:ext cx="7620000" cy="571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12132A"/>
                </a:solidFill>
                <a:latin typeface="Manrope SemiBold"/>
                <a:ea typeface="Manrope SemiBold"/>
                <a:cs typeface="Manrope SemiBold"/>
                <a:sym typeface="Manrope SemiBold"/>
              </a:rPr>
              <a:t>kube-burner is a vendor-neutral, open-source Kubernetes performance and scale test orchestration framework written in Go.</a:t>
            </a:r>
            <a:endParaRPr b="0" i="0" spc="0" sz="2800" u="none" cap="none" strike="noStrike">
              <a:solidFill>
                <a:srgbClr val="12132A"/>
              </a:solidFill>
              <a:latin typeface="Manrope SemiBold"/>
              <a:ea typeface="Manrope SemiBold"/>
              <a:cs typeface="Manrope SemiBold"/>
              <a:sym typeface="Manrope SemiBold"/>
            </a:endParaRPr>
          </a:p>
          <a:p>
            <a:pPr indent="0" lvl="0" marL="0" marR="0" rtl="0" algn="l">
              <a:lnSpc>
                <a:spcPct val="100000"/>
              </a:lnSpc>
              <a:spcBef>
                <a:spcPts val="2250"/>
              </a:spcBef>
              <a:spcAft>
                <a:spcPts val="0"/>
              </a:spcAft>
              <a:buClr>
                <a:srgbClr val="000000"/>
              </a:buClr>
              <a:buSzPts val="2200"/>
              <a:buFont typeface="Arial"/>
              <a:buNone/>
            </a:pPr>
            <a:r>
              <a:rPr b="1" i="0" lang="en-US" spc="0" sz="2200" u="none" cap="none" strike="noStrike">
                <a:solidFill>
                  <a:srgbClr val="3928D9"/>
                </a:solidFill>
                <a:latin typeface="Manrope"/>
                <a:ea typeface="Manrope"/>
                <a:cs typeface="Manrope"/>
                <a:sym typeface="Manrope"/>
              </a:rPr>
              <a:t>It combines:</a:t>
            </a:r>
            <a:endParaRPr b="1" i="0" spc="0" sz="2200" u="none" cap="none" strike="noStrike">
              <a:solidFill>
                <a:srgbClr val="3928D9"/>
              </a:solidFill>
              <a:latin typeface="Manrope"/>
              <a:ea typeface="Manrope"/>
              <a:cs typeface="Manrope"/>
              <a:sym typeface="Manrope"/>
            </a:endParaRPr>
          </a:p>
          <a:p>
            <a:pPr indent="-368300" lvl="0" marL="457200" marR="0" rtl="0" algn="l">
              <a:lnSpc>
                <a:spcPct val="100000"/>
              </a:lnSpc>
              <a:spcBef>
                <a:spcPts val="1500"/>
              </a:spcBef>
              <a:spcAft>
                <a:spcPts val="0"/>
              </a:spcAft>
              <a:buClr>
                <a:srgbClr val="5A5E7A"/>
              </a:buClr>
              <a:buSzPts val="2200"/>
              <a:buFont typeface="Manrope"/>
              <a:buChar char="●"/>
            </a:pPr>
            <a:r>
              <a:rPr b="0" i="0" lang="en-US" spc="0" sz="2200" u="none" cap="none" strike="noStrike">
                <a:solidFill>
                  <a:srgbClr val="5A5E7A"/>
                </a:solidFill>
                <a:latin typeface="Manrope Medium"/>
                <a:ea typeface="Manrope Medium"/>
                <a:cs typeface="Manrope Medium"/>
                <a:sym typeface="Manrope Medium"/>
              </a:rPr>
              <a:t>Repeatable Kubernetes workload generation</a:t>
            </a:r>
            <a:endParaRPr b="0" i="0" spc="0" sz="2200" u="none" cap="none" strike="noStrike">
              <a:solidFill>
                <a:srgbClr val="5A5E7A"/>
              </a:solidFill>
              <a:latin typeface="Manrope Medium"/>
              <a:ea typeface="Manrope Medium"/>
              <a:cs typeface="Manrope Medium"/>
              <a:sym typeface="Manrope Medium"/>
            </a:endParaRPr>
          </a:p>
          <a:p>
            <a:pPr indent="-368300" lvl="0" marL="457200" marR="0" rtl="0" algn="l">
              <a:lnSpc>
                <a:spcPct val="100000"/>
              </a:lnSpc>
              <a:spcBef>
                <a:spcPts val="1125"/>
              </a:spcBef>
              <a:spcAft>
                <a:spcPts val="0"/>
              </a:spcAft>
              <a:buClr>
                <a:srgbClr val="5A5E7A"/>
              </a:buClr>
              <a:buSzPts val="2200"/>
              <a:buFont typeface="Manrope"/>
              <a:buChar char="●"/>
            </a:pPr>
            <a:r>
              <a:rPr b="0" i="0" lang="en-US" spc="0" sz="2200" u="none" cap="none" strike="noStrike">
                <a:solidFill>
                  <a:srgbClr val="5A5E7A"/>
                </a:solidFill>
                <a:latin typeface="Manrope Medium"/>
                <a:ea typeface="Manrope Medium"/>
                <a:cs typeface="Manrope Medium"/>
                <a:sym typeface="Manrope Medium"/>
              </a:rPr>
              <a:t>Prometheus observability and metric indexing</a:t>
            </a:r>
            <a:endParaRPr b="0" i="0" spc="0" sz="2200" u="none" cap="none" strike="noStrike">
              <a:solidFill>
                <a:srgbClr val="5A5E7A"/>
              </a:solidFill>
              <a:latin typeface="Manrope Medium"/>
              <a:ea typeface="Manrope Medium"/>
              <a:cs typeface="Manrope Medium"/>
              <a:sym typeface="Manrope Medium"/>
            </a:endParaRPr>
          </a:p>
          <a:p>
            <a:pPr indent="-368300" lvl="0" marL="457200" marR="0" rtl="0" algn="l">
              <a:lnSpc>
                <a:spcPct val="100000"/>
              </a:lnSpc>
              <a:spcBef>
                <a:spcPts val="1125"/>
              </a:spcBef>
              <a:spcAft>
                <a:spcPts val="0"/>
              </a:spcAft>
              <a:buClr>
                <a:srgbClr val="5A5E7A"/>
              </a:buClr>
              <a:buSzPts val="2200"/>
              <a:buFont typeface="Manrope"/>
              <a:buChar char="●"/>
            </a:pPr>
            <a:r>
              <a:rPr b="0" i="0" lang="en-US" spc="0" sz="2200" u="none" cap="none" strike="noStrike">
                <a:solidFill>
                  <a:srgbClr val="5A5E7A"/>
                </a:solidFill>
                <a:latin typeface="Manrope Medium"/>
                <a:ea typeface="Manrope Medium"/>
                <a:cs typeface="Manrope Medium"/>
                <a:sym typeface="Manrope Medium"/>
              </a:rPr>
              <a:t>Precise resource-lifecycle measurements</a:t>
            </a:r>
            <a:endParaRPr b="0" i="0" spc="0" sz="2200" u="none" cap="none" strike="noStrike">
              <a:solidFill>
                <a:srgbClr val="5A5E7A"/>
              </a:solidFill>
              <a:latin typeface="Manrope Medium"/>
              <a:ea typeface="Manrope Medium"/>
              <a:cs typeface="Manrope Medium"/>
              <a:sym typeface="Manrope Medium"/>
            </a:endParaRPr>
          </a:p>
          <a:p>
            <a:pPr indent="-368300" lvl="0" marL="457200" marR="0" rtl="0" algn="l">
              <a:lnSpc>
                <a:spcPct val="100000"/>
              </a:lnSpc>
              <a:spcBef>
                <a:spcPts val="1125"/>
              </a:spcBef>
              <a:spcAft>
                <a:spcPts val="1125"/>
              </a:spcAft>
              <a:buClr>
                <a:srgbClr val="5A5E7A"/>
              </a:buClr>
              <a:buSzPts val="2200"/>
              <a:buFont typeface="Manrope"/>
              <a:buChar char="●"/>
            </a:pPr>
            <a:r>
              <a:rPr b="0" i="0" lang="en-US" spc="0" sz="2200" u="none" cap="none" strike="noStrike">
                <a:solidFill>
                  <a:srgbClr val="5A5E7A"/>
                </a:solidFill>
                <a:latin typeface="Manrope Medium"/>
                <a:ea typeface="Manrope Medium"/>
                <a:cs typeface="Manrope Medium"/>
                <a:sym typeface="Manrope Medium"/>
              </a:rPr>
              <a:t>Threshold-based performance validation</a:t>
            </a:r>
            <a:endParaRPr b="0" i="0" spc="0" sz="2200" u="none" cap="none" strike="noStrike">
              <a:solidFill>
                <a:srgbClr val="5A5E7A"/>
              </a:solidFill>
              <a:latin typeface="Manrope Medium"/>
              <a:ea typeface="Manrope Medium"/>
              <a:cs typeface="Manrope Medium"/>
              <a:sym typeface="Manrope Medium"/>
            </a:endParaRPr>
          </a:p>
        </p:txBody>
      </p:sp>
      <p:grpSp>
        <p:nvGrpSpPr>
          <p:cNvPr id="90" name="Google Shape;90;p4"/>
          <p:cNvGrpSpPr/>
          <p:nvPr/>
        </p:nvGrpSpPr>
        <p:grpSpPr>
          <a:xfrm>
            <a:off x="9715500" y="2667000"/>
            <a:ext cx="7524900" cy="5715000"/>
            <a:chOff x="0" y="0"/>
            <a:chExt cx="7524900" cy="5715000"/>
          </a:xfrm>
        </p:grpSpPr>
        <p:sp>
          <p:nvSpPr>
            <p:cNvPr id="91" name="Google Shape;91;p4"/>
            <p:cNvSpPr/>
            <p:nvPr/>
          </p:nvSpPr>
          <p:spPr>
            <a:xfrm>
              <a:off x="0" y="0"/>
              <a:ext cx="7524900" cy="5715000"/>
            </a:xfrm>
            <a:prstGeom prst="roundRect">
              <a:avLst>
                <a:gd fmla="val 2666" name="adj"/>
              </a:avLst>
            </a:prstGeom>
            <a:solidFill>
              <a:srgbClr val="FFFFFF"/>
            </a:solidFill>
            <a:ln cap="flat" cmpd="sng" w="19050">
              <a:solidFill>
                <a:srgbClr val="E6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pc="0" sz="2000" u="none" cap="none" strike="noStrike">
                <a:solidFill>
                  <a:srgbClr val="000000"/>
                </a:solidFill>
                <a:latin typeface="Arial"/>
                <a:ea typeface="Arial"/>
                <a:cs typeface="Arial"/>
                <a:sym typeface="Arial"/>
              </a:endParaRPr>
            </a:p>
          </p:txBody>
        </p:sp>
        <p:sp>
          <p:nvSpPr>
            <p:cNvPr id="92" name="Google Shape;92;p4"/>
            <p:cNvSpPr/>
            <p:nvPr/>
          </p:nvSpPr>
          <p:spPr>
            <a:xfrm>
              <a:off x="0" y="0"/>
              <a:ext cx="7524900" cy="1143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pc="0" sz="2000" u="none" cap="none" strike="noStrike">
                <a:solidFill>
                  <a:srgbClr val="000000"/>
                </a:solidFill>
                <a:latin typeface="Arial"/>
                <a:ea typeface="Arial"/>
                <a:cs typeface="Arial"/>
                <a:sym typeface="Arial"/>
              </a:endParaRPr>
            </a:p>
          </p:txBody>
        </p:sp>
        <p:sp>
          <p:nvSpPr>
            <p:cNvPr id="93" name="Google Shape;93;p4"/>
            <p:cNvSpPr txBox="1"/>
            <p:nvPr/>
          </p:nvSpPr>
          <p:spPr>
            <a:xfrm>
              <a:off x="381000" y="381000"/>
              <a:ext cx="6762900" cy="495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pc="0" sz="3200" u="none" cap="none" strike="noStrike">
                  <a:solidFill>
                    <a:srgbClr val="12132A"/>
                  </a:solidFill>
                  <a:latin typeface="Manrope"/>
                  <a:ea typeface="Manrope"/>
                  <a:cs typeface="Manrope"/>
                  <a:sym typeface="Manrope"/>
                </a:rPr>
                <a:t>Project facts</a:t>
              </a:r>
              <a:endParaRPr b="1" i="0" spc="0" sz="3200" u="none" cap="none" strike="noStrike">
                <a:solidFill>
                  <a:srgbClr val="12132A"/>
                </a:solidFill>
                <a:latin typeface="Manrope"/>
                <a:ea typeface="Manrope"/>
                <a:cs typeface="Manrope"/>
                <a:sym typeface="Manrope"/>
              </a:endParaRPr>
            </a:p>
            <a:p>
              <a:pPr indent="0" lvl="0" marL="0" marR="0" rtl="0" algn="l">
                <a:lnSpc>
                  <a:spcPct val="100000"/>
                </a:lnSpc>
                <a:spcBef>
                  <a:spcPts val="2250"/>
                </a:spcBef>
                <a:spcAft>
                  <a:spcPts val="0"/>
                </a:spcAft>
                <a:buClr>
                  <a:srgbClr val="000000"/>
                </a:buClr>
                <a:buSzPts val="2100"/>
                <a:buFont typeface="Arial"/>
                <a:buNone/>
              </a:pPr>
              <a:r>
                <a:rPr b="1" i="0" lang="en-US" spc="0" sz="2100" u="none" cap="none" strike="noStrike">
                  <a:solidFill>
                    <a:srgbClr val="12132A"/>
                  </a:solidFill>
                  <a:latin typeface="Manrope"/>
                  <a:ea typeface="Manrope"/>
                  <a:cs typeface="Manrope"/>
                  <a:sym typeface="Manrope"/>
                </a:rPr>
                <a:t>CNCF maturity:</a:t>
              </a:r>
              <a:r>
                <a:rPr b="0" i="0" lang="en-US" spc="0" sz="2100" u="none" cap="none" strike="noStrike">
                  <a:solidFill>
                    <a:srgbClr val="5A5E7A"/>
                  </a:solidFill>
                  <a:latin typeface="Manrope"/>
                  <a:ea typeface="Manrope"/>
                  <a:cs typeface="Manrope"/>
                  <a:sym typeface="Manrope"/>
                </a:rPr>
                <a:t> Sandbox project</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125"/>
                </a:spcBef>
                <a:spcAft>
                  <a:spcPts val="0"/>
                </a:spcAft>
                <a:buClr>
                  <a:srgbClr val="000000"/>
                </a:buClr>
                <a:buSzPts val="2100"/>
                <a:buFont typeface="Arial"/>
                <a:buNone/>
              </a:pPr>
              <a:r>
                <a:rPr b="1" i="0" lang="en-US" spc="0" sz="2100" u="none" cap="none" strike="noStrike">
                  <a:solidFill>
                    <a:srgbClr val="12132A"/>
                  </a:solidFill>
                  <a:latin typeface="Manrope"/>
                  <a:ea typeface="Manrope"/>
                  <a:cs typeface="Manrope"/>
                  <a:sym typeface="Manrope"/>
                </a:rPr>
                <a:t>Accepted by CNCF:</a:t>
              </a:r>
              <a:r>
                <a:rPr b="0" i="0" lang="en-US" spc="0" sz="2100" u="none" cap="none" strike="noStrike">
                  <a:solidFill>
                    <a:srgbClr val="5A5E7A"/>
                  </a:solidFill>
                  <a:latin typeface="Manrope"/>
                  <a:ea typeface="Manrope"/>
                  <a:cs typeface="Manrope"/>
                  <a:sym typeface="Manrope"/>
                </a:rPr>
                <a:t> December 18, 2023</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125"/>
                </a:spcBef>
                <a:spcAft>
                  <a:spcPts val="0"/>
                </a:spcAft>
                <a:buClr>
                  <a:srgbClr val="000000"/>
                </a:buClr>
                <a:buSzPts val="2100"/>
                <a:buFont typeface="Arial"/>
                <a:buNone/>
              </a:pPr>
              <a:r>
                <a:rPr b="1" i="0" lang="en-US" spc="0" sz="2100" u="none" cap="none" strike="noStrike">
                  <a:solidFill>
                    <a:srgbClr val="12132A"/>
                  </a:solidFill>
                  <a:latin typeface="Manrope"/>
                  <a:ea typeface="Manrope"/>
                  <a:cs typeface="Manrope"/>
                  <a:sym typeface="Manrope"/>
                </a:rPr>
                <a:t>Implementation:</a:t>
              </a:r>
              <a:r>
                <a:rPr b="0" i="0" lang="en-US" spc="0" sz="2100" u="none" cap="none" strike="noStrike">
                  <a:solidFill>
                    <a:srgbClr val="5A5E7A"/>
                  </a:solidFill>
                  <a:latin typeface="Manrope"/>
                  <a:ea typeface="Manrope"/>
                  <a:cs typeface="Manrope"/>
                  <a:sym typeface="Manrope"/>
                </a:rPr>
                <a:t> Go using the Kubernetes </a:t>
              </a:r>
              <a:r>
                <a:rPr b="0" i="0" lang="en-US" spc="0" sz="1900" u="none" cap="none" strike="noStrike">
                  <a:solidFill>
                    <a:srgbClr val="5A5E7A"/>
                  </a:solidFill>
                  <a:highlight>
                    <a:srgbClr val="F4F5F9"/>
                  </a:highlight>
                  <a:latin typeface="JetBrains Mono"/>
                  <a:ea typeface="JetBrains Mono"/>
                  <a:cs typeface="JetBrains Mono"/>
                  <a:sym typeface="JetBrains Mono"/>
                </a:rPr>
                <a:t>client-go</a:t>
              </a:r>
              <a:r>
                <a:rPr b="0" i="0" lang="en-US" spc="0" sz="2100" u="none" cap="none" strike="noStrike">
                  <a:solidFill>
                    <a:srgbClr val="5A5E7A"/>
                  </a:solidFill>
                  <a:latin typeface="Manrope"/>
                  <a:ea typeface="Manrope"/>
                  <a:cs typeface="Manrope"/>
                  <a:sym typeface="Manrope"/>
                </a:rPr>
                <a:t> library</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125"/>
                </a:spcBef>
                <a:spcAft>
                  <a:spcPts val="0"/>
                </a:spcAft>
                <a:buClr>
                  <a:srgbClr val="000000"/>
                </a:buClr>
                <a:buSzPts val="2100"/>
                <a:buFont typeface="Arial"/>
                <a:buNone/>
              </a:pPr>
              <a:r>
                <a:rPr b="1" i="0" lang="en-US" spc="0" sz="2100" u="none" cap="none" strike="noStrike">
                  <a:solidFill>
                    <a:srgbClr val="12132A"/>
                  </a:solidFill>
                  <a:latin typeface="Manrope"/>
                  <a:ea typeface="Manrope"/>
                  <a:cs typeface="Manrope"/>
                  <a:sym typeface="Manrope"/>
                </a:rPr>
                <a:t>Scope:</a:t>
              </a:r>
              <a:r>
                <a:rPr b="0" i="0" lang="en-US" spc="0" sz="2100" u="none" cap="none" strike="noStrike">
                  <a:solidFill>
                    <a:srgbClr val="5A5E7A"/>
                  </a:solidFill>
                  <a:latin typeface="Manrope"/>
                  <a:ea typeface="Manrope"/>
                  <a:cs typeface="Manrope"/>
                  <a:sym typeface="Manrope"/>
                </a:rPr>
                <a:t> Platform and Kubernetes-distribution agnostic</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125"/>
                </a:spcBef>
                <a:spcAft>
                  <a:spcPts val="0"/>
                </a:spcAft>
                <a:buClr>
                  <a:srgbClr val="000000"/>
                </a:buClr>
                <a:buSzPts val="2100"/>
                <a:buFont typeface="Arial"/>
                <a:buNone/>
              </a:pPr>
              <a:r>
                <a:rPr b="1" i="0" lang="en-US" spc="0" sz="2100" u="none" cap="none" strike="noStrike">
                  <a:solidFill>
                    <a:srgbClr val="12132A"/>
                  </a:solidFill>
                  <a:latin typeface="Manrope"/>
                  <a:ea typeface="Manrope"/>
                  <a:cs typeface="Manrope"/>
                  <a:sym typeface="Manrope"/>
                </a:rPr>
                <a:t>Purpose:</a:t>
              </a:r>
              <a:r>
                <a:rPr b="0" i="0" lang="en-US" spc="0" sz="2100" u="none" cap="none" strike="noStrike">
                  <a:solidFill>
                    <a:srgbClr val="5A5E7A"/>
                  </a:solidFill>
                  <a:latin typeface="Manrope"/>
                  <a:ea typeface="Manrope"/>
                  <a:cs typeface="Manrope"/>
                  <a:sym typeface="Manrope"/>
                </a:rPr>
                <a:t> Simulate load, identify bottlenecks, establish baselines, and detect regressions</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125"/>
                </a:spcBef>
                <a:spcAft>
                  <a:spcPts val="0"/>
                </a:spcAft>
                <a:buClr>
                  <a:srgbClr val="000000"/>
                </a:buClr>
                <a:buSzPts val="2100"/>
                <a:buFont typeface="Arial"/>
                <a:buNone/>
              </a:pPr>
              <a:r>
                <a:rPr b="1" i="0" lang="en-US" spc="0" sz="2100" u="none" cap="none" strike="noStrike">
                  <a:solidFill>
                    <a:schemeClr val="dk1"/>
                  </a:solidFill>
                  <a:latin typeface="Manrope"/>
                  <a:ea typeface="Manrope"/>
                  <a:cs typeface="Manrope"/>
                  <a:sym typeface="Manrope"/>
                </a:rPr>
                <a:t>Original Creator</a:t>
              </a:r>
              <a:r>
                <a:rPr b="0" i="0" lang="en-US" spc="0" sz="2100" u="none" cap="none" strike="noStrike">
                  <a:solidFill>
                    <a:srgbClr val="5A5E7A"/>
                  </a:solidFill>
                  <a:latin typeface="Manrope"/>
                  <a:ea typeface="Manrope"/>
                  <a:cs typeface="Manrope"/>
                  <a:sym typeface="Manrope"/>
                </a:rPr>
                <a:t>: Red Hat Performance and Scale engineering team</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125"/>
                </a:spcBef>
                <a:spcAft>
                  <a:spcPts val="0"/>
                </a:spcAft>
                <a:buClr>
                  <a:srgbClr val="000000"/>
                </a:buClr>
                <a:buSzPts val="2100"/>
                <a:buFont typeface="Arial"/>
                <a:buNone/>
              </a:pPr>
              <a:r>
                <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125"/>
                </a:spcBef>
                <a:spcAft>
                  <a:spcPts val="1125"/>
                </a:spcAft>
                <a:buClr>
                  <a:srgbClr val="000000"/>
                </a:buClr>
                <a:buSzPts val="2100"/>
                <a:buFont typeface="Arial"/>
                <a:buNone/>
              </a:pPr>
              <a:r>
                <a:t/>
              </a:r>
              <a:endParaRPr b="0" i="0" spc="0" sz="2100" u="none" cap="none" strike="noStrike">
                <a:solidFill>
                  <a:srgbClr val="5A5E7A"/>
                </a:solidFill>
                <a:latin typeface="Manrope"/>
                <a:ea typeface="Manrope"/>
                <a:cs typeface="Manrope"/>
                <a:sym typeface="Manrope"/>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5"/>
          <p:cNvSpPr txBox="1"/>
          <p:nvPr/>
        </p:nvSpPr>
        <p:spPr>
          <a:xfrm>
            <a:off x="1047750" y="876300"/>
            <a:ext cx="1619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3928D9"/>
                </a:solidFill>
                <a:latin typeface="JetBrains Mono"/>
                <a:ea typeface="JetBrains Mono"/>
                <a:cs typeface="JetBrains Mono"/>
                <a:sym typeface="JetBrains Mono"/>
              </a:rPr>
              <a:t>Overview</a:t>
            </a:r>
            <a:endParaRPr b="0" i="0" spc="0" sz="1800" u="none" cap="none" strike="noStrike">
              <a:solidFill>
                <a:srgbClr val="3928D9"/>
              </a:solidFill>
              <a:latin typeface="JetBrains Mono"/>
              <a:ea typeface="JetBrains Mono"/>
              <a:cs typeface="JetBrains Mono"/>
              <a:sym typeface="JetBrains Mono"/>
            </a:endParaRPr>
          </a:p>
        </p:txBody>
      </p:sp>
      <p:pic>
        <p:nvPicPr>
          <p:cNvPr id="100" name="Google Shape;100;p5"/>
          <p:cNvPicPr preferRelativeResize="0"/>
          <p:nvPr/>
        </p:nvPicPr>
        <p:blipFill rotWithShape="1">
          <a:blip r:embed="rId4">
            <a:alphaModFix/>
          </a:blip>
          <a:srcRect b="0" l="0" r="0" t="0"/>
          <a:stretch/>
        </p:blipFill>
        <p:spPr>
          <a:xfrm>
            <a:off x="2828925" y="1257300"/>
            <a:ext cx="12630150" cy="792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grpSp>
        <p:nvGrpSpPr>
          <p:cNvPr id="106" name="Google Shape;106;p6"/>
          <p:cNvGrpSpPr/>
          <p:nvPr/>
        </p:nvGrpSpPr>
        <p:grpSpPr>
          <a:xfrm>
            <a:off x="1047750" y="876300"/>
            <a:ext cx="16192500" cy="333300"/>
            <a:chOff x="0" y="0"/>
            <a:chExt cx="16192500" cy="333300"/>
          </a:xfrm>
        </p:grpSpPr>
        <p:sp>
          <p:nvSpPr>
            <p:cNvPr id="107" name="Google Shape;107;p6"/>
            <p:cNvSpPr/>
            <p:nvPr/>
          </p:nvSpPr>
          <p:spPr>
            <a:xfrm>
              <a:off x="0" y="0"/>
              <a:ext cx="161925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 name="Google Shape;108;p6"/>
            <p:cNvSpPr txBox="1"/>
            <p:nvPr/>
          </p:nvSpPr>
          <p:spPr>
            <a:xfrm>
              <a:off x="0" y="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3928D9"/>
                  </a:solidFill>
                  <a:latin typeface="JetBrains Mono"/>
                  <a:ea typeface="JetBrains Mono"/>
                  <a:cs typeface="JetBrains Mono"/>
                  <a:sym typeface="JetBrains Mono"/>
                </a:rPr>
                <a:t>HOW IT WORKS</a:t>
              </a:r>
              <a:endParaRPr b="0" i="0" spc="0" sz="1800" u="none" cap="none" strike="noStrike">
                <a:solidFill>
                  <a:srgbClr val="3928D9"/>
                </a:solidFill>
                <a:latin typeface="JetBrains Mono"/>
                <a:ea typeface="JetBrains Mono"/>
                <a:cs typeface="JetBrains Mono"/>
                <a:sym typeface="JetBrains Mono"/>
              </a:endParaRPr>
            </a:p>
          </p:txBody>
        </p:sp>
      </p:grpSp>
      <p:grpSp>
        <p:nvGrpSpPr>
          <p:cNvPr id="109" name="Google Shape;109;p6"/>
          <p:cNvGrpSpPr/>
          <p:nvPr/>
        </p:nvGrpSpPr>
        <p:grpSpPr>
          <a:xfrm>
            <a:off x="1047750" y="1381125"/>
            <a:ext cx="16192500" cy="904800"/>
            <a:chOff x="0" y="0"/>
            <a:chExt cx="16192500" cy="904800"/>
          </a:xfrm>
        </p:grpSpPr>
        <p:sp>
          <p:nvSpPr>
            <p:cNvPr id="110" name="Google Shape;110;p6"/>
            <p:cNvSpPr/>
            <p:nvPr/>
          </p:nvSpPr>
          <p:spPr>
            <a:xfrm>
              <a:off x="0" y="0"/>
              <a:ext cx="161925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 name="Google Shape;111;p6"/>
            <p:cNvSpPr txBox="1"/>
            <p:nvPr/>
          </p:nvSpPr>
          <p:spPr>
            <a:xfrm>
              <a:off x="0" y="0"/>
              <a:ext cx="16192500" cy="9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pc="0" sz="4400" u="none" cap="none" strike="noStrike">
                  <a:solidFill>
                    <a:srgbClr val="12132A"/>
                  </a:solidFill>
                  <a:latin typeface="Manrope"/>
                  <a:ea typeface="Manrope"/>
                  <a:cs typeface="Manrope"/>
                  <a:sym typeface="Manrope"/>
                </a:rPr>
                <a:t>How kube-burner Works</a:t>
              </a:r>
              <a:endParaRPr b="1" i="0" spc="0" sz="4400" u="none" cap="none" strike="noStrike">
                <a:solidFill>
                  <a:srgbClr val="12132A"/>
                </a:solidFill>
                <a:latin typeface="Manrope"/>
                <a:ea typeface="Manrope"/>
                <a:cs typeface="Manrope"/>
                <a:sym typeface="Manrope"/>
              </a:endParaRPr>
            </a:p>
          </p:txBody>
        </p:sp>
      </p:grpSp>
      <p:sp>
        <p:nvSpPr>
          <p:cNvPr id="112" name="Google Shape;112;p6"/>
          <p:cNvSpPr txBox="1"/>
          <p:nvPr/>
        </p:nvSpPr>
        <p:spPr>
          <a:xfrm>
            <a:off x="1047750" y="2724075"/>
            <a:ext cx="6669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pc="0" sz="3600" u="none" cap="none" strike="noStrike">
                <a:solidFill>
                  <a:srgbClr val="3928D9"/>
                </a:solidFill>
                <a:latin typeface="Manrope"/>
                <a:ea typeface="Manrope"/>
                <a:cs typeface="Manrope"/>
                <a:sym typeface="Manrope"/>
              </a:rPr>
              <a:t>01</a:t>
            </a:r>
            <a:endParaRPr b="1" i="0" spc="0" sz="3600" u="none" cap="none" strike="noStrike">
              <a:solidFill>
                <a:srgbClr val="3928D9"/>
              </a:solidFill>
              <a:latin typeface="Manrope"/>
              <a:ea typeface="Manrope"/>
              <a:cs typeface="Manrope"/>
              <a:sym typeface="Manrope"/>
            </a:endParaRPr>
          </a:p>
        </p:txBody>
      </p:sp>
      <p:sp>
        <p:nvSpPr>
          <p:cNvPr id="113" name="Google Shape;113;p6"/>
          <p:cNvSpPr txBox="1"/>
          <p:nvPr/>
        </p:nvSpPr>
        <p:spPr>
          <a:xfrm>
            <a:off x="1809750" y="2724075"/>
            <a:ext cx="49530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pc="0" sz="2200" u="none" cap="none" strike="noStrike">
                <a:solidFill>
                  <a:srgbClr val="12132A"/>
                </a:solidFill>
                <a:latin typeface="Manrope"/>
                <a:ea typeface="Manrope"/>
                <a:cs typeface="Manrope"/>
                <a:sym typeface="Manrope"/>
              </a:rPr>
              <a:t>YAML Configuration</a:t>
            </a:r>
            <a:endParaRPr b="1" i="0" spc="0" sz="2200" u="none" cap="none" strike="noStrike">
              <a:solidFill>
                <a:srgbClr val="12132A"/>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1800"/>
              <a:buFont typeface="Arial"/>
              <a:buNone/>
            </a:pPr>
            <a:r>
              <a:rPr b="0" i="0" lang="en-US" spc="0" sz="1800" u="none" cap="none" strike="noStrike">
                <a:solidFill>
                  <a:srgbClr val="5A5E7A"/>
                </a:solidFill>
                <a:latin typeface="Manrope"/>
                <a:ea typeface="Manrope"/>
                <a:cs typeface="Manrope"/>
                <a:sym typeface="Manrope"/>
              </a:rPr>
              <a:t>Uses a YAML configuration to define jobs with resource templates and lifecycle actions such as create, read, patch, and delete.</a:t>
            </a:r>
            <a:endParaRPr b="0" i="0" spc="0" sz="1800" u="none" cap="none" strike="noStrike">
              <a:solidFill>
                <a:srgbClr val="5A5E7A"/>
              </a:solidFill>
              <a:latin typeface="Manrope"/>
              <a:ea typeface="Manrope"/>
              <a:cs typeface="Manrope"/>
              <a:sym typeface="Manrope"/>
            </a:endParaRPr>
          </a:p>
        </p:txBody>
      </p:sp>
      <p:sp>
        <p:nvSpPr>
          <p:cNvPr id="114" name="Google Shape;114;p6"/>
          <p:cNvSpPr txBox="1"/>
          <p:nvPr/>
        </p:nvSpPr>
        <p:spPr>
          <a:xfrm>
            <a:off x="1047750" y="4533825"/>
            <a:ext cx="6669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pc="0" sz="3600" u="none" cap="none" strike="noStrike">
                <a:solidFill>
                  <a:srgbClr val="3928D9"/>
                </a:solidFill>
                <a:latin typeface="Manrope"/>
                <a:ea typeface="Manrope"/>
                <a:cs typeface="Manrope"/>
                <a:sym typeface="Manrope"/>
              </a:rPr>
              <a:t>02</a:t>
            </a:r>
            <a:endParaRPr b="1" i="0" spc="0" sz="3600" u="none" cap="none" strike="noStrike">
              <a:solidFill>
                <a:srgbClr val="3928D9"/>
              </a:solidFill>
              <a:latin typeface="Manrope"/>
              <a:ea typeface="Manrope"/>
              <a:cs typeface="Manrope"/>
              <a:sym typeface="Manrope"/>
            </a:endParaRPr>
          </a:p>
        </p:txBody>
      </p:sp>
      <p:sp>
        <p:nvSpPr>
          <p:cNvPr id="115" name="Google Shape;115;p6"/>
          <p:cNvSpPr txBox="1"/>
          <p:nvPr/>
        </p:nvSpPr>
        <p:spPr>
          <a:xfrm>
            <a:off x="1809750" y="4533825"/>
            <a:ext cx="49530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pc="0" sz="2200" u="none" cap="none" strike="noStrike">
                <a:solidFill>
                  <a:srgbClr val="12132A"/>
                </a:solidFill>
                <a:latin typeface="Manrope"/>
                <a:ea typeface="Manrope"/>
                <a:cs typeface="Manrope"/>
                <a:sym typeface="Manrope"/>
              </a:rPr>
              <a:t>Metrics Scraping</a:t>
            </a:r>
            <a:endParaRPr b="1" i="0" spc="0" sz="2200" u="none" cap="none" strike="noStrike">
              <a:solidFill>
                <a:srgbClr val="12132A"/>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1800"/>
              <a:buFont typeface="Arial"/>
              <a:buNone/>
            </a:pPr>
            <a:r>
              <a:rPr b="0" i="0" lang="en-US" spc="0" sz="1800" u="none" cap="none" strike="noStrike">
                <a:solidFill>
                  <a:srgbClr val="5A5E7A"/>
                </a:solidFill>
                <a:latin typeface="Manrope"/>
                <a:ea typeface="Manrope"/>
                <a:cs typeface="Manrope"/>
                <a:sym typeface="Manrope"/>
              </a:rPr>
              <a:t>Collects metrics by scraping Prometheus endpoints using configurable PromQL queries.</a:t>
            </a:r>
            <a:endParaRPr b="0" i="0" spc="0" sz="1800" u="none" cap="none" strike="noStrike">
              <a:solidFill>
                <a:srgbClr val="5A5E7A"/>
              </a:solidFill>
              <a:latin typeface="Manrope"/>
              <a:ea typeface="Manrope"/>
              <a:cs typeface="Manrope"/>
              <a:sym typeface="Manrope"/>
            </a:endParaRPr>
          </a:p>
        </p:txBody>
      </p:sp>
      <p:sp>
        <p:nvSpPr>
          <p:cNvPr id="116" name="Google Shape;116;p6"/>
          <p:cNvSpPr txBox="1"/>
          <p:nvPr/>
        </p:nvSpPr>
        <p:spPr>
          <a:xfrm>
            <a:off x="1047750" y="6343575"/>
            <a:ext cx="6669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pc="0" sz="3600" u="none" cap="none" strike="noStrike">
                <a:solidFill>
                  <a:srgbClr val="3928D9"/>
                </a:solidFill>
                <a:latin typeface="Manrope"/>
                <a:ea typeface="Manrope"/>
                <a:cs typeface="Manrope"/>
                <a:sym typeface="Manrope"/>
              </a:rPr>
              <a:t>03</a:t>
            </a:r>
            <a:endParaRPr b="1" i="0" spc="0" sz="3600" u="none" cap="none" strike="noStrike">
              <a:solidFill>
                <a:srgbClr val="3928D9"/>
              </a:solidFill>
              <a:latin typeface="Manrope"/>
              <a:ea typeface="Manrope"/>
              <a:cs typeface="Manrope"/>
              <a:sym typeface="Manrope"/>
            </a:endParaRPr>
          </a:p>
        </p:txBody>
      </p:sp>
      <p:sp>
        <p:nvSpPr>
          <p:cNvPr id="117" name="Google Shape;117;p6"/>
          <p:cNvSpPr txBox="1"/>
          <p:nvPr/>
        </p:nvSpPr>
        <p:spPr>
          <a:xfrm>
            <a:off x="1809750" y="6343575"/>
            <a:ext cx="49530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pc="0" sz="2200" u="none" cap="none" strike="noStrike">
                <a:solidFill>
                  <a:srgbClr val="12132A"/>
                </a:solidFill>
                <a:latin typeface="Manrope"/>
                <a:ea typeface="Manrope"/>
                <a:cs typeface="Manrope"/>
                <a:sym typeface="Manrope"/>
              </a:rPr>
              <a:t>Result Storage</a:t>
            </a:r>
            <a:endParaRPr b="1" i="0" spc="0" sz="2200" u="none" cap="none" strike="noStrike">
              <a:solidFill>
                <a:srgbClr val="12132A"/>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1800"/>
              <a:buFont typeface="Arial"/>
              <a:buNone/>
            </a:pPr>
            <a:r>
              <a:rPr b="0" i="0" lang="en-US" spc="0" sz="1800" u="none" cap="none" strike="noStrike">
                <a:solidFill>
                  <a:srgbClr val="5A5E7A"/>
                </a:solidFill>
                <a:latin typeface="Manrope"/>
                <a:ea typeface="Manrope"/>
                <a:cs typeface="Manrope"/>
                <a:sym typeface="Manrope"/>
              </a:rPr>
              <a:t>Stores results in Elasticsearch, OpenSearch, TSDB, or local JSON files.</a:t>
            </a:r>
            <a:endParaRPr b="0" i="0" spc="0" sz="1800" u="none" cap="none" strike="noStrike">
              <a:solidFill>
                <a:srgbClr val="5A5E7A"/>
              </a:solidFill>
              <a:latin typeface="Manrope"/>
              <a:ea typeface="Manrope"/>
              <a:cs typeface="Manrope"/>
              <a:sym typeface="Manrope"/>
            </a:endParaRPr>
          </a:p>
        </p:txBody>
      </p:sp>
      <p:sp>
        <p:nvSpPr>
          <p:cNvPr id="118" name="Google Shape;118;p6"/>
          <p:cNvSpPr/>
          <p:nvPr/>
        </p:nvSpPr>
        <p:spPr>
          <a:xfrm>
            <a:off x="6857850" y="2724075"/>
            <a:ext cx="3730800" cy="3663000"/>
          </a:xfrm>
          <a:prstGeom prst="roundRect">
            <a:avLst>
              <a:gd fmla="val 2962" name="adj"/>
            </a:avLst>
          </a:prstGeom>
          <a:solidFill>
            <a:srgbClr val="E7E4FB"/>
          </a:solidFill>
          <a:ln cap="flat" cmpd="sng" w="13550">
            <a:solidFill>
              <a:srgbClr val="3928D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82"/>
              <a:buFont typeface="Arial"/>
              <a:buNone/>
            </a:pPr>
            <a:r>
              <a:t/>
            </a:r>
            <a:endParaRPr b="0" i="0" spc="0" sz="1282" u="none" cap="none" strike="noStrike">
              <a:solidFill>
                <a:srgbClr val="000000"/>
              </a:solidFill>
              <a:latin typeface="Arial"/>
              <a:ea typeface="Arial"/>
              <a:cs typeface="Arial"/>
              <a:sym typeface="Arial"/>
            </a:endParaRPr>
          </a:p>
        </p:txBody>
      </p:sp>
      <p:sp>
        <p:nvSpPr>
          <p:cNvPr id="119" name="Google Shape;119;p6"/>
          <p:cNvSpPr/>
          <p:nvPr/>
        </p:nvSpPr>
        <p:spPr>
          <a:xfrm>
            <a:off x="6857850" y="2724075"/>
            <a:ext cx="3730800" cy="813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82"/>
              <a:buFont typeface="Arial"/>
              <a:buNone/>
            </a:pPr>
            <a:r>
              <a:t/>
            </a:r>
            <a:endParaRPr b="0" i="0" spc="0" sz="1282" u="none" cap="none" strike="noStrike">
              <a:solidFill>
                <a:srgbClr val="000000"/>
              </a:solidFill>
              <a:latin typeface="Arial"/>
              <a:ea typeface="Arial"/>
              <a:cs typeface="Arial"/>
              <a:sym typeface="Arial"/>
            </a:endParaRPr>
          </a:p>
        </p:txBody>
      </p:sp>
      <p:sp>
        <p:nvSpPr>
          <p:cNvPr id="120" name="Google Shape;120;p6"/>
          <p:cNvSpPr txBox="1"/>
          <p:nvPr/>
        </p:nvSpPr>
        <p:spPr>
          <a:xfrm>
            <a:off x="7129168" y="3063224"/>
            <a:ext cx="3188100" cy="30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67"/>
              <a:buFont typeface="Arial"/>
              <a:buNone/>
            </a:pPr>
            <a:r>
              <a:rPr b="1" i="0" lang="en-US" spc="0" sz="1567" u="none" cap="none" strike="noStrike">
                <a:solidFill>
                  <a:srgbClr val="3928D9"/>
                </a:solidFill>
                <a:latin typeface="Manrope"/>
                <a:ea typeface="Manrope"/>
                <a:cs typeface="Manrope"/>
                <a:sym typeface="Manrope"/>
              </a:rPr>
              <a:t>Metrics Collection</a:t>
            </a:r>
            <a:endParaRPr b="1" i="0" spc="0" sz="1567" u="none" cap="none" strike="noStrike">
              <a:solidFill>
                <a:srgbClr val="3928D9"/>
              </a:solidFill>
              <a:latin typeface="Manrope"/>
              <a:ea typeface="Manrope"/>
              <a:cs typeface="Manrope"/>
              <a:sym typeface="Manrope"/>
            </a:endParaRPr>
          </a:p>
          <a:p>
            <a:pPr indent="0" lvl="0" marL="0" marR="0" rtl="0" algn="l">
              <a:lnSpc>
                <a:spcPct val="100000"/>
              </a:lnSpc>
              <a:spcBef>
                <a:spcPts val="641"/>
              </a:spcBef>
              <a:spcAft>
                <a:spcPts val="0"/>
              </a:spcAft>
              <a:buClr>
                <a:srgbClr val="000000"/>
              </a:buClr>
              <a:buSzPts val="2279"/>
              <a:buFont typeface="Arial"/>
              <a:buNone/>
            </a:pPr>
            <a:r>
              <a:rPr b="0" i="0" lang="en-US" spc="0" sz="2279" u="none" cap="none" strike="noStrike">
                <a:solidFill>
                  <a:srgbClr val="12132A"/>
                </a:solidFill>
                <a:latin typeface="Manrope ExtraBold"/>
                <a:ea typeface="Manrope ExtraBold"/>
                <a:cs typeface="Manrope ExtraBold"/>
                <a:sym typeface="Manrope ExtraBold"/>
              </a:rPr>
              <a:t>Supports collecting both:</a:t>
            </a:r>
            <a:endParaRPr b="0" i="0" spc="0" sz="2279"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1282"/>
              </a:spcBef>
              <a:spcAft>
                <a:spcPts val="0"/>
              </a:spcAft>
              <a:buClr>
                <a:srgbClr val="000000"/>
              </a:buClr>
              <a:buSzPts val="1424"/>
              <a:buFont typeface="Arial"/>
              <a:buNone/>
            </a:pPr>
            <a:r>
              <a:rPr b="1" i="0" lang="en-US" spc="0" sz="1424" u="none" cap="none" strike="noStrike">
                <a:solidFill>
                  <a:srgbClr val="12132A"/>
                </a:solidFill>
                <a:latin typeface="Manrope"/>
                <a:ea typeface="Manrope"/>
                <a:cs typeface="Manrope"/>
                <a:sym typeface="Manrope"/>
              </a:rPr>
              <a:t>Platform metrics</a:t>
            </a:r>
            <a:endParaRPr b="1" i="0" spc="0" sz="1424" u="none" cap="none" strike="noStrike">
              <a:solidFill>
                <a:srgbClr val="12132A"/>
              </a:solidFill>
              <a:latin typeface="Manrope"/>
              <a:ea typeface="Manrope"/>
              <a:cs typeface="Manrope"/>
              <a:sym typeface="Manrope"/>
            </a:endParaRPr>
          </a:p>
          <a:p>
            <a:pPr indent="0" lvl="0" marL="0" marR="0" rtl="0" algn="l">
              <a:lnSpc>
                <a:spcPct val="100000"/>
              </a:lnSpc>
              <a:spcBef>
                <a:spcPts val="214"/>
              </a:spcBef>
              <a:spcAft>
                <a:spcPts val="0"/>
              </a:spcAft>
              <a:buClr>
                <a:srgbClr val="000000"/>
              </a:buClr>
              <a:buSzPts val="1282"/>
              <a:buFont typeface="Arial"/>
              <a:buNone/>
            </a:pPr>
            <a:r>
              <a:rPr b="0" i="0" lang="en-US" spc="0" sz="1282" u="none" cap="none" strike="noStrike">
                <a:solidFill>
                  <a:srgbClr val="5A5E7A"/>
                </a:solidFill>
                <a:latin typeface="Manrope"/>
                <a:ea typeface="Manrope"/>
                <a:cs typeface="Manrope"/>
                <a:sym typeface="Manrope"/>
              </a:rPr>
              <a:t>e.g., control-plane component metrics</a:t>
            </a:r>
            <a:endParaRPr b="0" i="0" spc="0" sz="1282" u="none" cap="none" strike="noStrike">
              <a:solidFill>
                <a:srgbClr val="5A5E7A"/>
              </a:solidFill>
              <a:latin typeface="Manrope"/>
              <a:ea typeface="Manrope"/>
              <a:cs typeface="Manrope"/>
              <a:sym typeface="Manrope"/>
            </a:endParaRPr>
          </a:p>
          <a:p>
            <a:pPr indent="0" lvl="0" marL="0" marR="0" rtl="0" algn="l">
              <a:lnSpc>
                <a:spcPct val="100000"/>
              </a:lnSpc>
              <a:spcBef>
                <a:spcPts val="1068"/>
              </a:spcBef>
              <a:spcAft>
                <a:spcPts val="0"/>
              </a:spcAft>
              <a:buClr>
                <a:srgbClr val="000000"/>
              </a:buClr>
              <a:buSzPts val="1424"/>
              <a:buFont typeface="Arial"/>
              <a:buNone/>
            </a:pPr>
            <a:r>
              <a:rPr b="1" i="0" lang="en-US" spc="0" sz="1424" u="none" cap="none" strike="noStrike">
                <a:solidFill>
                  <a:srgbClr val="12132A"/>
                </a:solidFill>
                <a:latin typeface="Manrope"/>
                <a:ea typeface="Manrope"/>
                <a:cs typeface="Manrope"/>
                <a:sym typeface="Manrope"/>
              </a:rPr>
              <a:t>Application metrics</a:t>
            </a:r>
            <a:endParaRPr b="1" i="0" spc="0" sz="1424" u="none" cap="none" strike="noStrike">
              <a:solidFill>
                <a:srgbClr val="12132A"/>
              </a:solidFill>
              <a:latin typeface="Manrope"/>
              <a:ea typeface="Manrope"/>
              <a:cs typeface="Manrope"/>
              <a:sym typeface="Manrope"/>
            </a:endParaRPr>
          </a:p>
          <a:p>
            <a:pPr indent="0" lvl="0" marL="0" marR="0" rtl="0" algn="l">
              <a:lnSpc>
                <a:spcPct val="100000"/>
              </a:lnSpc>
              <a:spcBef>
                <a:spcPts val="214"/>
              </a:spcBef>
              <a:spcAft>
                <a:spcPts val="0"/>
              </a:spcAft>
              <a:buClr>
                <a:srgbClr val="000000"/>
              </a:buClr>
              <a:buSzPts val="1282"/>
              <a:buFont typeface="Arial"/>
              <a:buNone/>
            </a:pPr>
            <a:r>
              <a:rPr b="0" i="0" lang="en-US" spc="0" sz="1282" u="none" cap="none" strike="noStrike">
                <a:solidFill>
                  <a:srgbClr val="5A5E7A"/>
                </a:solidFill>
                <a:latin typeface="Manrope"/>
                <a:ea typeface="Manrope"/>
                <a:cs typeface="Manrope"/>
                <a:sym typeface="Manrope"/>
              </a:rPr>
              <a:t>e.g., custom metrics exported by applications</a:t>
            </a:r>
            <a:endParaRPr b="0" i="0" spc="0" sz="1282" u="none" cap="none" strike="noStrike">
              <a:solidFill>
                <a:srgbClr val="5A5E7A"/>
              </a:solidFill>
              <a:latin typeface="Manrope"/>
              <a:ea typeface="Manrope"/>
              <a:cs typeface="Manrope"/>
              <a:sym typeface="Manrope"/>
            </a:endParaRPr>
          </a:p>
        </p:txBody>
      </p:sp>
      <p:pic>
        <p:nvPicPr>
          <p:cNvPr id="121" name="Google Shape;121;p6" title="Untitled-2026-06-23-0111.excalidraw.png"/>
          <p:cNvPicPr preferRelativeResize="0"/>
          <p:nvPr/>
        </p:nvPicPr>
        <p:blipFill rotWithShape="1">
          <a:blip r:embed="rId4">
            <a:alphaModFix/>
          </a:blip>
          <a:srcRect b="0" l="0" r="9486" t="0"/>
          <a:stretch/>
        </p:blipFill>
        <p:spPr>
          <a:xfrm>
            <a:off x="10683700" y="876300"/>
            <a:ext cx="7237224" cy="90723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7"/>
          <p:cNvSpPr txBox="1"/>
          <p:nvPr/>
        </p:nvSpPr>
        <p:spPr>
          <a:xfrm>
            <a:off x="1047750" y="87630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3928D9"/>
                </a:solidFill>
                <a:latin typeface="JetBrains Mono"/>
                <a:ea typeface="JetBrains Mono"/>
                <a:cs typeface="JetBrains Mono"/>
                <a:sym typeface="JetBrains Mono"/>
              </a:rPr>
              <a:t>Analogy</a:t>
            </a:r>
            <a:endParaRPr b="0" i="0" spc="0" sz="1800" u="none" cap="none" strike="noStrike">
              <a:solidFill>
                <a:srgbClr val="3928D9"/>
              </a:solidFill>
              <a:latin typeface="JetBrains Mono"/>
              <a:ea typeface="JetBrains Mono"/>
              <a:cs typeface="JetBrains Mono"/>
              <a:sym typeface="JetBrains Mono"/>
            </a:endParaRPr>
          </a:p>
        </p:txBody>
      </p:sp>
      <p:sp>
        <p:nvSpPr>
          <p:cNvPr id="131" name="Google Shape;131;p7"/>
          <p:cNvSpPr txBox="1"/>
          <p:nvPr/>
        </p:nvSpPr>
        <p:spPr>
          <a:xfrm>
            <a:off x="1047750" y="1381125"/>
            <a:ext cx="16192500" cy="9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pc="0" sz="4400" u="none" cap="none" strike="noStrike">
                <a:solidFill>
                  <a:srgbClr val="12132A"/>
                </a:solidFill>
                <a:latin typeface="Manrope"/>
                <a:ea typeface="Manrope"/>
                <a:cs typeface="Manrope"/>
                <a:sym typeface="Manrope"/>
              </a:rPr>
              <a:t>Your cluster is IRCTC when Tatkal booking opens</a:t>
            </a:r>
            <a:endParaRPr b="1" i="0" spc="0" sz="4400" u="none" cap="none" strike="noStrike">
              <a:solidFill>
                <a:srgbClr val="12132A"/>
              </a:solidFill>
              <a:latin typeface="Manrope"/>
              <a:ea typeface="Manrope"/>
              <a:cs typeface="Manrope"/>
              <a:sym typeface="Manrope"/>
            </a:endParaRPr>
          </a:p>
        </p:txBody>
      </p:sp>
      <p:grpSp>
        <p:nvGrpSpPr>
          <p:cNvPr id="132" name="Google Shape;132;p7"/>
          <p:cNvGrpSpPr/>
          <p:nvPr/>
        </p:nvGrpSpPr>
        <p:grpSpPr>
          <a:xfrm>
            <a:off x="1047750" y="2714625"/>
            <a:ext cx="5143500" cy="5715000"/>
            <a:chOff x="0" y="0"/>
            <a:chExt cx="5143500" cy="5715000"/>
          </a:xfrm>
        </p:grpSpPr>
        <p:sp>
          <p:nvSpPr>
            <p:cNvPr id="133" name="Google Shape;133;p7"/>
            <p:cNvSpPr/>
            <p:nvPr/>
          </p:nvSpPr>
          <p:spPr>
            <a:xfrm>
              <a:off x="0" y="0"/>
              <a:ext cx="5143500" cy="5715000"/>
            </a:xfrm>
            <a:prstGeom prst="roundRect">
              <a:avLst>
                <a:gd fmla="val 2962" name="adj"/>
              </a:avLst>
            </a:prstGeom>
            <a:solidFill>
              <a:srgbClr val="FFFFFF"/>
            </a:solidFill>
            <a:ln cap="flat" cmpd="sng" w="19050">
              <a:solidFill>
                <a:srgbClr val="E6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t/>
              </a:r>
              <a:endParaRPr b="0" i="0" spc="0" sz="2100" u="none" cap="none" strike="noStrike">
                <a:solidFill>
                  <a:srgbClr val="000000"/>
                </a:solidFill>
                <a:latin typeface="Arial"/>
                <a:ea typeface="Arial"/>
                <a:cs typeface="Arial"/>
                <a:sym typeface="Arial"/>
              </a:endParaRPr>
            </a:p>
          </p:txBody>
        </p:sp>
        <p:sp>
          <p:nvSpPr>
            <p:cNvPr id="134" name="Google Shape;134;p7"/>
            <p:cNvSpPr/>
            <p:nvPr/>
          </p:nvSpPr>
          <p:spPr>
            <a:xfrm>
              <a:off x="0" y="0"/>
              <a:ext cx="5143500" cy="1143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t/>
              </a:r>
              <a:endParaRPr b="0" i="0" spc="0" sz="2100" u="none" cap="none" strike="noStrike">
                <a:solidFill>
                  <a:srgbClr val="000000"/>
                </a:solidFill>
                <a:latin typeface="Arial"/>
                <a:ea typeface="Arial"/>
                <a:cs typeface="Arial"/>
                <a:sym typeface="Arial"/>
              </a:endParaRPr>
            </a:p>
          </p:txBody>
        </p:sp>
        <p:sp>
          <p:nvSpPr>
            <p:cNvPr id="135" name="Google Shape;135;p7"/>
            <p:cNvSpPr txBox="1"/>
            <p:nvPr/>
          </p:nvSpPr>
          <p:spPr>
            <a:xfrm>
              <a:off x="381000" y="476250"/>
              <a:ext cx="4381500" cy="476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5500"/>
                <a:buFont typeface="Arial"/>
                <a:buNone/>
              </a:pPr>
              <a:r>
                <a:rPr b="0" i="0" lang="en-US" spc="0" sz="5500" u="none" cap="none" strike="noStrike">
                  <a:solidFill>
                    <a:srgbClr val="3928D9"/>
                  </a:solidFill>
                  <a:latin typeface="Mate"/>
                  <a:ea typeface="Mate"/>
                  <a:cs typeface="Mate"/>
                  <a:sym typeface="Mate"/>
                </a:rPr>
                <a:t>dns</a:t>
              </a:r>
              <a:endParaRPr b="0" i="0" spc="0" sz="5500" u="none" cap="none" strike="noStrike">
                <a:solidFill>
                  <a:srgbClr val="3928D9"/>
                </a:solidFill>
                <a:latin typeface="Mate"/>
                <a:ea typeface="Mate"/>
                <a:cs typeface="Mate"/>
                <a:sym typeface="Mate"/>
              </a:endParaRPr>
            </a:p>
            <a:p>
              <a:pPr indent="0" lvl="0" marL="0" marR="0" rtl="0" algn="l">
                <a:lnSpc>
                  <a:spcPct val="100000"/>
                </a:lnSpc>
                <a:spcBef>
                  <a:spcPts val="1800"/>
                </a:spcBef>
                <a:spcAft>
                  <a:spcPts val="0"/>
                </a:spcAft>
                <a:buClr>
                  <a:srgbClr val="000000"/>
                </a:buClr>
                <a:buSzPts val="2100"/>
                <a:buFont typeface="Arial"/>
                <a:buNone/>
              </a:pPr>
              <a:r>
                <a:rPr b="1" i="0" lang="en-US" spc="0" sz="2100" u="none" cap="none" strike="noStrike">
                  <a:solidFill>
                    <a:srgbClr val="3928D9"/>
                  </a:solidFill>
                  <a:latin typeface="Manrope"/>
                  <a:ea typeface="Manrope"/>
                  <a:cs typeface="Manrope"/>
                  <a:sym typeface="Manrope"/>
                </a:rPr>
                <a:t>Control plane</a:t>
              </a:r>
              <a:endParaRPr b="1" i="0" spc="0" sz="2100" u="none" cap="none" strike="noStrike">
                <a:solidFill>
                  <a:srgbClr val="3928D9"/>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3100"/>
                <a:buFont typeface="Arial"/>
                <a:buNone/>
              </a:pPr>
              <a:r>
                <a:rPr b="0" i="0" lang="en-US" spc="0" sz="3100" u="none" cap="none" strike="noStrike">
                  <a:solidFill>
                    <a:srgbClr val="12132A"/>
                  </a:solidFill>
                  <a:latin typeface="Manrope ExtraBold"/>
                  <a:ea typeface="Manrope ExtraBold"/>
                  <a:cs typeface="Manrope ExtraBold"/>
                  <a:sym typeface="Manrope ExtraBold"/>
                </a:rPr>
                <a:t>IRCTC booking backend</a:t>
              </a:r>
              <a:endParaRPr b="0" i="0" spc="0" sz="31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1500"/>
                </a:spcBef>
                <a:spcAft>
                  <a:spcPts val="0"/>
                </a:spcAft>
                <a:buClr>
                  <a:srgbClr val="000000"/>
                </a:buClr>
                <a:buSzPts val="2300"/>
                <a:buFont typeface="Arial"/>
                <a:buNone/>
              </a:pPr>
              <a:r>
                <a:rPr b="0" i="0" lang="en-US" spc="0" sz="2300" u="none" cap="none" strike="noStrike">
                  <a:solidFill>
                    <a:srgbClr val="5A5E7A"/>
                  </a:solidFill>
                  <a:latin typeface="Manrope"/>
                  <a:ea typeface="Manrope"/>
                  <a:cs typeface="Manrope"/>
                  <a:sym typeface="Manrope"/>
                </a:rPr>
                <a:t>Authentication, availability checks, reservation rules, and seat assignment coordinate every request.</a:t>
              </a:r>
              <a:endParaRPr b="0" i="0" spc="0" sz="2300" u="none" cap="none" strike="noStrike">
                <a:solidFill>
                  <a:srgbClr val="5A5E7A"/>
                </a:solidFill>
                <a:latin typeface="Manrope"/>
                <a:ea typeface="Manrope"/>
                <a:cs typeface="Manrope"/>
                <a:sym typeface="Manrope"/>
              </a:endParaRPr>
            </a:p>
          </p:txBody>
        </p:sp>
      </p:grpSp>
      <p:grpSp>
        <p:nvGrpSpPr>
          <p:cNvPr id="136" name="Google Shape;136;p7"/>
          <p:cNvGrpSpPr/>
          <p:nvPr/>
        </p:nvGrpSpPr>
        <p:grpSpPr>
          <a:xfrm>
            <a:off x="6572250" y="2714625"/>
            <a:ext cx="5143500" cy="5715000"/>
            <a:chOff x="0" y="0"/>
            <a:chExt cx="5143500" cy="5715000"/>
          </a:xfrm>
        </p:grpSpPr>
        <p:sp>
          <p:nvSpPr>
            <p:cNvPr id="137" name="Google Shape;137;p7"/>
            <p:cNvSpPr/>
            <p:nvPr/>
          </p:nvSpPr>
          <p:spPr>
            <a:xfrm>
              <a:off x="0" y="0"/>
              <a:ext cx="5143500" cy="5715000"/>
            </a:xfrm>
            <a:prstGeom prst="roundRect">
              <a:avLst>
                <a:gd fmla="val 2962" name="adj"/>
              </a:avLst>
            </a:prstGeom>
            <a:solidFill>
              <a:srgbClr val="FFFFFF"/>
            </a:solidFill>
            <a:ln cap="flat" cmpd="sng" w="19050">
              <a:solidFill>
                <a:srgbClr val="E6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t/>
              </a:r>
              <a:endParaRPr b="0" i="0" spc="0" sz="2100" u="none" cap="none" strike="noStrike">
                <a:solidFill>
                  <a:srgbClr val="000000"/>
                </a:solidFill>
                <a:latin typeface="Arial"/>
                <a:ea typeface="Arial"/>
                <a:cs typeface="Arial"/>
                <a:sym typeface="Arial"/>
              </a:endParaRPr>
            </a:p>
          </p:txBody>
        </p:sp>
        <p:sp>
          <p:nvSpPr>
            <p:cNvPr id="138" name="Google Shape;138;p7"/>
            <p:cNvSpPr/>
            <p:nvPr/>
          </p:nvSpPr>
          <p:spPr>
            <a:xfrm>
              <a:off x="0" y="0"/>
              <a:ext cx="5143500" cy="1143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t/>
              </a:r>
              <a:endParaRPr b="0" i="0" spc="0" sz="2100" u="none" cap="none" strike="noStrike">
                <a:solidFill>
                  <a:srgbClr val="000000"/>
                </a:solidFill>
                <a:latin typeface="Arial"/>
                <a:ea typeface="Arial"/>
                <a:cs typeface="Arial"/>
                <a:sym typeface="Arial"/>
              </a:endParaRPr>
            </a:p>
          </p:txBody>
        </p:sp>
        <p:sp>
          <p:nvSpPr>
            <p:cNvPr id="139" name="Google Shape;139;p7"/>
            <p:cNvSpPr txBox="1"/>
            <p:nvPr/>
          </p:nvSpPr>
          <p:spPr>
            <a:xfrm>
              <a:off x="381000" y="476250"/>
              <a:ext cx="4381500" cy="476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5500"/>
                <a:buFont typeface="Arial"/>
                <a:buNone/>
              </a:pPr>
              <a:r>
                <a:rPr b="0" i="0" lang="en-US" spc="0" sz="5500" u="none" cap="none" strike="noStrike">
                  <a:solidFill>
                    <a:srgbClr val="3928D9"/>
                  </a:solidFill>
                  <a:latin typeface="Mate"/>
                  <a:ea typeface="Mate"/>
                  <a:cs typeface="Mate"/>
                  <a:sym typeface="Mate"/>
                </a:rPr>
                <a:t>train</a:t>
              </a:r>
              <a:endParaRPr b="0" i="0" spc="0" sz="5500" u="none" cap="none" strike="noStrike">
                <a:solidFill>
                  <a:srgbClr val="3928D9"/>
                </a:solidFill>
                <a:latin typeface="Mate"/>
                <a:ea typeface="Mate"/>
                <a:cs typeface="Mate"/>
                <a:sym typeface="Mate"/>
              </a:endParaRPr>
            </a:p>
            <a:p>
              <a:pPr indent="0" lvl="0" marL="0" marR="0" rtl="0" algn="l">
                <a:lnSpc>
                  <a:spcPct val="100000"/>
                </a:lnSpc>
                <a:spcBef>
                  <a:spcPts val="1800"/>
                </a:spcBef>
                <a:spcAft>
                  <a:spcPts val="0"/>
                </a:spcAft>
                <a:buClr>
                  <a:srgbClr val="000000"/>
                </a:buClr>
                <a:buSzPts val="2100"/>
                <a:buFont typeface="Arial"/>
                <a:buNone/>
              </a:pPr>
              <a:r>
                <a:rPr b="1" i="0" lang="en-US" spc="0" sz="2100" u="none" cap="none" strike="noStrike">
                  <a:solidFill>
                    <a:srgbClr val="3928D9"/>
                  </a:solidFill>
                  <a:latin typeface="Manrope"/>
                  <a:ea typeface="Manrope"/>
                  <a:cs typeface="Manrope"/>
                  <a:sym typeface="Manrope"/>
                </a:rPr>
                <a:t>Worker nodes</a:t>
              </a:r>
              <a:endParaRPr b="1" i="0" spc="0" sz="2100" u="none" cap="none" strike="noStrike">
                <a:solidFill>
                  <a:srgbClr val="3928D9"/>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3100"/>
                <a:buFont typeface="Arial"/>
                <a:buNone/>
              </a:pPr>
              <a:r>
                <a:rPr b="0" i="0" lang="en-US" spc="0" sz="3100" u="none" cap="none" strike="noStrike">
                  <a:solidFill>
                    <a:srgbClr val="12132A"/>
                  </a:solidFill>
                  <a:latin typeface="Manrope ExtraBold"/>
                  <a:ea typeface="Manrope ExtraBold"/>
                  <a:cs typeface="Manrope ExtraBold"/>
                  <a:sym typeface="Manrope ExtraBold"/>
                </a:rPr>
                <a:t>Trains and seat inventory</a:t>
              </a:r>
              <a:endParaRPr b="0" i="0" spc="0" sz="31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1500"/>
                </a:spcBef>
                <a:spcAft>
                  <a:spcPts val="0"/>
                </a:spcAft>
                <a:buClr>
                  <a:srgbClr val="000000"/>
                </a:buClr>
                <a:buSzPts val="2300"/>
                <a:buFont typeface="Arial"/>
                <a:buNone/>
              </a:pPr>
              <a:r>
                <a:rPr b="0" i="0" lang="en-US" spc="0" sz="2300" u="none" cap="none" strike="noStrike">
                  <a:solidFill>
                    <a:srgbClr val="5A5E7A"/>
                  </a:solidFill>
                  <a:latin typeface="Manrope"/>
                  <a:ea typeface="Manrope"/>
                  <a:cs typeface="Manrope"/>
                  <a:sym typeface="Manrope"/>
                </a:rPr>
                <a:t>Each train has finite capacity. Confirmed bookings must be placed where resources remain.</a:t>
              </a:r>
              <a:endParaRPr b="0" i="0" spc="0" sz="2300" u="none" cap="none" strike="noStrike">
                <a:solidFill>
                  <a:srgbClr val="5A5E7A"/>
                </a:solidFill>
                <a:latin typeface="Manrope"/>
                <a:ea typeface="Manrope"/>
                <a:cs typeface="Manrope"/>
                <a:sym typeface="Manrope"/>
              </a:endParaRPr>
            </a:p>
          </p:txBody>
        </p:sp>
      </p:grpSp>
      <p:grpSp>
        <p:nvGrpSpPr>
          <p:cNvPr id="140" name="Google Shape;140;p7"/>
          <p:cNvGrpSpPr/>
          <p:nvPr/>
        </p:nvGrpSpPr>
        <p:grpSpPr>
          <a:xfrm>
            <a:off x="12096750" y="2714625"/>
            <a:ext cx="5143500" cy="5715000"/>
            <a:chOff x="0" y="0"/>
            <a:chExt cx="5143500" cy="5715000"/>
          </a:xfrm>
        </p:grpSpPr>
        <p:sp>
          <p:nvSpPr>
            <p:cNvPr id="141" name="Google Shape;141;p7"/>
            <p:cNvSpPr/>
            <p:nvPr/>
          </p:nvSpPr>
          <p:spPr>
            <a:xfrm>
              <a:off x="0" y="0"/>
              <a:ext cx="5143500" cy="5715000"/>
            </a:xfrm>
            <a:prstGeom prst="roundRect">
              <a:avLst>
                <a:gd fmla="val 2962" name="adj"/>
              </a:avLst>
            </a:prstGeom>
            <a:solidFill>
              <a:srgbClr val="FFFFFF"/>
            </a:solidFill>
            <a:ln cap="flat" cmpd="sng" w="19050">
              <a:solidFill>
                <a:srgbClr val="E6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t/>
              </a:r>
              <a:endParaRPr b="0" i="0" spc="0" sz="2100" u="none" cap="none" strike="noStrike">
                <a:solidFill>
                  <a:srgbClr val="000000"/>
                </a:solidFill>
                <a:latin typeface="Arial"/>
                <a:ea typeface="Arial"/>
                <a:cs typeface="Arial"/>
                <a:sym typeface="Arial"/>
              </a:endParaRPr>
            </a:p>
          </p:txBody>
        </p:sp>
        <p:sp>
          <p:nvSpPr>
            <p:cNvPr id="142" name="Google Shape;142;p7"/>
            <p:cNvSpPr/>
            <p:nvPr/>
          </p:nvSpPr>
          <p:spPr>
            <a:xfrm>
              <a:off x="0" y="0"/>
              <a:ext cx="5143500" cy="1143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t/>
              </a:r>
              <a:endParaRPr b="0" i="0" spc="0" sz="2100" u="none" cap="none" strike="noStrike">
                <a:solidFill>
                  <a:srgbClr val="000000"/>
                </a:solidFill>
                <a:latin typeface="Arial"/>
                <a:ea typeface="Arial"/>
                <a:cs typeface="Arial"/>
                <a:sym typeface="Arial"/>
              </a:endParaRPr>
            </a:p>
          </p:txBody>
        </p:sp>
        <p:sp>
          <p:nvSpPr>
            <p:cNvPr id="143" name="Google Shape;143;p7"/>
            <p:cNvSpPr txBox="1"/>
            <p:nvPr/>
          </p:nvSpPr>
          <p:spPr>
            <a:xfrm>
              <a:off x="381000" y="476250"/>
              <a:ext cx="4381500" cy="476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5500"/>
                <a:buFont typeface="Arial"/>
                <a:buNone/>
              </a:pPr>
              <a:r>
                <a:rPr b="0" i="0" lang="en-US" spc="0" sz="5500" u="none" cap="none" strike="noStrike">
                  <a:solidFill>
                    <a:srgbClr val="3928D9"/>
                  </a:solidFill>
                  <a:latin typeface="Mate"/>
                  <a:ea typeface="Mate"/>
                  <a:cs typeface="Mate"/>
                  <a:sym typeface="Mate"/>
                </a:rPr>
                <a:t>groups</a:t>
              </a:r>
              <a:endParaRPr b="0" i="0" spc="0" sz="5500" u="none" cap="none" strike="noStrike">
                <a:solidFill>
                  <a:srgbClr val="3928D9"/>
                </a:solidFill>
                <a:latin typeface="Mate"/>
                <a:ea typeface="Mate"/>
                <a:cs typeface="Mate"/>
                <a:sym typeface="Mate"/>
              </a:endParaRPr>
            </a:p>
            <a:p>
              <a:pPr indent="0" lvl="0" marL="0" marR="0" rtl="0" algn="l">
                <a:lnSpc>
                  <a:spcPct val="100000"/>
                </a:lnSpc>
                <a:spcBef>
                  <a:spcPts val="1800"/>
                </a:spcBef>
                <a:spcAft>
                  <a:spcPts val="0"/>
                </a:spcAft>
                <a:buClr>
                  <a:srgbClr val="000000"/>
                </a:buClr>
                <a:buSzPts val="2100"/>
                <a:buFont typeface="Arial"/>
                <a:buNone/>
              </a:pPr>
              <a:r>
                <a:rPr b="1" i="0" lang="en-US" spc="0" sz="2100" u="none" cap="none" strike="noStrike">
                  <a:solidFill>
                    <a:srgbClr val="3928D9"/>
                  </a:solidFill>
                  <a:latin typeface="Manrope"/>
                  <a:ea typeface="Manrope"/>
                  <a:cs typeface="Manrope"/>
                  <a:sym typeface="Manrope"/>
                </a:rPr>
                <a:t>Workloads</a:t>
              </a:r>
              <a:endParaRPr b="1" i="0" spc="0" sz="2100" u="none" cap="none" strike="noStrike">
                <a:solidFill>
                  <a:srgbClr val="3928D9"/>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3100"/>
                <a:buFont typeface="Arial"/>
                <a:buNone/>
              </a:pPr>
              <a:r>
                <a:rPr b="0" i="0" lang="en-US" spc="0" sz="3100" u="none" cap="none" strike="noStrike">
                  <a:solidFill>
                    <a:srgbClr val="12132A"/>
                  </a:solidFill>
                  <a:latin typeface="Manrope ExtraBold"/>
                  <a:ea typeface="Manrope ExtraBold"/>
                  <a:cs typeface="Manrope ExtraBold"/>
                  <a:sym typeface="Manrope ExtraBold"/>
                </a:rPr>
                <a:t>Tatkal booking requests</a:t>
              </a:r>
              <a:endParaRPr b="0" i="0" spc="0" sz="31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1500"/>
                </a:spcBef>
                <a:spcAft>
                  <a:spcPts val="0"/>
                </a:spcAft>
                <a:buClr>
                  <a:srgbClr val="000000"/>
                </a:buClr>
                <a:buSzPts val="2300"/>
                <a:buFont typeface="Arial"/>
                <a:buNone/>
              </a:pPr>
              <a:r>
                <a:rPr b="0" i="0" lang="en-US" spc="0" sz="2300" u="none" cap="none" strike="noStrike">
                  <a:solidFill>
                    <a:srgbClr val="5A5E7A"/>
                  </a:solidFill>
                  <a:latin typeface="Manrope"/>
                  <a:ea typeface="Manrope"/>
                  <a:cs typeface="Manrope"/>
                  <a:sym typeface="Manrope"/>
                </a:rPr>
                <a:t>Thousands of passengers submit requests together and compete for limited capacity.</a:t>
              </a:r>
              <a:endParaRPr b="0" i="0" spc="0" sz="2300" u="none" cap="none" strike="noStrike">
                <a:solidFill>
                  <a:srgbClr val="5A5E7A"/>
                </a:solidFill>
                <a:latin typeface="Manrope"/>
                <a:ea typeface="Manrope"/>
                <a:cs typeface="Manrope"/>
                <a:sym typeface="Manrope"/>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2A"/>
        </a:solidFill>
      </p:bgPr>
    </p:bg>
    <p:spTree>
      <p:nvGrpSpPr>
        <p:cNvPr id="148" name="Shape 148"/>
        <p:cNvGrpSpPr/>
        <p:nvPr/>
      </p:nvGrpSpPr>
      <p:grpSpPr>
        <a:xfrm>
          <a:off x="0" y="0"/>
          <a:ext cx="0" cy="0"/>
          <a:chOff x="0" y="0"/>
          <a:chExt cx="0" cy="0"/>
        </a:xfrm>
      </p:grpSpPr>
      <p:sp>
        <p:nvSpPr>
          <p:cNvPr id="149" name="Google Shape;149;p8"/>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SECTION 02</a:t>
            </a:r>
            <a:endParaRPr b="0" i="0" spc="0" sz="1800" u="none" cap="none" strike="noStrike">
              <a:solidFill>
                <a:schemeClr val="dk1"/>
              </a:solidFill>
              <a:latin typeface="Calibri"/>
              <a:ea typeface="Calibri"/>
              <a:cs typeface="Calibri"/>
              <a:sym typeface="Calibri"/>
            </a:endParaRPr>
          </a:p>
        </p:txBody>
      </p:sp>
      <p:sp>
        <p:nvSpPr>
          <p:cNvPr id="150" name="Google Shape;150;p8"/>
          <p:cNvSpPr/>
          <p:nvPr/>
        </p:nvSpPr>
        <p:spPr>
          <a:xfrm>
            <a:off x="1047750" y="1423988"/>
            <a:ext cx="13620900" cy="926400"/>
          </a:xfrm>
          <a:prstGeom prst="rect">
            <a:avLst/>
          </a:prstGeom>
          <a:noFill/>
          <a:ln>
            <a:noFill/>
          </a:ln>
        </p:spPr>
        <p:txBody>
          <a:bodyPr anchorCtr="0" anchor="t" bIns="25400" lIns="25400" spcFirstLastPara="1" rIns="25400" wrap="square" tIns="25400">
            <a:noAutofit/>
          </a:bodyPr>
          <a:lstStyle/>
          <a:p>
            <a:pPr indent="0" lvl="0" marL="0" marR="0" rtl="0" algn="l">
              <a:lnSpc>
                <a:spcPct val="77411"/>
              </a:lnSpc>
              <a:spcBef>
                <a:spcPts val="0"/>
              </a:spcBef>
              <a:spcAft>
                <a:spcPts val="0"/>
              </a:spcAft>
              <a:buClr>
                <a:srgbClr val="FFFFFF"/>
              </a:buClr>
              <a:buSzPts val="6600"/>
              <a:buFont typeface="Manrope"/>
              <a:buNone/>
            </a:pPr>
            <a:r>
              <a:rPr b="1" i="0" lang="en-US" spc="0" sz="6600" u="none" cap="none" strike="noStrike">
                <a:solidFill>
                  <a:srgbClr val="FFFFFF"/>
                </a:solidFill>
                <a:latin typeface="Manrope"/>
                <a:ea typeface="Manrope"/>
                <a:cs typeface="Manrope"/>
                <a:sym typeface="Manrope"/>
              </a:rPr>
              <a:t>The measurement family</a:t>
            </a:r>
            <a:endParaRPr b="1" i="0" spc="0" sz="6600" u="none" cap="none" strike="noStrike">
              <a:solidFill>
                <a:srgbClr val="FFFFFF"/>
              </a:solidFill>
              <a:latin typeface="Manrope"/>
              <a:ea typeface="Manrope"/>
              <a:cs typeface="Manrope"/>
              <a:sym typeface="Manrope"/>
            </a:endParaRPr>
          </a:p>
          <a:p>
            <a:pPr indent="0" lvl="0" marL="0" marR="0" rtl="0" algn="l">
              <a:lnSpc>
                <a:spcPct val="77411"/>
              </a:lnSpc>
              <a:spcBef>
                <a:spcPts val="0"/>
              </a:spcBef>
              <a:spcAft>
                <a:spcPts val="0"/>
              </a:spcAft>
              <a:buClr>
                <a:srgbClr val="FFFFFF"/>
              </a:buClr>
              <a:buSzPts val="6600"/>
              <a:buFont typeface="Manrope"/>
              <a:buNone/>
            </a:pPr>
            <a:r>
              <a:t/>
            </a:r>
            <a:endParaRPr b="1" i="0" spc="0" sz="6600" u="none" cap="none" strike="noStrike">
              <a:solidFill>
                <a:srgbClr val="FFFFFF"/>
              </a:solidFill>
              <a:latin typeface="Manrope"/>
              <a:ea typeface="Manrope"/>
              <a:cs typeface="Manrope"/>
              <a:sym typeface="Manrope"/>
            </a:endParaRPr>
          </a:p>
          <a:p>
            <a:pPr indent="0" lvl="0" marL="0" marR="0" rtl="0" algn="l">
              <a:lnSpc>
                <a:spcPct val="77411"/>
              </a:lnSpc>
              <a:spcBef>
                <a:spcPts val="0"/>
              </a:spcBef>
              <a:spcAft>
                <a:spcPts val="0"/>
              </a:spcAft>
              <a:buClr>
                <a:srgbClr val="FFFFFF"/>
              </a:buClr>
              <a:buSzPts val="6600"/>
              <a:buFont typeface="Manrope"/>
              <a:buNone/>
            </a:pPr>
            <a:r>
              <a:t/>
            </a:r>
            <a:endParaRPr b="1" i="0" spc="0" sz="6600" u="none" cap="none" strike="noStrike">
              <a:solidFill>
                <a:srgbClr val="FFFFFF"/>
              </a:solidFill>
              <a:latin typeface="Manrope"/>
              <a:ea typeface="Manrope"/>
              <a:cs typeface="Manrope"/>
              <a:sym typeface="Manrope"/>
            </a:endParaRPr>
          </a:p>
        </p:txBody>
      </p:sp>
      <p:sp>
        <p:nvSpPr>
          <p:cNvPr id="151" name="Google Shape;151;p8"/>
          <p:cNvSpPr/>
          <p:nvPr/>
        </p:nvSpPr>
        <p:spPr>
          <a:xfrm>
            <a:off x="1047750" y="2731517"/>
            <a:ext cx="1714500" cy="76200"/>
          </a:xfrm>
          <a:prstGeom prst="rect">
            <a:avLst/>
          </a:prstGeom>
          <a:solidFill>
            <a:srgbClr val="3928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9"/>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161" name="Google Shape;161;p9"/>
          <p:cNvSpPr txBox="1"/>
          <p:nvPr/>
        </p:nvSpPr>
        <p:spPr>
          <a:xfrm>
            <a:off x="1047750" y="87630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3928D9"/>
                </a:solidFill>
                <a:latin typeface="JetBrains Mono"/>
                <a:ea typeface="JetBrains Mono"/>
                <a:cs typeface="JetBrains Mono"/>
                <a:sym typeface="JetBrains Mono"/>
              </a:rPr>
              <a:t>COMPLEMENTARY METRICS</a:t>
            </a:r>
            <a:endParaRPr b="0" i="0" spc="0" sz="1800" u="none" cap="none" strike="noStrike">
              <a:solidFill>
                <a:srgbClr val="3928D9"/>
              </a:solidFill>
              <a:latin typeface="JetBrains Mono"/>
              <a:ea typeface="JetBrains Mono"/>
              <a:cs typeface="JetBrains Mono"/>
              <a:sym typeface="JetBrains Mono"/>
            </a:endParaRPr>
          </a:p>
        </p:txBody>
      </p:sp>
      <p:sp>
        <p:nvSpPr>
          <p:cNvPr id="162" name="Google Shape;162;p9"/>
          <p:cNvSpPr txBox="1"/>
          <p:nvPr/>
        </p:nvSpPr>
        <p:spPr>
          <a:xfrm>
            <a:off x="1047750" y="1381125"/>
            <a:ext cx="16192500" cy="9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pc="0" sz="4400" u="none" cap="none" strike="noStrike">
                <a:solidFill>
                  <a:srgbClr val="12132A"/>
                </a:solidFill>
                <a:latin typeface="Manrope"/>
                <a:ea typeface="Manrope"/>
                <a:cs typeface="Manrope"/>
                <a:sym typeface="Manrope"/>
              </a:rPr>
              <a:t>Prometheus tells us what; measurements tell us how long</a:t>
            </a:r>
            <a:endParaRPr b="1" i="0" spc="0" sz="4400" u="none" cap="none" strike="noStrike">
              <a:solidFill>
                <a:srgbClr val="12132A"/>
              </a:solidFill>
              <a:latin typeface="Manrope"/>
              <a:ea typeface="Manrope"/>
              <a:cs typeface="Manrope"/>
              <a:sym typeface="Manrope"/>
            </a:endParaRPr>
          </a:p>
        </p:txBody>
      </p:sp>
      <p:grpSp>
        <p:nvGrpSpPr>
          <p:cNvPr id="163" name="Google Shape;163;p9"/>
          <p:cNvGrpSpPr/>
          <p:nvPr/>
        </p:nvGrpSpPr>
        <p:grpSpPr>
          <a:xfrm>
            <a:off x="1047750" y="2571750"/>
            <a:ext cx="7810500" cy="5524500"/>
            <a:chOff x="0" y="0"/>
            <a:chExt cx="7810500" cy="5524500"/>
          </a:xfrm>
        </p:grpSpPr>
        <p:sp>
          <p:nvSpPr>
            <p:cNvPr id="164" name="Google Shape;164;p9"/>
            <p:cNvSpPr/>
            <p:nvPr/>
          </p:nvSpPr>
          <p:spPr>
            <a:xfrm>
              <a:off x="0" y="0"/>
              <a:ext cx="7810500" cy="5524500"/>
            </a:xfrm>
            <a:prstGeom prst="roundRect">
              <a:avLst>
                <a:gd fmla="val 2758" name="adj"/>
              </a:avLst>
            </a:prstGeom>
            <a:solidFill>
              <a:srgbClr val="FFFFFF"/>
            </a:solidFill>
            <a:ln cap="flat" cmpd="sng" w="19050">
              <a:solidFill>
                <a:srgbClr val="DCDFE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 name="Google Shape;165;p9"/>
            <p:cNvSpPr/>
            <p:nvPr/>
          </p:nvSpPr>
          <p:spPr>
            <a:xfrm>
              <a:off x="0" y="0"/>
              <a:ext cx="7810500" cy="1143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6" name="Google Shape;166;p9"/>
            <p:cNvSpPr txBox="1"/>
            <p:nvPr/>
          </p:nvSpPr>
          <p:spPr>
            <a:xfrm>
              <a:off x="476250" y="476250"/>
              <a:ext cx="6858000" cy="457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0" i="0" lang="en-US" spc="0" sz="3200" u="none" cap="none" strike="noStrike">
                  <a:solidFill>
                    <a:srgbClr val="12132A"/>
                  </a:solidFill>
                  <a:latin typeface="Manrope ExtraBold"/>
                  <a:ea typeface="Manrope ExtraBold"/>
                  <a:cs typeface="Manrope ExtraBold"/>
                  <a:sym typeface="Manrope ExtraBold"/>
                </a:rPr>
                <a:t>Prometheus</a:t>
              </a:r>
              <a:endParaRPr b="0" i="0" spc="0" sz="32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750"/>
                </a:spcBef>
                <a:spcAft>
                  <a:spcPts val="0"/>
                </a:spcAft>
                <a:buClr>
                  <a:srgbClr val="000000"/>
                </a:buClr>
                <a:buSzPts val="2000"/>
                <a:buFont typeface="Arial"/>
                <a:buNone/>
              </a:pPr>
              <a:r>
                <a:rPr b="1" i="0" lang="en-US" spc="0" sz="2000" u="none" cap="none" strike="noStrike">
                  <a:solidFill>
                    <a:srgbClr val="3928D9"/>
                  </a:solidFill>
                  <a:latin typeface="Manrope"/>
                  <a:ea typeface="Manrope"/>
                  <a:cs typeface="Manrope"/>
                  <a:sym typeface="Manrope"/>
                </a:rPr>
                <a:t>SAMPLES SYSTEM STATE OVER TIME</a:t>
              </a:r>
              <a:endParaRPr b="1" i="0" spc="0" sz="2000" u="none" cap="none" strike="noStrike">
                <a:solidFill>
                  <a:srgbClr val="3928D9"/>
                </a:solidFill>
                <a:latin typeface="Manrope"/>
                <a:ea typeface="Manrope"/>
                <a:cs typeface="Manrope"/>
                <a:sym typeface="Manrope"/>
              </a:endParaRPr>
            </a:p>
            <a:p>
              <a:pPr indent="-361950" lvl="0" marL="457200" marR="0" rtl="0" algn="l">
                <a:lnSpc>
                  <a:spcPct val="100000"/>
                </a:lnSpc>
                <a:spcBef>
                  <a:spcPts val="1875"/>
                </a:spcBef>
                <a:spcAft>
                  <a:spcPts val="0"/>
                </a:spcAft>
                <a:buClr>
                  <a:srgbClr val="5A5E7A"/>
                </a:buClr>
                <a:buSzPts val="2100"/>
                <a:buFont typeface="Manrope"/>
                <a:buChar char="●"/>
              </a:pPr>
              <a:r>
                <a:rPr b="0" i="0" lang="en-US" spc="0" sz="2100" u="none" cap="none" strike="noStrike">
                  <a:solidFill>
                    <a:srgbClr val="5A5E7A"/>
                  </a:solidFill>
                  <a:latin typeface="Manrope"/>
                  <a:ea typeface="Manrope"/>
                  <a:cs typeface="Manrope"/>
                  <a:sym typeface="Manrope"/>
                </a:rPr>
                <a:t>CPU and memory</a:t>
              </a:r>
              <a:endParaRPr b="0" i="0" spc="0" sz="2100" u="none" cap="none" strike="noStrike">
                <a:solidFill>
                  <a:srgbClr val="5A5E7A"/>
                </a:solidFill>
                <a:latin typeface="Manrope"/>
                <a:ea typeface="Manrope"/>
                <a:cs typeface="Manrope"/>
                <a:sym typeface="Manrope"/>
              </a:endParaRPr>
            </a:p>
            <a:p>
              <a:pPr indent="-361950" lvl="0" marL="457200" marR="0" rtl="0" algn="l">
                <a:lnSpc>
                  <a:spcPct val="100000"/>
                </a:lnSpc>
                <a:spcBef>
                  <a:spcPts val="1200"/>
                </a:spcBef>
                <a:spcAft>
                  <a:spcPts val="0"/>
                </a:spcAft>
                <a:buClr>
                  <a:srgbClr val="5A5E7A"/>
                </a:buClr>
                <a:buSzPts val="2100"/>
                <a:buFont typeface="Manrope"/>
                <a:buChar char="●"/>
              </a:pPr>
              <a:r>
                <a:rPr b="0" i="0" lang="en-US" spc="0" sz="2100" u="none" cap="none" strike="noStrike">
                  <a:solidFill>
                    <a:srgbClr val="5A5E7A"/>
                  </a:solidFill>
                  <a:latin typeface="Manrope"/>
                  <a:ea typeface="Manrope"/>
                  <a:cs typeface="Manrope"/>
                  <a:sym typeface="Manrope"/>
                </a:rPr>
                <a:t>Request rate</a:t>
              </a:r>
              <a:endParaRPr b="0" i="0" spc="0" sz="2100" u="none" cap="none" strike="noStrike">
                <a:solidFill>
                  <a:srgbClr val="5A5E7A"/>
                </a:solidFill>
                <a:latin typeface="Manrope"/>
                <a:ea typeface="Manrope"/>
                <a:cs typeface="Manrope"/>
                <a:sym typeface="Manrope"/>
              </a:endParaRPr>
            </a:p>
            <a:p>
              <a:pPr indent="-361950" lvl="0" marL="457200" marR="0" rtl="0" algn="l">
                <a:lnSpc>
                  <a:spcPct val="100000"/>
                </a:lnSpc>
                <a:spcBef>
                  <a:spcPts val="1200"/>
                </a:spcBef>
                <a:spcAft>
                  <a:spcPts val="0"/>
                </a:spcAft>
                <a:buClr>
                  <a:srgbClr val="5A5E7A"/>
                </a:buClr>
                <a:buSzPts val="2100"/>
                <a:buFont typeface="Manrope"/>
                <a:buChar char="●"/>
              </a:pPr>
              <a:r>
                <a:rPr b="0" i="0" lang="en-US" spc="0" sz="2100" u="none" cap="none" strike="noStrike">
                  <a:solidFill>
                    <a:srgbClr val="5A5E7A"/>
                  </a:solidFill>
                  <a:latin typeface="Manrope"/>
                  <a:ea typeface="Manrope"/>
                  <a:cs typeface="Manrope"/>
                  <a:sym typeface="Manrope"/>
                </a:rPr>
                <a:t>Errors</a:t>
              </a:r>
              <a:endParaRPr b="0" i="0" spc="0" sz="2100" u="none" cap="none" strike="noStrike">
                <a:solidFill>
                  <a:srgbClr val="5A5E7A"/>
                </a:solidFill>
                <a:latin typeface="Manrope"/>
                <a:ea typeface="Manrope"/>
                <a:cs typeface="Manrope"/>
                <a:sym typeface="Manrope"/>
              </a:endParaRPr>
            </a:p>
            <a:p>
              <a:pPr indent="-361950" lvl="0" marL="457200" marR="0" rtl="0" algn="l">
                <a:lnSpc>
                  <a:spcPct val="100000"/>
                </a:lnSpc>
                <a:spcBef>
                  <a:spcPts val="1200"/>
                </a:spcBef>
                <a:spcAft>
                  <a:spcPts val="0"/>
                </a:spcAft>
                <a:buClr>
                  <a:srgbClr val="5A5E7A"/>
                </a:buClr>
                <a:buSzPts val="2100"/>
                <a:buFont typeface="Manrope"/>
                <a:buChar char="●"/>
              </a:pPr>
              <a:r>
                <a:rPr b="0" i="0" lang="en-US" spc="0" sz="2100" u="none" cap="none" strike="noStrike">
                  <a:solidFill>
                    <a:srgbClr val="5A5E7A"/>
                  </a:solidFill>
                  <a:latin typeface="Manrope"/>
                  <a:ea typeface="Manrope"/>
                  <a:cs typeface="Manrope"/>
                  <a:sym typeface="Manrope"/>
                </a:rPr>
                <a:t>Queue depth</a:t>
              </a:r>
              <a:endParaRPr b="0" i="0" spc="0" sz="2100" u="none" cap="none" strike="noStrike">
                <a:solidFill>
                  <a:srgbClr val="5A5E7A"/>
                </a:solidFill>
                <a:latin typeface="Manrope"/>
                <a:ea typeface="Manrope"/>
                <a:cs typeface="Manrope"/>
                <a:sym typeface="Manrope"/>
              </a:endParaRPr>
            </a:p>
            <a:p>
              <a:pPr indent="-361950" lvl="0" marL="457200" marR="0" rtl="0" algn="l">
                <a:lnSpc>
                  <a:spcPct val="100000"/>
                </a:lnSpc>
                <a:spcBef>
                  <a:spcPts val="1200"/>
                </a:spcBef>
                <a:spcAft>
                  <a:spcPts val="0"/>
                </a:spcAft>
                <a:buClr>
                  <a:srgbClr val="5A5E7A"/>
                </a:buClr>
                <a:buSzPts val="2100"/>
                <a:buFont typeface="Manrope"/>
                <a:buChar char="●"/>
              </a:pPr>
              <a:r>
                <a:rPr b="0" i="0" lang="en-US" spc="0" sz="2100" u="none" cap="none" strike="noStrike">
                  <a:solidFill>
                    <a:srgbClr val="5A5E7A"/>
                  </a:solidFill>
                  <a:latin typeface="Manrope"/>
                  <a:ea typeface="Manrope"/>
                  <a:cs typeface="Manrope"/>
                  <a:sym typeface="Manrope"/>
                </a:rPr>
                <a:t>Component latency</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1875"/>
                </a:spcBef>
                <a:spcAft>
                  <a:spcPts val="1200"/>
                </a:spcAft>
                <a:buClr>
                  <a:srgbClr val="000000"/>
                </a:buClr>
                <a:buSzPts val="2100"/>
                <a:buFont typeface="Arial"/>
                <a:buNone/>
              </a:pPr>
              <a:r>
                <a:rPr b="1" i="1" lang="en-US" spc="0" sz="2100" u="none" cap="none" strike="noStrike">
                  <a:solidFill>
                    <a:srgbClr val="12132A"/>
                  </a:solidFill>
                  <a:latin typeface="Manrope"/>
                  <a:ea typeface="Manrope"/>
                  <a:cs typeface="Manrope"/>
                  <a:sym typeface="Manrope"/>
                </a:rPr>
                <a:t>Best question:</a:t>
              </a:r>
              <a:r>
                <a:rPr b="0" i="1" lang="en-US" spc="0" sz="2100" u="none" cap="none" strike="noStrike">
                  <a:solidFill>
                    <a:srgbClr val="5A5E7A"/>
                  </a:solidFill>
                  <a:latin typeface="Manrope"/>
                  <a:ea typeface="Manrope"/>
                  <a:cs typeface="Manrope"/>
                  <a:sym typeface="Manrope"/>
                </a:rPr>
                <a:t> How did the cluster behave while the load was running?</a:t>
              </a:r>
              <a:endParaRPr b="0" i="1" spc="0" sz="2100" u="none" cap="none" strike="noStrike">
                <a:solidFill>
                  <a:srgbClr val="5A5E7A"/>
                </a:solidFill>
                <a:latin typeface="Manrope"/>
                <a:ea typeface="Manrope"/>
                <a:cs typeface="Manrope"/>
                <a:sym typeface="Manrope"/>
              </a:endParaRPr>
            </a:p>
          </p:txBody>
        </p:sp>
      </p:grpSp>
      <p:grpSp>
        <p:nvGrpSpPr>
          <p:cNvPr id="167" name="Google Shape;167;p9"/>
          <p:cNvGrpSpPr/>
          <p:nvPr/>
        </p:nvGrpSpPr>
        <p:grpSpPr>
          <a:xfrm>
            <a:off x="9429750" y="2571750"/>
            <a:ext cx="7810500" cy="5524500"/>
            <a:chOff x="0" y="0"/>
            <a:chExt cx="7810500" cy="5524500"/>
          </a:xfrm>
        </p:grpSpPr>
        <p:sp>
          <p:nvSpPr>
            <p:cNvPr id="168" name="Google Shape;168;p9"/>
            <p:cNvSpPr/>
            <p:nvPr/>
          </p:nvSpPr>
          <p:spPr>
            <a:xfrm>
              <a:off x="0" y="0"/>
              <a:ext cx="7810500" cy="5524500"/>
            </a:xfrm>
            <a:prstGeom prst="roundRect">
              <a:avLst>
                <a:gd fmla="val 2758" name="adj"/>
              </a:avLst>
            </a:prstGeom>
            <a:solidFill>
              <a:srgbClr val="E7E4FB"/>
            </a:solidFill>
            <a:ln cap="flat" cmpd="sng" w="19050">
              <a:solidFill>
                <a:srgbClr val="3928D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9" name="Google Shape;169;p9"/>
            <p:cNvSpPr/>
            <p:nvPr/>
          </p:nvSpPr>
          <p:spPr>
            <a:xfrm>
              <a:off x="0" y="0"/>
              <a:ext cx="7810500" cy="1143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 name="Google Shape;170;p9"/>
            <p:cNvSpPr txBox="1"/>
            <p:nvPr/>
          </p:nvSpPr>
          <p:spPr>
            <a:xfrm>
              <a:off x="476250" y="476250"/>
              <a:ext cx="6858000" cy="457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0" i="0" lang="en-US" spc="0" sz="3200" u="none" cap="none" strike="noStrike">
                  <a:solidFill>
                    <a:srgbClr val="12132A"/>
                  </a:solidFill>
                  <a:latin typeface="Manrope ExtraBold"/>
                  <a:ea typeface="Manrope ExtraBold"/>
                  <a:cs typeface="Manrope ExtraBold"/>
                  <a:sym typeface="Manrope ExtraBold"/>
                </a:rPr>
                <a:t>kube-burner</a:t>
              </a:r>
              <a:endParaRPr b="0" i="0" spc="0" sz="32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750"/>
                </a:spcBef>
                <a:spcAft>
                  <a:spcPts val="0"/>
                </a:spcAft>
                <a:buClr>
                  <a:srgbClr val="000000"/>
                </a:buClr>
                <a:buSzPts val="2000"/>
                <a:buFont typeface="Arial"/>
                <a:buNone/>
              </a:pPr>
              <a:r>
                <a:rPr b="1" i="0" lang="en-US" spc="0" sz="2000" u="none" cap="none" strike="noStrike">
                  <a:solidFill>
                    <a:srgbClr val="3928D9"/>
                  </a:solidFill>
                  <a:latin typeface="Manrope"/>
                  <a:ea typeface="Manrope"/>
                  <a:cs typeface="Manrope"/>
                  <a:sym typeface="Manrope"/>
                </a:rPr>
                <a:t>WATCHES API OBJECTS AND EVENTS</a:t>
              </a:r>
              <a:endParaRPr b="1" i="0" spc="0" sz="2000" u="none" cap="none" strike="noStrike">
                <a:solidFill>
                  <a:srgbClr val="3928D9"/>
                </a:solidFill>
                <a:latin typeface="Manrope"/>
                <a:ea typeface="Manrope"/>
                <a:cs typeface="Manrope"/>
                <a:sym typeface="Manrope"/>
              </a:endParaRPr>
            </a:p>
            <a:p>
              <a:pPr indent="0" lvl="0" marL="0" marR="0" rtl="0" algn="l">
                <a:lnSpc>
                  <a:spcPct val="100000"/>
                </a:lnSpc>
                <a:spcBef>
                  <a:spcPts val="1875"/>
                </a:spcBef>
                <a:spcAft>
                  <a:spcPts val="0"/>
                </a:spcAft>
                <a:buClr>
                  <a:srgbClr val="000000"/>
                </a:buClr>
                <a:buSzPts val="2100"/>
                <a:buFont typeface="Arial"/>
                <a:buNone/>
              </a:pPr>
              <a:r>
                <a:rPr b="1" i="0" lang="en-US" spc="0" sz="2100" u="none" cap="none" strike="noStrike">
                  <a:solidFill>
                    <a:srgbClr val="12132A"/>
                  </a:solidFill>
                  <a:latin typeface="Manrope"/>
                  <a:ea typeface="Manrope"/>
                  <a:cs typeface="Manrope"/>
                  <a:sym typeface="Manrope"/>
                </a:rPr>
                <a:t>Lifecycle Events Tracked:</a:t>
              </a:r>
              <a:endParaRPr b="1" i="0" spc="0" sz="2100" u="none" cap="none" strike="noStrike">
                <a:solidFill>
                  <a:srgbClr val="12132A"/>
                </a:solidFill>
                <a:latin typeface="Manrope"/>
                <a:ea typeface="Manrope"/>
                <a:cs typeface="Manrope"/>
                <a:sym typeface="Manrope"/>
              </a:endParaRPr>
            </a:p>
            <a:p>
              <a:pPr indent="0" lvl="0" marL="0" marR="0" rtl="0" algn="l">
                <a:lnSpc>
                  <a:spcPct val="100000"/>
                </a:lnSpc>
                <a:spcBef>
                  <a:spcPts val="900"/>
                </a:spcBef>
                <a:spcAft>
                  <a:spcPts val="0"/>
                </a:spcAft>
                <a:buClr>
                  <a:srgbClr val="000000"/>
                </a:buClr>
                <a:buSzPts val="1900"/>
                <a:buFont typeface="Arial"/>
                <a:buNone/>
              </a:pPr>
              <a:r>
                <a:rPr b="0" i="0" lang="en-US" spc="0" sz="1900" u="none" cap="none" strike="noStrike">
                  <a:solidFill>
                    <a:srgbClr val="2C2A5C"/>
                  </a:solidFill>
                  <a:latin typeface="Manrope"/>
                  <a:ea typeface="Manrope"/>
                  <a:cs typeface="Manrope"/>
                  <a:sym typeface="Manrope"/>
                </a:rPr>
                <a:t>Created • Scheduled • Initialized • Running • Ready • Reachable • Deleted</a:t>
              </a:r>
              <a:endParaRPr b="0" i="0" spc="0" sz="1900" u="none" cap="none" strike="noStrike">
                <a:solidFill>
                  <a:srgbClr val="2C2A5C"/>
                </a:solidFill>
                <a:latin typeface="Manrope"/>
                <a:ea typeface="Manrope"/>
                <a:cs typeface="Manrope"/>
                <a:sym typeface="Manrope"/>
              </a:endParaRPr>
            </a:p>
            <a:p>
              <a:pPr indent="0" lvl="0" marL="0" marR="0" rtl="0" algn="l">
                <a:lnSpc>
                  <a:spcPct val="100000"/>
                </a:lnSpc>
                <a:spcBef>
                  <a:spcPts val="4125"/>
                </a:spcBef>
                <a:spcAft>
                  <a:spcPts val="1200"/>
                </a:spcAft>
                <a:buClr>
                  <a:srgbClr val="000000"/>
                </a:buClr>
                <a:buSzPts val="2100"/>
                <a:buFont typeface="Arial"/>
                <a:buNone/>
              </a:pPr>
              <a:r>
                <a:rPr b="1" i="1" lang="en-US" spc="0" sz="2100" u="none" cap="none" strike="noStrike">
                  <a:solidFill>
                    <a:srgbClr val="12132A"/>
                  </a:solidFill>
                  <a:latin typeface="Manrope"/>
                  <a:ea typeface="Manrope"/>
                  <a:cs typeface="Manrope"/>
                  <a:sym typeface="Manrope"/>
                </a:rPr>
                <a:t>Best question:</a:t>
              </a:r>
              <a:r>
                <a:rPr b="0" i="1" lang="en-US" spc="0" sz="2100" u="none" cap="none" strike="noStrike">
                  <a:solidFill>
                    <a:srgbClr val="2C2A5C"/>
                  </a:solidFill>
                  <a:latin typeface="Manrope"/>
                  <a:ea typeface="Manrope"/>
                  <a:cs typeface="Manrope"/>
                  <a:sym typeface="Manrope"/>
                </a:rPr>
                <a:t> How long did each object take to complete its lifecycle?</a:t>
              </a:r>
              <a:endParaRPr b="0" i="1" spc="0" sz="2100" u="none" cap="none" strike="noStrike">
                <a:solidFill>
                  <a:srgbClr val="2C2A5C"/>
                </a:solidFill>
                <a:latin typeface="Manrope"/>
                <a:ea typeface="Manrope"/>
                <a:cs typeface="Manrope"/>
                <a:sym typeface="Manrope"/>
              </a:endParaRPr>
            </a:p>
          </p:txBody>
        </p:sp>
      </p:grpSp>
      <p:sp>
        <p:nvSpPr>
          <p:cNvPr id="171" name="Google Shape;171;p9"/>
          <p:cNvSpPr txBox="1"/>
          <p:nvPr/>
        </p:nvSpPr>
        <p:spPr>
          <a:xfrm>
            <a:off x="1047750" y="8477250"/>
            <a:ext cx="16192500" cy="95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300"/>
              <a:buFont typeface="Arial"/>
              <a:buNone/>
            </a:pPr>
            <a:r>
              <a:t/>
            </a:r>
            <a:endParaRPr b="1" i="0" spc="0" sz="2300" u="none" cap="none" strike="noStrike">
              <a:solidFill>
                <a:srgbClr val="3928D9"/>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9" name="Shape 179"/>
        <p:cNvGrpSpPr/>
        <p:nvPr/>
      </p:nvGrpSpPr>
      <p:grpSpPr>
        <a:xfrm>
          <a:off x="0" y="0"/>
          <a:ext cx="0" cy="0"/>
          <a:chOff x="0" y="0"/>
          <a:chExt cx="0" cy="0"/>
        </a:xfrm>
      </p:grpSpPr>
      <p:sp>
        <p:nvSpPr>
          <p:cNvPr id="180" name="Google Shape;180;p10"/>
          <p:cNvSpPr txBox="1"/>
          <p:nvPr/>
        </p:nvSpPr>
        <p:spPr>
          <a:xfrm>
            <a:off x="1047750" y="87630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US" spc="0" sz="1350" u="none" cap="none" strike="noStrike">
                <a:solidFill>
                  <a:srgbClr val="3928D9"/>
                </a:solidFill>
                <a:latin typeface="JetBrains Mono"/>
                <a:ea typeface="JetBrains Mono"/>
                <a:cs typeface="JetBrains Mono"/>
                <a:sym typeface="JetBrains Mono"/>
              </a:rPr>
              <a:t>METRIC PIPELINE</a:t>
            </a:r>
            <a:endParaRPr b="0" i="0" spc="0" sz="1350" u="none" cap="none" strike="noStrike">
              <a:solidFill>
                <a:srgbClr val="3928D9"/>
              </a:solidFill>
              <a:latin typeface="JetBrains Mono"/>
              <a:ea typeface="JetBrains Mono"/>
              <a:cs typeface="JetBrains Mono"/>
              <a:sym typeface="JetBrains Mono"/>
            </a:endParaRPr>
          </a:p>
        </p:txBody>
      </p:sp>
      <p:grpSp>
        <p:nvGrpSpPr>
          <p:cNvPr id="181" name="Google Shape;181;p10"/>
          <p:cNvGrpSpPr/>
          <p:nvPr/>
        </p:nvGrpSpPr>
        <p:grpSpPr>
          <a:xfrm>
            <a:off x="1047750" y="2476529"/>
            <a:ext cx="16192650" cy="3810095"/>
            <a:chOff x="1047750" y="2476500"/>
            <a:chExt cx="16192650" cy="3238500"/>
          </a:xfrm>
        </p:grpSpPr>
        <p:sp>
          <p:nvSpPr>
            <p:cNvPr id="182" name="Google Shape;182;p10"/>
            <p:cNvSpPr/>
            <p:nvPr/>
          </p:nvSpPr>
          <p:spPr>
            <a:xfrm>
              <a:off x="1047750" y="2476500"/>
              <a:ext cx="5048400" cy="3238500"/>
            </a:xfrm>
            <a:prstGeom prst="roundRect">
              <a:avLst>
                <a:gd fmla="val 4705"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sp>
          <p:nvSpPr>
            <p:cNvPr id="183" name="Google Shape;183;p10"/>
            <p:cNvSpPr/>
            <p:nvPr/>
          </p:nvSpPr>
          <p:spPr>
            <a:xfrm>
              <a:off x="1047750" y="2476500"/>
              <a:ext cx="5048400" cy="762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sp>
          <p:nvSpPr>
            <p:cNvPr id="184" name="Google Shape;184;p10"/>
            <p:cNvSpPr txBox="1"/>
            <p:nvPr/>
          </p:nvSpPr>
          <p:spPr>
            <a:xfrm>
              <a:off x="1333500" y="2762250"/>
              <a:ext cx="4476900" cy="26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3928D9"/>
                  </a:solidFill>
                  <a:latin typeface="JetBrains Mono"/>
                  <a:ea typeface="JetBrains Mono"/>
                  <a:cs typeface="JetBrains Mono"/>
                  <a:sym typeface="JetBrains Mono"/>
                </a:rPr>
                <a:t>STEP 01 — RAW DATA</a:t>
              </a:r>
              <a:endParaRPr b="1" i="0" spc="0" sz="150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900"/>
                </a:spcBef>
                <a:spcAft>
                  <a:spcPts val="0"/>
                </a:spcAft>
                <a:buClr>
                  <a:srgbClr val="000000"/>
                </a:buClr>
                <a:buSzPts val="2600"/>
                <a:buFont typeface="Arial"/>
                <a:buNone/>
              </a:pPr>
              <a:r>
                <a:rPr b="0" i="0" lang="en-US" spc="0" sz="2600" u="none" cap="none" strike="noStrike">
                  <a:solidFill>
                    <a:srgbClr val="12132A"/>
                  </a:solidFill>
                  <a:latin typeface="Manrope ExtraBold"/>
                  <a:ea typeface="Manrope ExtraBold"/>
                  <a:cs typeface="Manrope ExtraBold"/>
                  <a:sym typeface="Manrope ExtraBold"/>
                </a:rPr>
                <a:t>Per-object record</a:t>
              </a:r>
              <a:endParaRPr b="0" i="0" spc="0" sz="26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1200"/>
                </a:spcBef>
                <a:spcAft>
                  <a:spcPts val="0"/>
                </a:spcAft>
                <a:buClr>
                  <a:srgbClr val="000000"/>
                </a:buClr>
                <a:buSzPts val="1850"/>
                <a:buFont typeface="Arial"/>
                <a:buNone/>
              </a:pPr>
              <a:r>
                <a:rPr b="0" i="0" lang="en-US" spc="0" sz="1850" u="none" cap="none" strike="noStrike">
                  <a:solidFill>
                    <a:srgbClr val="5A5E7A"/>
                  </a:solidFill>
                  <a:latin typeface="Manrope"/>
                  <a:ea typeface="Manrope"/>
                  <a:cs typeface="Manrope"/>
                  <a:sym typeface="Manrope"/>
                </a:rPr>
                <a:t>Store each object’s identity, node, job, iteration, and cumulative transition latencies in milliseconds.</a:t>
              </a:r>
              <a:endParaRPr b="0" i="0" spc="0" sz="1850" u="none" cap="none" strike="noStrike">
                <a:solidFill>
                  <a:srgbClr val="5A5E7A"/>
                </a:solidFill>
                <a:latin typeface="Manrope"/>
                <a:ea typeface="Manrope"/>
                <a:cs typeface="Manrope"/>
                <a:sym typeface="Manrope"/>
              </a:endParaRPr>
            </a:p>
            <a:p>
              <a:pPr indent="0" lvl="0" marL="0" marR="0" rtl="0" algn="l">
                <a:lnSpc>
                  <a:spcPct val="100000"/>
                </a:lnSpc>
                <a:spcBef>
                  <a:spcPts val="1200"/>
                </a:spcBef>
                <a:spcAft>
                  <a:spcPts val="0"/>
                </a:spcAft>
                <a:buClr>
                  <a:srgbClr val="000000"/>
                </a:buClr>
                <a:buSzPts val="1450"/>
                <a:buFont typeface="Arial"/>
                <a:buNone/>
              </a:pPr>
              <a:r>
                <a:rPr b="1" i="0" lang="en-US" spc="0" sz="1450" u="none" cap="none" strike="noStrike">
                  <a:solidFill>
                    <a:srgbClr val="3928D9"/>
                  </a:solidFill>
                  <a:latin typeface="JetBrains Mono"/>
                  <a:ea typeface="JetBrains Mono"/>
                  <a:cs typeface="JetBrains Mono"/>
                  <a:sym typeface="JetBrains Mono"/>
                </a:rPr>
                <a:t>METADATA &amp; LATENCY TIMESTAMPS</a:t>
              </a:r>
              <a:endParaRPr b="0" i="0" spc="0" sz="1800" u="none" cap="none" strike="noStrike">
                <a:solidFill>
                  <a:srgbClr val="000000"/>
                </a:solidFill>
                <a:latin typeface="Manrope"/>
                <a:ea typeface="Manrope"/>
                <a:cs typeface="Manrope"/>
                <a:sym typeface="Manrope"/>
              </a:endParaRPr>
            </a:p>
          </p:txBody>
        </p:sp>
        <p:sp>
          <p:nvSpPr>
            <p:cNvPr id="185" name="Google Shape;185;p10"/>
            <p:cNvSpPr/>
            <p:nvPr/>
          </p:nvSpPr>
          <p:spPr>
            <a:xfrm>
              <a:off x="6619875" y="2476500"/>
              <a:ext cx="5048400" cy="3238500"/>
            </a:xfrm>
            <a:prstGeom prst="roundRect">
              <a:avLst>
                <a:gd fmla="val 4705"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sp>
          <p:nvSpPr>
            <p:cNvPr id="186" name="Google Shape;186;p10"/>
            <p:cNvSpPr/>
            <p:nvPr/>
          </p:nvSpPr>
          <p:spPr>
            <a:xfrm>
              <a:off x="6619875" y="2476500"/>
              <a:ext cx="5048400" cy="762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sp>
          <p:nvSpPr>
            <p:cNvPr id="187" name="Google Shape;187;p10"/>
            <p:cNvSpPr txBox="1"/>
            <p:nvPr/>
          </p:nvSpPr>
          <p:spPr>
            <a:xfrm>
              <a:off x="6905625" y="2762250"/>
              <a:ext cx="4476900" cy="26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3928D9"/>
                  </a:solidFill>
                  <a:latin typeface="JetBrains Mono"/>
                  <a:ea typeface="JetBrains Mono"/>
                  <a:cs typeface="JetBrains Mono"/>
                  <a:sym typeface="JetBrains Mono"/>
                </a:rPr>
                <a:t>STEP 02 — AGGREGATION</a:t>
              </a:r>
              <a:endParaRPr b="1" i="0" spc="0" sz="150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900"/>
                </a:spcBef>
                <a:spcAft>
                  <a:spcPts val="0"/>
                </a:spcAft>
                <a:buClr>
                  <a:srgbClr val="000000"/>
                </a:buClr>
                <a:buSzPts val="2600"/>
                <a:buFont typeface="Arial"/>
                <a:buNone/>
              </a:pPr>
              <a:r>
                <a:rPr b="0" i="0" lang="en-US" spc="0" sz="2600" u="none" cap="none" strike="noStrike">
                  <a:solidFill>
                    <a:srgbClr val="12132A"/>
                  </a:solidFill>
                  <a:latin typeface="Manrope ExtraBold"/>
                  <a:ea typeface="Manrope ExtraBold"/>
                  <a:cs typeface="Manrope ExtraBold"/>
                  <a:sym typeface="Manrope ExtraBold"/>
                </a:rPr>
                <a:t>Quantile summary</a:t>
              </a:r>
              <a:endParaRPr b="0" i="0" spc="0" sz="26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1200"/>
                </a:spcBef>
                <a:spcAft>
                  <a:spcPts val="0"/>
                </a:spcAft>
                <a:buClr>
                  <a:srgbClr val="000000"/>
                </a:buClr>
                <a:buSzPts val="1850"/>
                <a:buFont typeface="Arial"/>
                <a:buNone/>
              </a:pPr>
              <a:r>
                <a:rPr b="0" i="0" lang="en-US" spc="0" sz="1850" u="none" cap="none" strike="noStrike">
                  <a:solidFill>
                    <a:srgbClr val="5A5E7A"/>
                  </a:solidFill>
                  <a:latin typeface="Manrope"/>
                  <a:ea typeface="Manrope"/>
                  <a:cs typeface="Manrope"/>
                  <a:sym typeface="Manrope"/>
                </a:rPr>
                <a:t>Aggregate the raw transaction population into statistical benchmark quantiles:</a:t>
              </a:r>
              <a:endParaRPr b="0" i="0" spc="0" sz="1850" u="none" cap="none" strike="noStrike">
                <a:solidFill>
                  <a:srgbClr val="5A5E7A"/>
                </a:solidFill>
                <a:latin typeface="Manrope"/>
                <a:ea typeface="Manrope"/>
                <a:cs typeface="Manrope"/>
                <a:sym typeface="Manrope"/>
              </a:endParaRPr>
            </a:p>
            <a:p>
              <a:pPr indent="-323850" lvl="0" marL="457200" marR="0" rtl="0" algn="l">
                <a:lnSpc>
                  <a:spcPct val="100000"/>
                </a:lnSpc>
                <a:spcBef>
                  <a:spcPts val="1500"/>
                </a:spcBef>
                <a:spcAft>
                  <a:spcPts val="0"/>
                </a:spcAft>
                <a:buClr>
                  <a:srgbClr val="3928D9"/>
                </a:buClr>
                <a:buSzPts val="1500"/>
                <a:buFont typeface="JetBrains Mono"/>
                <a:buChar char="●"/>
              </a:pPr>
              <a:r>
                <a:rPr b="1" i="0" lang="en-US" spc="0" sz="1500" u="none" cap="none" strike="noStrike">
                  <a:solidFill>
                    <a:srgbClr val="3928D9"/>
                  </a:solidFill>
                  <a:latin typeface="JetBrains Mono"/>
                  <a:ea typeface="JetBrains Mono"/>
                  <a:cs typeface="JetBrains Mono"/>
                  <a:sym typeface="JetBrains Mono"/>
                </a:rPr>
                <a:t>Minimum</a:t>
              </a:r>
              <a:endParaRPr b="1" i="0" spc="0" sz="1500" u="none" cap="none" strike="noStrike">
                <a:solidFill>
                  <a:srgbClr val="3928D9"/>
                </a:solidFill>
                <a:latin typeface="JetBrains Mono"/>
                <a:ea typeface="JetBrains Mono"/>
                <a:cs typeface="JetBrains Mono"/>
                <a:sym typeface="JetBrains Mono"/>
              </a:endParaRPr>
            </a:p>
            <a:p>
              <a:pPr indent="-323850" lvl="0" marL="457200" marR="0" rtl="0" algn="l">
                <a:lnSpc>
                  <a:spcPct val="100000"/>
                </a:lnSpc>
                <a:spcBef>
                  <a:spcPts val="0"/>
                </a:spcBef>
                <a:spcAft>
                  <a:spcPts val="0"/>
                </a:spcAft>
                <a:buClr>
                  <a:srgbClr val="3928D9"/>
                </a:buClr>
                <a:buSzPts val="1500"/>
                <a:buFont typeface="JetBrains Mono"/>
                <a:buChar char="●"/>
              </a:pPr>
              <a:r>
                <a:rPr b="1" i="0" lang="en-US" spc="0" sz="1500" u="none" cap="none" strike="noStrike">
                  <a:solidFill>
                    <a:srgbClr val="3928D9"/>
                  </a:solidFill>
                  <a:latin typeface="JetBrains Mono"/>
                  <a:ea typeface="JetBrains Mono"/>
                  <a:cs typeface="JetBrains Mono"/>
                  <a:sym typeface="JetBrains Mono"/>
                </a:rPr>
                <a:t>Average</a:t>
              </a:r>
              <a:endParaRPr b="1" i="0" spc="0" sz="1500" u="none" cap="none" strike="noStrike">
                <a:solidFill>
                  <a:srgbClr val="3928D9"/>
                </a:solidFill>
                <a:latin typeface="JetBrains Mono"/>
                <a:ea typeface="JetBrains Mono"/>
                <a:cs typeface="JetBrains Mono"/>
                <a:sym typeface="JetBrains Mono"/>
              </a:endParaRPr>
            </a:p>
            <a:p>
              <a:pPr indent="-323850" lvl="0" marL="457200" marR="0" rtl="0" algn="l">
                <a:lnSpc>
                  <a:spcPct val="100000"/>
                </a:lnSpc>
                <a:spcBef>
                  <a:spcPts val="0"/>
                </a:spcBef>
                <a:spcAft>
                  <a:spcPts val="0"/>
                </a:spcAft>
                <a:buClr>
                  <a:srgbClr val="3928D9"/>
                </a:buClr>
                <a:buSzPts val="1500"/>
                <a:buFont typeface="JetBrains Mono"/>
                <a:buChar char="●"/>
              </a:pPr>
              <a:r>
                <a:rPr b="1" i="0" lang="en-US" spc="0" sz="1500" u="none" cap="none" strike="noStrike">
                  <a:solidFill>
                    <a:srgbClr val="3928D9"/>
                  </a:solidFill>
                  <a:latin typeface="JetBrains Mono"/>
                  <a:ea typeface="JetBrains Mono"/>
                  <a:cs typeface="JetBrains Mono"/>
                  <a:sym typeface="JetBrains Mono"/>
                </a:rPr>
                <a:t>P50 </a:t>
              </a:r>
              <a:endParaRPr b="1" i="0" spc="0" sz="1500" u="none" cap="none" strike="noStrike">
                <a:solidFill>
                  <a:srgbClr val="3928D9"/>
                </a:solidFill>
                <a:latin typeface="JetBrains Mono"/>
                <a:ea typeface="JetBrains Mono"/>
                <a:cs typeface="JetBrains Mono"/>
                <a:sym typeface="JetBrains Mono"/>
              </a:endParaRPr>
            </a:p>
            <a:p>
              <a:pPr indent="-323850" lvl="0" marL="457200" marR="0" rtl="0" algn="l">
                <a:lnSpc>
                  <a:spcPct val="100000"/>
                </a:lnSpc>
                <a:spcBef>
                  <a:spcPts val="0"/>
                </a:spcBef>
                <a:spcAft>
                  <a:spcPts val="0"/>
                </a:spcAft>
                <a:buClr>
                  <a:srgbClr val="3928D9"/>
                </a:buClr>
                <a:buSzPts val="1500"/>
                <a:buFont typeface="JetBrains Mono"/>
                <a:buChar char="●"/>
              </a:pPr>
              <a:r>
                <a:rPr b="1" i="0" lang="en-US" spc="0" sz="1500" u="none" cap="none" strike="noStrike">
                  <a:solidFill>
                    <a:srgbClr val="3928D9"/>
                  </a:solidFill>
                  <a:latin typeface="JetBrains Mono"/>
                  <a:ea typeface="JetBrains Mono"/>
                  <a:cs typeface="JetBrains Mono"/>
                  <a:sym typeface="JetBrains Mono"/>
                </a:rPr>
                <a:t>P95</a:t>
              </a:r>
              <a:endParaRPr b="1" i="0" spc="0" sz="1500" u="none" cap="none" strike="noStrike">
                <a:solidFill>
                  <a:srgbClr val="3928D9"/>
                </a:solidFill>
                <a:latin typeface="JetBrains Mono"/>
                <a:ea typeface="JetBrains Mono"/>
                <a:cs typeface="JetBrains Mono"/>
                <a:sym typeface="JetBrains Mono"/>
              </a:endParaRPr>
            </a:p>
            <a:p>
              <a:pPr indent="-323850" lvl="0" marL="457200" marR="0" rtl="0" algn="l">
                <a:lnSpc>
                  <a:spcPct val="100000"/>
                </a:lnSpc>
                <a:spcBef>
                  <a:spcPts val="0"/>
                </a:spcBef>
                <a:spcAft>
                  <a:spcPts val="0"/>
                </a:spcAft>
                <a:buClr>
                  <a:srgbClr val="3928D9"/>
                </a:buClr>
                <a:buSzPts val="1500"/>
                <a:buFont typeface="JetBrains Mono"/>
                <a:buChar char="●"/>
              </a:pPr>
              <a:r>
                <a:rPr b="1" i="0" lang="en-US" spc="0" sz="1500" u="none" cap="none" strike="noStrike">
                  <a:solidFill>
                    <a:srgbClr val="3928D9"/>
                  </a:solidFill>
                  <a:latin typeface="JetBrains Mono"/>
                  <a:ea typeface="JetBrains Mono"/>
                  <a:cs typeface="JetBrains Mono"/>
                  <a:sym typeface="JetBrains Mono"/>
                </a:rPr>
                <a:t>P99 </a:t>
              </a:r>
              <a:endParaRPr b="1" i="0" spc="0" sz="1500" u="none" cap="none" strike="noStrike">
                <a:solidFill>
                  <a:srgbClr val="3928D9"/>
                </a:solidFill>
                <a:latin typeface="JetBrains Mono"/>
                <a:ea typeface="JetBrains Mono"/>
                <a:cs typeface="JetBrains Mono"/>
                <a:sym typeface="JetBrains Mono"/>
              </a:endParaRPr>
            </a:p>
            <a:p>
              <a:pPr indent="-323850" lvl="0" marL="457200" marR="0" rtl="0" algn="l">
                <a:lnSpc>
                  <a:spcPct val="100000"/>
                </a:lnSpc>
                <a:spcBef>
                  <a:spcPts val="0"/>
                </a:spcBef>
                <a:spcAft>
                  <a:spcPts val="0"/>
                </a:spcAft>
                <a:buClr>
                  <a:srgbClr val="3928D9"/>
                </a:buClr>
                <a:buSzPts val="1500"/>
                <a:buFont typeface="JetBrains Mono"/>
                <a:buChar char="●"/>
              </a:pPr>
              <a:r>
                <a:rPr b="1" i="0" lang="en-US" spc="0" sz="1500" u="none" cap="none" strike="noStrike">
                  <a:solidFill>
                    <a:srgbClr val="3928D9"/>
                  </a:solidFill>
                  <a:latin typeface="JetBrains Mono"/>
                  <a:ea typeface="JetBrains Mono"/>
                  <a:cs typeface="JetBrains Mono"/>
                  <a:sym typeface="JetBrains Mono"/>
                </a:rPr>
                <a:t>Maximum</a:t>
              </a:r>
              <a:endParaRPr b="0" i="0" spc="0" sz="1800" u="none" cap="none" strike="noStrike">
                <a:solidFill>
                  <a:srgbClr val="000000"/>
                </a:solidFill>
                <a:latin typeface="Manrope"/>
                <a:ea typeface="Manrope"/>
                <a:cs typeface="Manrope"/>
                <a:sym typeface="Manrope"/>
              </a:endParaRPr>
            </a:p>
          </p:txBody>
        </p:sp>
        <p:sp>
          <p:nvSpPr>
            <p:cNvPr id="188" name="Google Shape;188;p10"/>
            <p:cNvSpPr/>
            <p:nvPr/>
          </p:nvSpPr>
          <p:spPr>
            <a:xfrm>
              <a:off x="12192000" y="2476500"/>
              <a:ext cx="5048400" cy="3238500"/>
            </a:xfrm>
            <a:prstGeom prst="roundRect">
              <a:avLst>
                <a:gd fmla="val 4705" name="adj"/>
              </a:avLst>
            </a:prstGeom>
            <a:solidFill>
              <a:srgbClr val="E7E4FB"/>
            </a:solidFill>
            <a:ln cap="flat" cmpd="sng" w="19050">
              <a:solidFill>
                <a:srgbClr val="3928D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sp>
          <p:nvSpPr>
            <p:cNvPr id="189" name="Google Shape;189;p10"/>
            <p:cNvSpPr/>
            <p:nvPr/>
          </p:nvSpPr>
          <p:spPr>
            <a:xfrm>
              <a:off x="12192000" y="2476500"/>
              <a:ext cx="5048400" cy="76200"/>
            </a:xfrm>
            <a:prstGeom prst="roundRect">
              <a:avLst>
                <a:gd fmla="val 50000" name="adj"/>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sp>
          <p:nvSpPr>
            <p:cNvPr id="190" name="Google Shape;190;p10"/>
            <p:cNvSpPr txBox="1"/>
            <p:nvPr/>
          </p:nvSpPr>
          <p:spPr>
            <a:xfrm>
              <a:off x="12477750" y="2762250"/>
              <a:ext cx="4476900" cy="26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3928D9"/>
                  </a:solidFill>
                  <a:latin typeface="JetBrains Mono"/>
                  <a:ea typeface="JetBrains Mono"/>
                  <a:cs typeface="JetBrains Mono"/>
                  <a:sym typeface="JetBrains Mono"/>
                </a:rPr>
                <a:t>STEP 03 — ENFORCEMENT</a:t>
              </a:r>
              <a:endParaRPr b="1" i="0" spc="0" sz="150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900"/>
                </a:spcBef>
                <a:spcAft>
                  <a:spcPts val="0"/>
                </a:spcAft>
                <a:buClr>
                  <a:srgbClr val="000000"/>
                </a:buClr>
                <a:buSzPts val="2600"/>
                <a:buFont typeface="Arial"/>
                <a:buNone/>
              </a:pPr>
              <a:r>
                <a:rPr b="0" i="0" lang="en-US" spc="0" sz="2600" u="none" cap="none" strike="noStrike">
                  <a:solidFill>
                    <a:srgbClr val="12132A"/>
                  </a:solidFill>
                  <a:latin typeface="Manrope ExtraBold"/>
                  <a:ea typeface="Manrope ExtraBold"/>
                  <a:cs typeface="Manrope ExtraBold"/>
                  <a:sym typeface="Manrope ExtraBold"/>
                </a:rPr>
                <a:t>Threshold gate</a:t>
              </a:r>
              <a:endParaRPr b="0" i="0" spc="0" sz="2600" u="none" cap="none" strike="noStrike">
                <a:solidFill>
                  <a:srgbClr val="12132A"/>
                </a:solidFill>
                <a:latin typeface="Manrope ExtraBold"/>
                <a:ea typeface="Manrope ExtraBold"/>
                <a:cs typeface="Manrope ExtraBold"/>
                <a:sym typeface="Manrope ExtraBold"/>
              </a:endParaRPr>
            </a:p>
            <a:p>
              <a:pPr indent="0" lvl="0" marL="0" marR="0" rtl="0" algn="l">
                <a:lnSpc>
                  <a:spcPct val="100000"/>
                </a:lnSpc>
                <a:spcBef>
                  <a:spcPts val="1200"/>
                </a:spcBef>
                <a:spcAft>
                  <a:spcPts val="0"/>
                </a:spcAft>
                <a:buClr>
                  <a:srgbClr val="000000"/>
                </a:buClr>
                <a:buSzPts val="1850"/>
                <a:buFont typeface="Arial"/>
                <a:buNone/>
              </a:pPr>
              <a:r>
                <a:rPr b="0" i="0" lang="en-US" spc="0" sz="1850" u="none" cap="none" strike="noStrike">
                  <a:solidFill>
                    <a:srgbClr val="2C2A5C"/>
                  </a:solidFill>
                  <a:latin typeface="Manrope"/>
                  <a:ea typeface="Manrope"/>
                  <a:cs typeface="Manrope"/>
                  <a:sym typeface="Manrope"/>
                </a:rPr>
                <a:t>Compare a selected quantile with an SLO. A breached latency threshold makes kube-burner return a non-zero exit code to halt pipelines.</a:t>
              </a:r>
              <a:endParaRPr b="0" i="0" spc="0" sz="1850" u="none" cap="none" strike="noStrike">
                <a:solidFill>
                  <a:srgbClr val="2C2A5C"/>
                </a:solidFill>
                <a:latin typeface="Manrope"/>
                <a:ea typeface="Manrope"/>
                <a:cs typeface="Manrope"/>
                <a:sym typeface="Manrope"/>
              </a:endParaRPr>
            </a:p>
            <a:p>
              <a:pPr indent="0" lvl="0" marL="0" marR="0" rtl="0" algn="l">
                <a:lnSpc>
                  <a:spcPct val="100000"/>
                </a:lnSpc>
                <a:spcBef>
                  <a:spcPts val="1200"/>
                </a:spcBef>
                <a:spcAft>
                  <a:spcPts val="0"/>
                </a:spcAft>
                <a:buClr>
                  <a:srgbClr val="000000"/>
                </a:buClr>
                <a:buSzPts val="1450"/>
                <a:buFont typeface="Arial"/>
                <a:buNone/>
              </a:pPr>
              <a:r>
                <a:rPr b="1" i="0" lang="en-US" spc="0" sz="1450" u="none" cap="none" strike="noStrike">
                  <a:solidFill>
                    <a:schemeClr val="accent1"/>
                  </a:solidFill>
                  <a:latin typeface="JetBrains Mono"/>
                  <a:ea typeface="JetBrains Mono"/>
                  <a:cs typeface="JetBrains Mono"/>
                  <a:sym typeface="JetBrains Mono"/>
                </a:rPr>
                <a:t>AUTOMATIC FAILURE TRIGGER</a:t>
              </a:r>
              <a:endParaRPr b="0" i="0" spc="0" sz="1800" u="none" cap="none" strike="noStrike">
                <a:solidFill>
                  <a:schemeClr val="accent1"/>
                </a:solidFill>
                <a:latin typeface="Manrope"/>
                <a:ea typeface="Manrope"/>
                <a:cs typeface="Manrope"/>
                <a:sym typeface="Manrope"/>
              </a:endParaRPr>
            </a:p>
          </p:txBody>
        </p:sp>
      </p:grpSp>
      <p:sp>
        <p:nvSpPr>
          <p:cNvPr id="191" name="Google Shape;191;p10"/>
          <p:cNvSpPr txBox="1"/>
          <p:nvPr/>
        </p:nvSpPr>
        <p:spPr>
          <a:xfrm>
            <a:off x="1047750" y="1381125"/>
            <a:ext cx="16192500" cy="9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i="0" lang="en-US" spc="0" sz="3300" u="none" cap="none" strike="noStrike">
                <a:solidFill>
                  <a:srgbClr val="12132A"/>
                </a:solidFill>
                <a:latin typeface="Manrope"/>
                <a:ea typeface="Manrope"/>
                <a:cs typeface="Manrope"/>
                <a:sym typeface="Manrope"/>
              </a:rPr>
              <a:t>From one object to a benchmark distribution</a:t>
            </a:r>
            <a:endParaRPr b="1" i="0" spc="0" sz="3300" u="none" cap="none" strike="noStrike">
              <a:solidFill>
                <a:srgbClr val="12132A"/>
              </a:solidFill>
              <a:latin typeface="Manrope"/>
              <a:ea typeface="Manrope"/>
              <a:cs typeface="Manrope"/>
              <a:sym typeface="Manrope"/>
            </a:endParaRPr>
          </a:p>
        </p:txBody>
      </p:sp>
      <p:grpSp>
        <p:nvGrpSpPr>
          <p:cNvPr id="192" name="Google Shape;192;p10"/>
          <p:cNvGrpSpPr/>
          <p:nvPr/>
        </p:nvGrpSpPr>
        <p:grpSpPr>
          <a:xfrm>
            <a:off x="1047750" y="6638375"/>
            <a:ext cx="16573500" cy="2809875"/>
            <a:chOff x="1047750" y="6286500"/>
            <a:chExt cx="16573500" cy="2809875"/>
          </a:xfrm>
        </p:grpSpPr>
        <p:sp>
          <p:nvSpPr>
            <p:cNvPr id="193" name="Google Shape;193;p10"/>
            <p:cNvSpPr txBox="1"/>
            <p:nvPr/>
          </p:nvSpPr>
          <p:spPr>
            <a:xfrm>
              <a:off x="1047750" y="6286500"/>
              <a:ext cx="16192500" cy="28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3928D9"/>
                  </a:solidFill>
                  <a:latin typeface="JetBrains Mono"/>
                  <a:ea typeface="JetBrains Mono"/>
                  <a:cs typeface="JetBrains Mono"/>
                  <a:sym typeface="JetBrains Mono"/>
                </a:rPr>
                <a:t>POD LIFECYCLE PIPELINE EXAMPLE</a:t>
              </a:r>
              <a:endParaRPr b="1" i="0" spc="0" sz="1800" u="none" cap="none" strike="noStrike">
                <a:solidFill>
                  <a:srgbClr val="3928D9"/>
                </a:solidFill>
                <a:latin typeface="JetBrains Mono"/>
                <a:ea typeface="JetBrains Mono"/>
                <a:cs typeface="JetBrains Mono"/>
                <a:sym typeface="JetBrains Mono"/>
              </a:endParaRPr>
            </a:p>
          </p:txBody>
        </p:sp>
        <p:sp>
          <p:nvSpPr>
            <p:cNvPr id="194" name="Google Shape;194;p10"/>
            <p:cNvSpPr/>
            <p:nvPr/>
          </p:nvSpPr>
          <p:spPr>
            <a:xfrm>
              <a:off x="1057275" y="6915150"/>
              <a:ext cx="266700" cy="266700"/>
            </a:xfrm>
            <a:prstGeom prst="ellipse">
              <a:avLst/>
            </a:prstGeom>
            <a:solidFill>
              <a:srgbClr val="3928D9"/>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pc="0" sz="2000" u="none" cap="none" strike="noStrike">
                <a:solidFill>
                  <a:srgbClr val="000000"/>
                </a:solidFill>
                <a:latin typeface="Arial"/>
                <a:ea typeface="Arial"/>
                <a:cs typeface="Arial"/>
                <a:sym typeface="Arial"/>
              </a:endParaRPr>
            </a:p>
          </p:txBody>
        </p:sp>
        <p:sp>
          <p:nvSpPr>
            <p:cNvPr id="195" name="Google Shape;195;p10"/>
            <p:cNvSpPr txBox="1"/>
            <p:nvPr/>
          </p:nvSpPr>
          <p:spPr>
            <a:xfrm>
              <a:off x="1047750" y="7381875"/>
              <a:ext cx="2857500" cy="17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50"/>
                <a:buFont typeface="Arial"/>
                <a:buNone/>
              </a:pPr>
              <a:r>
                <a:rPr b="1" i="0" lang="en-US" spc="0" sz="1850" u="none" cap="none" strike="noStrike">
                  <a:solidFill>
                    <a:srgbClr val="3928D9"/>
                  </a:solidFill>
                  <a:latin typeface="JetBrains Mono"/>
                  <a:ea typeface="JetBrains Mono"/>
                  <a:cs typeface="JetBrains Mono"/>
                  <a:sym typeface="JetBrains Mono"/>
                </a:rPr>
                <a:t>PodScheduled</a:t>
              </a:r>
              <a:endParaRPr b="1" i="0" spc="0" sz="185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600"/>
                </a:spcBef>
                <a:spcAft>
                  <a:spcPts val="0"/>
                </a:spcAft>
                <a:buClr>
                  <a:srgbClr val="000000"/>
                </a:buClr>
                <a:buSzPts val="1750"/>
                <a:buFont typeface="Arial"/>
                <a:buNone/>
              </a:pPr>
              <a:r>
                <a:rPr b="0" i="0" lang="en-US" spc="0" sz="1750" u="none" cap="none" strike="noStrike">
                  <a:solidFill>
                    <a:srgbClr val="5A5E7A"/>
                  </a:solidFill>
                  <a:latin typeface="Manrope"/>
                  <a:ea typeface="Manrope"/>
                  <a:cs typeface="Manrope"/>
                  <a:sym typeface="Manrope"/>
                </a:rPr>
                <a:t>The scheduler assigned the Pod to a node.</a:t>
              </a:r>
              <a:endParaRPr b="0" i="0" spc="0" sz="1750" u="none" cap="none" strike="noStrike">
                <a:solidFill>
                  <a:srgbClr val="5A5E7A"/>
                </a:solidFill>
                <a:latin typeface="Manrope"/>
                <a:ea typeface="Manrope"/>
                <a:cs typeface="Manrope"/>
                <a:sym typeface="Manrope"/>
              </a:endParaRPr>
            </a:p>
          </p:txBody>
        </p:sp>
        <p:sp>
          <p:nvSpPr>
            <p:cNvPr id="196" name="Google Shape;196;p10"/>
            <p:cNvSpPr/>
            <p:nvPr/>
          </p:nvSpPr>
          <p:spPr>
            <a:xfrm>
              <a:off x="4486275" y="6915150"/>
              <a:ext cx="266700" cy="266700"/>
            </a:xfrm>
            <a:prstGeom prst="ellipse">
              <a:avLst/>
            </a:prstGeom>
            <a:solidFill>
              <a:srgbClr val="3928D9"/>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pc="0" sz="2000" u="none" cap="none" strike="noStrike">
                <a:solidFill>
                  <a:srgbClr val="000000"/>
                </a:solidFill>
                <a:latin typeface="Arial"/>
                <a:ea typeface="Arial"/>
                <a:cs typeface="Arial"/>
                <a:sym typeface="Arial"/>
              </a:endParaRPr>
            </a:p>
          </p:txBody>
        </p:sp>
        <p:sp>
          <p:nvSpPr>
            <p:cNvPr id="197" name="Google Shape;197;p10"/>
            <p:cNvSpPr txBox="1"/>
            <p:nvPr/>
          </p:nvSpPr>
          <p:spPr>
            <a:xfrm>
              <a:off x="4476750" y="7381875"/>
              <a:ext cx="2857500" cy="17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50"/>
                <a:buFont typeface="Arial"/>
                <a:buNone/>
              </a:pPr>
              <a:r>
                <a:rPr b="1" i="0" lang="en-US" spc="0" sz="1850" u="none" cap="none" strike="noStrike">
                  <a:solidFill>
                    <a:srgbClr val="3928D9"/>
                  </a:solidFill>
                  <a:latin typeface="JetBrains Mono"/>
                  <a:ea typeface="JetBrains Mono"/>
                  <a:cs typeface="JetBrains Mono"/>
                  <a:sym typeface="JetBrains Mono"/>
                </a:rPr>
                <a:t>ReadyToStart...</a:t>
              </a:r>
              <a:endParaRPr b="1" i="0" spc="0" sz="185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600"/>
                </a:spcBef>
                <a:spcAft>
                  <a:spcPts val="0"/>
                </a:spcAft>
                <a:buClr>
                  <a:srgbClr val="000000"/>
                </a:buClr>
                <a:buSzPts val="1750"/>
                <a:buFont typeface="Arial"/>
                <a:buNone/>
              </a:pPr>
              <a:r>
                <a:rPr b="0" i="0" lang="en-US" spc="0" sz="1750" u="none" cap="none" strike="noStrike">
                  <a:solidFill>
                    <a:srgbClr val="5A5E7A"/>
                  </a:solidFill>
                  <a:latin typeface="Manrope"/>
                  <a:ea typeface="Manrope"/>
                  <a:cs typeface="Manrope"/>
                  <a:sym typeface="Manrope"/>
                </a:rPr>
                <a:t>The Pod sandbox and networking are configured.</a:t>
              </a:r>
              <a:endParaRPr b="0" i="0" spc="0" sz="1750" u="none" cap="none" strike="noStrike">
                <a:solidFill>
                  <a:srgbClr val="5A5E7A"/>
                </a:solidFill>
                <a:latin typeface="Manrope"/>
                <a:ea typeface="Manrope"/>
                <a:cs typeface="Manrope"/>
                <a:sym typeface="Manrope"/>
              </a:endParaRPr>
            </a:p>
          </p:txBody>
        </p:sp>
        <p:sp>
          <p:nvSpPr>
            <p:cNvPr id="198" name="Google Shape;198;p10"/>
            <p:cNvSpPr/>
            <p:nvPr/>
          </p:nvSpPr>
          <p:spPr>
            <a:xfrm>
              <a:off x="7915275" y="6915150"/>
              <a:ext cx="266700" cy="266700"/>
            </a:xfrm>
            <a:prstGeom prst="ellipse">
              <a:avLst/>
            </a:prstGeom>
            <a:solidFill>
              <a:srgbClr val="3928D9"/>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pc="0" sz="2000" u="none" cap="none" strike="noStrike">
                <a:solidFill>
                  <a:srgbClr val="000000"/>
                </a:solidFill>
                <a:latin typeface="Arial"/>
                <a:ea typeface="Arial"/>
                <a:cs typeface="Arial"/>
                <a:sym typeface="Arial"/>
              </a:endParaRPr>
            </a:p>
          </p:txBody>
        </p:sp>
        <p:sp>
          <p:nvSpPr>
            <p:cNvPr id="199" name="Google Shape;199;p10"/>
            <p:cNvSpPr txBox="1"/>
            <p:nvPr/>
          </p:nvSpPr>
          <p:spPr>
            <a:xfrm>
              <a:off x="7905750" y="7381875"/>
              <a:ext cx="2857500" cy="17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50"/>
                <a:buFont typeface="Arial"/>
                <a:buNone/>
              </a:pPr>
              <a:r>
                <a:rPr b="1" i="0" lang="en-US" spc="0" sz="1850" u="none" cap="none" strike="noStrike">
                  <a:solidFill>
                    <a:srgbClr val="3928D9"/>
                  </a:solidFill>
                  <a:latin typeface="JetBrains Mono"/>
                  <a:ea typeface="JetBrains Mono"/>
                  <a:cs typeface="JetBrains Mono"/>
                  <a:sym typeface="JetBrains Mono"/>
                </a:rPr>
                <a:t>Initialized</a:t>
              </a:r>
              <a:endParaRPr b="1" i="0" spc="0" sz="185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600"/>
                </a:spcBef>
                <a:spcAft>
                  <a:spcPts val="0"/>
                </a:spcAft>
                <a:buClr>
                  <a:srgbClr val="000000"/>
                </a:buClr>
                <a:buSzPts val="1750"/>
                <a:buFont typeface="Arial"/>
                <a:buNone/>
              </a:pPr>
              <a:r>
                <a:rPr b="0" i="0" lang="en-US" spc="0" sz="1750" u="none" cap="none" strike="noStrike">
                  <a:solidFill>
                    <a:srgbClr val="5A5E7A"/>
                  </a:solidFill>
                  <a:latin typeface="Manrope"/>
                  <a:ea typeface="Manrope"/>
                  <a:cs typeface="Manrope"/>
                  <a:sym typeface="Manrope"/>
                </a:rPr>
                <a:t>Init containers completed successfully.</a:t>
              </a:r>
              <a:endParaRPr b="0" i="0" spc="0" sz="1750" u="none" cap="none" strike="noStrike">
                <a:solidFill>
                  <a:srgbClr val="5A5E7A"/>
                </a:solidFill>
                <a:latin typeface="Manrope"/>
                <a:ea typeface="Manrope"/>
                <a:cs typeface="Manrope"/>
                <a:sym typeface="Manrope"/>
              </a:endParaRPr>
            </a:p>
          </p:txBody>
        </p:sp>
        <p:sp>
          <p:nvSpPr>
            <p:cNvPr id="200" name="Google Shape;200;p10"/>
            <p:cNvSpPr/>
            <p:nvPr/>
          </p:nvSpPr>
          <p:spPr>
            <a:xfrm>
              <a:off x="11344275" y="6915150"/>
              <a:ext cx="266700" cy="266700"/>
            </a:xfrm>
            <a:prstGeom prst="ellipse">
              <a:avLst/>
            </a:prstGeom>
            <a:solidFill>
              <a:srgbClr val="3928D9"/>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pc="0" sz="2000" u="none" cap="none" strike="noStrike">
                <a:solidFill>
                  <a:srgbClr val="000000"/>
                </a:solidFill>
                <a:latin typeface="Arial"/>
                <a:ea typeface="Arial"/>
                <a:cs typeface="Arial"/>
                <a:sym typeface="Arial"/>
              </a:endParaRPr>
            </a:p>
          </p:txBody>
        </p:sp>
        <p:sp>
          <p:nvSpPr>
            <p:cNvPr id="201" name="Google Shape;201;p10"/>
            <p:cNvSpPr txBox="1"/>
            <p:nvPr/>
          </p:nvSpPr>
          <p:spPr>
            <a:xfrm>
              <a:off x="11334750" y="7381875"/>
              <a:ext cx="2857500" cy="17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50"/>
                <a:buFont typeface="Arial"/>
                <a:buNone/>
              </a:pPr>
              <a:r>
                <a:rPr b="1" i="0" lang="en-US" spc="0" sz="1850" u="none" cap="none" strike="noStrike">
                  <a:solidFill>
                    <a:srgbClr val="3928D9"/>
                  </a:solidFill>
                  <a:latin typeface="JetBrains Mono"/>
                  <a:ea typeface="JetBrains Mono"/>
                  <a:cs typeface="JetBrains Mono"/>
                  <a:sym typeface="JetBrains Mono"/>
                </a:rPr>
                <a:t>ContainersReady</a:t>
              </a:r>
              <a:endParaRPr b="1" i="0" spc="0" sz="185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600"/>
                </a:spcBef>
                <a:spcAft>
                  <a:spcPts val="0"/>
                </a:spcAft>
                <a:buClr>
                  <a:srgbClr val="000000"/>
                </a:buClr>
                <a:buSzPts val="1750"/>
                <a:buFont typeface="Arial"/>
                <a:buNone/>
              </a:pPr>
              <a:r>
                <a:rPr b="0" i="0" lang="en-US" spc="0" sz="1750" u="none" cap="none" strike="noStrike">
                  <a:solidFill>
                    <a:srgbClr val="5A5E7A"/>
                  </a:solidFill>
                  <a:latin typeface="Manrope"/>
                  <a:ea typeface="Manrope"/>
                  <a:cs typeface="Manrope"/>
                  <a:sym typeface="Manrope"/>
                </a:rPr>
                <a:t>All workload containers report ready.</a:t>
              </a:r>
              <a:endParaRPr b="0" i="0" spc="0" sz="1750" u="none" cap="none" strike="noStrike">
                <a:solidFill>
                  <a:srgbClr val="5A5E7A"/>
                </a:solidFill>
                <a:latin typeface="Manrope"/>
                <a:ea typeface="Manrope"/>
                <a:cs typeface="Manrope"/>
                <a:sym typeface="Manrope"/>
              </a:endParaRPr>
            </a:p>
          </p:txBody>
        </p:sp>
        <p:sp>
          <p:nvSpPr>
            <p:cNvPr id="202" name="Google Shape;202;p10"/>
            <p:cNvSpPr/>
            <p:nvPr/>
          </p:nvSpPr>
          <p:spPr>
            <a:xfrm>
              <a:off x="14773275" y="6915150"/>
              <a:ext cx="266700" cy="266700"/>
            </a:xfrm>
            <a:prstGeom prst="ellipse">
              <a:avLst/>
            </a:prstGeom>
            <a:solidFill>
              <a:srgbClr val="3928D9"/>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pc="0" sz="2000" u="none" cap="none" strike="noStrike">
                <a:solidFill>
                  <a:srgbClr val="000000"/>
                </a:solidFill>
                <a:latin typeface="Arial"/>
                <a:ea typeface="Arial"/>
                <a:cs typeface="Arial"/>
                <a:sym typeface="Arial"/>
              </a:endParaRPr>
            </a:p>
          </p:txBody>
        </p:sp>
        <p:sp>
          <p:nvSpPr>
            <p:cNvPr id="203" name="Google Shape;203;p10"/>
            <p:cNvSpPr txBox="1"/>
            <p:nvPr/>
          </p:nvSpPr>
          <p:spPr>
            <a:xfrm>
              <a:off x="14763750" y="7381875"/>
              <a:ext cx="2857500" cy="17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50"/>
                <a:buFont typeface="Arial"/>
                <a:buNone/>
              </a:pPr>
              <a:r>
                <a:rPr b="1" i="0" lang="en-US" spc="0" sz="1850" u="none" cap="none" strike="noStrike">
                  <a:solidFill>
                    <a:srgbClr val="3928D9"/>
                  </a:solidFill>
                  <a:latin typeface="JetBrains Mono"/>
                  <a:ea typeface="JetBrains Mono"/>
                  <a:cs typeface="JetBrains Mono"/>
                  <a:sym typeface="JetBrains Mono"/>
                </a:rPr>
                <a:t>Ready</a:t>
              </a:r>
              <a:endParaRPr b="1" i="0" spc="0" sz="1850" u="none" cap="none" strike="noStrike">
                <a:solidFill>
                  <a:srgbClr val="3928D9"/>
                </a:solidFill>
                <a:latin typeface="JetBrains Mono"/>
                <a:ea typeface="JetBrains Mono"/>
                <a:cs typeface="JetBrains Mono"/>
                <a:sym typeface="JetBrains Mono"/>
              </a:endParaRPr>
            </a:p>
            <a:p>
              <a:pPr indent="0" lvl="0" marL="0" marR="0" rtl="0" algn="l">
                <a:lnSpc>
                  <a:spcPct val="100000"/>
                </a:lnSpc>
                <a:spcBef>
                  <a:spcPts val="600"/>
                </a:spcBef>
                <a:spcAft>
                  <a:spcPts val="0"/>
                </a:spcAft>
                <a:buClr>
                  <a:srgbClr val="000000"/>
                </a:buClr>
                <a:buSzPts val="1750"/>
                <a:buFont typeface="Arial"/>
                <a:buNone/>
              </a:pPr>
              <a:r>
                <a:rPr b="0" i="0" lang="en-US" spc="0" sz="1750" u="none" cap="none" strike="noStrike">
                  <a:solidFill>
                    <a:srgbClr val="5A5E7A"/>
                  </a:solidFill>
                  <a:latin typeface="Manrope"/>
                  <a:ea typeface="Manrope"/>
                  <a:cs typeface="Manrope"/>
                  <a:sym typeface="Manrope"/>
                </a:rPr>
                <a:t>The Pod can serve traffic and join matching load-balancer pools.</a:t>
              </a:r>
              <a:endParaRPr b="0" i="0" spc="0" sz="1750" u="none" cap="none" strike="noStrike">
                <a:solidFill>
                  <a:srgbClr val="5A5E7A"/>
                </a:solidFill>
                <a:latin typeface="Manrope"/>
                <a:ea typeface="Manrope"/>
                <a:cs typeface="Manrope"/>
                <a:sym typeface="Manrope"/>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2A"/>
        </a:solidFill>
      </p:bgPr>
    </p:bg>
    <p:spTree>
      <p:nvGrpSpPr>
        <p:cNvPr id="208" name="Shape 208"/>
        <p:cNvGrpSpPr/>
        <p:nvPr/>
      </p:nvGrpSpPr>
      <p:grpSpPr>
        <a:xfrm>
          <a:off x="0" y="0"/>
          <a:ext cx="0" cy="0"/>
          <a:chOff x="0" y="0"/>
          <a:chExt cx="0" cy="0"/>
        </a:xfrm>
      </p:grpSpPr>
      <p:sp>
        <p:nvSpPr>
          <p:cNvPr id="209" name="Google Shape;209;p11"/>
          <p:cNvSpPr/>
          <p:nvPr/>
        </p:nvSpPr>
        <p:spPr>
          <a:xfrm>
            <a:off x="1047750" y="1423988"/>
            <a:ext cx="13620900" cy="926400"/>
          </a:xfrm>
          <a:prstGeom prst="rect">
            <a:avLst/>
          </a:prstGeom>
          <a:noFill/>
          <a:ln>
            <a:noFill/>
          </a:ln>
        </p:spPr>
        <p:txBody>
          <a:bodyPr anchorCtr="0" anchor="t" bIns="25400" lIns="25400" spcFirstLastPara="1" rIns="25400" wrap="square" tIns="25400">
            <a:noAutofit/>
          </a:bodyPr>
          <a:lstStyle/>
          <a:p>
            <a:pPr indent="0" lvl="0" marL="0" marR="0" rtl="0" algn="l">
              <a:lnSpc>
                <a:spcPct val="77411"/>
              </a:lnSpc>
              <a:spcBef>
                <a:spcPts val="0"/>
              </a:spcBef>
              <a:spcAft>
                <a:spcPts val="0"/>
              </a:spcAft>
              <a:buClr>
                <a:srgbClr val="FFFFFF"/>
              </a:buClr>
              <a:buSzPts val="6600"/>
              <a:buFont typeface="Manrope"/>
              <a:buNone/>
            </a:pPr>
            <a:r>
              <a:rPr b="1" i="0" lang="en-US" spc="0" sz="6600" u="none" cap="none" strike="noStrike">
                <a:solidFill>
                  <a:srgbClr val="FFFFFF"/>
                </a:solidFill>
                <a:latin typeface="Manrope"/>
                <a:ea typeface="Manrope"/>
                <a:cs typeface="Manrope"/>
                <a:sym typeface="Manrope"/>
              </a:rPr>
              <a:t>Pprof : Performance profiling </a:t>
            </a:r>
            <a:endParaRPr b="1" i="0" spc="0" sz="6600" u="none" cap="none" strike="noStrike">
              <a:solidFill>
                <a:srgbClr val="FFFFFF"/>
              </a:solidFill>
              <a:latin typeface="Manrope"/>
              <a:ea typeface="Manrope"/>
              <a:cs typeface="Manrope"/>
              <a:sym typeface="Manrope"/>
            </a:endParaRPr>
          </a:p>
          <a:p>
            <a:pPr indent="0" lvl="0" marL="0" marR="0" rtl="0" algn="l">
              <a:lnSpc>
                <a:spcPct val="77411"/>
              </a:lnSpc>
              <a:spcBef>
                <a:spcPts val="0"/>
              </a:spcBef>
              <a:spcAft>
                <a:spcPts val="0"/>
              </a:spcAft>
              <a:buClr>
                <a:srgbClr val="FFFFFF"/>
              </a:buClr>
              <a:buSzPts val="6600"/>
              <a:buFont typeface="Manrope"/>
              <a:buNone/>
            </a:pPr>
            <a:r>
              <a:t/>
            </a:r>
            <a:endParaRPr b="1" i="0" spc="0" sz="6600" u="none" cap="none" strike="noStrike">
              <a:solidFill>
                <a:srgbClr val="FFFFFF"/>
              </a:solidFill>
              <a:latin typeface="Manrope"/>
              <a:ea typeface="Manrope"/>
              <a:cs typeface="Manrope"/>
              <a:sym typeface="Manrope"/>
            </a:endParaRPr>
          </a:p>
        </p:txBody>
      </p:sp>
      <p:sp>
        <p:nvSpPr>
          <p:cNvPr id="210" name="Google Shape;210;p11"/>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SECTION 03</a:t>
            </a:r>
            <a:endParaRPr b="0" i="0" spc="0" sz="1800" u="none" cap="none" strike="noStrike">
              <a:solidFill>
                <a:schemeClr val="dk1"/>
              </a:solidFill>
              <a:latin typeface="Calibri"/>
              <a:ea typeface="Calibri"/>
              <a:cs typeface="Calibri"/>
              <a:sym typeface="Calibri"/>
            </a:endParaRPr>
          </a:p>
        </p:txBody>
      </p:sp>
      <p:sp>
        <p:nvSpPr>
          <p:cNvPr id="211" name="Google Shape;211;p11"/>
          <p:cNvSpPr/>
          <p:nvPr/>
        </p:nvSpPr>
        <p:spPr>
          <a:xfrm>
            <a:off x="1047750" y="2731517"/>
            <a:ext cx="1714500" cy="76200"/>
          </a:xfrm>
          <a:prstGeom prst="rect">
            <a:avLst/>
          </a:prstGeom>
          <a:solidFill>
            <a:srgbClr val="3928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216" name="Shape 216"/>
        <p:cNvGrpSpPr/>
        <p:nvPr/>
      </p:nvGrpSpPr>
      <p:grpSpPr>
        <a:xfrm>
          <a:off x="0" y="0"/>
          <a:ext cx="0" cy="0"/>
          <a:chOff x="0" y="0"/>
          <a:chExt cx="0" cy="0"/>
        </a:xfrm>
      </p:grpSpPr>
      <p:sp>
        <p:nvSpPr>
          <p:cNvPr id="217" name="Google Shape;217;p12"/>
          <p:cNvSpPr txBox="1"/>
          <p:nvPr/>
        </p:nvSpPr>
        <p:spPr>
          <a:xfrm>
            <a:off x="1119750" y="2736450"/>
            <a:ext cx="14033400" cy="535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1. Selects target Pods using </a:t>
            </a:r>
            <a:r>
              <a:rPr b="1" i="0" lang="en-US" spc="0" sz="2800" u="none" cap="none" strike="noStrike">
                <a:solidFill>
                  <a:srgbClr val="666666"/>
                </a:solidFill>
                <a:latin typeface="Arial"/>
                <a:ea typeface="Arial"/>
                <a:cs typeface="Arial"/>
                <a:sym typeface="Arial"/>
              </a:rPr>
              <a:t>namespace</a:t>
            </a:r>
            <a:r>
              <a:rPr b="0" i="0" lang="en-US" spc="0" sz="2800" u="none" cap="none" strike="noStrike">
                <a:solidFill>
                  <a:srgbClr val="666666"/>
                </a:solidFill>
                <a:latin typeface="Arial"/>
                <a:ea typeface="Arial"/>
                <a:cs typeface="Arial"/>
                <a:sym typeface="Arial"/>
              </a:rPr>
              <a:t> and </a:t>
            </a:r>
            <a:r>
              <a:rPr b="1" i="0" lang="en-US" spc="0" sz="2800" u="none" cap="none" strike="noStrike">
                <a:solidFill>
                  <a:srgbClr val="666666"/>
                </a:solidFill>
                <a:latin typeface="Arial"/>
                <a:ea typeface="Arial"/>
                <a:cs typeface="Arial"/>
                <a:sym typeface="Arial"/>
              </a:rPr>
              <a:t>labelSelector</a:t>
            </a:r>
            <a:r>
              <a:rPr b="0" i="0" lang="en-US" spc="0" sz="2800" u="none" cap="none" strike="noStrike">
                <a:solidFill>
                  <a:srgbClr val="666666"/>
                </a:solidFill>
                <a:latin typeface="Arial"/>
                <a:ea typeface="Arial"/>
                <a:cs typeface="Arial"/>
                <a:sym typeface="Arial"/>
              </a:rPr>
              <a:t>.</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2. Connects using an implementation similar to </a:t>
            </a:r>
            <a:r>
              <a:rPr b="1" i="0" lang="en-US" spc="0" sz="2800" u="none" cap="none" strike="noStrike">
                <a:solidFill>
                  <a:srgbClr val="666666"/>
                </a:solidFill>
                <a:latin typeface="Arial"/>
                <a:ea typeface="Arial"/>
                <a:cs typeface="Arial"/>
                <a:sym typeface="Arial"/>
              </a:rPr>
              <a:t>kubectl exec</a:t>
            </a:r>
            <a:r>
              <a:rPr b="0" i="0" lang="en-US" spc="0" sz="2800" u="none" cap="none" strike="noStrike">
                <a:solidFill>
                  <a:srgbClr val="666666"/>
                </a:solidFill>
                <a:latin typeface="Arial"/>
                <a:ea typeface="Arial"/>
                <a:cs typeface="Arial"/>
                <a:sym typeface="Arial"/>
              </a:rPr>
              <a:t>.</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3. Runs </a:t>
            </a:r>
            <a:r>
              <a:rPr b="1" i="0" lang="en-US" spc="0" sz="2800" u="none" cap="none" strike="noStrike">
                <a:solidFill>
                  <a:srgbClr val="666666"/>
                </a:solidFill>
                <a:latin typeface="Arial"/>
                <a:ea typeface="Arial"/>
                <a:cs typeface="Arial"/>
                <a:sym typeface="Arial"/>
              </a:rPr>
              <a:t>curl &lt;pprofURL&gt;</a:t>
            </a:r>
            <a:r>
              <a:rPr b="0" i="0" lang="en-US" spc="0" sz="2800" u="none" cap="none" strike="noStrike">
                <a:solidFill>
                  <a:srgbClr val="666666"/>
                </a:solidFill>
                <a:latin typeface="Arial"/>
                <a:ea typeface="Arial"/>
                <a:cs typeface="Arial"/>
                <a:sym typeface="Arial"/>
              </a:rPr>
              <a:t> inside the selected Pod.</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4. Downloads each resulting profile to </a:t>
            </a:r>
            <a:r>
              <a:rPr b="1" i="0" lang="en-US" spc="0" sz="2800" u="none" cap="none" strike="noStrike">
                <a:solidFill>
                  <a:srgbClr val="666666"/>
                </a:solidFill>
                <a:latin typeface="Arial"/>
                <a:ea typeface="Arial"/>
                <a:cs typeface="Arial"/>
                <a:sym typeface="Arial"/>
              </a:rPr>
              <a:t>pprofDirectory</a:t>
            </a:r>
            <a:r>
              <a:rPr b="0" i="0" lang="en-US" spc="0" sz="2800" u="none" cap="none" strike="noStrike">
                <a:solidFill>
                  <a:srgbClr val="666666"/>
                </a:solidFill>
                <a:latin typeface="Arial"/>
                <a:ea typeface="Arial"/>
                <a:cs typeface="Arial"/>
                <a:sym typeface="Arial"/>
              </a:rPr>
              <a:t>.</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000000"/>
                </a:solidFill>
                <a:latin typeface="Arial"/>
                <a:ea typeface="Arial"/>
                <a:cs typeface="Arial"/>
                <a:sym typeface="Arial"/>
              </a:rPr>
              <a:t>Profiles are collected automatically when the measurement starts and stops. Set `pprofInterval` to collect additional profiles periodically during a long-running job.</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FF0000"/>
                </a:solidFill>
                <a:latin typeface="Arial"/>
                <a:ea typeface="Arial"/>
                <a:cs typeface="Arial"/>
                <a:sym typeface="Arial"/>
              </a:rPr>
              <a:t>Requirement:</a:t>
            </a:r>
            <a:r>
              <a:rPr b="0" i="0" lang="en-US" spc="0" sz="2800" u="none" cap="none" strike="noStrike">
                <a:solidFill>
                  <a:srgbClr val="000000"/>
                </a:solidFill>
                <a:latin typeface="Arial"/>
                <a:ea typeface="Arial"/>
                <a:cs typeface="Arial"/>
                <a:sym typeface="Arial"/>
              </a:rPr>
              <a:t> </a:t>
            </a:r>
            <a:r>
              <a:rPr b="1" i="0" lang="en-US" spc="0" sz="2800" u="none" cap="none" strike="noStrike">
                <a:solidFill>
                  <a:srgbClr val="000000"/>
                </a:solidFill>
                <a:latin typeface="Arial"/>
                <a:ea typeface="Arial"/>
                <a:cs typeface="Arial"/>
                <a:sym typeface="Arial"/>
              </a:rPr>
              <a:t>curl</a:t>
            </a:r>
            <a:r>
              <a:rPr b="0" i="0" lang="en-US" spc="0" sz="2800" u="none" cap="none" strike="noStrike">
                <a:solidFill>
                  <a:srgbClr val="000000"/>
                </a:solidFill>
                <a:latin typeface="Arial"/>
                <a:ea typeface="Arial"/>
                <a:cs typeface="Arial"/>
                <a:sym typeface="Arial"/>
              </a:rPr>
              <a:t> must exist inside the selected target Pod. Distroless images may require a separate curl-capable helper Pod that can reach the profiling endpoint.</a:t>
            </a:r>
            <a:endParaRPr b="0" i="0" spc="0" sz="2800" u="none" cap="none" strike="noStrike">
              <a:solidFill>
                <a:srgbClr val="000000"/>
              </a:solidFill>
              <a:latin typeface="Arial"/>
              <a:ea typeface="Arial"/>
              <a:cs typeface="Arial"/>
              <a:sym typeface="Arial"/>
            </a:endParaRPr>
          </a:p>
        </p:txBody>
      </p:sp>
      <p:sp>
        <p:nvSpPr>
          <p:cNvPr id="218" name="Google Shape;218;p12"/>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928D9"/>
              </a:buClr>
              <a:buSzPts val="1800"/>
              <a:buFont typeface="JetBrains Mono"/>
              <a:buNone/>
            </a:pPr>
            <a:r>
              <a:rPr b="0" i="0" lang="en-US" spc="0" sz="1800" u="none" cap="none" strike="noStrike">
                <a:solidFill>
                  <a:srgbClr val="3928D9"/>
                </a:solidFill>
                <a:latin typeface="JetBrains Mono"/>
                <a:ea typeface="JetBrains Mono"/>
                <a:cs typeface="JetBrains Mono"/>
                <a:sym typeface="JetBrains Mono"/>
              </a:rPr>
              <a:t>POD PROFILING</a:t>
            </a:r>
            <a:endParaRPr b="0" i="0" spc="0" sz="1800" u="none" cap="none" strike="noStrike">
              <a:solidFill>
                <a:schemeClr val="dk1"/>
              </a:solidFill>
              <a:latin typeface="Calibri"/>
              <a:ea typeface="Calibri"/>
              <a:cs typeface="Calibri"/>
              <a:sym typeface="Calibri"/>
            </a:endParaRPr>
          </a:p>
        </p:txBody>
      </p:sp>
      <p:sp>
        <p:nvSpPr>
          <p:cNvPr id="219" name="Google Shape;219;p12"/>
          <p:cNvSpPr/>
          <p:nvPr/>
        </p:nvSpPr>
        <p:spPr>
          <a:xfrm>
            <a:off x="1047750" y="1385888"/>
            <a:ext cx="17811900" cy="866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2132A"/>
              </a:buClr>
              <a:buSzPts val="4800"/>
              <a:buFont typeface="Manrope"/>
              <a:buNone/>
            </a:pPr>
            <a:r>
              <a:rPr b="1" i="0" lang="en-US" spc="0" sz="4800" u="none" cap="none" strike="noStrike">
                <a:solidFill>
                  <a:srgbClr val="12132A"/>
                </a:solidFill>
                <a:latin typeface="Manrope"/>
                <a:ea typeface="Manrope"/>
                <a:cs typeface="Manrope"/>
                <a:sym typeface="Manrope"/>
              </a:rPr>
              <a:t>Profiling Go processes running in Pods</a:t>
            </a:r>
            <a:endParaRPr b="0" i="0" spc="0" sz="4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224" name="Shape 224"/>
        <p:cNvGrpSpPr/>
        <p:nvPr/>
      </p:nvGrpSpPr>
      <p:grpSpPr>
        <a:xfrm>
          <a:off x="0" y="0"/>
          <a:ext cx="0" cy="0"/>
          <a:chOff x="0" y="0"/>
          <a:chExt cx="0" cy="0"/>
        </a:xfrm>
      </p:grpSpPr>
      <p:sp>
        <p:nvSpPr>
          <p:cNvPr id="225" name="Google Shape;225;p13"/>
          <p:cNvSpPr txBox="1"/>
          <p:nvPr/>
        </p:nvSpPr>
        <p:spPr>
          <a:xfrm>
            <a:off x="1119750" y="2736450"/>
            <a:ext cx="14033400" cy="406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000000"/>
                </a:solidFill>
                <a:latin typeface="Arial"/>
                <a:ea typeface="Arial"/>
                <a:cs typeface="Arial"/>
                <a:sym typeface="Arial"/>
              </a:rPr>
              <a:t>Node profiling collects Go profiles from processes such as </a:t>
            </a:r>
            <a:r>
              <a:rPr b="1" i="0" lang="en-US" spc="0" sz="2800" u="none" cap="none" strike="noStrike">
                <a:solidFill>
                  <a:srgbClr val="000000"/>
                </a:solidFill>
                <a:latin typeface="Arial"/>
                <a:ea typeface="Arial"/>
                <a:cs typeface="Arial"/>
                <a:sym typeface="Arial"/>
              </a:rPr>
              <a:t>kubelet</a:t>
            </a:r>
            <a:r>
              <a:rPr b="0" i="0" lang="en-US" spc="0" sz="2800" u="none" cap="none" strike="noStrike">
                <a:solidFill>
                  <a:srgbClr val="000000"/>
                </a:solidFill>
                <a:latin typeface="Arial"/>
                <a:ea typeface="Arial"/>
                <a:cs typeface="Arial"/>
                <a:sym typeface="Arial"/>
              </a:rPr>
              <a:t> and </a:t>
            </a:r>
            <a:r>
              <a:rPr b="1" i="0" lang="en-US" spc="0" sz="2800" u="none" cap="none" strike="noStrike">
                <a:solidFill>
                  <a:srgbClr val="000000"/>
                </a:solidFill>
                <a:latin typeface="Arial"/>
                <a:ea typeface="Arial"/>
                <a:cs typeface="Arial"/>
                <a:sym typeface="Arial"/>
              </a:rPr>
              <a:t>CRI-O</a:t>
            </a:r>
            <a:r>
              <a:rPr b="0" i="0" lang="en-US" spc="0" sz="2800" u="none" cap="none" strike="noStrike">
                <a:solidFill>
                  <a:srgbClr val="000000"/>
                </a:solidFill>
                <a:latin typeface="Arial"/>
                <a:ea typeface="Arial"/>
                <a:cs typeface="Arial"/>
                <a:sym typeface="Arial"/>
              </a:rPr>
              <a:t>.</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000000"/>
                </a:solidFill>
                <a:latin typeface="Arial"/>
                <a:ea typeface="Arial"/>
                <a:cs typeface="Arial"/>
                <a:sym typeface="Arial"/>
              </a:rPr>
              <a:t>When </a:t>
            </a:r>
            <a:r>
              <a:rPr b="1" i="0" lang="en-US" spc="0" sz="2800" u="none" cap="none" strike="noStrike">
                <a:solidFill>
                  <a:srgbClr val="000000"/>
                </a:solidFill>
                <a:latin typeface="Arial"/>
                <a:ea typeface="Arial"/>
                <a:cs typeface="Arial"/>
                <a:sym typeface="Arial"/>
              </a:rPr>
              <a:t>nodeAffinity</a:t>
            </a:r>
            <a:r>
              <a:rPr b="0" i="0" lang="en-US" spc="0" sz="2800" u="none" cap="none" strike="noStrike">
                <a:solidFill>
                  <a:srgbClr val="000000"/>
                </a:solidFill>
                <a:latin typeface="Arial"/>
                <a:ea typeface="Arial"/>
                <a:cs typeface="Arial"/>
                <a:sym typeface="Arial"/>
              </a:rPr>
              <a:t> is configured, kube-burner:</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pc="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1. Creates a helper DaemonSet on matching nodes.</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2. Mounts the required host paths.</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3. Creates the required service account, ClusterRole, and ClusterRoleBinding.</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4. Reaches node-local processes through HTTPS endpoints or Unix sockets.</a:t>
            </a:r>
            <a:endParaRPr b="0" i="0" spc="0" sz="2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pc="0" sz="2800" u="none" cap="none" strike="noStrike">
                <a:solidFill>
                  <a:srgbClr val="666666"/>
                </a:solidFill>
                <a:latin typeface="Arial"/>
                <a:ea typeface="Arial"/>
                <a:cs typeface="Arial"/>
                <a:sym typeface="Arial"/>
              </a:rPr>
              <a:t>5. Copies the generated profiles into the configured local `pprofDirectory`.</a:t>
            </a:r>
            <a:endParaRPr b="0" i="0" spc="0" sz="2800" u="none" cap="none" strike="noStrike">
              <a:solidFill>
                <a:srgbClr val="666666"/>
              </a:solidFill>
              <a:latin typeface="Arial"/>
              <a:ea typeface="Arial"/>
              <a:cs typeface="Arial"/>
              <a:sym typeface="Arial"/>
            </a:endParaRPr>
          </a:p>
        </p:txBody>
      </p:sp>
      <p:sp>
        <p:nvSpPr>
          <p:cNvPr id="226" name="Google Shape;226;p13"/>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928D9"/>
              </a:buClr>
              <a:buSzPts val="1800"/>
              <a:buFont typeface="JetBrains Mono"/>
              <a:buNone/>
            </a:pPr>
            <a:r>
              <a:rPr b="0" i="0" lang="en-US" spc="0" sz="1800" u="none" cap="none" strike="noStrike">
                <a:solidFill>
                  <a:srgbClr val="3928D9"/>
                </a:solidFill>
                <a:latin typeface="JetBrains Mono"/>
                <a:ea typeface="JetBrains Mono"/>
                <a:cs typeface="JetBrains Mono"/>
                <a:sym typeface="JetBrains Mono"/>
              </a:rPr>
              <a:t>NODE PROFILING</a:t>
            </a:r>
            <a:endParaRPr b="0" i="0" spc="0" sz="1800" u="none" cap="none" strike="noStrike">
              <a:solidFill>
                <a:schemeClr val="dk1"/>
              </a:solidFill>
              <a:latin typeface="Calibri"/>
              <a:ea typeface="Calibri"/>
              <a:cs typeface="Calibri"/>
              <a:sym typeface="Calibri"/>
            </a:endParaRPr>
          </a:p>
        </p:txBody>
      </p:sp>
      <p:sp>
        <p:nvSpPr>
          <p:cNvPr id="227" name="Google Shape;227;p13"/>
          <p:cNvSpPr/>
          <p:nvPr/>
        </p:nvSpPr>
        <p:spPr>
          <a:xfrm>
            <a:off x="1047750" y="1385888"/>
            <a:ext cx="17811900" cy="866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2132A"/>
              </a:buClr>
              <a:buSzPts val="4800"/>
              <a:buFont typeface="Manrope"/>
              <a:buNone/>
            </a:pPr>
            <a:r>
              <a:rPr b="1" i="0" lang="en-US" spc="0" sz="4800" u="none" cap="none" strike="noStrike">
                <a:solidFill>
                  <a:srgbClr val="12132A"/>
                </a:solidFill>
                <a:latin typeface="Manrope"/>
                <a:ea typeface="Manrope"/>
                <a:cs typeface="Manrope"/>
                <a:sym typeface="Manrope"/>
              </a:rPr>
              <a:t>Node pprof collection</a:t>
            </a:r>
            <a:endParaRPr b="0" i="0" spc="0" sz="4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232" name="Shape 232"/>
        <p:cNvGrpSpPr/>
        <p:nvPr/>
      </p:nvGrpSpPr>
      <p:grpSpPr>
        <a:xfrm>
          <a:off x="0" y="0"/>
          <a:ext cx="0" cy="0"/>
          <a:chOff x="0" y="0"/>
          <a:chExt cx="0" cy="0"/>
        </a:xfrm>
      </p:grpSpPr>
      <p:sp>
        <p:nvSpPr>
          <p:cNvPr id="233" name="Google Shape;233;p14"/>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928D9"/>
              </a:buClr>
              <a:buSzPts val="1800"/>
              <a:buFont typeface="JetBrains Mono"/>
              <a:buNone/>
            </a:pPr>
            <a:r>
              <a:rPr b="0" i="0" lang="en-US" spc="0" sz="1800" u="none" cap="none" strike="noStrike">
                <a:solidFill>
                  <a:srgbClr val="3928D9"/>
                </a:solidFill>
                <a:latin typeface="JetBrains Mono"/>
                <a:ea typeface="JetBrains Mono"/>
                <a:cs typeface="JetBrains Mono"/>
                <a:sym typeface="JetBrains Mono"/>
              </a:rPr>
              <a:t>NODE PROFILING</a:t>
            </a:r>
            <a:endParaRPr b="0" i="0" spc="0" sz="1800" u="none" cap="none" strike="noStrike">
              <a:solidFill>
                <a:schemeClr val="dk1"/>
              </a:solidFill>
              <a:latin typeface="Calibri"/>
              <a:ea typeface="Calibri"/>
              <a:cs typeface="Calibri"/>
              <a:sym typeface="Calibri"/>
            </a:endParaRPr>
          </a:p>
        </p:txBody>
      </p:sp>
      <p:pic>
        <p:nvPicPr>
          <p:cNvPr id="234" name="Google Shape;234;p14"/>
          <p:cNvPicPr preferRelativeResize="0"/>
          <p:nvPr/>
        </p:nvPicPr>
        <p:blipFill rotWithShape="1">
          <a:blip r:embed="rId3">
            <a:alphaModFix/>
          </a:blip>
          <a:srcRect b="0" l="0" r="0" t="0"/>
          <a:stretch/>
        </p:blipFill>
        <p:spPr>
          <a:xfrm>
            <a:off x="7136071" y="759600"/>
            <a:ext cx="2876934" cy="8767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2A"/>
        </a:solidFill>
      </p:bgPr>
    </p:bg>
    <p:spTree>
      <p:nvGrpSpPr>
        <p:cNvPr id="239" name="Shape 239"/>
        <p:cNvGrpSpPr/>
        <p:nvPr/>
      </p:nvGrpSpPr>
      <p:grpSpPr>
        <a:xfrm>
          <a:off x="0" y="0"/>
          <a:ext cx="0" cy="0"/>
          <a:chOff x="0" y="0"/>
          <a:chExt cx="0" cy="0"/>
        </a:xfrm>
      </p:grpSpPr>
      <p:sp>
        <p:nvSpPr>
          <p:cNvPr id="240" name="Google Shape;240;p15"/>
          <p:cNvSpPr/>
          <p:nvPr/>
        </p:nvSpPr>
        <p:spPr>
          <a:xfrm>
            <a:off x="1047750" y="1424000"/>
            <a:ext cx="17366100" cy="926400"/>
          </a:xfrm>
          <a:prstGeom prst="rect">
            <a:avLst/>
          </a:prstGeom>
          <a:noFill/>
          <a:ln>
            <a:noFill/>
          </a:ln>
        </p:spPr>
        <p:txBody>
          <a:bodyPr anchorCtr="0" anchor="t" bIns="25400" lIns="25400" spcFirstLastPara="1" rIns="25400" wrap="square" tIns="25400">
            <a:noAutofit/>
          </a:bodyPr>
          <a:lstStyle/>
          <a:p>
            <a:pPr indent="0" lvl="0" marL="0" marR="0" rtl="0" algn="l">
              <a:lnSpc>
                <a:spcPct val="77411"/>
              </a:lnSpc>
              <a:spcBef>
                <a:spcPts val="0"/>
              </a:spcBef>
              <a:spcAft>
                <a:spcPts val="0"/>
              </a:spcAft>
              <a:buClr>
                <a:srgbClr val="FFFFFF"/>
              </a:buClr>
              <a:buSzPts val="6600"/>
              <a:buFont typeface="Manrope"/>
              <a:buNone/>
            </a:pPr>
            <a:r>
              <a:rPr b="1" i="0" lang="en-US" spc="0" sz="5600" u="none" cap="none" strike="noStrike">
                <a:solidFill>
                  <a:srgbClr val="FFFFFF"/>
                </a:solidFill>
                <a:latin typeface="Manrope"/>
                <a:ea typeface="Manrope"/>
                <a:cs typeface="Manrope"/>
                <a:sym typeface="Manrope"/>
              </a:rPr>
              <a:t>Demo : KEDA ScaledObject Performance Testing</a:t>
            </a:r>
            <a:endParaRPr b="1" i="0" spc="0" sz="5600" u="none" cap="none" strike="noStrike">
              <a:solidFill>
                <a:srgbClr val="FFFFFF"/>
              </a:solidFill>
              <a:latin typeface="Manrope"/>
              <a:ea typeface="Manrope"/>
              <a:cs typeface="Manrope"/>
              <a:sym typeface="Manrope"/>
            </a:endParaRPr>
          </a:p>
          <a:p>
            <a:pPr indent="0" lvl="0" marL="0" marR="0" rtl="0" algn="l">
              <a:lnSpc>
                <a:spcPct val="77411"/>
              </a:lnSpc>
              <a:spcBef>
                <a:spcPts val="0"/>
              </a:spcBef>
              <a:spcAft>
                <a:spcPts val="0"/>
              </a:spcAft>
              <a:buClr>
                <a:srgbClr val="FFFFFF"/>
              </a:buClr>
              <a:buSzPts val="6600"/>
              <a:buFont typeface="Manrope"/>
              <a:buNone/>
            </a:pPr>
            <a:r>
              <a:t/>
            </a:r>
            <a:endParaRPr b="1" i="0" spc="0" sz="5600" u="none" cap="none" strike="noStrike">
              <a:solidFill>
                <a:srgbClr val="FFFFFF"/>
              </a:solidFill>
              <a:latin typeface="Manrope"/>
              <a:ea typeface="Manrope"/>
              <a:cs typeface="Manrope"/>
              <a:sym typeface="Manrope"/>
            </a:endParaRPr>
          </a:p>
        </p:txBody>
      </p:sp>
      <p:sp>
        <p:nvSpPr>
          <p:cNvPr id="241" name="Google Shape;241;p15"/>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SECTION 06</a:t>
            </a:r>
            <a:endParaRPr b="0" i="0" spc="0" sz="1800" u="none" cap="none" strike="noStrike">
              <a:solidFill>
                <a:schemeClr val="dk1"/>
              </a:solidFill>
              <a:latin typeface="Calibri"/>
              <a:ea typeface="Calibri"/>
              <a:cs typeface="Calibri"/>
              <a:sym typeface="Calibri"/>
            </a:endParaRPr>
          </a:p>
        </p:txBody>
      </p:sp>
      <p:sp>
        <p:nvSpPr>
          <p:cNvPr id="242" name="Google Shape;242;p15"/>
          <p:cNvSpPr/>
          <p:nvPr/>
        </p:nvSpPr>
        <p:spPr>
          <a:xfrm>
            <a:off x="1047750" y="2731517"/>
            <a:ext cx="1714500" cy="76200"/>
          </a:xfrm>
          <a:prstGeom prst="rect">
            <a:avLst/>
          </a:prstGeom>
          <a:solidFill>
            <a:srgbClr val="3928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3" name="Google Shape;243;p15"/>
          <p:cNvSpPr txBox="1"/>
          <p:nvPr/>
        </p:nvSpPr>
        <p:spPr>
          <a:xfrm>
            <a:off x="1047750" y="3188850"/>
            <a:ext cx="11803500" cy="93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50"/>
              <a:buFont typeface="Arial"/>
              <a:buNone/>
            </a:pPr>
            <a:r>
              <a:rPr b="0" i="1" lang="en-US" spc="0" sz="2450" u="none" cap="none" strike="noStrike">
                <a:solidFill>
                  <a:srgbClr val="F4F5F9"/>
                </a:solidFill>
                <a:latin typeface="Arial"/>
                <a:ea typeface="Arial"/>
                <a:cs typeface="Arial"/>
                <a:sym typeface="Arial"/>
              </a:rPr>
              <a:t>An end-to-end brief of the RabbitMQ scaler workload, telemetry design, findings, engineering hardening, and the next path to density-scale testing.</a:t>
            </a:r>
            <a:endParaRPr b="0" i="0" spc="0" sz="2900" u="none" cap="none" strike="noStrike">
              <a:solidFill>
                <a:srgbClr val="F4F5F9"/>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grpSp>
        <p:nvGrpSpPr>
          <p:cNvPr id="249" name="Google Shape;249;p16"/>
          <p:cNvGrpSpPr/>
          <p:nvPr/>
        </p:nvGrpSpPr>
        <p:grpSpPr>
          <a:xfrm>
            <a:off x="1047750" y="876300"/>
            <a:ext cx="16192500" cy="338100"/>
            <a:chOff x="0" y="0"/>
            <a:chExt cx="16192500" cy="338100"/>
          </a:xfrm>
        </p:grpSpPr>
        <p:sp>
          <p:nvSpPr>
            <p:cNvPr id="250" name="Google Shape;250;p16"/>
            <p:cNvSpPr/>
            <p:nvPr/>
          </p:nvSpPr>
          <p:spPr>
            <a:xfrm>
              <a:off x="0" y="0"/>
              <a:ext cx="16192500" cy="338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16"/>
            <p:cNvSpPr txBox="1"/>
            <p:nvPr/>
          </p:nvSpPr>
          <p:spPr>
            <a:xfrm>
              <a:off x="0" y="0"/>
              <a:ext cx="16192500" cy="33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3928D9"/>
                  </a:solidFill>
                  <a:latin typeface="JetBrains Mono"/>
                  <a:ea typeface="JetBrains Mono"/>
                  <a:cs typeface="JetBrains Mono"/>
                  <a:sym typeface="JetBrains Mono"/>
                </a:rPr>
                <a:t>METRICS &amp; TELEMETRY</a:t>
              </a:r>
              <a:endParaRPr b="0" i="0" spc="0" sz="1800" u="none" cap="none" strike="noStrike">
                <a:solidFill>
                  <a:srgbClr val="3928D9"/>
                </a:solidFill>
                <a:latin typeface="JetBrains Mono"/>
                <a:ea typeface="JetBrains Mono"/>
                <a:cs typeface="JetBrains Mono"/>
                <a:sym typeface="JetBrains Mono"/>
              </a:endParaRPr>
            </a:p>
          </p:txBody>
        </p:sp>
      </p:grpSp>
      <p:grpSp>
        <p:nvGrpSpPr>
          <p:cNvPr id="252" name="Google Shape;252;p16"/>
          <p:cNvGrpSpPr/>
          <p:nvPr/>
        </p:nvGrpSpPr>
        <p:grpSpPr>
          <a:xfrm>
            <a:off x="1047750" y="1381125"/>
            <a:ext cx="16192500" cy="866700"/>
            <a:chOff x="0" y="0"/>
            <a:chExt cx="16192500" cy="866700"/>
          </a:xfrm>
        </p:grpSpPr>
        <p:sp>
          <p:nvSpPr>
            <p:cNvPr id="253" name="Google Shape;253;p16"/>
            <p:cNvSpPr/>
            <p:nvPr/>
          </p:nvSpPr>
          <p:spPr>
            <a:xfrm>
              <a:off x="0" y="0"/>
              <a:ext cx="16192500" cy="8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4" name="Google Shape;254;p16"/>
            <p:cNvSpPr txBox="1"/>
            <p:nvPr/>
          </p:nvSpPr>
          <p:spPr>
            <a:xfrm>
              <a:off x="0" y="0"/>
              <a:ext cx="16192500" cy="8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800"/>
                <a:buFont typeface="Arial"/>
                <a:buNone/>
              </a:pPr>
              <a:r>
                <a:rPr b="1" i="0" lang="en-US" spc="0" sz="4800" u="none" cap="none" strike="noStrike">
                  <a:solidFill>
                    <a:srgbClr val="12132A"/>
                  </a:solidFill>
                  <a:latin typeface="Manrope"/>
                  <a:ea typeface="Manrope"/>
                  <a:cs typeface="Manrope"/>
                  <a:sym typeface="Manrope"/>
                </a:rPr>
                <a:t>What kube-burner measures</a:t>
              </a:r>
              <a:endParaRPr b="1" i="0" spc="0" sz="4800" u="none" cap="none" strike="noStrike">
                <a:solidFill>
                  <a:srgbClr val="12132A"/>
                </a:solidFill>
                <a:latin typeface="Manrope"/>
                <a:ea typeface="Manrope"/>
                <a:cs typeface="Manrope"/>
                <a:sym typeface="Manrope"/>
              </a:endParaRPr>
            </a:p>
          </p:txBody>
        </p:sp>
      </p:grpSp>
      <p:grpSp>
        <p:nvGrpSpPr>
          <p:cNvPr id="255" name="Google Shape;255;p16"/>
          <p:cNvGrpSpPr/>
          <p:nvPr/>
        </p:nvGrpSpPr>
        <p:grpSpPr>
          <a:xfrm>
            <a:off x="1047750" y="2667000"/>
            <a:ext cx="4953000" cy="5524500"/>
            <a:chOff x="0" y="0"/>
            <a:chExt cx="4953000" cy="5524500"/>
          </a:xfrm>
        </p:grpSpPr>
        <p:sp>
          <p:nvSpPr>
            <p:cNvPr id="256" name="Google Shape;256;p16"/>
            <p:cNvSpPr/>
            <p:nvPr/>
          </p:nvSpPr>
          <p:spPr>
            <a:xfrm>
              <a:off x="0" y="0"/>
              <a:ext cx="4953000" cy="5524500"/>
            </a:xfrm>
            <a:prstGeom prst="roundRect">
              <a:avLst>
                <a:gd fmla="val 1538" name="adj"/>
              </a:avLst>
            </a:prstGeom>
            <a:solidFill>
              <a:srgbClr val="FFFFFF"/>
            </a:solidFill>
            <a:ln cap="flat" cmpd="sng" w="19050">
              <a:solidFill>
                <a:srgbClr val="DCDFE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7" name="Google Shape;257;p16"/>
            <p:cNvSpPr/>
            <p:nvPr/>
          </p:nvSpPr>
          <p:spPr>
            <a:xfrm>
              <a:off x="381000" y="381000"/>
              <a:ext cx="1143000" cy="57300"/>
            </a:xfrm>
            <a:prstGeom prst="rect">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16"/>
            <p:cNvSpPr txBox="1"/>
            <p:nvPr/>
          </p:nvSpPr>
          <p:spPr>
            <a:xfrm>
              <a:off x="381000" y="762000"/>
              <a:ext cx="4191000" cy="438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Lifecycle latency</a:t>
              </a:r>
              <a:endParaRPr b="1" i="0" spc="0" sz="2800" u="none" cap="none" strike="noStrike">
                <a:solidFill>
                  <a:srgbClr val="12132A"/>
                </a:solidFill>
                <a:latin typeface="Manrope"/>
                <a:ea typeface="Manrope"/>
                <a:cs typeface="Manrope"/>
                <a:sym typeface="Manrope"/>
              </a:endParaRPr>
            </a:p>
            <a:p>
              <a:pPr indent="0" lvl="0" marL="0" marR="0" rtl="0" algn="l">
                <a:lnSpc>
                  <a:spcPct val="100000"/>
                </a:lnSpc>
                <a:spcBef>
                  <a:spcPts val="180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ScaledObject creation, KEDA-created HPA, Active=True condition, and a target Deployment with ready replicas.</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90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These events form the phase-split latency baseline.</a:t>
              </a:r>
              <a:endParaRPr b="0" i="0" spc="0" sz="2100" u="none" cap="none" strike="noStrike">
                <a:solidFill>
                  <a:srgbClr val="5A5E7A"/>
                </a:solidFill>
                <a:latin typeface="Manrope"/>
                <a:ea typeface="Manrope"/>
                <a:cs typeface="Manrope"/>
                <a:sym typeface="Manrope"/>
              </a:endParaRPr>
            </a:p>
          </p:txBody>
        </p:sp>
      </p:grpSp>
      <p:grpSp>
        <p:nvGrpSpPr>
          <p:cNvPr id="259" name="Google Shape;259;p16"/>
          <p:cNvGrpSpPr/>
          <p:nvPr/>
        </p:nvGrpSpPr>
        <p:grpSpPr>
          <a:xfrm>
            <a:off x="6667500" y="2667000"/>
            <a:ext cx="4953000" cy="5524500"/>
            <a:chOff x="0" y="0"/>
            <a:chExt cx="4953000" cy="5524500"/>
          </a:xfrm>
        </p:grpSpPr>
        <p:sp>
          <p:nvSpPr>
            <p:cNvPr id="260" name="Google Shape;260;p16"/>
            <p:cNvSpPr/>
            <p:nvPr/>
          </p:nvSpPr>
          <p:spPr>
            <a:xfrm>
              <a:off x="0" y="0"/>
              <a:ext cx="4953000" cy="5524500"/>
            </a:xfrm>
            <a:prstGeom prst="roundRect">
              <a:avLst>
                <a:gd fmla="val 1538" name="adj"/>
              </a:avLst>
            </a:prstGeom>
            <a:solidFill>
              <a:srgbClr val="FFFFFF"/>
            </a:solidFill>
            <a:ln cap="flat" cmpd="sng" w="19050">
              <a:solidFill>
                <a:srgbClr val="DCDFE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1" name="Google Shape;261;p16"/>
            <p:cNvSpPr/>
            <p:nvPr/>
          </p:nvSpPr>
          <p:spPr>
            <a:xfrm>
              <a:off x="381000" y="381000"/>
              <a:ext cx="1143000" cy="57300"/>
            </a:xfrm>
            <a:prstGeom prst="rect">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2" name="Google Shape;262;p16"/>
            <p:cNvSpPr txBox="1"/>
            <p:nvPr/>
          </p:nvSpPr>
          <p:spPr>
            <a:xfrm>
              <a:off x="381000" y="762000"/>
              <a:ext cx="4191000" cy="438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Control-plane health</a:t>
              </a:r>
              <a:endParaRPr b="1" i="0" spc="0" sz="2800" u="none" cap="none" strike="noStrike">
                <a:solidFill>
                  <a:srgbClr val="12132A"/>
                </a:solidFill>
                <a:latin typeface="Manrope"/>
                <a:ea typeface="Manrope"/>
                <a:cs typeface="Manrope"/>
                <a:sym typeface="Manrope"/>
              </a:endParaRPr>
            </a:p>
            <a:p>
              <a:pPr indent="0" lvl="0" marL="0" marR="0" rtl="0" algn="l">
                <a:lnSpc>
                  <a:spcPct val="100000"/>
                </a:lnSpc>
                <a:spcBef>
                  <a:spcPts val="180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KEDA scaler latency, active/error state, and desired/current replicas.</a:t>
              </a:r>
              <a:endParaRPr b="0" i="0" spc="0" sz="2100" u="none" cap="none" strike="noStrike">
                <a:solidFill>
                  <a:srgbClr val="5A5E7A"/>
                </a:solidFill>
                <a:latin typeface="Manrope"/>
                <a:ea typeface="Manrope"/>
                <a:cs typeface="Manrope"/>
                <a:sym typeface="Manrope"/>
              </a:endParaRPr>
            </a:p>
            <a:p>
              <a:pPr indent="0" lvl="0" marL="0" marR="0" rtl="0" algn="l">
                <a:lnSpc>
                  <a:spcPct val="100000"/>
                </a:lnSpc>
                <a:spcBef>
                  <a:spcPts val="900"/>
                </a:spcBef>
                <a:spcAft>
                  <a:spcPts val="0"/>
                </a:spcAft>
                <a:buClr>
                  <a:srgbClr val="000000"/>
                </a:buClr>
                <a:buSzPts val="2100"/>
                <a:buFont typeface="Arial"/>
                <a:buNone/>
              </a:pPr>
              <a:r>
                <a:rPr b="0" i="0" lang="en-US" spc="0" sz="2100" u="none" cap="none" strike="noStrike">
                  <a:solidFill>
                    <a:srgbClr val="5A5E7A"/>
                  </a:solidFill>
                  <a:latin typeface="Manrope"/>
                  <a:ea typeface="Manrope"/>
                  <a:cs typeface="Manrope"/>
                  <a:sym typeface="Manrope"/>
                </a:rPr>
                <a:t>API-server requests and P99 latency, etcd P99 latency, and target-replica readiness.</a:t>
              </a:r>
              <a:endParaRPr b="0" i="0" spc="0" sz="2100" u="none" cap="none" strike="noStrike">
                <a:solidFill>
                  <a:srgbClr val="5A5E7A"/>
                </a:solidFill>
                <a:latin typeface="Manrope"/>
                <a:ea typeface="Manrope"/>
                <a:cs typeface="Manrope"/>
                <a:sym typeface="Manrope"/>
              </a:endParaRPr>
            </a:p>
          </p:txBody>
        </p:sp>
      </p:grpSp>
      <p:grpSp>
        <p:nvGrpSpPr>
          <p:cNvPr id="263" name="Google Shape;263;p16"/>
          <p:cNvGrpSpPr/>
          <p:nvPr/>
        </p:nvGrpSpPr>
        <p:grpSpPr>
          <a:xfrm>
            <a:off x="12287250" y="2667000"/>
            <a:ext cx="4953000" cy="5524500"/>
            <a:chOff x="0" y="0"/>
            <a:chExt cx="4953000" cy="5524500"/>
          </a:xfrm>
        </p:grpSpPr>
        <p:sp>
          <p:nvSpPr>
            <p:cNvPr id="264" name="Google Shape;264;p16"/>
            <p:cNvSpPr/>
            <p:nvPr/>
          </p:nvSpPr>
          <p:spPr>
            <a:xfrm>
              <a:off x="0" y="0"/>
              <a:ext cx="4953000" cy="5524500"/>
            </a:xfrm>
            <a:prstGeom prst="roundRect">
              <a:avLst>
                <a:gd fmla="val 1538" name="adj"/>
              </a:avLst>
            </a:prstGeom>
            <a:solidFill>
              <a:srgbClr val="FFFFFF"/>
            </a:solidFill>
            <a:ln cap="flat" cmpd="sng" w="19050">
              <a:solidFill>
                <a:srgbClr val="DCDFE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5" name="Google Shape;265;p16"/>
            <p:cNvSpPr/>
            <p:nvPr/>
          </p:nvSpPr>
          <p:spPr>
            <a:xfrm>
              <a:off x="381000" y="381000"/>
              <a:ext cx="1143000" cy="57300"/>
            </a:xfrm>
            <a:prstGeom prst="rect">
              <a:avLst/>
            </a:prstGeom>
            <a:solidFill>
              <a:srgbClr val="3928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6" name="Google Shape;266;p16"/>
            <p:cNvSpPr txBox="1"/>
            <p:nvPr/>
          </p:nvSpPr>
          <p:spPr>
            <a:xfrm>
              <a:off x="381000" y="762000"/>
              <a:ext cx="4191000" cy="438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pc="0" sz="2800" u="none" cap="none" strike="noStrike">
                  <a:solidFill>
                    <a:srgbClr val="12132A"/>
                  </a:solidFill>
                  <a:latin typeface="Manrope"/>
                  <a:ea typeface="Manrope"/>
                  <a:cs typeface="Manrope"/>
                  <a:sym typeface="Manrope"/>
                </a:rPr>
                <a:t>Resource behavior</a:t>
              </a:r>
              <a:endParaRPr b="1" i="0" spc="0" sz="2800" u="none" cap="none" strike="noStrike">
                <a:solidFill>
                  <a:srgbClr val="12132A"/>
                </a:solidFill>
                <a:latin typeface="Manrope"/>
                <a:ea typeface="Manrope"/>
                <a:cs typeface="Manrope"/>
                <a:sym typeface="Manrope"/>
              </a:endParaRPr>
            </a:p>
            <a:p>
              <a:pPr indent="0" lvl="0" marL="0" marR="0" rtl="0" algn="l">
                <a:lnSpc>
                  <a:spcPct val="100000"/>
                </a:lnSpc>
                <a:spcBef>
                  <a:spcPts val="1800"/>
                </a:spcBef>
                <a:spcAft>
                  <a:spcPts val="0"/>
                </a:spcAft>
                <a:buClr>
                  <a:srgbClr val="000000"/>
                </a:buClr>
                <a:buSzPts val="2200"/>
                <a:buFont typeface="Arial"/>
                <a:buNone/>
              </a:pPr>
              <a:r>
                <a:rPr b="0" i="0" lang="en-US" spc="0" sz="2200" u="none" cap="none" strike="noStrike">
                  <a:solidFill>
                    <a:srgbClr val="5A5E7A"/>
                  </a:solidFill>
                  <a:latin typeface="Manrope"/>
                  <a:ea typeface="Manrope"/>
                  <a:cs typeface="Manrope"/>
                  <a:sym typeface="Manrope"/>
                </a:rPr>
                <a:t>Node CPU and memory dashboard panels, pod latency, and CPU and heap pprof snapshots.</a:t>
              </a:r>
              <a:endParaRPr b="0" i="0" spc="0" sz="2200" u="none" cap="none" strike="noStrike">
                <a:solidFill>
                  <a:srgbClr val="5A5E7A"/>
                </a:solidFill>
                <a:latin typeface="Manrope"/>
                <a:ea typeface="Manrope"/>
                <a:cs typeface="Manrope"/>
                <a:sym typeface="Manrope"/>
              </a:endParaRPr>
            </a:p>
            <a:p>
              <a:pPr indent="0" lvl="0" marL="0" marR="0" rtl="0" algn="l">
                <a:lnSpc>
                  <a:spcPct val="100000"/>
                </a:lnSpc>
                <a:spcBef>
                  <a:spcPts val="900"/>
                </a:spcBef>
                <a:spcAft>
                  <a:spcPts val="0"/>
                </a:spcAft>
                <a:buClr>
                  <a:srgbClr val="000000"/>
                </a:buClr>
                <a:buSzPts val="2200"/>
                <a:buFont typeface="Arial"/>
                <a:buNone/>
              </a:pPr>
              <a:r>
                <a:rPr b="0" i="0" lang="en-US" spc="0" sz="2200" u="none" cap="none" strike="noStrike">
                  <a:solidFill>
                    <a:srgbClr val="5A5E7A"/>
                  </a:solidFill>
                  <a:latin typeface="Manrope"/>
                  <a:ea typeface="Manrope"/>
                  <a:cs typeface="Manrope"/>
                  <a:sym typeface="Manrope"/>
                </a:rPr>
                <a:t>Captures metrics for the operator, metrics apiserver, and admission webhook.</a:t>
              </a:r>
              <a:endParaRPr b="0" i="0" spc="0" sz="2200" u="none" cap="none" strike="noStrike">
                <a:solidFill>
                  <a:srgbClr val="5A5E7A"/>
                </a:solidFill>
                <a:latin typeface="Manrope"/>
                <a:ea typeface="Manrope"/>
                <a:cs typeface="Manrope"/>
                <a:sym typeface="Manrope"/>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271" name="Shape 271"/>
        <p:cNvGrpSpPr/>
        <p:nvPr/>
      </p:nvGrpSpPr>
      <p:grpSpPr>
        <a:xfrm>
          <a:off x="0" y="0"/>
          <a:ext cx="0" cy="0"/>
          <a:chOff x="0" y="0"/>
          <a:chExt cx="0" cy="0"/>
        </a:xfrm>
      </p:grpSpPr>
      <p:grpSp>
        <p:nvGrpSpPr>
          <p:cNvPr id="272" name="Google Shape;272;p17"/>
          <p:cNvGrpSpPr/>
          <p:nvPr/>
        </p:nvGrpSpPr>
        <p:grpSpPr>
          <a:xfrm>
            <a:off x="1047750" y="876300"/>
            <a:ext cx="16192500" cy="333300"/>
            <a:chOff x="0" y="0"/>
            <a:chExt cx="16192500" cy="333300"/>
          </a:xfrm>
        </p:grpSpPr>
        <p:sp>
          <p:nvSpPr>
            <p:cNvPr id="273" name="Google Shape;273;p17"/>
            <p:cNvSpPr/>
            <p:nvPr/>
          </p:nvSpPr>
          <p:spPr>
            <a:xfrm>
              <a:off x="0" y="0"/>
              <a:ext cx="161925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4" name="Google Shape;274;p17"/>
            <p:cNvSpPr txBox="1"/>
            <p:nvPr/>
          </p:nvSpPr>
          <p:spPr>
            <a:xfrm>
              <a:off x="0" y="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8E86F2"/>
                  </a:solidFill>
                  <a:latin typeface="JetBrains Mono"/>
                  <a:ea typeface="JetBrains Mono"/>
                  <a:cs typeface="JetBrains Mono"/>
                  <a:sym typeface="JetBrains Mono"/>
                </a:rPr>
                <a:t>SYSTEM UNDER TEST</a:t>
              </a:r>
              <a:endParaRPr b="0" i="0" spc="0" sz="1800" u="none" cap="none" strike="noStrike">
                <a:solidFill>
                  <a:srgbClr val="8E86F2"/>
                </a:solidFill>
                <a:latin typeface="JetBrains Mono"/>
                <a:ea typeface="JetBrains Mono"/>
                <a:cs typeface="JetBrains Mono"/>
                <a:sym typeface="JetBrains Mono"/>
              </a:endParaRPr>
            </a:p>
          </p:txBody>
        </p:sp>
      </p:grpSp>
      <p:grpSp>
        <p:nvGrpSpPr>
          <p:cNvPr id="275" name="Google Shape;275;p17"/>
          <p:cNvGrpSpPr/>
          <p:nvPr/>
        </p:nvGrpSpPr>
        <p:grpSpPr>
          <a:xfrm>
            <a:off x="1047750" y="1385888"/>
            <a:ext cx="16192500" cy="866700"/>
            <a:chOff x="0" y="0"/>
            <a:chExt cx="16192500" cy="866700"/>
          </a:xfrm>
        </p:grpSpPr>
        <p:sp>
          <p:nvSpPr>
            <p:cNvPr id="276" name="Google Shape;276;p17"/>
            <p:cNvSpPr/>
            <p:nvPr/>
          </p:nvSpPr>
          <p:spPr>
            <a:xfrm>
              <a:off x="0" y="0"/>
              <a:ext cx="16192500" cy="8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7" name="Google Shape;277;p17"/>
            <p:cNvSpPr txBox="1"/>
            <p:nvPr/>
          </p:nvSpPr>
          <p:spPr>
            <a:xfrm>
              <a:off x="0" y="0"/>
              <a:ext cx="16192500" cy="8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800"/>
                <a:buFont typeface="Arial"/>
                <a:buNone/>
              </a:pPr>
              <a:r>
                <a:rPr b="1" i="0" lang="en-US" spc="0" sz="4800" u="none" cap="none" strike="noStrike">
                  <a:solidFill>
                    <a:schemeClr val="dk1"/>
                  </a:solidFill>
                  <a:latin typeface="Manrope"/>
                  <a:ea typeface="Manrope"/>
                  <a:cs typeface="Manrope"/>
                  <a:sym typeface="Manrope"/>
                </a:rPr>
                <a:t>Experiment Layers &amp; Roles</a:t>
              </a:r>
              <a:endParaRPr b="1" i="0" spc="0" sz="4800" u="none" cap="none" strike="noStrike">
                <a:solidFill>
                  <a:schemeClr val="dk1"/>
                </a:solidFill>
                <a:latin typeface="Manrope"/>
                <a:ea typeface="Manrope"/>
                <a:cs typeface="Manrope"/>
                <a:sym typeface="Manrope"/>
              </a:endParaRPr>
            </a:p>
          </p:txBody>
        </p:sp>
      </p:grpSp>
      <p:sp>
        <p:nvSpPr>
          <p:cNvPr id="278" name="Google Shape;278;p17"/>
          <p:cNvSpPr/>
          <p:nvPr/>
        </p:nvSpPr>
        <p:spPr>
          <a:xfrm>
            <a:off x="1047750" y="2476500"/>
            <a:ext cx="16192500" cy="5905500"/>
          </a:xfrm>
          <a:prstGeom prst="rect">
            <a:avLst/>
          </a:prstGeom>
          <a:solidFill>
            <a:srgbClr val="1B1C3A"/>
          </a:solidFill>
          <a:ln cap="flat" cmpd="sng" w="19050">
            <a:solidFill>
              <a:srgbClr val="2E2F58"/>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aphicFrame>
        <p:nvGraphicFramePr>
          <p:cNvPr id="279" name="Google Shape;279;p17"/>
          <p:cNvGraphicFramePr/>
          <p:nvPr/>
        </p:nvGraphicFramePr>
        <p:xfrm>
          <a:off x="1047750" y="2476500"/>
          <a:ext cx="3000000" cy="3000000"/>
        </p:xfrm>
        <a:graphic>
          <a:graphicData uri="http://schemas.openxmlformats.org/drawingml/2006/table">
            <a:tbl>
              <a:tblPr>
                <a:noFill/>
                <a:tableStyleId>{CF288BA4-1B51-4969-8497-83678D9B9862}</a:tableStyleId>
              </a:tblPr>
              <a:tblGrid>
                <a:gridCol w="5397500"/>
                <a:gridCol w="5397500"/>
                <a:gridCol w="5397500"/>
              </a:tblGrid>
              <a:tr h="843625">
                <a:tc>
                  <a:txBody>
                    <a:bodyPr/>
                    <a:lstStyle/>
                    <a:p>
                      <a:pPr indent="0" lvl="0" marL="0" marR="0" rtl="0" algn="l">
                        <a:lnSpc>
                          <a:spcPct val="100000"/>
                        </a:lnSpc>
                        <a:spcBef>
                          <a:spcPts val="0"/>
                        </a:spcBef>
                        <a:spcAft>
                          <a:spcPts val="0"/>
                        </a:spcAft>
                        <a:buClr>
                          <a:srgbClr val="000000"/>
                        </a:buClr>
                        <a:buSzPts val="1700"/>
                        <a:buFont typeface="Arial"/>
                        <a:buNone/>
                      </a:pPr>
                      <a:r>
                        <a:rPr lang="en-US" spc="0" sz="1700" u="none" cap="none" strike="noStrike">
                          <a:solidFill>
                            <a:srgbClr val="8E86F2"/>
                          </a:solidFill>
                          <a:latin typeface="JetBrains Mono"/>
                          <a:ea typeface="JetBrains Mono"/>
                          <a:cs typeface="JetBrains Mono"/>
                          <a:sym typeface="JetBrains Mono"/>
                        </a:rPr>
                        <a:t>Layer</a:t>
                      </a:r>
                      <a:endParaRPr spc="0" sz="1700" u="none" cap="none" strike="noStrike">
                        <a:solidFill>
                          <a:srgbClr val="8E86F2"/>
                        </a:solidFill>
                        <a:latin typeface="JetBrains Mono"/>
                        <a:ea typeface="JetBrains Mono"/>
                        <a:cs typeface="JetBrains Mono"/>
                        <a:sym typeface="JetBrains Mono"/>
                      </a:endParaRPr>
                    </a:p>
                  </a:txBody>
                  <a:tcPr marT="142875" marB="142875" marR="95250" marL="95250"/>
                </a:tc>
                <a:tc>
                  <a:txBody>
                    <a:bodyPr/>
                    <a:lstStyle/>
                    <a:p>
                      <a:pPr indent="0" lvl="0" marL="0" marR="0" rtl="0" algn="l">
                        <a:lnSpc>
                          <a:spcPct val="100000"/>
                        </a:lnSpc>
                        <a:spcBef>
                          <a:spcPts val="0"/>
                        </a:spcBef>
                        <a:spcAft>
                          <a:spcPts val="0"/>
                        </a:spcAft>
                        <a:buClr>
                          <a:srgbClr val="000000"/>
                        </a:buClr>
                        <a:buSzPts val="2100"/>
                        <a:buFont typeface="Arial"/>
                        <a:buNone/>
                      </a:pPr>
                      <a:r>
                        <a:rPr lang="en-US" spc="0" sz="2100" u="none" cap="none" strike="noStrike">
                          <a:solidFill>
                            <a:srgbClr val="8E86F2"/>
                          </a:solidFill>
                          <a:latin typeface="JetBrains Mono"/>
                          <a:ea typeface="JetBrains Mono"/>
                          <a:cs typeface="JetBrains Mono"/>
                          <a:sym typeface="JetBrains Mono"/>
                        </a:rPr>
                        <a:t>Role in the Experiment</a:t>
                      </a:r>
                      <a:endParaRPr spc="0" sz="2100" u="none" cap="none" strike="noStrike">
                        <a:solidFill>
                          <a:srgbClr val="8E86F2"/>
                        </a:solidFill>
                        <a:latin typeface="JetBrains Mono"/>
                        <a:ea typeface="JetBrains Mono"/>
                        <a:cs typeface="JetBrains Mono"/>
                        <a:sym typeface="JetBrains Mono"/>
                      </a:endParaRPr>
                    </a:p>
                  </a:txBody>
                  <a:tcPr marT="142875" marB="142875" marR="95250" marL="95250"/>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8E86F2"/>
                          </a:solidFill>
                          <a:latin typeface="JetBrains Mono"/>
                          <a:ea typeface="JetBrains Mono"/>
                          <a:cs typeface="JetBrains Mono"/>
                          <a:sym typeface="JetBrains Mono"/>
                        </a:rPr>
                        <a:t>What is Observed</a:t>
                      </a:r>
                      <a:endParaRPr spc="0" sz="1900" u="none" cap="none" strike="noStrike">
                        <a:solidFill>
                          <a:srgbClr val="8E86F2"/>
                        </a:solidFill>
                        <a:latin typeface="JetBrains Mono"/>
                        <a:ea typeface="JetBrains Mono"/>
                        <a:cs typeface="JetBrains Mono"/>
                        <a:sym typeface="JetBrains Mono"/>
                      </a:endParaRPr>
                    </a:p>
                  </a:txBody>
                  <a:tcPr marT="142875" marB="142875" marR="95250" marL="95250"/>
                </a:tc>
              </a:tr>
              <a:tr h="843650">
                <a:tc>
                  <a:txBody>
                    <a:bodyPr/>
                    <a:lstStyle/>
                    <a:p>
                      <a:pPr indent="0" lvl="0" marL="0" marR="0" rtl="0" algn="l">
                        <a:lnSpc>
                          <a:spcPct val="100000"/>
                        </a:lnSpc>
                        <a:spcBef>
                          <a:spcPts val="0"/>
                        </a:spcBef>
                        <a:spcAft>
                          <a:spcPts val="0"/>
                        </a:spcAft>
                        <a:buClr>
                          <a:srgbClr val="000000"/>
                        </a:buClr>
                        <a:buSzPts val="1900"/>
                        <a:buFont typeface="Arial"/>
                        <a:buNone/>
                      </a:pPr>
                      <a:r>
                        <a:rPr b="1" lang="en-US" spc="0" sz="1900" u="none" cap="none" strike="noStrike">
                          <a:solidFill>
                            <a:srgbClr val="FFFFFF"/>
                          </a:solidFill>
                          <a:latin typeface="Manrope"/>
                          <a:ea typeface="Manrope"/>
                          <a:cs typeface="Manrope"/>
                          <a:sym typeface="Manrope"/>
                        </a:rPr>
                        <a:t>RabbitMQ</a:t>
                      </a:r>
                      <a:endParaRPr b="1" spc="0" sz="1900" u="none" cap="none" strike="noStrike">
                        <a:solidFill>
                          <a:srgbClr val="FFFFFF"/>
                        </a:solidFill>
                        <a:latin typeface="Manrope"/>
                        <a:ea typeface="Manrope"/>
                        <a:cs typeface="Manrope"/>
                        <a:sym typeface="Manrope"/>
                      </a:endParaRPr>
                    </a:p>
                  </a:txBody>
                  <a:tcPr marT="171450" marB="171450" marR="95250" marL="95250">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D7D8EC"/>
                          </a:solidFill>
                          <a:latin typeface="Manrope"/>
                          <a:ea typeface="Manrope"/>
                          <a:cs typeface="Manrope"/>
                          <a:sym typeface="Manrope"/>
                        </a:rPr>
                        <a:t>Queue backlog source</a:t>
                      </a:r>
                      <a:endParaRPr spc="0" sz="1900" u="none" cap="none" strike="noStrike">
                        <a:solidFill>
                          <a:srgbClr val="D7D8EC"/>
                        </a:solidFill>
                        <a:latin typeface="Manrope"/>
                        <a:ea typeface="Manrope"/>
                        <a:cs typeface="Manrope"/>
                        <a:sym typeface="Manrope"/>
                      </a:endParaRPr>
                    </a:p>
                  </a:txBody>
                  <a:tcPr marT="171450" marB="171450" marR="95250" marL="95250">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94A3B8"/>
                          </a:solidFill>
                          <a:latin typeface="Manrope"/>
                          <a:ea typeface="Manrope"/>
                          <a:cs typeface="Manrope"/>
                          <a:sym typeface="Manrope"/>
                        </a:rPr>
                        <a:t>Trigger value and consumer work</a:t>
                      </a:r>
                      <a:endParaRPr spc="0" sz="1900" u="none" cap="none" strike="noStrike">
                        <a:solidFill>
                          <a:srgbClr val="94A3B8"/>
                        </a:solidFill>
                        <a:latin typeface="Manrope"/>
                        <a:ea typeface="Manrope"/>
                        <a:cs typeface="Manrope"/>
                        <a:sym typeface="Manrope"/>
                      </a:endParaRPr>
                    </a:p>
                  </a:txBody>
                  <a:tcPr marT="171450" marB="171450" marR="95250" marL="95250">
                    <a:lnB cap="flat" cmpd="sng" w="9525">
                      <a:solidFill>
                        <a:srgbClr val="2E2F58"/>
                      </a:solidFill>
                      <a:prstDash val="solid"/>
                      <a:round/>
                      <a:headEnd len="sm" w="sm" type="none"/>
                      <a:tailEnd len="sm" w="sm" type="none"/>
                    </a:lnB>
                  </a:tcPr>
                </a:tc>
              </a:tr>
              <a:tr h="843650">
                <a:tc>
                  <a:txBody>
                    <a:bodyPr/>
                    <a:lstStyle/>
                    <a:p>
                      <a:pPr indent="0" lvl="0" marL="0" marR="0" rtl="0" algn="l">
                        <a:lnSpc>
                          <a:spcPct val="100000"/>
                        </a:lnSpc>
                        <a:spcBef>
                          <a:spcPts val="0"/>
                        </a:spcBef>
                        <a:spcAft>
                          <a:spcPts val="0"/>
                        </a:spcAft>
                        <a:buClr>
                          <a:srgbClr val="000000"/>
                        </a:buClr>
                        <a:buSzPts val="1900"/>
                        <a:buFont typeface="Arial"/>
                        <a:buNone/>
                      </a:pPr>
                      <a:r>
                        <a:rPr b="1" lang="en-US" spc="0" sz="1900" u="none" cap="none" strike="noStrike">
                          <a:solidFill>
                            <a:srgbClr val="FFFFFF"/>
                          </a:solidFill>
                          <a:latin typeface="Manrope"/>
                          <a:ea typeface="Manrope"/>
                          <a:cs typeface="Manrope"/>
                          <a:sym typeface="Manrope"/>
                        </a:rPr>
                        <a:t>KEDA operator</a:t>
                      </a:r>
                      <a:endParaRPr b="1" spc="0" sz="1900" u="none" cap="none" strike="noStrike">
                        <a:solidFill>
                          <a:srgbClr val="FFFFFF"/>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D7D8EC"/>
                          </a:solidFill>
                          <a:latin typeface="Manrope"/>
                          <a:ea typeface="Manrope"/>
                          <a:cs typeface="Manrope"/>
                          <a:sym typeface="Manrope"/>
                        </a:rPr>
                        <a:t>Reconciles ScaledObject and creates HPA</a:t>
                      </a:r>
                      <a:endParaRPr spc="0" sz="1900" u="none" cap="none" strike="noStrike">
                        <a:solidFill>
                          <a:srgbClr val="D7D8EC"/>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94A3B8"/>
                          </a:solidFill>
                          <a:latin typeface="Manrope"/>
                          <a:ea typeface="Manrope"/>
                          <a:cs typeface="Manrope"/>
                          <a:sym typeface="Manrope"/>
                        </a:rPr>
                        <a:t>Lifecycle events, controller metrics, CPU and heap</a:t>
                      </a:r>
                      <a:endParaRPr spc="0" sz="1900" u="none" cap="none" strike="noStrike">
                        <a:solidFill>
                          <a:srgbClr val="94A3B8"/>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r>
              <a:tr h="843625">
                <a:tc>
                  <a:txBody>
                    <a:bodyPr/>
                    <a:lstStyle/>
                    <a:p>
                      <a:pPr indent="0" lvl="0" marL="0" marR="0" rtl="0" algn="l">
                        <a:lnSpc>
                          <a:spcPct val="100000"/>
                        </a:lnSpc>
                        <a:spcBef>
                          <a:spcPts val="0"/>
                        </a:spcBef>
                        <a:spcAft>
                          <a:spcPts val="0"/>
                        </a:spcAft>
                        <a:buClr>
                          <a:srgbClr val="000000"/>
                        </a:buClr>
                        <a:buSzPts val="1900"/>
                        <a:buFont typeface="Arial"/>
                        <a:buNone/>
                      </a:pPr>
                      <a:r>
                        <a:rPr b="1" lang="en-US" spc="0" sz="1900" u="none" cap="none" strike="noStrike">
                          <a:solidFill>
                            <a:srgbClr val="FFFFFF"/>
                          </a:solidFill>
                          <a:latin typeface="Manrope"/>
                          <a:ea typeface="Manrope"/>
                          <a:cs typeface="Manrope"/>
                          <a:sym typeface="Manrope"/>
                        </a:rPr>
                        <a:t>KEDA metrics apiserver</a:t>
                      </a:r>
                      <a:endParaRPr b="1" spc="0" sz="1900" u="none" cap="none" strike="noStrike">
                        <a:solidFill>
                          <a:srgbClr val="FFFFFF"/>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D7D8EC"/>
                          </a:solidFill>
                          <a:latin typeface="Manrope"/>
                          <a:ea typeface="Manrope"/>
                          <a:cs typeface="Manrope"/>
                          <a:sym typeface="Manrope"/>
                        </a:rPr>
                        <a:t>Serves external metrics to HPA</a:t>
                      </a:r>
                      <a:endParaRPr spc="0" sz="1900" u="none" cap="none" strike="noStrike">
                        <a:solidFill>
                          <a:srgbClr val="D7D8EC"/>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94A3B8"/>
                          </a:solidFill>
                          <a:latin typeface="Manrope"/>
                          <a:ea typeface="Manrope"/>
                          <a:cs typeface="Manrope"/>
                          <a:sym typeface="Manrope"/>
                        </a:rPr>
                        <a:t>Scaler-metrics latency, errors, CPU and heap</a:t>
                      </a:r>
                      <a:endParaRPr spc="0" sz="1900" u="none" cap="none" strike="noStrike">
                        <a:solidFill>
                          <a:srgbClr val="94A3B8"/>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r>
              <a:tr h="843650">
                <a:tc>
                  <a:txBody>
                    <a:bodyPr/>
                    <a:lstStyle/>
                    <a:p>
                      <a:pPr indent="0" lvl="0" marL="0" marR="0" rtl="0" algn="l">
                        <a:lnSpc>
                          <a:spcPct val="100000"/>
                        </a:lnSpc>
                        <a:spcBef>
                          <a:spcPts val="0"/>
                        </a:spcBef>
                        <a:spcAft>
                          <a:spcPts val="0"/>
                        </a:spcAft>
                        <a:buClr>
                          <a:srgbClr val="000000"/>
                        </a:buClr>
                        <a:buSzPts val="1900"/>
                        <a:buFont typeface="Arial"/>
                        <a:buNone/>
                      </a:pPr>
                      <a:r>
                        <a:rPr b="1" lang="en-US" spc="0" sz="1900" u="none" cap="none" strike="noStrike">
                          <a:solidFill>
                            <a:srgbClr val="FFFFFF"/>
                          </a:solidFill>
                          <a:latin typeface="Manrope"/>
                          <a:ea typeface="Manrope"/>
                          <a:cs typeface="Manrope"/>
                          <a:sym typeface="Manrope"/>
                        </a:rPr>
                        <a:t>HPA + consumer Deployment</a:t>
                      </a:r>
                      <a:endParaRPr b="1" spc="0" sz="1900" u="none" cap="none" strike="noStrike">
                        <a:solidFill>
                          <a:srgbClr val="FFFFFF"/>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D7D8EC"/>
                          </a:solidFill>
                          <a:latin typeface="Manrope"/>
                          <a:ea typeface="Manrope"/>
                          <a:cs typeface="Manrope"/>
                          <a:sym typeface="Manrope"/>
                        </a:rPr>
                        <a:t>Requests replicas and makes pods ready</a:t>
                      </a:r>
                      <a:endParaRPr spc="0" sz="1900" u="none" cap="none" strike="noStrike">
                        <a:solidFill>
                          <a:srgbClr val="D7D8EC"/>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94A3B8"/>
                          </a:solidFill>
                          <a:latin typeface="Manrope"/>
                          <a:ea typeface="Manrope"/>
                          <a:cs typeface="Manrope"/>
                          <a:sym typeface="Manrope"/>
                        </a:rPr>
                        <a:t>Desired/current replicas and deployment readiness</a:t>
                      </a:r>
                      <a:endParaRPr spc="0" sz="1900" u="none" cap="none" strike="noStrike">
                        <a:solidFill>
                          <a:srgbClr val="94A3B8"/>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r>
              <a:tr h="843650">
                <a:tc>
                  <a:txBody>
                    <a:bodyPr/>
                    <a:lstStyle/>
                    <a:p>
                      <a:pPr indent="0" lvl="0" marL="0" marR="0" rtl="0" algn="l">
                        <a:lnSpc>
                          <a:spcPct val="100000"/>
                        </a:lnSpc>
                        <a:spcBef>
                          <a:spcPts val="0"/>
                        </a:spcBef>
                        <a:spcAft>
                          <a:spcPts val="0"/>
                        </a:spcAft>
                        <a:buClr>
                          <a:srgbClr val="000000"/>
                        </a:buClr>
                        <a:buSzPts val="1900"/>
                        <a:buFont typeface="Arial"/>
                        <a:buNone/>
                      </a:pPr>
                      <a:r>
                        <a:rPr b="1" lang="en-US" spc="0" sz="1900" u="none" cap="none" strike="noStrike">
                          <a:solidFill>
                            <a:srgbClr val="FFFFFF"/>
                          </a:solidFill>
                          <a:latin typeface="Manrope"/>
                          <a:ea typeface="Manrope"/>
                          <a:cs typeface="Manrope"/>
                          <a:sym typeface="Manrope"/>
                        </a:rPr>
                        <a:t>Prometheus + Grafana</a:t>
                      </a:r>
                      <a:endParaRPr b="1" spc="0" sz="1900" u="none" cap="none" strike="noStrike">
                        <a:solidFill>
                          <a:srgbClr val="FFFFFF"/>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D7D8EC"/>
                          </a:solidFill>
                          <a:latin typeface="Manrope"/>
                          <a:ea typeface="Manrope"/>
                          <a:cs typeface="Manrope"/>
                          <a:sym typeface="Manrope"/>
                        </a:rPr>
                        <a:t>Scrape and visualize cluster/KEDA state</a:t>
                      </a:r>
                      <a:endParaRPr spc="0" sz="1900" u="none" cap="none" strike="noStrike">
                        <a:solidFill>
                          <a:srgbClr val="D7D8EC"/>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94A3B8"/>
                          </a:solidFill>
                          <a:latin typeface="Manrope"/>
                          <a:ea typeface="Manrope"/>
                          <a:cs typeface="Manrope"/>
                          <a:sym typeface="Manrope"/>
                        </a:rPr>
                        <a:t>KEDA, API server, etcd, node, and workload metrics</a:t>
                      </a:r>
                      <a:endParaRPr spc="0" sz="1900" u="none" cap="none" strike="noStrike">
                        <a:solidFill>
                          <a:srgbClr val="94A3B8"/>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lnB cap="flat" cmpd="sng" w="9525">
                      <a:solidFill>
                        <a:srgbClr val="2E2F58"/>
                      </a:solidFill>
                      <a:prstDash val="solid"/>
                      <a:round/>
                      <a:headEnd len="sm" w="sm" type="none"/>
                      <a:tailEnd len="sm" w="sm" type="none"/>
                    </a:lnB>
                  </a:tcPr>
                </a:tc>
              </a:tr>
              <a:tr h="843650">
                <a:tc>
                  <a:txBody>
                    <a:bodyPr/>
                    <a:lstStyle/>
                    <a:p>
                      <a:pPr indent="0" lvl="0" marL="0" marR="0" rtl="0" algn="l">
                        <a:lnSpc>
                          <a:spcPct val="100000"/>
                        </a:lnSpc>
                        <a:spcBef>
                          <a:spcPts val="0"/>
                        </a:spcBef>
                        <a:spcAft>
                          <a:spcPts val="0"/>
                        </a:spcAft>
                        <a:buClr>
                          <a:srgbClr val="000000"/>
                        </a:buClr>
                        <a:buSzPts val="1900"/>
                        <a:buFont typeface="Arial"/>
                        <a:buNone/>
                      </a:pPr>
                      <a:r>
                        <a:rPr b="1" lang="en-US" spc="0" sz="1900" u="none" cap="none" strike="noStrike">
                          <a:solidFill>
                            <a:srgbClr val="FFFFFF"/>
                          </a:solidFill>
                          <a:latin typeface="Manrope"/>
                          <a:ea typeface="Manrope"/>
                          <a:cs typeface="Manrope"/>
                          <a:sym typeface="Manrope"/>
                        </a:rPr>
                        <a:t>kube-burner local indexer</a:t>
                      </a:r>
                      <a:endParaRPr b="1" spc="0" sz="1900" u="none" cap="none" strike="noStrike">
                        <a:solidFill>
                          <a:srgbClr val="FFFFFF"/>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D7D8EC"/>
                          </a:solidFill>
                          <a:latin typeface="Manrope"/>
                          <a:ea typeface="Manrope"/>
                          <a:cs typeface="Manrope"/>
                          <a:sym typeface="Manrope"/>
                        </a:rPr>
                        <a:t>Writes a portable result set</a:t>
                      </a:r>
                      <a:endParaRPr spc="0" sz="1900" u="none" cap="none" strike="noStrike">
                        <a:solidFill>
                          <a:srgbClr val="D7D8EC"/>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900"/>
                        <a:buFont typeface="Arial"/>
                        <a:buNone/>
                      </a:pPr>
                      <a:r>
                        <a:rPr lang="en-US" spc="0" sz="1900" u="none" cap="none" strike="noStrike">
                          <a:solidFill>
                            <a:srgbClr val="94A3B8"/>
                          </a:solidFill>
                          <a:latin typeface="Manrope"/>
                          <a:ea typeface="Manrope"/>
                          <a:cs typeface="Manrope"/>
                          <a:sym typeface="Manrope"/>
                        </a:rPr>
                        <a:t>JSON metrics under collected-metrics-keda-*</a:t>
                      </a:r>
                      <a:endParaRPr spc="0" sz="1900" u="none" cap="none" strike="noStrike">
                        <a:solidFill>
                          <a:srgbClr val="94A3B8"/>
                        </a:solidFill>
                        <a:latin typeface="Manrope"/>
                        <a:ea typeface="Manrope"/>
                        <a:cs typeface="Manrope"/>
                        <a:sym typeface="Manrope"/>
                      </a:endParaRPr>
                    </a:p>
                  </a:txBody>
                  <a:tcPr marT="171450" marB="171450" marR="95250" marL="95250">
                    <a:lnT cap="flat" cmpd="sng" w="9525">
                      <a:solidFill>
                        <a:srgbClr val="2E2F58"/>
                      </a:solidFill>
                      <a:prstDash val="solid"/>
                      <a:round/>
                      <a:headEnd len="sm" w="sm" type="none"/>
                      <a:tailEnd len="sm" w="sm" type="none"/>
                    </a:lnT>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284" name="Shape 284"/>
        <p:cNvGrpSpPr/>
        <p:nvPr/>
      </p:nvGrpSpPr>
      <p:grpSpPr>
        <a:xfrm>
          <a:off x="0" y="0"/>
          <a:ext cx="0" cy="0"/>
          <a:chOff x="0" y="0"/>
          <a:chExt cx="0" cy="0"/>
        </a:xfrm>
      </p:grpSpPr>
      <p:sp>
        <p:nvSpPr>
          <p:cNvPr id="285" name="Google Shape;285;p18"/>
          <p:cNvSpPr/>
          <p:nvPr/>
        </p:nvSpPr>
        <p:spPr>
          <a:xfrm>
            <a:off x="1047750" y="1385888"/>
            <a:ext cx="17811900" cy="866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2132A"/>
              </a:buClr>
              <a:buSzPts val="4800"/>
              <a:buFont typeface="Manrope"/>
              <a:buNone/>
            </a:pPr>
            <a:r>
              <a:t/>
            </a:r>
            <a:endParaRPr b="0" i="0" spc="0" sz="4800" u="none" cap="none" strike="noStrike">
              <a:solidFill>
                <a:schemeClr val="dk1"/>
              </a:solidFill>
              <a:latin typeface="Calibri"/>
              <a:ea typeface="Calibri"/>
              <a:cs typeface="Calibri"/>
              <a:sym typeface="Calibri"/>
            </a:endParaRPr>
          </a:p>
        </p:txBody>
      </p:sp>
      <p:grpSp>
        <p:nvGrpSpPr>
          <p:cNvPr id="286" name="Google Shape;286;p18"/>
          <p:cNvGrpSpPr/>
          <p:nvPr/>
        </p:nvGrpSpPr>
        <p:grpSpPr>
          <a:xfrm>
            <a:off x="1047750" y="745375"/>
            <a:ext cx="16192500" cy="333300"/>
            <a:chOff x="0" y="0"/>
            <a:chExt cx="16192500" cy="333300"/>
          </a:xfrm>
        </p:grpSpPr>
        <p:sp>
          <p:nvSpPr>
            <p:cNvPr id="287" name="Google Shape;287;p18"/>
            <p:cNvSpPr/>
            <p:nvPr/>
          </p:nvSpPr>
          <p:spPr>
            <a:xfrm>
              <a:off x="0" y="0"/>
              <a:ext cx="161925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8" name="Google Shape;288;p18"/>
            <p:cNvSpPr txBox="1"/>
            <p:nvPr/>
          </p:nvSpPr>
          <p:spPr>
            <a:xfrm>
              <a:off x="0" y="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8E86F2"/>
                  </a:solidFill>
                  <a:latin typeface="JetBrains Mono"/>
                  <a:ea typeface="JetBrains Mono"/>
                  <a:cs typeface="JetBrains Mono"/>
                  <a:sym typeface="JetBrains Mono"/>
                </a:rPr>
                <a:t>WORKLOAD EXECUTION PATH</a:t>
              </a:r>
              <a:endParaRPr b="0" i="0" spc="0" sz="1800" u="none" cap="none" strike="noStrike">
                <a:solidFill>
                  <a:srgbClr val="8E86F2"/>
                </a:solidFill>
                <a:latin typeface="JetBrains Mono"/>
                <a:ea typeface="JetBrains Mono"/>
                <a:cs typeface="JetBrains Mono"/>
                <a:sym typeface="JetBrains Mono"/>
              </a:endParaRPr>
            </a:p>
          </p:txBody>
        </p:sp>
      </p:grpSp>
      <p:pic>
        <p:nvPicPr>
          <p:cNvPr id="289" name="Google Shape;289;p18" title="keda workload flow.png"/>
          <p:cNvPicPr preferRelativeResize="0"/>
          <p:nvPr/>
        </p:nvPicPr>
        <p:blipFill rotWithShape="1">
          <a:blip r:embed="rId3">
            <a:alphaModFix/>
          </a:blip>
          <a:srcRect b="0" l="0" r="0" t="0"/>
          <a:stretch/>
        </p:blipFill>
        <p:spPr>
          <a:xfrm>
            <a:off x="-218425" y="1155705"/>
            <a:ext cx="18724849" cy="8691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297" name="Shape 297"/>
        <p:cNvGrpSpPr/>
        <p:nvPr/>
      </p:nvGrpSpPr>
      <p:grpSpPr>
        <a:xfrm>
          <a:off x="0" y="0"/>
          <a:ext cx="0" cy="0"/>
          <a:chOff x="0" y="0"/>
          <a:chExt cx="0" cy="0"/>
        </a:xfrm>
      </p:grpSpPr>
      <p:sp>
        <p:nvSpPr>
          <p:cNvPr id="298" name="Google Shape;298;p19"/>
          <p:cNvSpPr txBox="1"/>
          <p:nvPr/>
        </p:nvSpPr>
        <p:spPr>
          <a:xfrm>
            <a:off x="1047750" y="87630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8E86F2"/>
                </a:solidFill>
                <a:latin typeface="JetBrains Mono"/>
                <a:ea typeface="JetBrains Mono"/>
                <a:cs typeface="JetBrains Mono"/>
                <a:sym typeface="JetBrains Mono"/>
              </a:rPr>
              <a:t>KEDA WORKLOAD DEMO</a:t>
            </a:r>
            <a:endParaRPr b="0" i="0" spc="0" sz="1800" u="none" cap="none" strike="noStrike">
              <a:solidFill>
                <a:srgbClr val="8E86F2"/>
              </a:solidFill>
              <a:latin typeface="JetBrains Mono"/>
              <a:ea typeface="JetBrains Mono"/>
              <a:cs typeface="JetBrains Mono"/>
              <a:sym typeface="JetBrains Mono"/>
            </a:endParaRPr>
          </a:p>
        </p:txBody>
      </p:sp>
      <p:sp>
        <p:nvSpPr>
          <p:cNvPr id="299" name="Google Shape;299;p19"/>
          <p:cNvSpPr txBox="1"/>
          <p:nvPr/>
        </p:nvSpPr>
        <p:spPr>
          <a:xfrm>
            <a:off x="1047750" y="1381125"/>
            <a:ext cx="16192500" cy="8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800"/>
              <a:buFont typeface="Arial"/>
              <a:buNone/>
            </a:pPr>
            <a:r>
              <a:t/>
            </a:r>
            <a:endParaRPr b="1" i="0" spc="0" sz="4800" u="none" cap="none" strike="noStrike">
              <a:solidFill>
                <a:srgbClr val="FFFFFF"/>
              </a:solidFill>
              <a:latin typeface="Manrope"/>
              <a:ea typeface="Manrope"/>
              <a:cs typeface="Manrope"/>
              <a:sym typeface="Manrope"/>
            </a:endParaRPr>
          </a:p>
        </p:txBody>
      </p:sp>
      <p:pic>
        <p:nvPicPr>
          <p:cNvPr id="300" name="Google Shape;300;p19" title="kube-burner keda workload demo 1.mp4">
            <a:hlinkClick r:id="rId3"/>
          </p:cNvPr>
          <p:cNvPicPr preferRelativeResize="0"/>
          <p:nvPr/>
        </p:nvPicPr>
        <p:blipFill rotWithShape="1">
          <a:blip r:embed="rId4">
            <a:alphaModFix/>
          </a:blip>
          <a:srcRect b="0" l="0" r="0" t="0"/>
          <a:stretch/>
        </p:blipFill>
        <p:spPr>
          <a:xfrm>
            <a:off x="942250" y="1514553"/>
            <a:ext cx="16298000" cy="73413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308" name="Shape 308"/>
        <p:cNvGrpSpPr/>
        <p:nvPr/>
      </p:nvGrpSpPr>
      <p:grpSpPr>
        <a:xfrm>
          <a:off x="0" y="0"/>
          <a:ext cx="0" cy="0"/>
          <a:chOff x="0" y="0"/>
          <a:chExt cx="0" cy="0"/>
        </a:xfrm>
      </p:grpSpPr>
      <p:sp>
        <p:nvSpPr>
          <p:cNvPr id="309" name="Google Shape;309;p20"/>
          <p:cNvSpPr txBox="1"/>
          <p:nvPr/>
        </p:nvSpPr>
        <p:spPr>
          <a:xfrm>
            <a:off x="1047750" y="876300"/>
            <a:ext cx="16192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8E86F2"/>
                </a:solidFill>
                <a:latin typeface="JetBrains Mono"/>
                <a:ea typeface="JetBrains Mono"/>
                <a:cs typeface="JetBrains Mono"/>
                <a:sym typeface="JetBrains Mono"/>
              </a:rPr>
              <a:t>KEDA WORKLOAD DEMO</a:t>
            </a:r>
            <a:endParaRPr b="0" i="0" spc="0" sz="1800" u="none" cap="none" strike="noStrike">
              <a:solidFill>
                <a:srgbClr val="8E86F2"/>
              </a:solidFill>
              <a:latin typeface="JetBrains Mono"/>
              <a:ea typeface="JetBrains Mono"/>
              <a:cs typeface="JetBrains Mono"/>
              <a:sym typeface="JetBrains Mono"/>
            </a:endParaRPr>
          </a:p>
        </p:txBody>
      </p:sp>
      <p:sp>
        <p:nvSpPr>
          <p:cNvPr id="310" name="Google Shape;310;p20"/>
          <p:cNvSpPr txBox="1"/>
          <p:nvPr/>
        </p:nvSpPr>
        <p:spPr>
          <a:xfrm>
            <a:off x="1047750" y="1381125"/>
            <a:ext cx="16192500" cy="8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800"/>
              <a:buFont typeface="Arial"/>
              <a:buNone/>
            </a:pPr>
            <a:r>
              <a:t/>
            </a:r>
            <a:endParaRPr b="1" i="0" spc="0" sz="4800" u="none" cap="none" strike="noStrike">
              <a:solidFill>
                <a:srgbClr val="FFFFFF"/>
              </a:solidFill>
              <a:latin typeface="Manrope"/>
              <a:ea typeface="Manrope"/>
              <a:cs typeface="Manrope"/>
              <a:sym typeface="Manrope"/>
            </a:endParaRPr>
          </a:p>
        </p:txBody>
      </p:sp>
      <p:pic>
        <p:nvPicPr>
          <p:cNvPr id="311" name="Google Shape;311;p20" title="kube-burner keda workload demo grafana.mp4">
            <a:hlinkClick r:id="rId3"/>
          </p:cNvPr>
          <p:cNvPicPr preferRelativeResize="0"/>
          <p:nvPr/>
        </p:nvPicPr>
        <p:blipFill rotWithShape="1">
          <a:blip r:embed="rId4">
            <a:alphaModFix/>
          </a:blip>
          <a:srcRect b="0" l="0" r="0" t="0"/>
          <a:stretch/>
        </p:blipFill>
        <p:spPr>
          <a:xfrm>
            <a:off x="1174875" y="1381125"/>
            <a:ext cx="16065376" cy="7461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316" name="Shape 316"/>
        <p:cNvGrpSpPr/>
        <p:nvPr/>
      </p:nvGrpSpPr>
      <p:grpSpPr>
        <a:xfrm>
          <a:off x="0" y="0"/>
          <a:ext cx="0" cy="0"/>
          <a:chOff x="0" y="0"/>
          <a:chExt cx="0" cy="0"/>
        </a:xfrm>
      </p:grpSpPr>
      <p:sp>
        <p:nvSpPr>
          <p:cNvPr id="317" name="Google Shape;317;p21"/>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ANALYSIS</a:t>
            </a:r>
            <a:endParaRPr b="0" i="0" spc="0" sz="1800" u="none" cap="none" strike="noStrike">
              <a:solidFill>
                <a:schemeClr val="dk1"/>
              </a:solidFill>
              <a:latin typeface="Calibri"/>
              <a:ea typeface="Calibri"/>
              <a:cs typeface="Calibri"/>
              <a:sym typeface="Calibri"/>
            </a:endParaRPr>
          </a:p>
        </p:txBody>
      </p:sp>
      <p:sp>
        <p:nvSpPr>
          <p:cNvPr id="318" name="Google Shape;318;p21"/>
          <p:cNvSpPr/>
          <p:nvPr/>
        </p:nvSpPr>
        <p:spPr>
          <a:xfrm>
            <a:off x="1047750" y="1385888"/>
            <a:ext cx="17811900" cy="866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4800"/>
              <a:buFont typeface="Manrope"/>
              <a:buNone/>
            </a:pPr>
            <a:r>
              <a:rPr b="1" i="0" lang="en-US" spc="0" sz="4800" u="none" cap="none" strike="noStrike">
                <a:solidFill>
                  <a:schemeClr val="dk1"/>
                </a:solidFill>
                <a:latin typeface="Manrope"/>
                <a:ea typeface="Manrope"/>
                <a:cs typeface="Manrope"/>
                <a:sym typeface="Manrope"/>
              </a:rPr>
              <a:t>Analyzing Pprof : Collection Script</a:t>
            </a:r>
            <a:endParaRPr b="0" i="0" spc="0" sz="4800" u="none" cap="none" strike="noStrike">
              <a:solidFill>
                <a:schemeClr val="dk1"/>
              </a:solidFill>
              <a:latin typeface="Calibri"/>
              <a:ea typeface="Calibri"/>
              <a:cs typeface="Calibri"/>
              <a:sym typeface="Calibri"/>
            </a:endParaRPr>
          </a:p>
        </p:txBody>
      </p:sp>
      <p:sp>
        <p:nvSpPr>
          <p:cNvPr id="319" name="Google Shape;319;p21"/>
          <p:cNvSpPr/>
          <p:nvPr/>
        </p:nvSpPr>
        <p:spPr>
          <a:xfrm>
            <a:off x="1047750" y="2633663"/>
            <a:ext cx="16192500" cy="5938800"/>
          </a:xfrm>
          <a:prstGeom prst="rect">
            <a:avLst/>
          </a:prstGeom>
          <a:solidFill>
            <a:srgbClr val="1B1C3A"/>
          </a:solidFill>
          <a:ln cap="flat" cmpd="sng" w="19050">
            <a:solidFill>
              <a:srgbClr val="2E2F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0" name="Google Shape;320;p21"/>
          <p:cNvSpPr/>
          <p:nvPr/>
        </p:nvSpPr>
        <p:spPr>
          <a:xfrm>
            <a:off x="1562100" y="2857500"/>
            <a:ext cx="15649500" cy="5476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set</a:t>
            </a:r>
            <a:r>
              <a:rPr b="0" i="0" lang="en-US" spc="0" sz="1400" u="none" cap="none" strike="noStrike">
                <a:solidFill>
                  <a:srgbClr val="D7D8EC"/>
                </a:solidFill>
                <a:latin typeface="JetBrains Mono"/>
                <a:ea typeface="JetBrains Mono"/>
                <a:cs typeface="JetBrains Mono"/>
                <a:sym typeface="JetBrains Mono"/>
              </a:rPr>
              <a:t> -euo pipefail</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9BE6C8"/>
                </a:solidFill>
                <a:latin typeface="JetBrains Mono"/>
                <a:ea typeface="JetBrains Mono"/>
                <a:cs typeface="JetBrains Mono"/>
                <a:sym typeface="JetBrains Mono"/>
              </a:rPr>
              <a:t>PPROF_DIR</a:t>
            </a:r>
            <a:r>
              <a:rPr b="0" i="0" lang="en-US" spc="0" sz="1400" u="none" cap="none" strike="noStrike">
                <a:solidFill>
                  <a:srgbClr val="D7D8EC"/>
                </a:solidFill>
                <a:latin typeface="JetBrains Mono"/>
                <a:ea typeface="JetBrains Mono"/>
                <a:cs typeface="JetBrains Mono"/>
                <a:sym typeface="JetBrains Mono"/>
              </a:rPr>
              <a:t>=/tmp/pprof-keda/rabbit-mq-ramp-up</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9BE6C8"/>
                </a:solidFill>
                <a:latin typeface="JetBrains Mono"/>
                <a:ea typeface="JetBrains Mono"/>
                <a:cs typeface="JetBrains Mono"/>
                <a:sym typeface="JetBrains Mono"/>
              </a:rPr>
              <a:t>RUN</a:t>
            </a:r>
            <a:r>
              <a:rPr b="0" i="0" lang="en-US" spc="0" sz="1400" u="none" cap="none" strike="noStrike">
                <a:solidFill>
                  <a:srgbClr val="D7D8EC"/>
                </a:solidFill>
                <a:latin typeface="JetBrains Mono"/>
                <a:ea typeface="JetBrains Mono"/>
                <a:cs typeface="JetBrains Mono"/>
                <a:sym typeface="JetBrains Mono"/>
              </a:rPr>
              <a:t>=rabbitmq-consumers</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shopt</a:t>
            </a:r>
            <a:r>
              <a:rPr b="0" i="0" lang="en-US" spc="0" sz="1400" u="none" cap="none" strike="noStrike">
                <a:solidFill>
                  <a:srgbClr val="D7D8EC"/>
                </a:solidFill>
                <a:latin typeface="JetBrains Mono"/>
                <a:ea typeface="JetBrains Mono"/>
                <a:cs typeface="JetBrains Mono"/>
                <a:sym typeface="JetBrains Mono"/>
              </a:rPr>
              <a:t> -s nullglob</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D7D8EC"/>
                </a:solidFill>
                <a:latin typeface="JetBrains Mono"/>
                <a:ea typeface="JetBrains Mono"/>
                <a:cs typeface="JetBrains Mono"/>
                <a:sym typeface="JetBrains Mono"/>
              </a:rPr>
              <a:t>files=(</a:t>
            </a:r>
            <a:r>
              <a:rPr b="0" i="0" lang="en-US" spc="0" sz="1400" u="none" cap="none" strike="noStrike">
                <a:solidFill>
                  <a:srgbClr val="9BE6C8"/>
                </a:solidFill>
                <a:latin typeface="JetBrains Mono"/>
                <a:ea typeface="JetBrains Mono"/>
                <a:cs typeface="JetBrains Mono"/>
                <a:sym typeface="JetBrains Mono"/>
              </a:rPr>
              <a:t>"$PPROF_DIR"</a:t>
            </a:r>
            <a:r>
              <a:rPr b="0" i="0" lang="en-US" spc="0" sz="1400" u="none" cap="none" strike="noStrike">
                <a:solidFill>
                  <a:srgbClr val="D7D8EC"/>
                </a:solidFill>
                <a:latin typeface="JetBrains Mono"/>
                <a:ea typeface="JetBrains Mono"/>
                <a:cs typeface="JetBrains Mono"/>
                <a:sym typeface="JetBrains Mono"/>
              </a:rPr>
              <a:t>/keda-operator-kube-burner-pprof-client-*-</a:t>
            </a:r>
            <a:r>
              <a:rPr b="0" i="0" lang="en-US" spc="0" sz="1400" u="none" cap="none" strike="noStrike">
                <a:solidFill>
                  <a:srgbClr val="9BE6C8"/>
                </a:solidFill>
                <a:latin typeface="JetBrains Mono"/>
                <a:ea typeface="JetBrains Mono"/>
                <a:cs typeface="JetBrains Mono"/>
                <a:sym typeface="JetBrains Mono"/>
              </a:rPr>
              <a:t>"$RUN"</a:t>
            </a:r>
            <a:r>
              <a:rPr b="0" i="0" lang="en-US" spc="0" sz="1400" u="none" cap="none" strike="noStrike">
                <a:solidFill>
                  <a:srgbClr val="D7D8EC"/>
                </a:solidFill>
                <a:latin typeface="JetBrains Mono"/>
                <a:ea typeface="JetBrains Mono"/>
                <a:cs typeface="JetBrains Mono"/>
                <a:sym typeface="JetBrains Mono"/>
              </a:rPr>
              <a:t>-end.pprof)</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shopt</a:t>
            </a:r>
            <a:r>
              <a:rPr b="0" i="0" lang="en-US" spc="0" sz="1400" u="none" cap="none" strike="noStrike">
                <a:solidFill>
                  <a:srgbClr val="D7D8EC"/>
                </a:solidFill>
                <a:latin typeface="JetBrains Mono"/>
                <a:ea typeface="JetBrains Mono"/>
                <a:cs typeface="JetBrains Mono"/>
                <a:sym typeface="JetBrains Mono"/>
              </a:rPr>
              <a:t> -u nullglob</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if</a:t>
            </a:r>
            <a:r>
              <a:rPr b="0" i="0" lang="en-US" spc="0" sz="1400" u="none" cap="none" strike="noStrike">
                <a:solidFill>
                  <a:srgbClr val="D7D8EC"/>
                </a:solidFill>
                <a:latin typeface="JetBrains Mono"/>
                <a:ea typeface="JetBrains Mono"/>
                <a:cs typeface="JetBrains Mono"/>
                <a:sym typeface="JetBrains Mono"/>
              </a:rPr>
              <a:t> (( ${#files[@]} != 1 )); </a:t>
            </a:r>
            <a:r>
              <a:rPr b="0" i="0" lang="en-US" spc="0" sz="1400" u="none" cap="none" strike="noStrike">
                <a:solidFill>
                  <a:srgbClr val="8E86F2"/>
                </a:solidFill>
                <a:latin typeface="JetBrains Mono"/>
                <a:ea typeface="JetBrains Mono"/>
                <a:cs typeface="JetBrains Mono"/>
                <a:sym typeface="JetBrains Mono"/>
              </a:rPr>
              <a:t>then</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printf</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'Expected one KEDA operator end profile in %s\n'</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"$PPROF_DIR"</a:t>
            </a:r>
            <a:r>
              <a:rPr b="0" i="0" lang="en-US" spc="0" sz="1400" u="none" cap="none" strike="noStrike">
                <a:solidFill>
                  <a:srgbClr val="D7D8EC"/>
                </a:solidFill>
                <a:latin typeface="JetBrains Mono"/>
                <a:ea typeface="JetBrains Mono"/>
                <a:cs typeface="JetBrains Mono"/>
                <a:sym typeface="JetBrains Mono"/>
              </a:rPr>
              <a:t> &gt;&amp;2</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exit</a:t>
            </a:r>
            <a:r>
              <a:rPr b="0" i="0" lang="en-US" spc="0" sz="1400" u="none" cap="none" strike="noStrike">
                <a:solidFill>
                  <a:srgbClr val="D7D8EC"/>
                </a:solidFill>
                <a:latin typeface="JetBrains Mono"/>
                <a:ea typeface="JetBrains Mono"/>
                <a:cs typeface="JetBrains Mono"/>
                <a:sym typeface="JetBrains Mono"/>
              </a:rPr>
              <a:t> 1</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fi</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D7D8EC"/>
                </a:solidFill>
                <a:latin typeface="JetBrains Mono"/>
                <a:ea typeface="JetBrains Mono"/>
                <a:cs typeface="JetBrains Mono"/>
                <a:sym typeface="JetBrains Mono"/>
              </a:rPr>
              <a:t>filename=${files[0]##*/}</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9BE6C8"/>
                </a:solidFill>
                <a:latin typeface="JetBrains Mono"/>
                <a:ea typeface="JetBrains Mono"/>
                <a:cs typeface="JetBrains Mono"/>
                <a:sym typeface="JetBrains Mono"/>
              </a:rPr>
              <a:t>CLIENT_POD</a:t>
            </a:r>
            <a:r>
              <a:rPr b="0" i="0" lang="en-US" spc="0" sz="1400" u="none" cap="none" strike="noStrike">
                <a:solidFill>
                  <a:srgbClr val="D7D8EC"/>
                </a:solidFill>
                <a:latin typeface="JetBrains Mono"/>
                <a:ea typeface="JetBrains Mono"/>
                <a:cs typeface="JetBrains Mono"/>
                <a:sym typeface="JetBrains Mono"/>
              </a:rPr>
              <a:t>=${filename#keda-operator-}</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9BE6C8"/>
                </a:solidFill>
                <a:latin typeface="JetBrains Mono"/>
                <a:ea typeface="JetBrains Mono"/>
                <a:cs typeface="JetBrains Mono"/>
                <a:sym typeface="JetBrains Mono"/>
              </a:rPr>
              <a:t>CLIENT_POD</a:t>
            </a:r>
            <a:r>
              <a:rPr b="0" i="0" lang="en-US" spc="0" sz="1400" u="none" cap="none" strike="noStrike">
                <a:solidFill>
                  <a:srgbClr val="D7D8EC"/>
                </a:solidFill>
                <a:latin typeface="JetBrains Mono"/>
                <a:ea typeface="JetBrains Mono"/>
                <a:cs typeface="JetBrains Mono"/>
                <a:sym typeface="JetBrains Mono"/>
              </a:rPr>
              <a:t>=${</a:t>
            </a:r>
            <a:r>
              <a:rPr b="0" i="0" lang="en-US" spc="0" sz="1400" u="none" cap="none" strike="noStrike">
                <a:solidFill>
                  <a:srgbClr val="9BE6C8"/>
                </a:solidFill>
                <a:latin typeface="JetBrains Mono"/>
                <a:ea typeface="JetBrains Mono"/>
                <a:cs typeface="JetBrains Mono"/>
                <a:sym typeface="JetBrains Mono"/>
              </a:rPr>
              <a:t>CLIENT_POD</a:t>
            </a:r>
            <a:r>
              <a:rPr b="0" i="0" lang="en-US" spc="0" sz="1400" u="none" cap="none" strike="noStrike">
                <a:solidFill>
                  <a:srgbClr val="D7D8EC"/>
                </a:solidFill>
                <a:latin typeface="JetBrains Mono"/>
                <a:ea typeface="JetBrains Mono"/>
                <a:cs typeface="JetBrains Mono"/>
                <a:sym typeface="JetBrains Mono"/>
              </a:rPr>
              <a:t>%</a:t>
            </a:r>
            <a:r>
              <a:rPr b="0" i="0" lang="en-US" spc="0" sz="1400" u="none" cap="none" strike="noStrike">
                <a:solidFill>
                  <a:srgbClr val="9BE6C8"/>
                </a:solidFill>
                <a:latin typeface="JetBrains Mono"/>
                <a:ea typeface="JetBrains Mono"/>
                <a:cs typeface="JetBrains Mono"/>
                <a:sym typeface="JetBrains Mono"/>
              </a:rPr>
              <a:t>-"$RUN"-end.pprof</a:t>
            </a:r>
            <a:r>
              <a:rPr b="0" i="0" lang="en-US" spc="0" sz="1400" u="none" cap="none" strike="noStrike">
                <a:solidFill>
                  <a:srgbClr val="D7D8EC"/>
                </a:solidFill>
                <a:latin typeface="JetBrains Mono"/>
                <a:ea typeface="JetBrains Mono"/>
                <a:cs typeface="JetBrains Mono"/>
                <a:sym typeface="JetBrains Mono"/>
              </a:rPr>
              <a:t>}</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report()</a:t>
            </a:r>
            <a:r>
              <a:rPr b="0" i="0" lang="en-US" spc="0" sz="1400" u="none" cap="none" strike="noStrike">
                <a:solidFill>
                  <a:srgbClr val="D7D8EC"/>
                </a:solidFill>
                <a:latin typeface="JetBrains Mono"/>
                <a:ea typeface="JetBrains Mono"/>
                <a:cs typeface="JetBrains Mono"/>
                <a:sym typeface="JetBrains Mono"/>
              </a:rPr>
              <a:t> {</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local</a:t>
            </a:r>
            <a:r>
              <a:rPr b="0" i="0" lang="en-US" spc="0" sz="1400" u="none" cap="none" strike="noStrike">
                <a:solidFill>
                  <a:srgbClr val="D7D8EC"/>
                </a:solidFill>
                <a:latin typeface="JetBrains Mono"/>
                <a:ea typeface="JetBrains Mono"/>
                <a:cs typeface="JetBrains Mono"/>
                <a:sym typeface="JetBrains Mono"/>
              </a:rPr>
              <a:t> name=$1 target=$2</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local</a:t>
            </a:r>
            <a:r>
              <a:rPr b="0" i="0" lang="en-US" spc="0" sz="1400" u="none" cap="none" strike="noStrike">
                <a:solidFill>
                  <a:srgbClr val="D7D8EC"/>
                </a:solidFill>
                <a:latin typeface="JetBrains Mono"/>
                <a:ea typeface="JetBrains Mono"/>
                <a:cs typeface="JetBrains Mono"/>
                <a:sym typeface="JetBrains Mono"/>
              </a:rPr>
              <a:t> cpu=</a:t>
            </a:r>
            <a:r>
              <a:rPr b="0" i="0" lang="en-US" spc="0" sz="1400" u="none" cap="none" strike="noStrike">
                <a:solidFill>
                  <a:srgbClr val="9BE6C8"/>
                </a:solidFill>
                <a:latin typeface="JetBrains Mono"/>
                <a:ea typeface="JetBrains Mono"/>
                <a:cs typeface="JetBrains Mono"/>
                <a:sym typeface="JetBrains Mono"/>
              </a:rPr>
              <a:t>"$PPROF_DIR/$target-$CLIENT_POD-$RUN-end.pprof"</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local</a:t>
            </a:r>
            <a:r>
              <a:rPr b="0" i="0" lang="en-US" spc="0" sz="1400" u="none" cap="none" strike="noStrike">
                <a:solidFill>
                  <a:srgbClr val="D7D8EC"/>
                </a:solidFill>
                <a:latin typeface="JetBrains Mono"/>
                <a:ea typeface="JetBrains Mono"/>
                <a:cs typeface="JetBrains Mono"/>
                <a:sym typeface="JetBrains Mono"/>
              </a:rPr>
              <a:t> start=</a:t>
            </a:r>
            <a:r>
              <a:rPr b="0" i="0" lang="en-US" spc="0" sz="1400" u="none" cap="none" strike="noStrike">
                <a:solidFill>
                  <a:srgbClr val="9BE6C8"/>
                </a:solidFill>
                <a:latin typeface="JetBrains Mono"/>
                <a:ea typeface="JetBrains Mono"/>
                <a:cs typeface="JetBrains Mono"/>
                <a:sym typeface="JetBrains Mono"/>
              </a:rPr>
              <a:t>"$PPROF_DIR/$target-heap-$CLIENT_POD-$RUN-start.pprof"</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local</a:t>
            </a:r>
            <a:r>
              <a:rPr b="0" i="0" lang="en-US" spc="0" sz="1400" u="none" cap="none" strike="noStrike">
                <a:solidFill>
                  <a:srgbClr val="D7D8EC"/>
                </a:solidFill>
                <a:latin typeface="JetBrains Mono"/>
                <a:ea typeface="JetBrains Mono"/>
                <a:cs typeface="JetBrains Mono"/>
                <a:sym typeface="JetBrains Mono"/>
              </a:rPr>
              <a:t> end=</a:t>
            </a:r>
            <a:r>
              <a:rPr b="0" i="0" lang="en-US" spc="0" sz="1400" u="none" cap="none" strike="noStrike">
                <a:solidFill>
                  <a:srgbClr val="9BE6C8"/>
                </a:solidFill>
                <a:latin typeface="JetBrains Mono"/>
                <a:ea typeface="JetBrains Mono"/>
                <a:cs typeface="JetBrains Mono"/>
                <a:sym typeface="JetBrains Mono"/>
              </a:rPr>
              <a:t>"$PPROF_DIR/$target-heap-$CLIENT_POD-$RUN-end.pprof"</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15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printf</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'\n== %s ==\n'</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"$name"</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printf</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'CPU: '</a:t>
            </a:r>
            <a:r>
              <a:rPr b="0" i="0" lang="en-US" spc="0" sz="1400" u="none" cap="none" strike="noStrike">
                <a:solidFill>
                  <a:srgbClr val="D7D8EC"/>
                </a:solidFill>
                <a:latin typeface="JetBrains Mono"/>
                <a:ea typeface="JetBrains Mono"/>
                <a:cs typeface="JetBrains Mono"/>
                <a:sym typeface="JetBrains Mono"/>
              </a:rPr>
              <a:t>; go tool pprof -top </a:t>
            </a:r>
            <a:r>
              <a:rPr b="0" i="0" lang="en-US" spc="0" sz="1400" u="none" cap="none" strike="noStrike">
                <a:solidFill>
                  <a:srgbClr val="9BE6C8"/>
                </a:solidFill>
                <a:latin typeface="JetBrains Mono"/>
                <a:ea typeface="JetBrains Mono"/>
                <a:cs typeface="JetBrains Mono"/>
                <a:sym typeface="JetBrains Mono"/>
              </a:rPr>
              <a:t>"$cpu"</a:t>
            </a:r>
            <a:r>
              <a:rPr b="0" i="0" lang="en-US" spc="0" sz="1400" u="none" cap="none" strike="noStrike">
                <a:solidFill>
                  <a:srgbClr val="D7D8EC"/>
                </a:solidFill>
                <a:latin typeface="JetBrains Mono"/>
                <a:ea typeface="JetBrains Mono"/>
                <a:cs typeface="JetBrains Mono"/>
                <a:sym typeface="JetBrains Mono"/>
              </a:rPr>
              <a:t> | rg </a:t>
            </a:r>
            <a:r>
              <a:rPr b="0" i="0" lang="en-US" spc="0" sz="1400" u="none" cap="none" strike="noStrike">
                <a:solidFill>
                  <a:srgbClr val="9BE6C8"/>
                </a:solidFill>
                <a:latin typeface="JetBrains Mono"/>
                <a:ea typeface="JetBrains Mono"/>
                <a:cs typeface="JetBrains Mono"/>
                <a:sym typeface="JetBrains Mono"/>
              </a:rPr>
              <a:t>'Duration:|Total samples'</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printf</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'End heap: '</a:t>
            </a:r>
            <a:r>
              <a:rPr b="0" i="0" lang="en-US" spc="0" sz="1400" u="none" cap="none" strike="noStrike">
                <a:solidFill>
                  <a:srgbClr val="D7D8EC"/>
                </a:solidFill>
                <a:latin typeface="JetBrains Mono"/>
                <a:ea typeface="JetBrains Mono"/>
                <a:cs typeface="JetBrains Mono"/>
                <a:sym typeface="JetBrains Mono"/>
              </a:rPr>
              <a:t>; go tool pprof -top -inuse_space -unit=mb </a:t>
            </a:r>
            <a:r>
              <a:rPr b="0" i="0" lang="en-US" spc="0" sz="1400" u="none" cap="none" strike="noStrike">
                <a:solidFill>
                  <a:srgbClr val="9BE6C8"/>
                </a:solidFill>
                <a:latin typeface="JetBrains Mono"/>
                <a:ea typeface="JetBrains Mono"/>
                <a:cs typeface="JetBrains Mono"/>
                <a:sym typeface="JetBrains Mono"/>
              </a:rPr>
              <a:t>"$end"</a:t>
            </a:r>
            <a:r>
              <a:rPr b="0" i="0" lang="en-US" spc="0" sz="1400" u="none" cap="none" strike="noStrike">
                <a:solidFill>
                  <a:srgbClr val="D7D8EC"/>
                </a:solidFill>
                <a:latin typeface="JetBrains Mono"/>
                <a:ea typeface="JetBrains Mono"/>
                <a:cs typeface="JetBrains Mono"/>
                <a:sym typeface="JetBrains Mono"/>
              </a:rPr>
              <a:t> | rg </a:t>
            </a:r>
            <a:r>
              <a:rPr b="0" i="0" lang="en-US" spc="0" sz="1400" u="none" cap="none" strike="noStrike">
                <a:solidFill>
                  <a:srgbClr val="9BE6C8"/>
                </a:solidFill>
                <a:latin typeface="JetBrains Mono"/>
                <a:ea typeface="JetBrains Mono"/>
                <a:cs typeface="JetBrains Mono"/>
                <a:sym typeface="JetBrains Mono"/>
              </a:rPr>
              <a:t>'Showing nodes accounting'</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8E86F2"/>
                </a:solidFill>
                <a:latin typeface="JetBrains Mono"/>
                <a:ea typeface="JetBrains Mono"/>
                <a:cs typeface="JetBrains Mono"/>
                <a:sym typeface="JetBrains Mono"/>
              </a:rPr>
              <a:t>printf</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'Heap growth: '</a:t>
            </a:r>
            <a:r>
              <a:rPr b="0" i="0" lang="en-US" spc="0" sz="1400" u="none" cap="none" strike="noStrike">
                <a:solidFill>
                  <a:srgbClr val="D7D8EC"/>
                </a:solidFill>
                <a:latin typeface="JetBrains Mono"/>
                <a:ea typeface="JetBrains Mono"/>
                <a:cs typeface="JetBrains Mono"/>
                <a:sym typeface="JetBrains Mono"/>
              </a:rPr>
              <a:t>; go tool pprof -top -base=</a:t>
            </a:r>
            <a:r>
              <a:rPr b="0" i="0" lang="en-US" spc="0" sz="1400" u="none" cap="none" strike="noStrike">
                <a:solidFill>
                  <a:srgbClr val="9BE6C8"/>
                </a:solidFill>
                <a:latin typeface="JetBrains Mono"/>
                <a:ea typeface="JetBrains Mono"/>
                <a:cs typeface="JetBrains Mono"/>
                <a:sym typeface="JetBrains Mono"/>
              </a:rPr>
              <a:t>"$start"</a:t>
            </a:r>
            <a:r>
              <a:rPr b="0" i="0" lang="en-US" spc="0" sz="1400" u="none" cap="none" strike="noStrike">
                <a:solidFill>
                  <a:srgbClr val="D7D8EC"/>
                </a:solidFill>
                <a:latin typeface="JetBrains Mono"/>
                <a:ea typeface="JetBrains Mono"/>
                <a:cs typeface="JetBrains Mono"/>
                <a:sym typeface="JetBrains Mono"/>
              </a:rPr>
              <a:t> -inuse_space -unit=mb </a:t>
            </a:r>
            <a:r>
              <a:rPr b="0" i="0" lang="en-US" spc="0" sz="1400" u="none" cap="none" strike="noStrike">
                <a:solidFill>
                  <a:srgbClr val="9BE6C8"/>
                </a:solidFill>
                <a:latin typeface="JetBrains Mono"/>
                <a:ea typeface="JetBrains Mono"/>
                <a:cs typeface="JetBrains Mono"/>
                <a:sym typeface="JetBrains Mono"/>
              </a:rPr>
              <a:t>"$end"</a:t>
            </a:r>
            <a:r>
              <a:rPr b="0" i="0" lang="en-US" spc="0" sz="1400" u="none" cap="none" strike="noStrike">
                <a:solidFill>
                  <a:srgbClr val="D7D8EC"/>
                </a:solidFill>
                <a:latin typeface="JetBrains Mono"/>
                <a:ea typeface="JetBrains Mono"/>
                <a:cs typeface="JetBrains Mono"/>
                <a:sym typeface="JetBrains Mono"/>
              </a:rPr>
              <a:t> | rg </a:t>
            </a:r>
            <a:r>
              <a:rPr b="0" i="0" lang="en-US" spc="0" sz="1400" u="none" cap="none" strike="noStrike">
                <a:solidFill>
                  <a:srgbClr val="9BE6C8"/>
                </a:solidFill>
                <a:latin typeface="JetBrains Mono"/>
                <a:ea typeface="JetBrains Mono"/>
                <a:cs typeface="JetBrains Mono"/>
                <a:sym typeface="JetBrains Mono"/>
              </a:rPr>
              <a:t>'Showing nodes accounting'</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D7D8EC"/>
                </a:solidFill>
                <a:latin typeface="JetBrains Mono"/>
                <a:ea typeface="JetBrains Mono"/>
                <a:cs typeface="JetBrains Mono"/>
                <a:sym typeface="JetBrains Mono"/>
              </a:rPr>
              <a:t>}</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300"/>
              </a:spcBef>
              <a:spcAft>
                <a:spcPts val="0"/>
              </a:spcAft>
              <a:buClr>
                <a:srgbClr val="000000"/>
              </a:buClr>
              <a:buSzPts val="1400"/>
              <a:buFont typeface="Arial"/>
              <a:buNone/>
            </a:pPr>
            <a:r>
              <a:rPr b="0" i="0" lang="en-US" spc="0" sz="1400" u="none" cap="none" strike="noStrike">
                <a:solidFill>
                  <a:srgbClr val="D7D8EC"/>
                </a:solidFill>
                <a:latin typeface="JetBrains Mono"/>
                <a:ea typeface="JetBrains Mono"/>
                <a:cs typeface="JetBrains Mono"/>
                <a:sym typeface="JetBrains Mono"/>
              </a:rPr>
              <a:t>report </a:t>
            </a:r>
            <a:r>
              <a:rPr b="0" i="0" lang="en-US" spc="0" sz="1400" u="none" cap="none" strike="noStrike">
                <a:solidFill>
                  <a:srgbClr val="9BE6C8"/>
                </a:solidFill>
                <a:latin typeface="JetBrains Mono"/>
                <a:ea typeface="JetBrains Mono"/>
                <a:cs typeface="JetBrains Mono"/>
                <a:sym typeface="JetBrains Mono"/>
              </a:rPr>
              <a:t>"KEDA operator"</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"keda-operator"</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D7D8EC"/>
                </a:solidFill>
                <a:latin typeface="JetBrains Mono"/>
                <a:ea typeface="JetBrains Mono"/>
                <a:cs typeface="JetBrains Mono"/>
                <a:sym typeface="JetBrains Mono"/>
              </a:rPr>
              <a:t>report </a:t>
            </a:r>
            <a:r>
              <a:rPr b="0" i="0" lang="en-US" spc="0" sz="1400" u="none" cap="none" strike="noStrike">
                <a:solidFill>
                  <a:srgbClr val="9BE6C8"/>
                </a:solidFill>
                <a:latin typeface="JetBrains Mono"/>
                <a:ea typeface="JetBrains Mono"/>
                <a:cs typeface="JetBrains Mono"/>
                <a:sym typeface="JetBrains Mono"/>
              </a:rPr>
              <a:t>"KEDA metrics apiserver"</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"keda-operator-metrics-apiserver"</a:t>
            </a:r>
            <a:endParaRPr b="0" i="0" spc="0" sz="1400" u="none" cap="none" strike="noStrike">
              <a:solidFill>
                <a:srgbClr val="D7D8EC"/>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D7D8EC"/>
                </a:solidFill>
                <a:latin typeface="JetBrains Mono"/>
                <a:ea typeface="JetBrains Mono"/>
                <a:cs typeface="JetBrains Mono"/>
                <a:sym typeface="JetBrains Mono"/>
              </a:rPr>
              <a:t>report </a:t>
            </a:r>
            <a:r>
              <a:rPr b="0" i="0" lang="en-US" spc="0" sz="1400" u="none" cap="none" strike="noStrike">
                <a:solidFill>
                  <a:srgbClr val="9BE6C8"/>
                </a:solidFill>
                <a:latin typeface="JetBrains Mono"/>
                <a:ea typeface="JetBrains Mono"/>
                <a:cs typeface="JetBrains Mono"/>
                <a:sym typeface="JetBrains Mono"/>
              </a:rPr>
              <a:t>"KEDA admission webhook"</a:t>
            </a:r>
            <a:r>
              <a:rPr b="0" i="0" lang="en-US" spc="0" sz="1400" u="none" cap="none" strike="noStrike">
                <a:solidFill>
                  <a:srgbClr val="D7D8EC"/>
                </a:solidFill>
                <a:latin typeface="JetBrains Mono"/>
                <a:ea typeface="JetBrains Mono"/>
                <a:cs typeface="JetBrains Mono"/>
                <a:sym typeface="JetBrains Mono"/>
              </a:rPr>
              <a:t> </a:t>
            </a:r>
            <a:r>
              <a:rPr b="0" i="0" lang="en-US" spc="0" sz="1400" u="none" cap="none" strike="noStrike">
                <a:solidFill>
                  <a:srgbClr val="9BE6C8"/>
                </a:solidFill>
                <a:latin typeface="JetBrains Mono"/>
                <a:ea typeface="JetBrains Mono"/>
                <a:cs typeface="JetBrains Mono"/>
                <a:sym typeface="JetBrains Mono"/>
              </a:rPr>
              <a:t>"keda-admission-webhooks"</a:t>
            </a:r>
            <a:endParaRPr b="0" i="0" spc="0" sz="1400" u="none" cap="none" strike="noStrike">
              <a:solidFill>
                <a:srgbClr val="D7D8EC"/>
              </a:solidFill>
              <a:latin typeface="JetBrains Mono"/>
              <a:ea typeface="JetBrains Mono"/>
              <a:cs typeface="JetBrains Mono"/>
              <a:sym typeface="JetBrains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3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325" name="Shape 325"/>
        <p:cNvGrpSpPr/>
        <p:nvPr/>
      </p:nvGrpSpPr>
      <p:grpSpPr>
        <a:xfrm>
          <a:off x="0" y="0"/>
          <a:ext cx="0" cy="0"/>
          <a:chOff x="0" y="0"/>
          <a:chExt cx="0" cy="0"/>
        </a:xfrm>
      </p:grpSpPr>
      <p:sp>
        <p:nvSpPr>
          <p:cNvPr id="326" name="Google Shape;326;p22"/>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ANALYSIS</a:t>
            </a:r>
            <a:endParaRPr b="0" i="0" spc="0" sz="1800" u="none" cap="none" strike="noStrike">
              <a:solidFill>
                <a:schemeClr val="dk1"/>
              </a:solidFill>
              <a:latin typeface="Calibri"/>
              <a:ea typeface="Calibri"/>
              <a:cs typeface="Calibri"/>
              <a:sym typeface="Calibri"/>
            </a:endParaRPr>
          </a:p>
        </p:txBody>
      </p:sp>
      <p:sp>
        <p:nvSpPr>
          <p:cNvPr id="327" name="Google Shape;327;p22"/>
          <p:cNvSpPr/>
          <p:nvPr/>
        </p:nvSpPr>
        <p:spPr>
          <a:xfrm>
            <a:off x="1047750" y="1385888"/>
            <a:ext cx="17811900" cy="866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4800"/>
              <a:buFont typeface="Manrope"/>
              <a:buNone/>
            </a:pPr>
            <a:r>
              <a:rPr b="1" i="0" lang="en-US" spc="0" sz="4800" u="none" cap="none" strike="noStrike">
                <a:solidFill>
                  <a:schemeClr val="dk1"/>
                </a:solidFill>
                <a:latin typeface="Manrope"/>
                <a:ea typeface="Manrope"/>
                <a:cs typeface="Manrope"/>
                <a:sym typeface="Manrope"/>
              </a:rPr>
              <a:t>What the pprof snapshots show</a:t>
            </a:r>
            <a:endParaRPr b="0" i="0" spc="0" sz="4800" u="none" cap="none" strike="noStrike">
              <a:solidFill>
                <a:schemeClr val="dk1"/>
              </a:solidFill>
              <a:latin typeface="Calibri"/>
              <a:ea typeface="Calibri"/>
              <a:cs typeface="Calibri"/>
              <a:sym typeface="Calibri"/>
            </a:endParaRPr>
          </a:p>
        </p:txBody>
      </p:sp>
      <p:pic>
        <p:nvPicPr>
          <p:cNvPr id="328" name="Google Shape;328;p22"/>
          <p:cNvPicPr preferRelativeResize="0"/>
          <p:nvPr/>
        </p:nvPicPr>
        <p:blipFill rotWithShape="1">
          <a:blip r:embed="rId3">
            <a:alphaModFix/>
          </a:blip>
          <a:srcRect b="7795" l="3298" r="2460" t="16379"/>
          <a:stretch/>
        </p:blipFill>
        <p:spPr>
          <a:xfrm>
            <a:off x="1257038" y="2293585"/>
            <a:ext cx="16154692" cy="7310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333" name="Shape 333"/>
        <p:cNvGrpSpPr/>
        <p:nvPr/>
      </p:nvGrpSpPr>
      <p:grpSpPr>
        <a:xfrm>
          <a:off x="0" y="0"/>
          <a:ext cx="0" cy="0"/>
          <a:chOff x="0" y="0"/>
          <a:chExt cx="0" cy="0"/>
        </a:xfrm>
      </p:grpSpPr>
      <p:sp>
        <p:nvSpPr>
          <p:cNvPr id="334" name="Google Shape;334;p23"/>
          <p:cNvSpPr/>
          <p:nvPr/>
        </p:nvSpPr>
        <p:spPr>
          <a:xfrm>
            <a:off x="1047750" y="1324200"/>
            <a:ext cx="13620900" cy="866700"/>
          </a:xfrm>
          <a:prstGeom prst="rect">
            <a:avLst/>
          </a:prstGeom>
          <a:solidFill>
            <a:srgbClr val="000000">
              <a:alpha val="0"/>
            </a:srgbClr>
          </a:solidFill>
          <a:ln>
            <a:noFill/>
          </a:ln>
        </p:spPr>
        <p:txBody>
          <a:bodyPr anchorCtr="0" anchor="t" bIns="25425" lIns="25425" spcFirstLastPara="1" rIns="25425" wrap="square" tIns="25425">
            <a:noAutofit/>
          </a:bodyPr>
          <a:lstStyle/>
          <a:p>
            <a:pPr indent="0" lvl="0" marL="0" marR="0" rtl="0" algn="l">
              <a:lnSpc>
                <a:spcPct val="100000"/>
              </a:lnSpc>
              <a:spcBef>
                <a:spcPts val="0"/>
              </a:spcBef>
              <a:spcAft>
                <a:spcPts val="0"/>
              </a:spcAft>
              <a:buClr>
                <a:srgbClr val="000000"/>
              </a:buClr>
              <a:buSzPts val="4800"/>
              <a:buFont typeface="Arial"/>
              <a:buNone/>
            </a:pPr>
            <a:r>
              <a:rPr b="1" i="0" lang="en-US" spc="0" sz="4800" u="none" cap="none" strike="noStrike">
                <a:solidFill>
                  <a:srgbClr val="12132A"/>
                </a:solidFill>
                <a:latin typeface="Manrope"/>
                <a:ea typeface="Manrope"/>
                <a:cs typeface="Manrope"/>
                <a:sym typeface="Manrope"/>
              </a:rPr>
              <a:t>What the pprof snapshots show</a:t>
            </a:r>
            <a:endParaRPr b="1" i="0" spc="0" sz="4800" u="none" cap="none" strike="noStrike">
              <a:solidFill>
                <a:srgbClr val="12132A"/>
              </a:solidFill>
              <a:latin typeface="Manrope"/>
              <a:ea typeface="Manrope"/>
              <a:cs typeface="Manrope"/>
              <a:sym typeface="Manrope"/>
            </a:endParaRPr>
          </a:p>
        </p:txBody>
      </p:sp>
      <p:sp>
        <p:nvSpPr>
          <p:cNvPr id="335" name="Google Shape;335;p23"/>
          <p:cNvSpPr/>
          <p:nvPr/>
        </p:nvSpPr>
        <p:spPr>
          <a:xfrm>
            <a:off x="1047750" y="6858000"/>
            <a:ext cx="16192500" cy="192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23"/>
          <p:cNvSpPr/>
          <p:nvPr/>
        </p:nvSpPr>
        <p:spPr>
          <a:xfrm>
            <a:off x="1047750" y="2466975"/>
            <a:ext cx="16192500" cy="19200"/>
          </a:xfrm>
          <a:prstGeom prst="rect">
            <a:avLst/>
          </a:prstGeom>
          <a:solidFill>
            <a:srgbClr val="DCDF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7" name="Google Shape;337;p23"/>
          <p:cNvSpPr/>
          <p:nvPr/>
        </p:nvSpPr>
        <p:spPr>
          <a:xfrm>
            <a:off x="6426175" y="2486025"/>
            <a:ext cx="19200" cy="43719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8" name="Google Shape;338;p23"/>
          <p:cNvSpPr/>
          <p:nvPr/>
        </p:nvSpPr>
        <p:spPr>
          <a:xfrm>
            <a:off x="1047750" y="2762250"/>
            <a:ext cx="5287500" cy="1181100"/>
          </a:xfrm>
          <a:prstGeom prst="rect">
            <a:avLst/>
          </a:prstGeom>
          <a:solidFill>
            <a:srgbClr val="000000">
              <a:alpha val="0"/>
            </a:srgbClr>
          </a:solidFill>
          <a:ln>
            <a:noFill/>
          </a:ln>
        </p:spPr>
        <p:txBody>
          <a:bodyPr anchorCtr="0" anchor="t" bIns="25425" lIns="25425" spcFirstLastPara="1" rIns="25425" wrap="square" tIns="25425">
            <a:noAutofit/>
          </a:bodyPr>
          <a:lstStyle/>
          <a:p>
            <a:pPr indent="0" lvl="0" marL="0" marR="0" rtl="0" algn="l">
              <a:lnSpc>
                <a:spcPct val="100000"/>
              </a:lnSpc>
              <a:spcBef>
                <a:spcPts val="0"/>
              </a:spcBef>
              <a:spcAft>
                <a:spcPts val="0"/>
              </a:spcAft>
              <a:buClr>
                <a:srgbClr val="000000"/>
              </a:buClr>
              <a:buSzPts val="6975"/>
              <a:buFont typeface="Arial"/>
              <a:buNone/>
            </a:pPr>
            <a:r>
              <a:rPr b="1" i="0" lang="en-US" spc="0" sz="6975" u="none" cap="none" strike="noStrike">
                <a:solidFill>
                  <a:srgbClr val="3928D9"/>
                </a:solidFill>
                <a:latin typeface="Manrope"/>
                <a:ea typeface="Manrope"/>
                <a:cs typeface="Manrope"/>
                <a:sym typeface="Manrope"/>
              </a:rPr>
              <a:t>210 ms</a:t>
            </a:r>
            <a:endParaRPr b="1" i="0" spc="0" sz="6975" u="none" cap="none" strike="noStrike">
              <a:solidFill>
                <a:srgbClr val="3928D9"/>
              </a:solidFill>
              <a:latin typeface="Manrope"/>
              <a:ea typeface="Manrope"/>
              <a:cs typeface="Manrope"/>
              <a:sym typeface="Manrope"/>
            </a:endParaRPr>
          </a:p>
        </p:txBody>
      </p:sp>
      <p:sp>
        <p:nvSpPr>
          <p:cNvPr id="339" name="Google Shape;339;p23"/>
          <p:cNvSpPr/>
          <p:nvPr/>
        </p:nvSpPr>
        <p:spPr>
          <a:xfrm>
            <a:off x="1047750" y="4095750"/>
            <a:ext cx="5287500" cy="2476500"/>
          </a:xfrm>
          <a:prstGeom prst="rect">
            <a:avLst/>
          </a:prstGeom>
          <a:solidFill>
            <a:srgbClr val="000000">
              <a:alpha val="0"/>
            </a:srgbClr>
          </a:solidFill>
          <a:ln>
            <a:noFill/>
          </a:ln>
        </p:spPr>
        <p:txBody>
          <a:bodyPr anchorCtr="0" anchor="t" bIns="25425" lIns="25425" spcFirstLastPara="1" rIns="25425" wrap="square" tIns="25425">
            <a:noAutofit/>
          </a:bodyPr>
          <a:lstStyle/>
          <a:p>
            <a:pPr indent="0" lvl="0" marL="0" marR="0" rtl="0" algn="l">
              <a:lnSpc>
                <a:spcPct val="100000"/>
              </a:lnSpc>
              <a:spcBef>
                <a:spcPts val="0"/>
              </a:spcBef>
              <a:spcAft>
                <a:spcPts val="0"/>
              </a:spcAft>
              <a:buClr>
                <a:srgbClr val="000000"/>
              </a:buClr>
              <a:buSzPts val="2200"/>
              <a:buFont typeface="Arial"/>
              <a:buNone/>
            </a:pPr>
            <a:r>
              <a:rPr b="1" i="0" lang="en-US" spc="0" sz="2200" u="none" cap="none" strike="noStrike">
                <a:solidFill>
                  <a:srgbClr val="12132A"/>
                </a:solidFill>
                <a:latin typeface="Manrope"/>
                <a:ea typeface="Manrope"/>
                <a:cs typeface="Manrope"/>
                <a:sym typeface="Manrope"/>
              </a:rPr>
              <a:t>KEDA Operator</a:t>
            </a:r>
            <a:endParaRPr b="1" i="0" spc="0" sz="2200" u="none" cap="none" strike="noStrike">
              <a:solidFill>
                <a:srgbClr val="12132A"/>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1600"/>
              <a:buFont typeface="Arial"/>
              <a:buNone/>
            </a:pPr>
            <a:r>
              <a:rPr b="0" i="0" lang="en-US" spc="0" sz="1600" u="none" cap="none" strike="noStrike">
                <a:solidFill>
                  <a:srgbClr val="3928D9"/>
                </a:solidFill>
                <a:latin typeface="Manrope SemiBold"/>
                <a:ea typeface="Manrope SemiBold"/>
                <a:cs typeface="Manrope SemiBold"/>
                <a:sym typeface="Manrope SemiBold"/>
              </a:rPr>
              <a:t>+2.51 MiB heap growth</a:t>
            </a:r>
            <a:endParaRPr b="0" i="0" spc="0" sz="1600" u="none" cap="none" strike="noStrike">
              <a:solidFill>
                <a:srgbClr val="3928D9"/>
              </a:solidFill>
              <a:latin typeface="Manrope SemiBold"/>
              <a:ea typeface="Manrope SemiBold"/>
              <a:cs typeface="Manrope SemiBold"/>
              <a:sym typeface="Manrope SemiBold"/>
            </a:endParaRPr>
          </a:p>
          <a:p>
            <a:pPr indent="0" lvl="0" marL="0" marR="0" rtl="0" algn="l">
              <a:lnSpc>
                <a:spcPct val="100000"/>
              </a:lnSpc>
              <a:spcBef>
                <a:spcPts val="900"/>
              </a:spcBef>
              <a:spcAft>
                <a:spcPts val="0"/>
              </a:spcAft>
              <a:buClr>
                <a:srgbClr val="000000"/>
              </a:buClr>
              <a:buSzPts val="1500"/>
              <a:buFont typeface="Arial"/>
              <a:buNone/>
            </a:pPr>
            <a:r>
              <a:rPr b="0" i="0" lang="en-US" spc="0" sz="1500" u="none" cap="none" strike="noStrike">
                <a:solidFill>
                  <a:srgbClr val="5A5E7A"/>
                </a:solidFill>
                <a:latin typeface="Manrope"/>
                <a:ea typeface="Manrope"/>
                <a:cs typeface="Manrope"/>
                <a:sym typeface="Manrope"/>
              </a:rPr>
              <a:t>No CPU saturation or large retained allocation signature</a:t>
            </a:r>
            <a:endParaRPr b="0" i="0" spc="0" sz="1500" u="none" cap="none" strike="noStrike">
              <a:solidFill>
                <a:srgbClr val="5A5E7A"/>
              </a:solidFill>
              <a:latin typeface="Manrope"/>
              <a:ea typeface="Manrope"/>
              <a:cs typeface="Manrope"/>
              <a:sym typeface="Manrope"/>
            </a:endParaRPr>
          </a:p>
        </p:txBody>
      </p:sp>
      <p:sp>
        <p:nvSpPr>
          <p:cNvPr id="340" name="Google Shape;340;p23"/>
          <p:cNvSpPr/>
          <p:nvPr/>
        </p:nvSpPr>
        <p:spPr>
          <a:xfrm>
            <a:off x="11823668" y="2486025"/>
            <a:ext cx="19200" cy="4371900"/>
          </a:xfrm>
          <a:prstGeom prst="rect">
            <a:avLst/>
          </a:prstGeom>
          <a:solidFill>
            <a:srgbClr val="DCDFE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1" name="Google Shape;341;p23"/>
          <p:cNvSpPr/>
          <p:nvPr/>
        </p:nvSpPr>
        <p:spPr>
          <a:xfrm>
            <a:off x="7016725" y="2762250"/>
            <a:ext cx="4659000" cy="1181100"/>
          </a:xfrm>
          <a:prstGeom prst="rect">
            <a:avLst/>
          </a:prstGeom>
          <a:solidFill>
            <a:srgbClr val="000000">
              <a:alpha val="0"/>
            </a:srgbClr>
          </a:solidFill>
          <a:ln>
            <a:noFill/>
          </a:ln>
        </p:spPr>
        <p:txBody>
          <a:bodyPr anchorCtr="0" anchor="t" bIns="25425" lIns="25425" spcFirstLastPara="1" rIns="25425" wrap="square" tIns="25425">
            <a:noAutofit/>
          </a:bodyPr>
          <a:lstStyle/>
          <a:p>
            <a:pPr indent="0" lvl="0" marL="0" marR="0" rtl="0" algn="l">
              <a:lnSpc>
                <a:spcPct val="100000"/>
              </a:lnSpc>
              <a:spcBef>
                <a:spcPts val="0"/>
              </a:spcBef>
              <a:spcAft>
                <a:spcPts val="0"/>
              </a:spcAft>
              <a:buClr>
                <a:srgbClr val="000000"/>
              </a:buClr>
              <a:buSzPts val="6975"/>
              <a:buFont typeface="Arial"/>
              <a:buNone/>
            </a:pPr>
            <a:r>
              <a:rPr b="1" i="0" lang="en-US" spc="0" sz="6975" u="none" cap="none" strike="noStrike">
                <a:solidFill>
                  <a:srgbClr val="3928D9"/>
                </a:solidFill>
                <a:latin typeface="Manrope"/>
                <a:ea typeface="Manrope"/>
                <a:cs typeface="Manrope"/>
                <a:sym typeface="Manrope"/>
              </a:rPr>
              <a:t>100 ms</a:t>
            </a:r>
            <a:endParaRPr b="1" i="0" spc="0" sz="6975" u="none" cap="none" strike="noStrike">
              <a:solidFill>
                <a:srgbClr val="3928D9"/>
              </a:solidFill>
              <a:latin typeface="Manrope"/>
              <a:ea typeface="Manrope"/>
              <a:cs typeface="Manrope"/>
              <a:sym typeface="Manrope"/>
            </a:endParaRPr>
          </a:p>
        </p:txBody>
      </p:sp>
      <p:sp>
        <p:nvSpPr>
          <p:cNvPr id="342" name="Google Shape;342;p23"/>
          <p:cNvSpPr/>
          <p:nvPr/>
        </p:nvSpPr>
        <p:spPr>
          <a:xfrm>
            <a:off x="7016725" y="4095750"/>
            <a:ext cx="4659000" cy="2476500"/>
          </a:xfrm>
          <a:prstGeom prst="rect">
            <a:avLst/>
          </a:prstGeom>
          <a:solidFill>
            <a:srgbClr val="000000">
              <a:alpha val="0"/>
            </a:srgbClr>
          </a:solidFill>
          <a:ln>
            <a:noFill/>
          </a:ln>
        </p:spPr>
        <p:txBody>
          <a:bodyPr anchorCtr="0" anchor="t" bIns="25425" lIns="25425" spcFirstLastPara="1" rIns="25425" wrap="square" tIns="25425">
            <a:noAutofit/>
          </a:bodyPr>
          <a:lstStyle/>
          <a:p>
            <a:pPr indent="0" lvl="0" marL="0" marR="0" rtl="0" algn="l">
              <a:lnSpc>
                <a:spcPct val="100000"/>
              </a:lnSpc>
              <a:spcBef>
                <a:spcPts val="0"/>
              </a:spcBef>
              <a:spcAft>
                <a:spcPts val="0"/>
              </a:spcAft>
              <a:buClr>
                <a:srgbClr val="000000"/>
              </a:buClr>
              <a:buSzPts val="2200"/>
              <a:buFont typeface="Arial"/>
              <a:buNone/>
            </a:pPr>
            <a:r>
              <a:rPr b="1" i="0" lang="en-US" spc="0" sz="2200" u="none" cap="none" strike="noStrike">
                <a:solidFill>
                  <a:srgbClr val="12132A"/>
                </a:solidFill>
                <a:latin typeface="Manrope"/>
                <a:ea typeface="Manrope"/>
                <a:cs typeface="Manrope"/>
                <a:sym typeface="Manrope"/>
              </a:rPr>
              <a:t>KEDA Metrics Apiserver</a:t>
            </a:r>
            <a:endParaRPr b="1" i="0" spc="0" sz="2200" u="none" cap="none" strike="noStrike">
              <a:solidFill>
                <a:srgbClr val="12132A"/>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1600"/>
              <a:buFont typeface="Arial"/>
              <a:buNone/>
            </a:pPr>
            <a:r>
              <a:rPr b="0" i="0" lang="en-US" spc="0" sz="1600" u="none" cap="none" strike="noStrike">
                <a:solidFill>
                  <a:srgbClr val="3928D9"/>
                </a:solidFill>
                <a:latin typeface="Manrope SemiBold"/>
                <a:ea typeface="Manrope SemiBold"/>
                <a:cs typeface="Manrope SemiBold"/>
                <a:sym typeface="Manrope SemiBold"/>
              </a:rPr>
              <a:t>+1.38 MiB heap growth</a:t>
            </a:r>
            <a:endParaRPr b="0" i="0" spc="0" sz="1600" u="none" cap="none" strike="noStrike">
              <a:solidFill>
                <a:srgbClr val="3928D9"/>
              </a:solidFill>
              <a:latin typeface="Manrope SemiBold"/>
              <a:ea typeface="Manrope SemiBold"/>
              <a:cs typeface="Manrope SemiBold"/>
              <a:sym typeface="Manrope SemiBold"/>
            </a:endParaRPr>
          </a:p>
          <a:p>
            <a:pPr indent="0" lvl="0" marL="0" marR="0" rtl="0" algn="l">
              <a:lnSpc>
                <a:spcPct val="100000"/>
              </a:lnSpc>
              <a:spcBef>
                <a:spcPts val="900"/>
              </a:spcBef>
              <a:spcAft>
                <a:spcPts val="0"/>
              </a:spcAft>
              <a:buClr>
                <a:srgbClr val="000000"/>
              </a:buClr>
              <a:buSzPts val="1500"/>
              <a:buFont typeface="Arial"/>
              <a:buNone/>
            </a:pPr>
            <a:r>
              <a:rPr b="0" i="0" lang="en-US" spc="0" sz="1500" u="none" cap="none" strike="noStrike">
                <a:solidFill>
                  <a:srgbClr val="5A5E7A"/>
                </a:solidFill>
                <a:latin typeface="Manrope"/>
                <a:ea typeface="Manrope"/>
                <a:cs typeface="Manrope"/>
                <a:sym typeface="Manrope"/>
              </a:rPr>
              <a:t>Small growth; mostly metrics serialization paths</a:t>
            </a:r>
            <a:endParaRPr b="0" i="0" spc="0" sz="1500" u="none" cap="none" strike="noStrike">
              <a:solidFill>
                <a:srgbClr val="5A5E7A"/>
              </a:solidFill>
              <a:latin typeface="Manrope"/>
              <a:ea typeface="Manrope"/>
              <a:cs typeface="Manrope"/>
              <a:sym typeface="Manrope"/>
            </a:endParaRPr>
          </a:p>
        </p:txBody>
      </p:sp>
      <p:sp>
        <p:nvSpPr>
          <p:cNvPr id="343" name="Google Shape;343;p23"/>
          <p:cNvSpPr/>
          <p:nvPr/>
        </p:nvSpPr>
        <p:spPr>
          <a:xfrm>
            <a:off x="12414218" y="2762250"/>
            <a:ext cx="5308800" cy="1181100"/>
          </a:xfrm>
          <a:prstGeom prst="rect">
            <a:avLst/>
          </a:prstGeom>
          <a:solidFill>
            <a:srgbClr val="000000">
              <a:alpha val="0"/>
            </a:srgbClr>
          </a:solidFill>
          <a:ln>
            <a:noFill/>
          </a:ln>
        </p:spPr>
        <p:txBody>
          <a:bodyPr anchorCtr="0" anchor="t" bIns="25425" lIns="25425" spcFirstLastPara="1" rIns="25425" wrap="square" tIns="25425">
            <a:noAutofit/>
          </a:bodyPr>
          <a:lstStyle/>
          <a:p>
            <a:pPr indent="0" lvl="0" marL="0" marR="0" rtl="0" algn="l">
              <a:lnSpc>
                <a:spcPct val="100000"/>
              </a:lnSpc>
              <a:spcBef>
                <a:spcPts val="0"/>
              </a:spcBef>
              <a:spcAft>
                <a:spcPts val="0"/>
              </a:spcAft>
              <a:buClr>
                <a:srgbClr val="000000"/>
              </a:buClr>
              <a:buSzPts val="6975"/>
              <a:buFont typeface="Arial"/>
              <a:buNone/>
            </a:pPr>
            <a:r>
              <a:rPr b="1" i="0" lang="en-US" spc="0" sz="6975" u="none" cap="none" strike="noStrike">
                <a:solidFill>
                  <a:srgbClr val="3928D9"/>
                </a:solidFill>
                <a:latin typeface="Manrope"/>
                <a:ea typeface="Manrope"/>
                <a:cs typeface="Manrope"/>
                <a:sym typeface="Manrope"/>
              </a:rPr>
              <a:t>50 ms</a:t>
            </a:r>
            <a:endParaRPr b="1" i="0" spc="0" sz="6975" u="none" cap="none" strike="noStrike">
              <a:solidFill>
                <a:srgbClr val="3928D9"/>
              </a:solidFill>
              <a:latin typeface="Manrope"/>
              <a:ea typeface="Manrope"/>
              <a:cs typeface="Manrope"/>
              <a:sym typeface="Manrope"/>
            </a:endParaRPr>
          </a:p>
        </p:txBody>
      </p:sp>
      <p:sp>
        <p:nvSpPr>
          <p:cNvPr id="344" name="Google Shape;344;p23"/>
          <p:cNvSpPr/>
          <p:nvPr/>
        </p:nvSpPr>
        <p:spPr>
          <a:xfrm>
            <a:off x="12414218" y="4095750"/>
            <a:ext cx="5308800" cy="2476500"/>
          </a:xfrm>
          <a:prstGeom prst="rect">
            <a:avLst/>
          </a:prstGeom>
          <a:solidFill>
            <a:srgbClr val="000000">
              <a:alpha val="0"/>
            </a:srgbClr>
          </a:solidFill>
          <a:ln>
            <a:noFill/>
          </a:ln>
        </p:spPr>
        <p:txBody>
          <a:bodyPr anchorCtr="0" anchor="t" bIns="25425" lIns="25425" spcFirstLastPara="1" rIns="25425" wrap="square" tIns="25425">
            <a:noAutofit/>
          </a:bodyPr>
          <a:lstStyle/>
          <a:p>
            <a:pPr indent="0" lvl="0" marL="0" marR="0" rtl="0" algn="l">
              <a:lnSpc>
                <a:spcPct val="100000"/>
              </a:lnSpc>
              <a:spcBef>
                <a:spcPts val="0"/>
              </a:spcBef>
              <a:spcAft>
                <a:spcPts val="0"/>
              </a:spcAft>
              <a:buClr>
                <a:srgbClr val="000000"/>
              </a:buClr>
              <a:buSzPts val="2200"/>
              <a:buFont typeface="Arial"/>
              <a:buNone/>
            </a:pPr>
            <a:r>
              <a:rPr b="1" i="0" lang="en-US" spc="0" sz="2200" u="none" cap="none" strike="noStrike">
                <a:solidFill>
                  <a:srgbClr val="12132A"/>
                </a:solidFill>
                <a:latin typeface="Manrope"/>
                <a:ea typeface="Manrope"/>
                <a:cs typeface="Manrope"/>
                <a:sym typeface="Manrope"/>
              </a:rPr>
              <a:t>KEDA Admission Webhook</a:t>
            </a:r>
            <a:endParaRPr b="1" i="0" spc="0" sz="2200" u="none" cap="none" strike="noStrike">
              <a:solidFill>
                <a:srgbClr val="12132A"/>
              </a:solidFill>
              <a:latin typeface="Manrope"/>
              <a:ea typeface="Manrope"/>
              <a:cs typeface="Manrope"/>
              <a:sym typeface="Manrope"/>
            </a:endParaRPr>
          </a:p>
          <a:p>
            <a:pPr indent="0" lvl="0" marL="0" marR="0" rtl="0" algn="l">
              <a:lnSpc>
                <a:spcPct val="100000"/>
              </a:lnSpc>
              <a:spcBef>
                <a:spcPts val="600"/>
              </a:spcBef>
              <a:spcAft>
                <a:spcPts val="0"/>
              </a:spcAft>
              <a:buClr>
                <a:srgbClr val="000000"/>
              </a:buClr>
              <a:buSzPts val="1600"/>
              <a:buFont typeface="Arial"/>
              <a:buNone/>
            </a:pPr>
            <a:r>
              <a:rPr b="0" i="0" lang="en-US" spc="0" sz="1600" u="none" cap="none" strike="noStrike">
                <a:solidFill>
                  <a:srgbClr val="3928D9"/>
                </a:solidFill>
                <a:latin typeface="Manrope SemiBold"/>
                <a:ea typeface="Manrope SemiBold"/>
                <a:cs typeface="Manrope SemiBold"/>
                <a:sym typeface="Manrope SemiBold"/>
              </a:rPr>
              <a:t>0 MiB heap growth</a:t>
            </a:r>
            <a:endParaRPr b="0" i="0" spc="0" sz="1600" u="none" cap="none" strike="noStrike">
              <a:solidFill>
                <a:srgbClr val="3928D9"/>
              </a:solidFill>
              <a:latin typeface="Manrope SemiBold"/>
              <a:ea typeface="Manrope SemiBold"/>
              <a:cs typeface="Manrope SemiBold"/>
              <a:sym typeface="Manrope SemiBold"/>
            </a:endParaRPr>
          </a:p>
          <a:p>
            <a:pPr indent="0" lvl="0" marL="0" marR="0" rtl="0" algn="l">
              <a:lnSpc>
                <a:spcPct val="100000"/>
              </a:lnSpc>
              <a:spcBef>
                <a:spcPts val="900"/>
              </a:spcBef>
              <a:spcAft>
                <a:spcPts val="0"/>
              </a:spcAft>
              <a:buClr>
                <a:srgbClr val="000000"/>
              </a:buClr>
              <a:buSzPts val="1500"/>
              <a:buFont typeface="Arial"/>
              <a:buNone/>
            </a:pPr>
            <a:r>
              <a:rPr b="0" i="0" lang="en-US" spc="0" sz="1500" u="none" cap="none" strike="noStrike">
                <a:solidFill>
                  <a:srgbClr val="5A5E7A"/>
                </a:solidFill>
                <a:latin typeface="Manrope"/>
                <a:ea typeface="Manrope"/>
                <a:cs typeface="Manrope"/>
                <a:sym typeface="Manrope"/>
              </a:rPr>
              <a:t>Not a resource bottleneck in this scenario</a:t>
            </a:r>
            <a:endParaRPr b="0" i="0" spc="0" sz="1500" u="none" cap="none" strike="noStrike">
              <a:solidFill>
                <a:srgbClr val="5A5E7A"/>
              </a:solidFill>
              <a:latin typeface="Manrope"/>
              <a:ea typeface="Manrope"/>
              <a:cs typeface="Manrope"/>
              <a:sym typeface="Manrope"/>
            </a:endParaRPr>
          </a:p>
        </p:txBody>
      </p:sp>
      <p:sp>
        <p:nvSpPr>
          <p:cNvPr id="345" name="Google Shape;345;p23"/>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ANALYSIS</a:t>
            </a:r>
            <a:endParaRPr b="0" i="0" spc="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5F9"/>
        </a:solidFill>
      </p:bgPr>
    </p:bg>
    <p:spTree>
      <p:nvGrpSpPr>
        <p:cNvPr id="350" name="Shape 350"/>
        <p:cNvGrpSpPr/>
        <p:nvPr/>
      </p:nvGrpSpPr>
      <p:grpSpPr>
        <a:xfrm>
          <a:off x="0" y="0"/>
          <a:ext cx="0" cy="0"/>
          <a:chOff x="0" y="0"/>
          <a:chExt cx="0" cy="0"/>
        </a:xfrm>
      </p:grpSpPr>
      <p:sp>
        <p:nvSpPr>
          <p:cNvPr id="351" name="Google Shape;351;p24"/>
          <p:cNvSpPr/>
          <p:nvPr/>
        </p:nvSpPr>
        <p:spPr>
          <a:xfrm>
            <a:off x="1047750" y="876300"/>
            <a:ext cx="17811900" cy="338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8E86F2"/>
              </a:buClr>
              <a:buSzPts val="1800"/>
              <a:buFont typeface="JetBrains Mono"/>
              <a:buNone/>
            </a:pPr>
            <a:r>
              <a:rPr b="0" i="0" lang="en-US" spc="0" sz="1800" u="none" cap="none" strike="noStrike">
                <a:solidFill>
                  <a:srgbClr val="8E86F2"/>
                </a:solidFill>
                <a:latin typeface="JetBrains Mono"/>
                <a:ea typeface="JetBrains Mono"/>
                <a:cs typeface="JetBrains Mono"/>
                <a:sym typeface="JetBrains Mono"/>
              </a:rPr>
              <a:t>ANALYSIS</a:t>
            </a:r>
            <a:endParaRPr b="0" i="0" spc="0" sz="1800" u="none" cap="none" strike="noStrike">
              <a:solidFill>
                <a:schemeClr val="dk1"/>
              </a:solidFill>
              <a:latin typeface="Calibri"/>
              <a:ea typeface="Calibri"/>
              <a:cs typeface="Calibri"/>
              <a:sym typeface="Calibri"/>
            </a:endParaRPr>
          </a:p>
        </p:txBody>
      </p:sp>
      <p:sp>
        <p:nvSpPr>
          <p:cNvPr id="352" name="Google Shape;352;p24"/>
          <p:cNvSpPr/>
          <p:nvPr/>
        </p:nvSpPr>
        <p:spPr>
          <a:xfrm>
            <a:off x="1047750" y="1385888"/>
            <a:ext cx="17811900" cy="866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4800"/>
              <a:buFont typeface="Manrope"/>
              <a:buNone/>
            </a:pPr>
            <a:r>
              <a:t/>
            </a:r>
            <a:endParaRPr b="0" i="0" spc="0" sz="4800" u="none" cap="none" strike="noStrike">
              <a:solidFill>
                <a:schemeClr val="dk1"/>
              </a:solidFill>
              <a:latin typeface="Calibri"/>
              <a:ea typeface="Calibri"/>
              <a:cs typeface="Calibri"/>
              <a:sym typeface="Calibri"/>
            </a:endParaRPr>
          </a:p>
        </p:txBody>
      </p:sp>
      <p:grpSp>
        <p:nvGrpSpPr>
          <p:cNvPr id="353" name="Google Shape;353;p24"/>
          <p:cNvGrpSpPr/>
          <p:nvPr/>
        </p:nvGrpSpPr>
        <p:grpSpPr>
          <a:xfrm>
            <a:off x="1047750" y="1385888"/>
            <a:ext cx="16192500" cy="857400"/>
            <a:chOff x="0" y="0"/>
            <a:chExt cx="16192500" cy="857400"/>
          </a:xfrm>
        </p:grpSpPr>
        <p:sp>
          <p:nvSpPr>
            <p:cNvPr id="354" name="Google Shape;354;p24"/>
            <p:cNvSpPr/>
            <p:nvPr/>
          </p:nvSpPr>
          <p:spPr>
            <a:xfrm>
              <a:off x="0" y="0"/>
              <a:ext cx="161925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5" name="Google Shape;355;p24"/>
            <p:cNvSpPr txBox="1"/>
            <p:nvPr/>
          </p:nvSpPr>
          <p:spPr>
            <a:xfrm>
              <a:off x="0" y="0"/>
              <a:ext cx="16192500" cy="85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800"/>
                <a:buFont typeface="Arial"/>
                <a:buNone/>
              </a:pPr>
              <a:r>
                <a:rPr b="1" i="0" lang="en-US" spc="0" sz="3800" u="none" cap="none" strike="noStrike">
                  <a:solidFill>
                    <a:srgbClr val="12132A"/>
                  </a:solidFill>
                  <a:latin typeface="Manrope"/>
                  <a:ea typeface="Manrope"/>
                  <a:cs typeface="Manrope"/>
                  <a:sym typeface="Manrope"/>
                </a:rPr>
                <a:t>KEDA control-plane lifecycle latency</a:t>
              </a:r>
              <a:endParaRPr b="1" i="0" spc="0" sz="3800" u="none" cap="none" strike="noStrike">
                <a:solidFill>
                  <a:srgbClr val="12132A"/>
                </a:solidFill>
                <a:latin typeface="Manrope"/>
                <a:ea typeface="Manrope"/>
                <a:cs typeface="Manrope"/>
                <a:sym typeface="Manrope"/>
              </a:endParaRPr>
            </a:p>
          </p:txBody>
        </p:sp>
      </p:grpSp>
      <p:grpSp>
        <p:nvGrpSpPr>
          <p:cNvPr id="356" name="Google Shape;356;p24"/>
          <p:cNvGrpSpPr/>
          <p:nvPr/>
        </p:nvGrpSpPr>
        <p:grpSpPr>
          <a:xfrm>
            <a:off x="1047750" y="2476500"/>
            <a:ext cx="6191400" cy="6096000"/>
            <a:chOff x="0" y="0"/>
            <a:chExt cx="6191400" cy="6096000"/>
          </a:xfrm>
        </p:grpSpPr>
        <p:sp>
          <p:nvSpPr>
            <p:cNvPr id="357" name="Google Shape;357;p24"/>
            <p:cNvSpPr/>
            <p:nvPr/>
          </p:nvSpPr>
          <p:spPr>
            <a:xfrm>
              <a:off x="0" y="0"/>
              <a:ext cx="6191400" cy="6096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sp>
          <p:nvSpPr>
            <p:cNvPr id="358" name="Google Shape;358;p24"/>
            <p:cNvSpPr txBox="1"/>
            <p:nvPr/>
          </p:nvSpPr>
          <p:spPr>
            <a:xfrm>
              <a:off x="0" y="0"/>
              <a:ext cx="6191400" cy="609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Run Profile &amp; Context</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1200"/>
                </a:spcBef>
                <a:spcAft>
                  <a:spcPts val="0"/>
                </a:spcAft>
                <a:buClr>
                  <a:srgbClr val="000000"/>
                </a:buClr>
                <a:buSzPts val="1700"/>
                <a:buFont typeface="Arial"/>
                <a:buNone/>
              </a:pPr>
              <a:r>
                <a:rPr b="1" i="0" lang="en-US" spc="0" sz="1700" u="none" cap="none" strike="noStrike">
                  <a:solidFill>
                    <a:srgbClr val="12132A"/>
                  </a:solidFill>
                  <a:latin typeface="Manrope"/>
                  <a:ea typeface="Manrope"/>
                  <a:cs typeface="Manrope"/>
                  <a:sym typeface="Manrope"/>
                </a:rPr>
                <a:t>Run:</a:t>
              </a:r>
              <a:r>
                <a:rPr b="0" i="0" lang="en-US" spc="0" sz="1700" u="none" cap="none" strike="noStrike">
                  <a:solidFill>
                    <a:srgbClr val="5A5E7A"/>
                  </a:solidFill>
                  <a:latin typeface="Manrope"/>
                  <a:ea typeface="Manrope"/>
                  <a:cs typeface="Manrope"/>
                  <a:sym typeface="Manrope"/>
                </a:rPr>
                <a:t> KEDA RabbitMQ, 10 ScaledObjects</a:t>
              </a:r>
              <a:endParaRPr b="0" i="0" spc="0" sz="1700" u="none" cap="none" strike="noStrike">
                <a:solidFill>
                  <a:srgbClr val="5A5E7A"/>
                </a:solidFill>
                <a:latin typeface="Manrope"/>
                <a:ea typeface="Manrope"/>
                <a:cs typeface="Manrope"/>
                <a:sym typeface="Manrope"/>
              </a:endParaRPr>
            </a:p>
            <a:p>
              <a:pPr indent="0" lvl="0" marL="0" marR="0" rtl="0" algn="l">
                <a:lnSpc>
                  <a:spcPct val="100000"/>
                </a:lnSpc>
                <a:spcBef>
                  <a:spcPts val="750"/>
                </a:spcBef>
                <a:spcAft>
                  <a:spcPts val="0"/>
                </a:spcAft>
                <a:buClr>
                  <a:srgbClr val="000000"/>
                </a:buClr>
                <a:buSzPts val="1700"/>
                <a:buFont typeface="Arial"/>
                <a:buNone/>
              </a:pPr>
              <a:r>
                <a:rPr b="1" i="0" lang="en-US" spc="0" sz="1700" u="none" cap="none" strike="noStrike">
                  <a:solidFill>
                    <a:srgbClr val="12132A"/>
                  </a:solidFill>
                  <a:latin typeface="Manrope"/>
                  <a:ea typeface="Manrope"/>
                  <a:cs typeface="Manrope"/>
                  <a:sym typeface="Manrope"/>
                </a:rPr>
                <a:t>Collection:</a:t>
              </a:r>
              <a:r>
                <a:rPr b="0" i="0" lang="en-US" spc="0" sz="1700" u="none" cap="none" strike="noStrike">
                  <a:solidFill>
                    <a:srgbClr val="5A5E7A"/>
                  </a:solidFill>
                  <a:latin typeface="Manrope"/>
                  <a:ea typeface="Manrope"/>
                  <a:cs typeface="Manrope"/>
                  <a:sym typeface="Manrope"/>
                </a:rPr>
                <a:t> Dynamic Kubernetes informers for ScaledObjects, HPAs, and Deployments</a:t>
              </a:r>
              <a:endParaRPr b="0" i="0" spc="0" sz="1700" u="none" cap="none" strike="noStrike">
                <a:solidFill>
                  <a:srgbClr val="5A5E7A"/>
                </a:solidFill>
                <a:latin typeface="Manrope"/>
                <a:ea typeface="Manrope"/>
                <a:cs typeface="Manrope"/>
                <a:sym typeface="Manrope"/>
              </a:endParaRPr>
            </a:p>
            <a:p>
              <a:pPr indent="0" lvl="0" marL="0" marR="0" rtl="0" algn="l">
                <a:lnSpc>
                  <a:spcPct val="100000"/>
                </a:lnSpc>
                <a:spcBef>
                  <a:spcPts val="750"/>
                </a:spcBef>
                <a:spcAft>
                  <a:spcPts val="0"/>
                </a:spcAft>
                <a:buClr>
                  <a:srgbClr val="000000"/>
                </a:buClr>
                <a:buSzPts val="1700"/>
                <a:buFont typeface="Arial"/>
                <a:buNone/>
              </a:pPr>
              <a:r>
                <a:rPr b="1" i="0" lang="en-US" spc="0" sz="1700" u="none" cap="none" strike="noStrike">
                  <a:solidFill>
                    <a:srgbClr val="12132A"/>
                  </a:solidFill>
                  <a:latin typeface="Manrope"/>
                  <a:ea typeface="Manrope"/>
                  <a:cs typeface="Manrope"/>
                  <a:sym typeface="Manrope"/>
                </a:rPr>
                <a:t>Source:</a:t>
              </a:r>
              <a:r>
                <a:rPr b="0" i="0" lang="en-US" spc="0" sz="1700" u="none" cap="none" strike="noStrike">
                  <a:solidFill>
                    <a:srgbClr val="5A5E7A"/>
                  </a:solidFill>
                  <a:latin typeface="Manrope"/>
                  <a:ea typeface="Manrope"/>
                  <a:cs typeface="Manrope"/>
                  <a:sym typeface="Manrope"/>
                </a:rPr>
                <a:t> </a:t>
              </a:r>
              <a:r>
                <a:rPr b="0" i="0" lang="en-US" spc="0" sz="1500" u="none" cap="none" strike="noStrike">
                  <a:solidFill>
                    <a:srgbClr val="5A5E7A"/>
                  </a:solidFill>
                  <a:latin typeface="JetBrains Mono"/>
                  <a:ea typeface="JetBrains Mono"/>
                  <a:cs typeface="JetBrains Mono"/>
                  <a:sym typeface="JetBrains Mono"/>
                </a:rPr>
                <a:t>scaledObjectLatencyQuantilesMeasurement-rabbitmq-consumers.json</a:t>
              </a:r>
              <a:endParaRPr b="0" i="0" spc="0" sz="1700" u="none" cap="none" strike="noStrike">
                <a:solidFill>
                  <a:srgbClr val="5A5E7A"/>
                </a:solidFill>
                <a:latin typeface="Manrope"/>
                <a:ea typeface="Manrope"/>
                <a:cs typeface="Manrope"/>
                <a:sym typeface="Manrope"/>
              </a:endParaRPr>
            </a:p>
            <a:p>
              <a:pPr indent="0" lvl="0" marL="0" marR="0" rtl="0" algn="l">
                <a:lnSpc>
                  <a:spcPct val="100000"/>
                </a:lnSpc>
                <a:spcBef>
                  <a:spcPts val="750"/>
                </a:spcBef>
                <a:spcAft>
                  <a:spcPts val="0"/>
                </a:spcAft>
                <a:buClr>
                  <a:srgbClr val="000000"/>
                </a:buClr>
                <a:buSzPts val="1700"/>
                <a:buFont typeface="Arial"/>
                <a:buNone/>
              </a:pPr>
              <a:r>
                <a:rPr b="1" i="0" lang="en-US" spc="0" sz="1700" u="none" cap="none" strike="noStrike">
                  <a:solidFill>
                    <a:srgbClr val="12132A"/>
                  </a:solidFill>
                  <a:latin typeface="Manrope"/>
                  <a:ea typeface="Manrope"/>
                  <a:cs typeface="Manrope"/>
                  <a:sym typeface="Manrope"/>
                </a:rPr>
                <a:t>UUID:</a:t>
              </a:r>
              <a:r>
                <a:rPr b="0" i="0" lang="en-US" spc="0" sz="1700" u="none" cap="none" strike="noStrike">
                  <a:solidFill>
                    <a:srgbClr val="5A5E7A"/>
                  </a:solidFill>
                  <a:latin typeface="Manrope"/>
                  <a:ea typeface="Manrope"/>
                  <a:cs typeface="Manrope"/>
                  <a:sym typeface="Manrope"/>
                </a:rPr>
                <a:t> </a:t>
              </a:r>
              <a:r>
                <a:rPr b="0" i="0" lang="en-US" spc="0" sz="1500" u="none" cap="none" strike="noStrike">
                  <a:solidFill>
                    <a:srgbClr val="5A5E7A"/>
                  </a:solidFill>
                  <a:latin typeface="JetBrains Mono"/>
                  <a:ea typeface="JetBrains Mono"/>
                  <a:cs typeface="JetBrains Mono"/>
                  <a:sym typeface="JetBrains Mono"/>
                </a:rPr>
                <a:t>cd92c965-968a-431d-adc9-8f250410bb9c</a:t>
              </a:r>
              <a:endParaRPr b="0" i="0" spc="0" sz="1700" u="none" cap="none" strike="noStrike">
                <a:solidFill>
                  <a:srgbClr val="5A5E7A"/>
                </a:solidFill>
                <a:latin typeface="Manrope"/>
                <a:ea typeface="Manrope"/>
                <a:cs typeface="Manrope"/>
                <a:sym typeface="Manrope"/>
              </a:endParaRPr>
            </a:p>
            <a:p>
              <a:pPr indent="0" lvl="0" marL="0" marR="0" rtl="0" algn="l">
                <a:lnSpc>
                  <a:spcPct val="100000"/>
                </a:lnSpc>
                <a:spcBef>
                  <a:spcPts val="1800"/>
                </a:spcBef>
                <a:spcAft>
                  <a:spcPts val="0"/>
                </a:spcAft>
                <a:buClr>
                  <a:srgbClr val="000000"/>
                </a:buClr>
                <a:buSzPts val="1900"/>
                <a:buFont typeface="Arial"/>
                <a:buNone/>
              </a:pPr>
              <a:r>
                <a:rPr b="1" i="0" lang="en-US" spc="0" sz="1900" u="none" cap="none" strike="noStrike">
                  <a:solidFill>
                    <a:srgbClr val="12132A"/>
                  </a:solidFill>
                  <a:latin typeface="Manrope"/>
                  <a:ea typeface="Manrope"/>
                  <a:cs typeface="Manrope"/>
                  <a:sym typeface="Manrope"/>
                </a:rPr>
                <a:t>Interpretation</a:t>
              </a:r>
              <a:endParaRPr b="1" i="0" spc="0" sz="1900" u="none" cap="none" strike="noStrike">
                <a:solidFill>
                  <a:srgbClr val="12132A"/>
                </a:solidFill>
                <a:latin typeface="Manrope"/>
                <a:ea typeface="Manrope"/>
                <a:cs typeface="Manrope"/>
                <a:sym typeface="Manrope"/>
              </a:endParaRPr>
            </a:p>
            <a:p>
              <a:pPr indent="0" lvl="0" marL="0" marR="0" rtl="0" algn="l">
                <a:lnSpc>
                  <a:spcPct val="100000"/>
                </a:lnSpc>
                <a:spcBef>
                  <a:spcPts val="900"/>
                </a:spcBef>
                <a:spcAft>
                  <a:spcPts val="0"/>
                </a:spcAft>
                <a:buClr>
                  <a:srgbClr val="000000"/>
                </a:buClr>
                <a:buSzPts val="1700"/>
                <a:buFont typeface="Arial"/>
                <a:buNone/>
              </a:pPr>
              <a:r>
                <a:rPr b="0" i="0" lang="en-US" spc="0" sz="1700" u="none" cap="none" strike="noStrike">
                  <a:solidFill>
                    <a:srgbClr val="5A5E7A"/>
                  </a:solidFill>
                  <a:latin typeface="Manrope"/>
                  <a:ea typeface="Manrope"/>
                  <a:cs typeface="Manrope"/>
                  <a:sym typeface="Manrope"/>
                </a:rPr>
                <a:t>Every value is elapsed time from the ScaledObject creation timestamp. Mean is the normal latency across the ten ScaledObjects.</a:t>
              </a:r>
              <a:endParaRPr b="0" i="0" spc="0" sz="1700" u="none" cap="none" strike="noStrike">
                <a:solidFill>
                  <a:srgbClr val="5A5E7A"/>
                </a:solidFill>
                <a:latin typeface="Manrope"/>
                <a:ea typeface="Manrope"/>
                <a:cs typeface="Manrope"/>
                <a:sym typeface="Manrope"/>
              </a:endParaRPr>
            </a:p>
            <a:p>
              <a:pPr indent="0" lvl="0" marL="0" marR="0" rtl="0" algn="l">
                <a:lnSpc>
                  <a:spcPct val="100000"/>
                </a:lnSpc>
                <a:spcBef>
                  <a:spcPts val="900"/>
                </a:spcBef>
                <a:spcAft>
                  <a:spcPts val="0"/>
                </a:spcAft>
                <a:buClr>
                  <a:srgbClr val="000000"/>
                </a:buClr>
                <a:buSzPts val="1700"/>
                <a:buFont typeface="Arial"/>
                <a:buNone/>
              </a:pPr>
              <a:r>
                <a:rPr b="0" i="0" lang="en-US" spc="0" sz="1700" u="none" cap="none" strike="noStrike">
                  <a:solidFill>
                    <a:srgbClr val="5A5E7A"/>
                  </a:solidFill>
                  <a:latin typeface="Manrope"/>
                  <a:ea typeface="Manrope"/>
                  <a:cs typeface="Manrope"/>
                  <a:sym typeface="Manrope"/>
                </a:rPr>
                <a:t>The conditions are independent elapsed times from a common start event; they are not strictly sequential phases. In this run, HPAs commonly appeared before </a:t>
              </a:r>
              <a:r>
                <a:rPr b="0" i="0" lang="en-US" spc="0" sz="1500" u="none" cap="none" strike="noStrike">
                  <a:solidFill>
                    <a:srgbClr val="5A5E7A"/>
                  </a:solidFill>
                  <a:latin typeface="JetBrains Mono"/>
                  <a:ea typeface="JetBrains Mono"/>
                  <a:cs typeface="JetBrains Mono"/>
                  <a:sym typeface="JetBrains Mono"/>
                </a:rPr>
                <a:t>Active=True</a:t>
              </a:r>
              <a:r>
                <a:rPr b="0" i="0" lang="en-US" spc="0" sz="1700" u="none" cap="none" strike="noStrike">
                  <a:solidFill>
                    <a:srgbClr val="5A5E7A"/>
                  </a:solidFill>
                  <a:latin typeface="Manrope"/>
                  <a:ea typeface="Manrope"/>
                  <a:cs typeface="Manrope"/>
                  <a:sym typeface="Manrope"/>
                </a:rPr>
                <a:t> was observed.</a:t>
              </a:r>
              <a:endParaRPr b="0" i="0" spc="0" sz="1700" u="none" cap="none" strike="noStrike">
                <a:solidFill>
                  <a:srgbClr val="5A5E7A"/>
                </a:solidFill>
                <a:latin typeface="Manrope"/>
                <a:ea typeface="Manrope"/>
                <a:cs typeface="Manrope"/>
                <a:sym typeface="Manrope"/>
              </a:endParaRPr>
            </a:p>
            <a:p>
              <a:pPr indent="0" lvl="0" marL="0" marR="0" rtl="0" algn="l">
                <a:lnSpc>
                  <a:spcPct val="100000"/>
                </a:lnSpc>
                <a:spcBef>
                  <a:spcPts val="900"/>
                </a:spcBef>
                <a:spcAft>
                  <a:spcPts val="0"/>
                </a:spcAft>
                <a:buClr>
                  <a:srgbClr val="000000"/>
                </a:buClr>
                <a:buSzPts val="1700"/>
                <a:buFont typeface="Arial"/>
                <a:buNone/>
              </a:pPr>
              <a:r>
                <a:rPr b="0" i="0" lang="en-US" spc="0" sz="1700" u="none" cap="none" strike="noStrike">
                  <a:solidFill>
                    <a:srgbClr val="5A5E7A"/>
                  </a:solidFill>
                  <a:latin typeface="Manrope"/>
                  <a:ea typeface="Manrope"/>
                  <a:cs typeface="Manrope"/>
                  <a:sym typeface="Manrope"/>
                </a:rPr>
                <a:t>The observed mean end-to-end readiness time was </a:t>
              </a:r>
              <a:r>
                <a:rPr b="1" i="0" lang="en-US" spc="0" sz="1700" u="none" cap="none" strike="noStrike">
                  <a:solidFill>
                    <a:srgbClr val="3928D9"/>
                  </a:solidFill>
                  <a:latin typeface="Manrope"/>
                  <a:ea typeface="Manrope"/>
                  <a:cs typeface="Manrope"/>
                  <a:sym typeface="Manrope"/>
                </a:rPr>
                <a:t>4.226 seconds</a:t>
              </a:r>
              <a:r>
                <a:rPr b="0" i="0" lang="en-US" spc="0" sz="1700" u="none" cap="none" strike="noStrike">
                  <a:solidFill>
                    <a:srgbClr val="5A5E7A"/>
                  </a:solidFill>
                  <a:latin typeface="Manrope"/>
                  <a:ea typeface="Manrope"/>
                  <a:cs typeface="Manrope"/>
                  <a:sym typeface="Manrope"/>
                </a:rPr>
                <a:t>, and the P99 was </a:t>
              </a:r>
              <a:r>
                <a:rPr b="1" i="0" lang="en-US" spc="0" sz="1700" u="none" cap="none" strike="noStrike">
                  <a:solidFill>
                    <a:srgbClr val="3928D9"/>
                  </a:solidFill>
                  <a:latin typeface="Manrope"/>
                  <a:ea typeface="Manrope"/>
                  <a:cs typeface="Manrope"/>
                  <a:sym typeface="Manrope"/>
                </a:rPr>
                <a:t>5.818 seconds</a:t>
              </a:r>
              <a:r>
                <a:rPr b="0" i="0" lang="en-US" spc="0" sz="1700" u="none" cap="none" strike="noStrike">
                  <a:solidFill>
                    <a:srgbClr val="5A5E7A"/>
                  </a:solidFill>
                  <a:latin typeface="Manrope"/>
                  <a:ea typeface="Manrope"/>
                  <a:cs typeface="Manrope"/>
                  <a:sym typeface="Manrope"/>
                </a:rPr>
                <a:t>.</a:t>
              </a:r>
              <a:endParaRPr b="0" i="0" spc="0" sz="1700" u="none" cap="none" strike="noStrike">
                <a:solidFill>
                  <a:srgbClr val="5A5E7A"/>
                </a:solidFill>
                <a:latin typeface="Manrope"/>
                <a:ea typeface="Manrope"/>
                <a:cs typeface="Manrope"/>
                <a:sym typeface="Manrope"/>
              </a:endParaRPr>
            </a:p>
          </p:txBody>
        </p:sp>
      </p:grpSp>
      <p:sp>
        <p:nvSpPr>
          <p:cNvPr id="359" name="Google Shape;359;p24"/>
          <p:cNvSpPr/>
          <p:nvPr/>
        </p:nvSpPr>
        <p:spPr>
          <a:xfrm>
            <a:off x="7327450" y="2476500"/>
            <a:ext cx="9912900" cy="6096000"/>
          </a:xfrm>
          <a:prstGeom prst="roundRect">
            <a:avLst>
              <a:gd fmla="val 1875" name="adj"/>
            </a:avLst>
          </a:prstGeom>
          <a:solidFill>
            <a:srgbClr val="FFFFFF"/>
          </a:solidFill>
          <a:ln cap="flat" cmpd="sng" w="9525">
            <a:solidFill>
              <a:srgbClr val="DCDFE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000000"/>
              </a:solidFill>
              <a:latin typeface="Arial"/>
              <a:ea typeface="Arial"/>
              <a:cs typeface="Arial"/>
              <a:sym typeface="Arial"/>
            </a:endParaRPr>
          </a:p>
        </p:txBody>
      </p:sp>
      <p:graphicFrame>
        <p:nvGraphicFramePr>
          <p:cNvPr id="360" name="Google Shape;360;p24"/>
          <p:cNvGraphicFramePr/>
          <p:nvPr/>
        </p:nvGraphicFramePr>
        <p:xfrm>
          <a:off x="7444525" y="2705100"/>
          <a:ext cx="3000000" cy="3000000"/>
        </p:xfrm>
        <a:graphic>
          <a:graphicData uri="http://schemas.openxmlformats.org/drawingml/2006/table">
            <a:tbl>
              <a:tblPr>
                <a:noFill/>
                <a:tableStyleId>{CF288BA4-1B51-4969-8497-83678D9B9862}</a:tableStyleId>
              </a:tblPr>
              <a:tblGrid>
                <a:gridCol w="2345500"/>
                <a:gridCol w="2046850"/>
                <a:gridCol w="1045475"/>
                <a:gridCol w="1063100"/>
                <a:gridCol w="1098175"/>
                <a:gridCol w="1098175"/>
                <a:gridCol w="869850"/>
              </a:tblGrid>
              <a:tr h="1409700">
                <a:tc>
                  <a:txBody>
                    <a:bodyPr/>
                    <a:lstStyle/>
                    <a:p>
                      <a:pPr indent="0" lvl="0" marL="0" marR="0" rtl="0" algn="l">
                        <a:lnSpc>
                          <a:spcPct val="100000"/>
                        </a:lnSpc>
                        <a:spcBef>
                          <a:spcPts val="0"/>
                        </a:spcBef>
                        <a:spcAft>
                          <a:spcPts val="0"/>
                        </a:spcAft>
                        <a:buClr>
                          <a:srgbClr val="000000"/>
                        </a:buClr>
                        <a:buSzPts val="1800"/>
                        <a:buFont typeface="Arial"/>
                        <a:buNone/>
                      </a:pPr>
                      <a:r>
                        <a:rPr lang="en-US" spc="0" sz="1800" u="none" cap="none" strike="noStrike"/>
                        <a:t>Condition</a:t>
                      </a:r>
                      <a:endParaRPr spc="0" sz="1800" u="none" cap="none" strike="noStrike"/>
                    </a:p>
                  </a:txBody>
                  <a:tcPr marT="114300" marB="114300" marR="76200" marL="76200"/>
                </a:tc>
                <a:tc>
                  <a:txBody>
                    <a:bodyPr/>
                    <a:lstStyle/>
                    <a:p>
                      <a:pPr indent="0" lvl="0" marL="0" marR="0" rtl="0" algn="l">
                        <a:lnSpc>
                          <a:spcPct val="100000"/>
                        </a:lnSpc>
                        <a:spcBef>
                          <a:spcPts val="0"/>
                        </a:spcBef>
                        <a:spcAft>
                          <a:spcPts val="0"/>
                        </a:spcAft>
                        <a:buClr>
                          <a:srgbClr val="000000"/>
                        </a:buClr>
                        <a:buSzPts val="1800"/>
                        <a:buFont typeface="Arial"/>
                        <a:buNone/>
                      </a:pPr>
                      <a:r>
                        <a:rPr lang="en-US" spc="0" sz="1800" u="none" cap="none" strike="noStrike"/>
                        <a:t>What completes</a:t>
                      </a:r>
                      <a:endParaRPr spc="0" sz="1800" u="none" cap="none" strike="noStrike"/>
                    </a:p>
                  </a:txBody>
                  <a:tcPr marT="114300" marB="114300" marR="76200" marL="76200"/>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solidFill>
                            <a:srgbClr val="3928D9"/>
                          </a:solidFill>
                        </a:rPr>
                        <a:t>Mean (s)</a:t>
                      </a:r>
                      <a:endParaRPr spc="0" sz="1800" u="none" cap="none" strike="noStrike">
                        <a:solidFill>
                          <a:srgbClr val="3928D9"/>
                        </a:solidFill>
                      </a:endParaRPr>
                    </a:p>
                  </a:txBody>
                  <a:tcPr marT="114300" marB="114300" marR="76200" marL="76200"/>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P50 (s)</a:t>
                      </a:r>
                      <a:endParaRPr spc="0" sz="1800" u="none" cap="none" strike="noStrike"/>
                    </a:p>
                  </a:txBody>
                  <a:tcPr marT="114300" marB="114300" marR="76200" marL="76200"/>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P95 (s)</a:t>
                      </a:r>
                      <a:endParaRPr spc="0" sz="1800" u="none" cap="none" strike="noStrike"/>
                    </a:p>
                  </a:txBody>
                  <a:tcPr marT="114300" marB="114300" marR="76200" marL="76200"/>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P99 (s)</a:t>
                      </a:r>
                      <a:endParaRPr spc="0" sz="1800" u="none" cap="none" strike="noStrike"/>
                    </a:p>
                  </a:txBody>
                  <a:tcPr marT="114300" marB="114300" marR="76200" marL="76200"/>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Max (s)</a:t>
                      </a:r>
                      <a:endParaRPr spc="0" sz="1800" u="none" cap="none" strike="noStrike"/>
                    </a:p>
                  </a:txBody>
                  <a:tcPr marT="114300" marB="114300" marR="76200" marL="76200"/>
                </a:tc>
              </a:tr>
              <a:tr h="1409700">
                <a:tc>
                  <a:txBody>
                    <a:bodyPr/>
                    <a:lstStyle/>
                    <a:p>
                      <a:pPr indent="0" lvl="0" marL="0" marR="0" rtl="0" algn="l">
                        <a:lnSpc>
                          <a:spcPct val="100000"/>
                        </a:lnSpc>
                        <a:spcBef>
                          <a:spcPts val="0"/>
                        </a:spcBef>
                        <a:spcAft>
                          <a:spcPts val="0"/>
                        </a:spcAft>
                        <a:buClr>
                          <a:srgbClr val="000000"/>
                        </a:buClr>
                        <a:buSzPts val="1800"/>
                        <a:buFont typeface="Arial"/>
                        <a:buNone/>
                      </a:pPr>
                      <a:r>
                        <a:rPr b="1" lang="en-US" spc="0" sz="1800" u="none" cap="none" strike="noStrike"/>
                        <a:t>ScaledObjectActive</a:t>
                      </a:r>
                      <a:endParaRPr b="1" spc="0" sz="1800" u="none" cap="none" strike="noStrike"/>
                    </a:p>
                  </a:txBody>
                  <a:tcPr marT="171450" marB="171450" marR="76200" marL="76200">
                    <a:lnB cap="flat" cmpd="sng" w="9525">
                      <a:solidFill>
                        <a:srgbClr val="F4F5F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A5E7A"/>
                          </a:solidFill>
                          <a:latin typeface="JetBrains Mono"/>
                          <a:ea typeface="JetBrains Mono"/>
                          <a:cs typeface="JetBrains Mono"/>
                          <a:sym typeface="JetBrains Mono"/>
                        </a:rPr>
                        <a:t>Active=True</a:t>
                      </a:r>
                      <a:r>
                        <a:rPr lang="en-US" spc="0" sz="1800" u="none" cap="none" strike="noStrike">
                          <a:solidFill>
                            <a:srgbClr val="5A5E7A"/>
                          </a:solidFill>
                        </a:rPr>
                        <a:t> observed</a:t>
                      </a:r>
                      <a:endParaRPr spc="0" sz="1800" u="none" cap="none" strike="noStrike">
                        <a:solidFill>
                          <a:srgbClr val="5A5E7A"/>
                        </a:solidFill>
                      </a:endParaRPr>
                    </a:p>
                  </a:txBody>
                  <a:tcPr marT="171450" marB="171450" marR="76200" marL="76200">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b="1" lang="en-US" spc="0" sz="1800" u="none" cap="none" strike="noStrike">
                          <a:solidFill>
                            <a:srgbClr val="3928D9"/>
                          </a:solidFill>
                        </a:rPr>
                        <a:t>3.567</a:t>
                      </a:r>
                      <a:endParaRPr b="1" spc="0" sz="1800" u="none" cap="none" strike="noStrike">
                        <a:solidFill>
                          <a:srgbClr val="3928D9"/>
                        </a:solidFill>
                      </a:endParaRPr>
                    </a:p>
                  </a:txBody>
                  <a:tcPr marT="171450" marB="171450" marR="76200" marL="76200">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3.007</a:t>
                      </a:r>
                      <a:endParaRPr spc="0" sz="1800" u="none" cap="none" strike="noStrike"/>
                    </a:p>
                  </a:txBody>
                  <a:tcPr marT="171450" marB="171450" marR="76200" marL="76200">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5.131</a:t>
                      </a:r>
                      <a:endParaRPr spc="0" sz="1800" u="none" cap="none" strike="noStrike"/>
                    </a:p>
                  </a:txBody>
                  <a:tcPr marT="171450" marB="171450" marR="76200" marL="76200">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5.131</a:t>
                      </a:r>
                      <a:endParaRPr spc="0" sz="1800" u="none" cap="none" strike="noStrike"/>
                    </a:p>
                  </a:txBody>
                  <a:tcPr marT="171450" marB="171450" marR="76200" marL="76200">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5.605</a:t>
                      </a:r>
                      <a:endParaRPr spc="0" sz="1800" u="none" cap="none" strike="noStrike"/>
                    </a:p>
                  </a:txBody>
                  <a:tcPr marT="171450" marB="171450" marR="76200" marL="76200">
                    <a:lnB cap="flat" cmpd="sng" w="9525">
                      <a:solidFill>
                        <a:srgbClr val="F4F5F9"/>
                      </a:solidFill>
                      <a:prstDash val="solid"/>
                      <a:round/>
                      <a:headEnd len="sm" w="sm" type="none"/>
                      <a:tailEnd len="sm" w="sm" type="none"/>
                    </a:lnB>
                  </a:tcPr>
                </a:tc>
              </a:tr>
              <a:tr h="1409700">
                <a:tc>
                  <a:txBody>
                    <a:bodyPr/>
                    <a:lstStyle/>
                    <a:p>
                      <a:pPr indent="0" lvl="0" marL="0" marR="0" rtl="0" algn="l">
                        <a:lnSpc>
                          <a:spcPct val="100000"/>
                        </a:lnSpc>
                        <a:spcBef>
                          <a:spcPts val="0"/>
                        </a:spcBef>
                        <a:spcAft>
                          <a:spcPts val="0"/>
                        </a:spcAft>
                        <a:buClr>
                          <a:srgbClr val="000000"/>
                        </a:buClr>
                        <a:buSzPts val="1800"/>
                        <a:buFont typeface="Arial"/>
                        <a:buNone/>
                      </a:pPr>
                      <a:r>
                        <a:rPr b="1" lang="en-US" spc="0" sz="1800" u="none" cap="none" strike="noStrike"/>
                        <a:t>HPACreated</a:t>
                      </a:r>
                      <a:endParaRPr b="1" spc="0" sz="1800" u="none" cap="none" strike="noStrike"/>
                    </a:p>
                  </a:txBody>
                  <a:tcPr marT="171450" marB="171450" marR="76200" marL="76200">
                    <a:lnT cap="flat" cmpd="sng" w="9525">
                      <a:solidFill>
                        <a:srgbClr val="F4F5F9"/>
                      </a:solidFill>
                      <a:prstDash val="solid"/>
                      <a:round/>
                      <a:headEnd len="sm" w="sm" type="none"/>
                      <a:tailEnd len="sm" w="sm" type="none"/>
                    </a:lnT>
                    <a:lnB cap="flat" cmpd="sng" w="9525">
                      <a:solidFill>
                        <a:srgbClr val="F4F5F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pc="0" sz="1800" u="none" cap="none" strike="noStrike">
                          <a:solidFill>
                            <a:srgbClr val="5A5E7A"/>
                          </a:solidFill>
                        </a:rPr>
                        <a:t>Generated HPA appears</a:t>
                      </a:r>
                      <a:endParaRPr spc="0" sz="1800" u="none" cap="none" strike="noStrike">
                        <a:solidFill>
                          <a:srgbClr val="5A5E7A"/>
                        </a:solidFill>
                      </a:endParaRPr>
                    </a:p>
                  </a:txBody>
                  <a:tcPr marT="171450" marB="171450" marR="76200" marL="76200">
                    <a:lnT cap="flat" cmpd="sng" w="9525">
                      <a:solidFill>
                        <a:srgbClr val="F4F5F9"/>
                      </a:solidFill>
                      <a:prstDash val="solid"/>
                      <a:round/>
                      <a:headEnd len="sm" w="sm" type="none"/>
                      <a:tailEnd len="sm" w="sm" type="none"/>
                    </a:lnT>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b="1" lang="en-US" spc="0" sz="1800" u="none" cap="none" strike="noStrike">
                          <a:solidFill>
                            <a:srgbClr val="3928D9"/>
                          </a:solidFill>
                        </a:rPr>
                        <a:t>2.207</a:t>
                      </a:r>
                      <a:endParaRPr b="1" spc="0" sz="1800" u="none" cap="none" strike="noStrike">
                        <a:solidFill>
                          <a:srgbClr val="3928D9"/>
                        </a:solidFill>
                      </a:endParaRPr>
                    </a:p>
                  </a:txBody>
                  <a:tcPr marT="171450" marB="171450" marR="76200" marL="76200">
                    <a:lnT cap="flat" cmpd="sng" w="9525">
                      <a:solidFill>
                        <a:srgbClr val="F4F5F9"/>
                      </a:solidFill>
                      <a:prstDash val="solid"/>
                      <a:round/>
                      <a:headEnd len="sm" w="sm" type="none"/>
                      <a:tailEnd len="sm" w="sm" type="none"/>
                    </a:lnT>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1.309</a:t>
                      </a:r>
                      <a:endParaRPr spc="0" sz="1800" u="none" cap="none" strike="noStrike"/>
                    </a:p>
                  </a:txBody>
                  <a:tcPr marT="171450" marB="171450" marR="76200" marL="76200">
                    <a:lnT cap="flat" cmpd="sng" w="9525">
                      <a:solidFill>
                        <a:srgbClr val="F4F5F9"/>
                      </a:solidFill>
                      <a:prstDash val="solid"/>
                      <a:round/>
                      <a:headEnd len="sm" w="sm" type="none"/>
                      <a:tailEnd len="sm" w="sm" type="none"/>
                    </a:lnT>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3.710</a:t>
                      </a:r>
                      <a:endParaRPr spc="0" sz="1800" u="none" cap="none" strike="noStrike"/>
                    </a:p>
                  </a:txBody>
                  <a:tcPr marT="171450" marB="171450" marR="76200" marL="76200">
                    <a:lnT cap="flat" cmpd="sng" w="9525">
                      <a:solidFill>
                        <a:srgbClr val="F4F5F9"/>
                      </a:solidFill>
                      <a:prstDash val="solid"/>
                      <a:round/>
                      <a:headEnd len="sm" w="sm" type="none"/>
                      <a:tailEnd len="sm" w="sm" type="none"/>
                    </a:lnT>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3.710</a:t>
                      </a:r>
                      <a:endParaRPr spc="0" sz="1800" u="none" cap="none" strike="noStrike"/>
                    </a:p>
                  </a:txBody>
                  <a:tcPr marT="171450" marB="171450" marR="76200" marL="76200">
                    <a:lnT cap="flat" cmpd="sng" w="9525">
                      <a:solidFill>
                        <a:srgbClr val="F4F5F9"/>
                      </a:solidFill>
                      <a:prstDash val="solid"/>
                      <a:round/>
                      <a:headEnd len="sm" w="sm" type="none"/>
                      <a:tailEnd len="sm" w="sm" type="none"/>
                    </a:lnT>
                    <a:lnB cap="flat" cmpd="sng" w="9525">
                      <a:solidFill>
                        <a:srgbClr val="F4F5F9"/>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4.060</a:t>
                      </a:r>
                      <a:endParaRPr spc="0" sz="1800" u="none" cap="none" strike="noStrike"/>
                    </a:p>
                  </a:txBody>
                  <a:tcPr marT="171450" marB="171450" marR="76200" marL="76200">
                    <a:lnT cap="flat" cmpd="sng" w="9525">
                      <a:solidFill>
                        <a:srgbClr val="F4F5F9"/>
                      </a:solidFill>
                      <a:prstDash val="solid"/>
                      <a:round/>
                      <a:headEnd len="sm" w="sm" type="none"/>
                      <a:tailEnd len="sm" w="sm" type="none"/>
                    </a:lnT>
                    <a:lnB cap="flat" cmpd="sng" w="9525">
                      <a:solidFill>
                        <a:srgbClr val="F4F5F9"/>
                      </a:solidFill>
                      <a:prstDash val="solid"/>
                      <a:round/>
                      <a:headEnd len="sm" w="sm" type="none"/>
                      <a:tailEnd len="sm" w="sm" type="none"/>
                    </a:lnB>
                  </a:tcPr>
                </a:tc>
              </a:tr>
              <a:tr h="1409700">
                <a:tc>
                  <a:txBody>
                    <a:bodyPr/>
                    <a:lstStyle/>
                    <a:p>
                      <a:pPr indent="0" lvl="0" marL="0" marR="0" rtl="0" algn="l">
                        <a:lnSpc>
                          <a:spcPct val="100000"/>
                        </a:lnSpc>
                        <a:spcBef>
                          <a:spcPts val="0"/>
                        </a:spcBef>
                        <a:spcAft>
                          <a:spcPts val="0"/>
                        </a:spcAft>
                        <a:buClr>
                          <a:srgbClr val="000000"/>
                        </a:buClr>
                        <a:buSzPts val="1800"/>
                        <a:buFont typeface="Arial"/>
                        <a:buNone/>
                      </a:pPr>
                      <a:r>
                        <a:rPr b="1" lang="en-US" spc="0" sz="1800" u="none" cap="none" strike="noStrike"/>
                        <a:t>DeploymentReady</a:t>
                      </a:r>
                      <a:endParaRPr b="1" spc="0" sz="1800" u="none" cap="none" strike="noStrike"/>
                    </a:p>
                  </a:txBody>
                  <a:tcPr marT="171450" marB="171450" marR="76200" marL="76200">
                    <a:lnT cap="flat" cmpd="sng" w="9525">
                      <a:solidFill>
                        <a:srgbClr val="F4F5F9"/>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800"/>
                        <a:buFont typeface="Arial"/>
                        <a:buNone/>
                      </a:pPr>
                      <a:r>
                        <a:rPr lang="en-US" spc="0" sz="1800" u="none" cap="none" strike="noStrike">
                          <a:solidFill>
                            <a:srgbClr val="5A5E7A"/>
                          </a:solidFill>
                        </a:rPr>
                        <a:t>Target </a:t>
                      </a:r>
                      <a:r>
                        <a:rPr lang="en-US" spc="0" sz="1500" u="none" cap="none" strike="noStrike">
                          <a:solidFill>
                            <a:srgbClr val="5A5E7A"/>
                          </a:solidFill>
                          <a:latin typeface="JetBrains Mono"/>
                          <a:ea typeface="JetBrains Mono"/>
                          <a:cs typeface="JetBrains Mono"/>
                          <a:sym typeface="JetBrains Mono"/>
                        </a:rPr>
                        <a:t>readyReplicas &gt; 0</a:t>
                      </a:r>
                      <a:endParaRPr spc="0" sz="1800" u="none" cap="none" strike="noStrike">
                        <a:solidFill>
                          <a:srgbClr val="5A5E7A"/>
                        </a:solidFill>
                      </a:endParaRPr>
                    </a:p>
                  </a:txBody>
                  <a:tcPr marT="171450" marB="171450" marR="76200" marL="76200">
                    <a:lnT cap="flat" cmpd="sng" w="9525">
                      <a:solidFill>
                        <a:srgbClr val="F4F5F9"/>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rgbClr val="000000"/>
                        </a:buClr>
                        <a:buSzPts val="1800"/>
                        <a:buFont typeface="Arial"/>
                        <a:buNone/>
                      </a:pPr>
                      <a:r>
                        <a:rPr b="1" lang="en-US" spc="0" sz="1800" u="none" cap="none" strike="noStrike">
                          <a:solidFill>
                            <a:srgbClr val="3928D9"/>
                          </a:solidFill>
                        </a:rPr>
                        <a:t>4.226</a:t>
                      </a:r>
                      <a:endParaRPr b="1" spc="0" sz="1800" u="none" cap="none" strike="noStrike">
                        <a:solidFill>
                          <a:srgbClr val="3928D9"/>
                        </a:solidFill>
                      </a:endParaRPr>
                    </a:p>
                  </a:txBody>
                  <a:tcPr marT="171450" marB="171450" marR="76200" marL="76200">
                    <a:lnT cap="flat" cmpd="sng" w="9525">
                      <a:solidFill>
                        <a:srgbClr val="F4F5F9"/>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3.683</a:t>
                      </a:r>
                      <a:endParaRPr spc="0" sz="1800" u="none" cap="none" strike="noStrike"/>
                    </a:p>
                  </a:txBody>
                  <a:tcPr marT="171450" marB="171450" marR="76200" marL="76200">
                    <a:lnT cap="flat" cmpd="sng" w="9525">
                      <a:solidFill>
                        <a:srgbClr val="F4F5F9"/>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5.818</a:t>
                      </a:r>
                      <a:endParaRPr spc="0" sz="1800" u="none" cap="none" strike="noStrike"/>
                    </a:p>
                  </a:txBody>
                  <a:tcPr marT="171450" marB="171450" marR="76200" marL="76200">
                    <a:lnT cap="flat" cmpd="sng" w="9525">
                      <a:solidFill>
                        <a:srgbClr val="F4F5F9"/>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5.818</a:t>
                      </a:r>
                      <a:endParaRPr spc="0" sz="1800" u="none" cap="none" strike="noStrike"/>
                    </a:p>
                  </a:txBody>
                  <a:tcPr marT="171450" marB="171450" marR="76200" marL="76200">
                    <a:lnT cap="flat" cmpd="sng" w="9525">
                      <a:solidFill>
                        <a:srgbClr val="F4F5F9"/>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rgbClr val="000000"/>
                        </a:buClr>
                        <a:buSzPts val="1800"/>
                        <a:buFont typeface="Arial"/>
                        <a:buNone/>
                      </a:pPr>
                      <a:r>
                        <a:rPr lang="en-US" spc="0" sz="1800" u="none" cap="none" strike="noStrike"/>
                        <a:t>5.933</a:t>
                      </a:r>
                      <a:endParaRPr spc="0" sz="1800" u="none" cap="none" strike="noStrike"/>
                    </a:p>
                  </a:txBody>
                  <a:tcPr marT="171450" marB="171450" marR="76200" marL="76200">
                    <a:lnT cap="flat" cmpd="sng" w="9525">
                      <a:solidFill>
                        <a:srgbClr val="F4F5F9"/>
                      </a:solidFill>
                      <a:prstDash val="solid"/>
                      <a:round/>
                      <a:headEnd len="sm" w="sm" type="none"/>
                      <a:tailEnd len="sm" w="sm" type="none"/>
                    </a:lnT>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h456704698e0afe58_0_0"/>
          <p:cNvPicPr preferRelativeResize="0"/>
          <p:nvPr/>
        </p:nvPicPr>
        <p:blipFill>
          <a:blip r:embed="rId3">
            <a:alphaModFix/>
          </a:blip>
          <a:stretch>
            <a:fillRect/>
          </a:stretch>
        </p:blipFill>
        <p:spPr>
          <a:xfrm>
            <a:off x="1795488" y="152400"/>
            <a:ext cx="14697016" cy="998220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h456704698e0afe58_0_5"/>
          <p:cNvPicPr preferRelativeResize="0"/>
          <p:nvPr/>
        </p:nvPicPr>
        <p:blipFill>
          <a:blip r:embed="rId3">
            <a:alphaModFix/>
          </a:blip>
          <a:stretch>
            <a:fillRect/>
          </a:stretch>
        </p:blipFill>
        <p:spPr>
          <a:xfrm>
            <a:off x="1731550" y="152400"/>
            <a:ext cx="14824904" cy="99821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7" name="Shape 377"/>
        <p:cNvGrpSpPr/>
        <p:nvPr/>
      </p:nvGrpSpPr>
      <p:grpSpPr>
        <a:xfrm>
          <a:off x="0" y="0"/>
          <a:ext cx="0" cy="0"/>
          <a:chOff x="0" y="0"/>
          <a:chExt cx="0" cy="0"/>
        </a:xfrm>
      </p:grpSpPr>
      <p:sp>
        <p:nvSpPr>
          <p:cNvPr id="378" name="Google Shape;378;p25"/>
          <p:cNvSpPr txBox="1"/>
          <p:nvPr/>
        </p:nvSpPr>
        <p:spPr>
          <a:xfrm>
            <a:off x="1047750" y="876300"/>
            <a:ext cx="16192500" cy="342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8E86F2"/>
                </a:solidFill>
                <a:latin typeface="JetBrains Mono"/>
                <a:ea typeface="JetBrains Mono"/>
                <a:cs typeface="JetBrains Mono"/>
                <a:sym typeface="JetBrains Mono"/>
              </a:rPr>
              <a:t>DISCUSSION</a:t>
            </a:r>
            <a:endParaRPr b="0" i="0" spc="0" sz="1800" u="none" cap="none" strike="noStrike">
              <a:solidFill>
                <a:srgbClr val="8E86F2"/>
              </a:solidFill>
              <a:latin typeface="JetBrains Mono"/>
              <a:ea typeface="JetBrains Mono"/>
              <a:cs typeface="JetBrains Mono"/>
              <a:sym typeface="JetBrains Mono"/>
            </a:endParaRPr>
          </a:p>
        </p:txBody>
      </p:sp>
      <p:sp>
        <p:nvSpPr>
          <p:cNvPr id="379" name="Google Shape;379;p25"/>
          <p:cNvSpPr txBox="1"/>
          <p:nvPr/>
        </p:nvSpPr>
        <p:spPr>
          <a:xfrm>
            <a:off x="1047750" y="1381125"/>
            <a:ext cx="16192500" cy="8667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800"/>
              <a:buFont typeface="Arial"/>
              <a:buNone/>
            </a:pPr>
            <a:r>
              <a:rPr b="1" i="0" lang="en-US" spc="0" sz="4800" u="none" cap="none" strike="noStrike">
                <a:solidFill>
                  <a:srgbClr val="12132A"/>
                </a:solidFill>
                <a:latin typeface="Manrope"/>
                <a:ea typeface="Manrope"/>
                <a:cs typeface="Manrope"/>
                <a:sym typeface="Manrope"/>
              </a:rPr>
              <a:t>Questions &amp; Answers</a:t>
            </a:r>
            <a:endParaRPr b="1" i="0" spc="0" sz="4800" u="none" cap="none" strike="noStrike">
              <a:solidFill>
                <a:srgbClr val="12132A"/>
              </a:solidFill>
              <a:latin typeface="Manrope"/>
              <a:ea typeface="Manrope"/>
              <a:cs typeface="Manrope"/>
              <a:sym typeface="Manrope"/>
            </a:endParaRPr>
          </a:p>
        </p:txBody>
      </p:sp>
      <p:sp>
        <p:nvSpPr>
          <p:cNvPr id="380" name="Google Shape;380;p25"/>
          <p:cNvSpPr txBox="1"/>
          <p:nvPr/>
        </p:nvSpPr>
        <p:spPr>
          <a:xfrm>
            <a:off x="1047750" y="2774225"/>
            <a:ext cx="105129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2400"/>
              </a:spcAft>
              <a:buClr>
                <a:srgbClr val="000000"/>
              </a:buClr>
              <a:buSzPts val="2500"/>
              <a:buFont typeface="Arial"/>
              <a:buNone/>
            </a:pPr>
            <a:r>
              <a:rPr b="0" i="0" lang="en-US" spc="0" sz="2500" u="none" cap="none" strike="noStrike">
                <a:solidFill>
                  <a:srgbClr val="5A5E7A"/>
                </a:solidFill>
                <a:latin typeface="Manrope"/>
                <a:ea typeface="Manrope"/>
                <a:cs typeface="Manrope"/>
                <a:sym typeface="Manrope"/>
              </a:rPr>
              <a:t>Feel free to ask questions, share insights, or bring up any topics for discussion</a:t>
            </a:r>
            <a:endParaRPr b="0" i="0" spc="0" sz="21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8D9"/>
        </a:solidFill>
      </p:bgPr>
    </p:bg>
    <p:spTree>
      <p:nvGrpSpPr>
        <p:cNvPr id="385" name="Shape 385"/>
        <p:cNvGrpSpPr/>
        <p:nvPr/>
      </p:nvGrpSpPr>
      <p:grpSpPr>
        <a:xfrm>
          <a:off x="0" y="0"/>
          <a:ext cx="0" cy="0"/>
          <a:chOff x="0" y="0"/>
          <a:chExt cx="0" cy="0"/>
        </a:xfrm>
      </p:grpSpPr>
      <p:sp>
        <p:nvSpPr>
          <p:cNvPr id="386" name="Google Shape;386;p26"/>
          <p:cNvSpPr/>
          <p:nvPr/>
        </p:nvSpPr>
        <p:spPr>
          <a:xfrm>
            <a:off x="1047750" y="5502250"/>
            <a:ext cx="11282400" cy="1169700"/>
          </a:xfrm>
          <a:prstGeom prst="rect">
            <a:avLst/>
          </a:prstGeom>
          <a:noFill/>
          <a:ln>
            <a:noFill/>
          </a:ln>
        </p:spPr>
        <p:txBody>
          <a:bodyPr anchorCtr="0" anchor="t" bIns="25400" lIns="25400" spcFirstLastPara="1" rIns="25400" wrap="square" tIns="25400">
            <a:noAutofit/>
          </a:bodyPr>
          <a:lstStyle/>
          <a:p>
            <a:pPr indent="0" lvl="0" marL="0" marR="0" rtl="0" algn="l">
              <a:lnSpc>
                <a:spcPct val="99000"/>
              </a:lnSpc>
              <a:spcBef>
                <a:spcPts val="0"/>
              </a:spcBef>
              <a:spcAft>
                <a:spcPts val="0"/>
              </a:spcAft>
              <a:buClr>
                <a:srgbClr val="CFCAF7"/>
              </a:buClr>
              <a:buSzPts val="3300"/>
              <a:buFont typeface="Manrope"/>
              <a:buNone/>
            </a:pPr>
            <a:r>
              <a:rPr b="0" i="0" lang="en-US" spc="0" sz="3300" u="none" cap="none" strike="noStrike">
                <a:solidFill>
                  <a:srgbClr val="CFCAF7"/>
                </a:solidFill>
                <a:latin typeface="Manrope"/>
                <a:ea typeface="Manrope"/>
                <a:cs typeface="Manrope"/>
                <a:sym typeface="Manrope"/>
              </a:rPr>
              <a:t>Github : sanjay7178</a:t>
            </a:r>
            <a:endParaRPr b="0" i="0" spc="0" sz="3300" u="none" cap="none" strike="noStrike">
              <a:solidFill>
                <a:srgbClr val="CFCAF7"/>
              </a:solidFill>
              <a:latin typeface="Manrope"/>
              <a:ea typeface="Manrope"/>
              <a:cs typeface="Manrope"/>
              <a:sym typeface="Manrope"/>
            </a:endParaRPr>
          </a:p>
          <a:p>
            <a:pPr indent="0" lvl="0" marL="0" marR="0" rtl="0" algn="l">
              <a:lnSpc>
                <a:spcPct val="99000"/>
              </a:lnSpc>
              <a:spcBef>
                <a:spcPts val="0"/>
              </a:spcBef>
              <a:spcAft>
                <a:spcPts val="0"/>
              </a:spcAft>
              <a:buClr>
                <a:srgbClr val="CFCAF7"/>
              </a:buClr>
              <a:buSzPts val="3300"/>
              <a:buFont typeface="Manrope"/>
              <a:buNone/>
            </a:pPr>
            <a:r>
              <a:rPr b="0" i="0" lang="en-US" spc="0" sz="3300" u="none" cap="none" strike="noStrike">
                <a:solidFill>
                  <a:srgbClr val="CFCAF7"/>
                </a:solidFill>
                <a:latin typeface="Manrope"/>
                <a:ea typeface="Manrope"/>
                <a:cs typeface="Manrope"/>
                <a:sym typeface="Manrope"/>
              </a:rPr>
              <a:t>Linkedin :  sanjay7178</a:t>
            </a:r>
            <a:endParaRPr b="0" i="0" spc="0" sz="3300" u="none" cap="none" strike="noStrike">
              <a:solidFill>
                <a:schemeClr val="dk1"/>
              </a:solidFill>
              <a:latin typeface="Calibri"/>
              <a:ea typeface="Calibri"/>
              <a:cs typeface="Calibri"/>
              <a:sym typeface="Calibri"/>
            </a:endParaRPr>
          </a:p>
        </p:txBody>
      </p:sp>
      <p:sp>
        <p:nvSpPr>
          <p:cNvPr id="387" name="Google Shape;387;p26"/>
          <p:cNvSpPr/>
          <p:nvPr/>
        </p:nvSpPr>
        <p:spPr>
          <a:xfrm>
            <a:off x="1047750" y="4336405"/>
            <a:ext cx="12049200" cy="918300"/>
          </a:xfrm>
          <a:prstGeom prst="rect">
            <a:avLst/>
          </a:prstGeom>
          <a:noFill/>
          <a:ln>
            <a:noFill/>
          </a:ln>
        </p:spPr>
        <p:txBody>
          <a:bodyPr anchorCtr="0" anchor="t" bIns="25400" lIns="25400" spcFirstLastPara="1" rIns="25400" wrap="square" tIns="25400">
            <a:noAutofit/>
          </a:bodyPr>
          <a:lstStyle/>
          <a:p>
            <a:pPr indent="0" lvl="0" marL="0" marR="0" rtl="0" algn="l">
              <a:lnSpc>
                <a:spcPct val="76680"/>
              </a:lnSpc>
              <a:spcBef>
                <a:spcPts val="0"/>
              </a:spcBef>
              <a:spcAft>
                <a:spcPts val="0"/>
              </a:spcAft>
              <a:buClr>
                <a:srgbClr val="FFFFFF"/>
              </a:buClr>
              <a:buSzPts val="6600"/>
              <a:buFont typeface="Manrope"/>
              <a:buNone/>
            </a:pPr>
            <a:r>
              <a:rPr b="1" i="0" lang="en-US" spc="0" sz="6600" u="none" cap="none" strike="noStrike">
                <a:solidFill>
                  <a:srgbClr val="FFFFFF"/>
                </a:solidFill>
                <a:latin typeface="Manrope"/>
                <a:ea typeface="Manrope"/>
                <a:cs typeface="Manrope"/>
                <a:sym typeface="Manrope"/>
              </a:rPr>
              <a:t>Thank you</a:t>
            </a:r>
            <a:endParaRPr b="0" i="0" spc="0" sz="6600" u="none" cap="none" strike="noStrike">
              <a:solidFill>
                <a:schemeClr val="dk1"/>
              </a:solidFill>
              <a:latin typeface="Calibri"/>
              <a:ea typeface="Calibri"/>
              <a:cs typeface="Calibri"/>
              <a:sym typeface="Calibri"/>
            </a:endParaRPr>
          </a:p>
        </p:txBody>
      </p:sp>
      <p:sp>
        <p:nvSpPr>
          <p:cNvPr id="388" name="Google Shape;388;p26"/>
          <p:cNvSpPr/>
          <p:nvPr/>
        </p:nvSpPr>
        <p:spPr>
          <a:xfrm>
            <a:off x="1047750" y="6919540"/>
            <a:ext cx="12049200" cy="462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2550"/>
              <a:buFont typeface="JetBrains Mono"/>
              <a:buNone/>
            </a:pPr>
            <a:r>
              <a:t/>
            </a:r>
            <a:endParaRPr b="0" i="0" spc="0" sz="2550" u="none" cap="none" strike="noStrike">
              <a:solidFill>
                <a:schemeClr val="dk1"/>
              </a:solidFill>
              <a:latin typeface="Calibri"/>
              <a:ea typeface="Calibri"/>
              <a:cs typeface="Calibri"/>
              <a:sym typeface="Calibri"/>
            </a:endParaRPr>
          </a:p>
        </p:txBody>
      </p:sp>
      <p:sp>
        <p:nvSpPr>
          <p:cNvPr id="389" name="Google Shape;389;p26"/>
          <p:cNvSpPr/>
          <p:nvPr/>
        </p:nvSpPr>
        <p:spPr>
          <a:xfrm>
            <a:off x="1047750" y="8886825"/>
            <a:ext cx="16192500" cy="19200"/>
          </a:xfrm>
          <a:prstGeom prst="rect">
            <a:avLst/>
          </a:prstGeom>
          <a:solidFill>
            <a:srgbClr val="FFFFFF">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id="390" name="Google Shape;390;p26" title="qrcode_github.com.png"/>
          <p:cNvPicPr preferRelativeResize="0"/>
          <p:nvPr/>
        </p:nvPicPr>
        <p:blipFill rotWithShape="1">
          <a:blip r:embed="rId3">
            <a:alphaModFix/>
          </a:blip>
          <a:srcRect b="0" l="0" r="0" t="0"/>
          <a:stretch/>
        </p:blipFill>
        <p:spPr>
          <a:xfrm>
            <a:off x="12768825" y="3218675"/>
            <a:ext cx="4031605" cy="4031605"/>
          </a:xfrm>
          <a:prstGeom prst="rect">
            <a:avLst/>
          </a:prstGeom>
          <a:noFill/>
          <a:ln>
            <a:noFill/>
          </a:ln>
        </p:spPr>
      </p:pic>
      <p:grpSp>
        <p:nvGrpSpPr>
          <p:cNvPr id="391" name="Google Shape;391;p26"/>
          <p:cNvGrpSpPr/>
          <p:nvPr/>
        </p:nvGrpSpPr>
        <p:grpSpPr>
          <a:xfrm>
            <a:off x="12302425" y="7629150"/>
            <a:ext cx="4964400" cy="771712"/>
            <a:chOff x="-1851725" y="-200212"/>
            <a:chExt cx="4964400" cy="771712"/>
          </a:xfrm>
        </p:grpSpPr>
        <p:sp>
          <p:nvSpPr>
            <p:cNvPr id="392" name="Google Shape;392;p26"/>
            <p:cNvSpPr/>
            <p:nvPr/>
          </p:nvSpPr>
          <p:spPr>
            <a:xfrm>
              <a:off x="0" y="0"/>
              <a:ext cx="30861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3" name="Google Shape;393;p26"/>
            <p:cNvSpPr txBox="1"/>
            <p:nvPr/>
          </p:nvSpPr>
          <p:spPr>
            <a:xfrm>
              <a:off x="-1851725" y="-200212"/>
              <a:ext cx="4964400" cy="571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500"/>
                <a:buFont typeface="Arial"/>
                <a:buNone/>
              </a:pPr>
              <a:r>
                <a:rPr b="1" i="0" lang="en-US" spc="0" sz="2500" u="none" cap="none" strike="noStrike">
                  <a:solidFill>
                    <a:schemeClr val="lt1"/>
                  </a:solidFill>
                  <a:latin typeface="Manrope"/>
                  <a:ea typeface="Manrope"/>
                  <a:cs typeface="Manrope"/>
                  <a:sym typeface="Manrope"/>
                </a:rPr>
                <a:t>Scan here to get the slides</a:t>
              </a:r>
              <a:endParaRPr b="1" i="0" spc="0" sz="2500" u="none" cap="none" strike="noStrike">
                <a:solidFill>
                  <a:schemeClr val="lt1"/>
                </a:solidFill>
                <a:latin typeface="Manrope"/>
                <a:ea typeface="Manrope"/>
                <a:cs typeface="Manrope"/>
                <a:sym typeface="Manrope"/>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2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03" name="Google Shape;403;p27"/>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404" name="Google Shape;404;p27"/>
          <p:cNvSpPr txBox="1"/>
          <p:nvPr/>
        </p:nvSpPr>
        <p:spPr>
          <a:xfrm>
            <a:off x="1047750" y="876300"/>
            <a:ext cx="161925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pc="0" sz="1800" u="none" cap="none" strike="noStrike">
                <a:solidFill>
                  <a:srgbClr val="3928D9"/>
                </a:solidFill>
                <a:latin typeface="JetBrains Mono"/>
                <a:ea typeface="JetBrains Mono"/>
                <a:cs typeface="JetBrains Mono"/>
                <a:sym typeface="JetBrains Mono"/>
              </a:rPr>
              <a:t>REFERENCES</a:t>
            </a:r>
            <a:endParaRPr b="0" i="0" spc="0" sz="1800" u="none" cap="none" strike="noStrike">
              <a:solidFill>
                <a:srgbClr val="3928D9"/>
              </a:solidFill>
              <a:latin typeface="JetBrains Mono"/>
              <a:ea typeface="JetBrains Mono"/>
              <a:cs typeface="JetBrains Mono"/>
              <a:sym typeface="JetBrains Mono"/>
            </a:endParaRPr>
          </a:p>
        </p:txBody>
      </p:sp>
      <p:sp>
        <p:nvSpPr>
          <p:cNvPr id="405" name="Google Shape;405;p27"/>
          <p:cNvSpPr txBox="1"/>
          <p:nvPr/>
        </p:nvSpPr>
        <p:spPr>
          <a:xfrm>
            <a:off x="1047750" y="1381125"/>
            <a:ext cx="16192500" cy="86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800"/>
              <a:buFont typeface="Arial"/>
              <a:buNone/>
            </a:pPr>
            <a:r>
              <a:rPr b="1" i="0" lang="en-US" spc="0" sz="4800" u="none" cap="none" strike="noStrike">
                <a:solidFill>
                  <a:srgbClr val="12132A"/>
                </a:solidFill>
                <a:latin typeface="Manrope"/>
                <a:ea typeface="Manrope"/>
                <a:cs typeface="Manrope"/>
                <a:sym typeface="Manrope"/>
              </a:rPr>
              <a:t>Citations &amp; Sources</a:t>
            </a:r>
            <a:endParaRPr b="1" i="0" spc="0" sz="4800" u="none" cap="none" strike="noStrike">
              <a:solidFill>
                <a:srgbClr val="12132A"/>
              </a:solidFill>
              <a:latin typeface="Manrope"/>
              <a:ea typeface="Manrope"/>
              <a:cs typeface="Manrope"/>
              <a:sym typeface="Manrope"/>
            </a:endParaRPr>
          </a:p>
        </p:txBody>
      </p:sp>
      <p:grpSp>
        <p:nvGrpSpPr>
          <p:cNvPr id="406" name="Google Shape;406;p27"/>
          <p:cNvGrpSpPr/>
          <p:nvPr/>
        </p:nvGrpSpPr>
        <p:grpSpPr>
          <a:xfrm>
            <a:off x="1047750" y="2524125"/>
            <a:ext cx="16192650" cy="809700"/>
            <a:chOff x="0" y="0"/>
            <a:chExt cx="16192650" cy="809700"/>
          </a:xfrm>
        </p:grpSpPr>
        <p:sp>
          <p:nvSpPr>
            <p:cNvPr id="407" name="Google Shape;407;p27"/>
            <p:cNvSpPr txBox="1"/>
            <p:nvPr/>
          </p:nvSpPr>
          <p:spPr>
            <a:xfrm>
              <a:off x="0" y="0"/>
              <a:ext cx="6669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3928D9"/>
                  </a:solidFill>
                  <a:latin typeface="JetBrains Mono"/>
                  <a:ea typeface="JetBrains Mono"/>
                  <a:cs typeface="JetBrains Mono"/>
                  <a:sym typeface="JetBrains Mono"/>
                </a:rPr>
                <a:t>01</a:t>
              </a:r>
              <a:endParaRPr b="1" i="0" spc="0" sz="2000" u="none" cap="none" strike="noStrike">
                <a:solidFill>
                  <a:srgbClr val="3928D9"/>
                </a:solidFill>
                <a:latin typeface="JetBrains Mono"/>
                <a:ea typeface="JetBrains Mono"/>
                <a:cs typeface="JetBrains Mono"/>
                <a:sym typeface="JetBrains Mono"/>
              </a:endParaRPr>
            </a:p>
          </p:txBody>
        </p:sp>
        <p:sp>
          <p:nvSpPr>
            <p:cNvPr id="408" name="Google Shape;408;p27"/>
            <p:cNvSpPr txBox="1"/>
            <p:nvPr/>
          </p:nvSpPr>
          <p:spPr>
            <a:xfrm>
              <a:off x="857250" y="0"/>
              <a:ext cx="153354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Kube-Burner Contributors. "Into the Fire: Delving into Kubernetes Performance and Scale with Kube-burner"</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45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ACM Digital Library. URL: https://dl.acm.org/doi/10.1145/3629527.3651405</a:t>
              </a:r>
              <a:endParaRPr b="0" i="0" spc="0" sz="1400" u="none" cap="none" strike="noStrike">
                <a:solidFill>
                  <a:srgbClr val="5A5E7A"/>
                </a:solidFill>
                <a:latin typeface="JetBrains Mono"/>
                <a:ea typeface="JetBrains Mono"/>
                <a:cs typeface="JetBrains Mono"/>
                <a:sym typeface="JetBrains Mono"/>
              </a:endParaRPr>
            </a:p>
          </p:txBody>
        </p:sp>
      </p:grpSp>
      <p:grpSp>
        <p:nvGrpSpPr>
          <p:cNvPr id="409" name="Google Shape;409;p27"/>
          <p:cNvGrpSpPr/>
          <p:nvPr/>
        </p:nvGrpSpPr>
        <p:grpSpPr>
          <a:xfrm>
            <a:off x="1047750" y="3381375"/>
            <a:ext cx="16192650" cy="809700"/>
            <a:chOff x="0" y="0"/>
            <a:chExt cx="16192650" cy="809700"/>
          </a:xfrm>
        </p:grpSpPr>
        <p:sp>
          <p:nvSpPr>
            <p:cNvPr id="410" name="Google Shape;410;p27"/>
            <p:cNvSpPr txBox="1"/>
            <p:nvPr/>
          </p:nvSpPr>
          <p:spPr>
            <a:xfrm>
              <a:off x="0" y="0"/>
              <a:ext cx="6669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3928D9"/>
                  </a:solidFill>
                  <a:latin typeface="JetBrains Mono"/>
                  <a:ea typeface="JetBrains Mono"/>
                  <a:cs typeface="JetBrains Mono"/>
                  <a:sym typeface="JetBrains Mono"/>
                </a:rPr>
                <a:t>02</a:t>
              </a:r>
              <a:endParaRPr b="1" i="0" spc="0" sz="2000" u="none" cap="none" strike="noStrike">
                <a:solidFill>
                  <a:srgbClr val="3928D9"/>
                </a:solidFill>
                <a:latin typeface="JetBrains Mono"/>
                <a:ea typeface="JetBrains Mono"/>
                <a:cs typeface="JetBrains Mono"/>
                <a:sym typeface="JetBrains Mono"/>
              </a:endParaRPr>
            </a:p>
          </p:txBody>
        </p:sp>
        <p:sp>
          <p:nvSpPr>
            <p:cNvPr id="411" name="Google Shape;411;p27"/>
            <p:cNvSpPr txBox="1"/>
            <p:nvPr/>
          </p:nvSpPr>
          <p:spPr>
            <a:xfrm>
              <a:off x="857250" y="0"/>
              <a:ext cx="153354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KEDA Contributors. "Kubernetes Event-driven Autoscaling"</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45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Kubernetes Event-driven Autoscaling. URL: https://keda.sh/</a:t>
              </a:r>
              <a:endParaRPr b="0" i="0" spc="0" sz="1400" u="none" cap="none" strike="noStrike">
                <a:solidFill>
                  <a:srgbClr val="5A5E7A"/>
                </a:solidFill>
                <a:latin typeface="JetBrains Mono"/>
                <a:ea typeface="JetBrains Mono"/>
                <a:cs typeface="JetBrains Mono"/>
                <a:sym typeface="JetBrains Mono"/>
              </a:endParaRPr>
            </a:p>
          </p:txBody>
        </p:sp>
      </p:grpSp>
      <p:grpSp>
        <p:nvGrpSpPr>
          <p:cNvPr id="412" name="Google Shape;412;p27"/>
          <p:cNvGrpSpPr/>
          <p:nvPr/>
        </p:nvGrpSpPr>
        <p:grpSpPr>
          <a:xfrm>
            <a:off x="1047750" y="4238625"/>
            <a:ext cx="16192650" cy="809700"/>
            <a:chOff x="0" y="0"/>
            <a:chExt cx="16192650" cy="809700"/>
          </a:xfrm>
        </p:grpSpPr>
        <p:sp>
          <p:nvSpPr>
            <p:cNvPr id="413" name="Google Shape;413;p27"/>
            <p:cNvSpPr txBox="1"/>
            <p:nvPr/>
          </p:nvSpPr>
          <p:spPr>
            <a:xfrm>
              <a:off x="0" y="0"/>
              <a:ext cx="6669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3928D9"/>
                  </a:solidFill>
                  <a:latin typeface="JetBrains Mono"/>
                  <a:ea typeface="JetBrains Mono"/>
                  <a:cs typeface="JetBrains Mono"/>
                  <a:sym typeface="JetBrains Mono"/>
                </a:rPr>
                <a:t>03</a:t>
              </a:r>
              <a:endParaRPr b="1" i="0" spc="0" sz="2000" u="none" cap="none" strike="noStrike">
                <a:solidFill>
                  <a:srgbClr val="3928D9"/>
                </a:solidFill>
                <a:latin typeface="JetBrains Mono"/>
                <a:ea typeface="JetBrains Mono"/>
                <a:cs typeface="JetBrains Mono"/>
                <a:sym typeface="JetBrains Mono"/>
              </a:endParaRPr>
            </a:p>
          </p:txBody>
        </p:sp>
        <p:sp>
          <p:nvSpPr>
            <p:cNvPr id="414" name="Google Shape;414;p27"/>
            <p:cNvSpPr txBox="1"/>
            <p:nvPr/>
          </p:nvSpPr>
          <p:spPr>
            <a:xfrm>
              <a:off x="857250" y="0"/>
              <a:ext cx="153354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KubeVirt Contributors. "Building a virtualization API for Kubernetes"</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45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Building a virtualization API for Kubernetes. URL: https://kubevirt.io</a:t>
              </a:r>
              <a:endParaRPr b="0" i="0" spc="0" sz="1400" u="none" cap="none" strike="noStrike">
                <a:solidFill>
                  <a:srgbClr val="5A5E7A"/>
                </a:solidFill>
                <a:latin typeface="JetBrains Mono"/>
                <a:ea typeface="JetBrains Mono"/>
                <a:cs typeface="JetBrains Mono"/>
                <a:sym typeface="JetBrains Mono"/>
              </a:endParaRPr>
            </a:p>
          </p:txBody>
        </p:sp>
      </p:grpSp>
      <p:grpSp>
        <p:nvGrpSpPr>
          <p:cNvPr id="415" name="Google Shape;415;p27"/>
          <p:cNvGrpSpPr/>
          <p:nvPr/>
        </p:nvGrpSpPr>
        <p:grpSpPr>
          <a:xfrm>
            <a:off x="1047750" y="5095875"/>
            <a:ext cx="16192650" cy="809700"/>
            <a:chOff x="0" y="0"/>
            <a:chExt cx="16192650" cy="809700"/>
          </a:xfrm>
        </p:grpSpPr>
        <p:sp>
          <p:nvSpPr>
            <p:cNvPr id="416" name="Google Shape;416;p27"/>
            <p:cNvSpPr txBox="1"/>
            <p:nvPr/>
          </p:nvSpPr>
          <p:spPr>
            <a:xfrm>
              <a:off x="0" y="0"/>
              <a:ext cx="6669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3928D9"/>
                  </a:solidFill>
                  <a:latin typeface="JetBrains Mono"/>
                  <a:ea typeface="JetBrains Mono"/>
                  <a:cs typeface="JetBrains Mono"/>
                  <a:sym typeface="JetBrains Mono"/>
                </a:rPr>
                <a:t>04</a:t>
              </a:r>
              <a:endParaRPr b="1" i="0" spc="0" sz="2000" u="none" cap="none" strike="noStrike">
                <a:solidFill>
                  <a:srgbClr val="3928D9"/>
                </a:solidFill>
                <a:latin typeface="JetBrains Mono"/>
                <a:ea typeface="JetBrains Mono"/>
                <a:cs typeface="JetBrains Mono"/>
                <a:sym typeface="JetBrains Mono"/>
              </a:endParaRPr>
            </a:p>
          </p:txBody>
        </p:sp>
        <p:sp>
          <p:nvSpPr>
            <p:cNvPr id="417" name="Google Shape;417;p27"/>
            <p:cNvSpPr txBox="1"/>
            <p:nvPr/>
          </p:nvSpPr>
          <p:spPr>
            <a:xfrm>
              <a:off x="857250" y="0"/>
              <a:ext cx="153354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RabbitMQ Contributors. "RabbitMQ Performance Testing Tool"</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45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RabbitMQ Perf Test. URL: https://github.com/rabbitmq/rabbitmq-perf-test</a:t>
              </a:r>
              <a:endParaRPr b="0" i="0" spc="0" sz="1400" u="none" cap="none" strike="noStrike">
                <a:solidFill>
                  <a:srgbClr val="5A5E7A"/>
                </a:solidFill>
                <a:latin typeface="JetBrains Mono"/>
                <a:ea typeface="JetBrains Mono"/>
                <a:cs typeface="JetBrains Mono"/>
                <a:sym typeface="JetBrains Mono"/>
              </a:endParaRPr>
            </a:p>
          </p:txBody>
        </p:sp>
      </p:grpSp>
      <p:grpSp>
        <p:nvGrpSpPr>
          <p:cNvPr id="418" name="Google Shape;418;p27"/>
          <p:cNvGrpSpPr/>
          <p:nvPr/>
        </p:nvGrpSpPr>
        <p:grpSpPr>
          <a:xfrm>
            <a:off x="1047750" y="5953125"/>
            <a:ext cx="16192650" cy="809700"/>
            <a:chOff x="0" y="0"/>
            <a:chExt cx="16192650" cy="809700"/>
          </a:xfrm>
        </p:grpSpPr>
        <p:sp>
          <p:nvSpPr>
            <p:cNvPr id="419" name="Google Shape;419;p27"/>
            <p:cNvSpPr txBox="1"/>
            <p:nvPr/>
          </p:nvSpPr>
          <p:spPr>
            <a:xfrm>
              <a:off x="0" y="0"/>
              <a:ext cx="6669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3928D9"/>
                  </a:solidFill>
                  <a:latin typeface="JetBrains Mono"/>
                  <a:ea typeface="JetBrains Mono"/>
                  <a:cs typeface="JetBrains Mono"/>
                  <a:sym typeface="JetBrains Mono"/>
                </a:rPr>
                <a:t>05</a:t>
              </a:r>
              <a:endParaRPr b="1" i="0" spc="0" sz="2000" u="none" cap="none" strike="noStrike">
                <a:solidFill>
                  <a:srgbClr val="3928D9"/>
                </a:solidFill>
                <a:latin typeface="JetBrains Mono"/>
                <a:ea typeface="JetBrains Mono"/>
                <a:cs typeface="JetBrains Mono"/>
                <a:sym typeface="JetBrains Mono"/>
              </a:endParaRPr>
            </a:p>
          </p:txBody>
        </p:sp>
        <p:sp>
          <p:nvSpPr>
            <p:cNvPr id="420" name="Google Shape;420;p27"/>
            <p:cNvSpPr txBox="1"/>
            <p:nvPr/>
          </p:nvSpPr>
          <p:spPr>
            <a:xfrm>
              <a:off x="857250" y="0"/>
              <a:ext cx="153354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Go Contributors. "Profiling Go Programs"</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45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Go Blog. URL: https://go.dev/blog/pprof</a:t>
              </a:r>
              <a:endParaRPr b="0" i="0" spc="0" sz="1400" u="none" cap="none" strike="noStrike">
                <a:solidFill>
                  <a:srgbClr val="5A5E7A"/>
                </a:solidFill>
                <a:latin typeface="JetBrains Mono"/>
                <a:ea typeface="JetBrains Mono"/>
                <a:cs typeface="JetBrains Mono"/>
                <a:sym typeface="JetBrains Mono"/>
              </a:endParaRPr>
            </a:p>
          </p:txBody>
        </p:sp>
      </p:grpSp>
      <p:grpSp>
        <p:nvGrpSpPr>
          <p:cNvPr id="421" name="Google Shape;421;p27"/>
          <p:cNvGrpSpPr/>
          <p:nvPr/>
        </p:nvGrpSpPr>
        <p:grpSpPr>
          <a:xfrm>
            <a:off x="1047750" y="6810375"/>
            <a:ext cx="16192650" cy="809700"/>
            <a:chOff x="0" y="0"/>
            <a:chExt cx="16192650" cy="809700"/>
          </a:xfrm>
        </p:grpSpPr>
        <p:sp>
          <p:nvSpPr>
            <p:cNvPr id="422" name="Google Shape;422;p27"/>
            <p:cNvSpPr txBox="1"/>
            <p:nvPr/>
          </p:nvSpPr>
          <p:spPr>
            <a:xfrm>
              <a:off x="0" y="0"/>
              <a:ext cx="6669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3928D9"/>
                  </a:solidFill>
                  <a:latin typeface="JetBrains Mono"/>
                  <a:ea typeface="JetBrains Mono"/>
                  <a:cs typeface="JetBrains Mono"/>
                  <a:sym typeface="JetBrains Mono"/>
                </a:rPr>
                <a:t>06</a:t>
              </a:r>
              <a:endParaRPr b="1" i="0" spc="0" sz="2000" u="none" cap="none" strike="noStrike">
                <a:solidFill>
                  <a:srgbClr val="3928D9"/>
                </a:solidFill>
                <a:latin typeface="JetBrains Mono"/>
                <a:ea typeface="JetBrains Mono"/>
                <a:cs typeface="JetBrains Mono"/>
                <a:sym typeface="JetBrains Mono"/>
              </a:endParaRPr>
            </a:p>
          </p:txBody>
        </p:sp>
        <p:sp>
          <p:nvSpPr>
            <p:cNvPr id="423" name="Google Shape;423;p27"/>
            <p:cNvSpPr txBox="1"/>
            <p:nvPr/>
          </p:nvSpPr>
          <p:spPr>
            <a:xfrm>
              <a:off x="857250" y="0"/>
              <a:ext cx="153354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Kcli Contributors. "Kcli: Tool for interacting with virtualization platforms"</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45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Kcli GitHub. URL: https://github.com/karmab/kcli</a:t>
              </a:r>
              <a:endParaRPr b="0" i="0" spc="0" sz="1400" u="none" cap="none" strike="noStrike">
                <a:solidFill>
                  <a:srgbClr val="5A5E7A"/>
                </a:solidFill>
                <a:latin typeface="JetBrains Mono"/>
                <a:ea typeface="JetBrains Mono"/>
                <a:cs typeface="JetBrains Mono"/>
                <a:sym typeface="JetBrains Mono"/>
              </a:endParaRPr>
            </a:p>
          </p:txBody>
        </p:sp>
      </p:grpSp>
      <p:grpSp>
        <p:nvGrpSpPr>
          <p:cNvPr id="424" name="Google Shape;424;p27"/>
          <p:cNvGrpSpPr/>
          <p:nvPr/>
        </p:nvGrpSpPr>
        <p:grpSpPr>
          <a:xfrm>
            <a:off x="1047750" y="7667625"/>
            <a:ext cx="16192650" cy="809700"/>
            <a:chOff x="0" y="0"/>
            <a:chExt cx="16192650" cy="809700"/>
          </a:xfrm>
        </p:grpSpPr>
        <p:sp>
          <p:nvSpPr>
            <p:cNvPr id="425" name="Google Shape;425;p27"/>
            <p:cNvSpPr txBox="1"/>
            <p:nvPr/>
          </p:nvSpPr>
          <p:spPr>
            <a:xfrm>
              <a:off x="0" y="0"/>
              <a:ext cx="6669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3928D9"/>
                  </a:solidFill>
                  <a:latin typeface="JetBrains Mono"/>
                  <a:ea typeface="JetBrains Mono"/>
                  <a:cs typeface="JetBrains Mono"/>
                  <a:sym typeface="JetBrains Mono"/>
                </a:rPr>
                <a:t>07</a:t>
              </a:r>
              <a:endParaRPr b="1" i="0" spc="0" sz="2000" u="none" cap="none" strike="noStrike">
                <a:solidFill>
                  <a:srgbClr val="3928D9"/>
                </a:solidFill>
                <a:latin typeface="JetBrains Mono"/>
                <a:ea typeface="JetBrains Mono"/>
                <a:cs typeface="JetBrains Mono"/>
                <a:sym typeface="JetBrains Mono"/>
              </a:endParaRPr>
            </a:p>
          </p:txBody>
        </p:sp>
        <p:sp>
          <p:nvSpPr>
            <p:cNvPr id="426" name="Google Shape;426;p27"/>
            <p:cNvSpPr txBox="1"/>
            <p:nvPr/>
          </p:nvSpPr>
          <p:spPr>
            <a:xfrm>
              <a:off x="857250" y="0"/>
              <a:ext cx="15335400" cy="8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pc="0" sz="2000" u="none" cap="none" strike="noStrike">
                  <a:solidFill>
                    <a:srgbClr val="12132A"/>
                  </a:solidFill>
                  <a:latin typeface="Manrope"/>
                  <a:ea typeface="Manrope"/>
                  <a:cs typeface="Manrope"/>
                  <a:sym typeface="Manrope"/>
                </a:rPr>
                <a:t>Prometheus Contributors. "Prometheus Time Series Database Storage (TSDB)"</a:t>
              </a:r>
              <a:endParaRPr b="1" i="0" spc="0" sz="2000" u="none" cap="none" strike="noStrike">
                <a:solidFill>
                  <a:srgbClr val="12132A"/>
                </a:solidFill>
                <a:latin typeface="Manrope"/>
                <a:ea typeface="Manrope"/>
                <a:cs typeface="Manrope"/>
                <a:sym typeface="Manrope"/>
              </a:endParaRPr>
            </a:p>
            <a:p>
              <a:pPr indent="0" lvl="0" marL="0" marR="0" rtl="0" algn="l">
                <a:lnSpc>
                  <a:spcPct val="100000"/>
                </a:lnSpc>
                <a:spcBef>
                  <a:spcPts val="45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Prometheus Documentation. URL: https://prometheus.io/docs/prometheus/latest/storage/</a:t>
              </a:r>
              <a:endParaRPr b="0" i="0" spc="0" sz="1400" u="none" cap="none" strike="noStrike">
                <a:solidFill>
                  <a:srgbClr val="5A5E7A"/>
                </a:solidFill>
                <a:latin typeface="JetBrains Mono"/>
                <a:ea typeface="JetBrains Mono"/>
                <a:cs typeface="JetBrains Mono"/>
                <a:sym typeface="JetBrains Mono"/>
              </a:endParaRPr>
            </a:p>
          </p:txBody>
        </p:sp>
      </p:grpSp>
      <p:grpSp>
        <p:nvGrpSpPr>
          <p:cNvPr id="427" name="Google Shape;427;p27"/>
          <p:cNvGrpSpPr/>
          <p:nvPr/>
        </p:nvGrpSpPr>
        <p:grpSpPr>
          <a:xfrm>
            <a:off x="1047750" y="9334500"/>
            <a:ext cx="16192500" cy="381000"/>
            <a:chOff x="0" y="0"/>
            <a:chExt cx="16192500" cy="381000"/>
          </a:xfrm>
        </p:grpSpPr>
        <p:sp>
          <p:nvSpPr>
            <p:cNvPr id="428" name="Google Shape;428;p27"/>
            <p:cNvSpPr/>
            <p:nvPr/>
          </p:nvSpPr>
          <p:spPr>
            <a:xfrm>
              <a:off x="0" y="0"/>
              <a:ext cx="1619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9" name="Google Shape;429;p27"/>
            <p:cNvSpPr txBox="1"/>
            <p:nvPr/>
          </p:nvSpPr>
          <p:spPr>
            <a:xfrm>
              <a:off x="0" y="0"/>
              <a:ext cx="161925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5A5E7A"/>
                  </a:solidFill>
                  <a:latin typeface="JetBrains Mono"/>
                  <a:ea typeface="JetBrains Mono"/>
                  <a:cs typeface="JetBrains Mono"/>
                  <a:sym typeface="JetBrains Mono"/>
                </a:rPr>
                <a:t>© 2026 Sai Sanjay. This work is licensed under CC BY 4.0. Feel free to share and adapt with attribution.</a:t>
              </a:r>
              <a:endParaRPr b="0" i="0" spc="0" sz="1400" u="none" cap="none" strike="noStrike">
                <a:solidFill>
                  <a:srgbClr val="5A5E7A"/>
                </a:solidFill>
                <a:latin typeface="JetBrains Mono"/>
                <a:ea typeface="JetBrains Mono"/>
                <a:cs typeface="JetBrains Mono"/>
                <a:sym typeface="JetBrains Mono"/>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