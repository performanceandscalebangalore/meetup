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1: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Opening slide. Do not read from the slide. Open with: 'What you are looking at is a query that consumed the equivalent of 11.75 hours of database CPU in a single observation window — and it took 90 seconds to find it. This talk is about how we did that.'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stage. These are real numbers from our IBM Cloud staging environment. The audience needs to feel the scale of the problem before we show the solution. Pause on each stat.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real IBM Cloud staging environment running both the existing Temporal layer and the new PDS architecture under evaluation. Emphasize: this is not a synthetic benchmark — it is real service traffic. 182 million queries captured.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3 steps. Emphasize that Step 1 already existed — the postgresql_health_monitor.py script. Step 2 is the new piece. Step 3 closes the loop. The whole cycle runs in under 3 hours end-to-end, versus days of traditional triage.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5: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single largest performance problem in the dataset. IBM Bob identified it immediately by correlating buffer hit count + column count in the SELECT + call volume. A human would need to manually inspect query text, cross-reference pg_statio tables, and understand DAL patterns — at minimum 45 minutes for someone familiar with the codebase.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6: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anomaly is invisible unless you cross-correlate pg_stat_database transaction counts with pg_stat_statements call patterns. IBM Bob saw BEGIN count, ROLLBACK count, and COMMIT count together and immediately flagged the 3.6:1 rollback-to-commit ratio as critical — comparing it against the healthy Temporal DB on the same host. A human would have to know to look at pg_stat_database AND know what a healthy ratio looks like.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7: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most important example for performance engineers in the audience. A dashboard showing average latency would show this query at 0.098ms — perfectly healthy. The spike only appears when you sort by MAX latency, which IBM Bob does automatically across all queries. Emphasize: this is why holistic LLM analysis beats dashboard monitoring.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8: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IBM Bob analyzed 200 query shapes and produced a ranked, ready-to-run index creation script. Emphasize the CONCURRENTLY keyword — the LLM understood production safety requirements without being asked. Rows 1-3 in the table show catastrophic single-query latencies (94 seconds!) that would be invisible in average dashboards.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9: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human MTTD estimates are conservative — they assume a knowledgeable PostgreSQL engineer who knows where to look. A junior engineer or on-call SRE without deep PG expertise would take 2–3× longer. The 90-second IBM Bob MTTD is the time from submitting the JSON telemetry to receiving a fully ranked incident report.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0: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projected numbers, not measured. Be explicit about that. The basis for each projection is in the speaker notes and the analysis reports. The &gt;98% buffer hit reduction is the most defensible — it is directly proportional to column count reduction from 70+ columns to 6 columns.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1: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the intellectual core of the talk. The argument is not 'LLMs are magic'. The argument is: LLMs can hold all 48 query shapes, 13 metric categories, and 4 database IDs in working context simultaneously, and reason about the relationships between them — which is exactly what humans cannot do efficiently under time pressure.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2: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this practical for the audience. Tell them they can start today. The script and prompt template are available — anyone with pg_monitor access and IBM Bob can run this cycle. No specialized tooling required beyond what any PostgreSQL shop already has.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3: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builds credibility. A performance engineering audience will push back hard if you overclaim. Lead with 'here is what it cannot do' before they ask. The limitation on projections vs measurements is especially important — explicitly call it out before the Q&amp;A.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p:nvPr>
            <p:ph idx="2" type="sldImg"/>
          </p:nvPr>
        </p:nvSpPr>
        <p:spPr>
          <a:xfrm>
            <a:off x="1143000" y="68580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4:notes"/>
          <p:cNvSpPr txBox="1"/>
          <p:nvPr>
            <p:ph idx="1" type="body"/>
          </p:nvPr>
        </p:nvSpPr>
        <p:spPr>
          <a:xfrm>
            <a:off x="685800" y="34290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4 takeaways. Leave 3 minutes for Q&amp;A. Anticipated questions: (1) Did you measure the improvements? Answer: projections only — next step is empirical validation. (2) Does this work with other databases? Answer: yes, any DB with comparable telemetry views. (3) What about data privacy when sending telemetry to an LLM? Answer: pg_stat_statements query text is parameterized — no actual data values are exposed.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Tx">
  <p:cSld name="OBJECT_WITH_CAPTION_TEXT">
    <p:spTree>
      <p:nvGrpSpPr>
        <p:cNvPr id="14" name="Shape 14"/>
        <p:cNvGrpSpPr/>
        <p:nvPr/>
      </p:nvGrpSpPr>
      <p:grpSpPr>
        <a:xfrm>
          <a:off x="0" y="0"/>
          <a:ext cx="0" cy="0"/>
          <a:chOff x="0" y="0"/>
          <a:chExt cx="0" cy="0"/>
        </a:xfrm>
      </p:grpSpPr>
      <p:sp>
        <p:nvSpPr>
          <p:cNvPr id="15" name="Google Shape;15;p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 name="Google Shape;20;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26" name="Shape 26"/>
        <p:cNvGrpSpPr/>
        <p:nvPr/>
      </p:nvGrpSpPr>
      <p:grpSpPr>
        <a:xfrm>
          <a:off x="0" y="0"/>
          <a:ext cx="0" cy="0"/>
          <a:chOff x="0" y="0"/>
          <a:chExt cx="0" cy="0"/>
        </a:xfrm>
      </p:grpSpPr>
      <p:sp>
        <p:nvSpPr>
          <p:cNvPr id="27" name="Google Shape;27;p7"/>
          <p:cNvSpPr txBox="1"/>
          <p:nvPr/>
        </p:nvSpPr>
        <p:spPr>
          <a:xfrm>
            <a:off x="0" y="0"/>
            <a:ext cx="90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28" name="Google Shape;28;p7"/>
          <p:cNvSpPr txBox="1"/>
          <p:nvPr/>
        </p:nvSpPr>
        <p:spPr>
          <a:xfrm>
            <a:off x="1152000" y="1260000"/>
            <a:ext cx="9360000" cy="216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800">
                <a:solidFill>
                  <a:srgbClr val="FFFFFF"/>
                </a:solidFill>
                <a:latin typeface="Calibri"/>
                <a:ea typeface="Calibri"/>
                <a:cs typeface="Calibri"/>
                <a:sym typeface="Calibri"/>
              </a:rPr>
              <a:t>Database Observability and Rapid Optimization using GenAI Analysis</a:t>
            </a:r>
            <a:endParaRPr/>
          </a:p>
        </p:txBody>
      </p:sp>
      <p:sp>
        <p:nvSpPr>
          <p:cNvPr id="29" name="Google Shape;29;p7"/>
          <p:cNvSpPr txBox="1"/>
          <p:nvPr/>
        </p:nvSpPr>
        <p:spPr>
          <a:xfrm>
            <a:off x="1152000" y="3600000"/>
            <a:ext cx="9360000" cy="9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00">
                <a:solidFill>
                  <a:srgbClr val="C6C6C6"/>
                </a:solidFill>
                <a:latin typeface="Calibri"/>
                <a:ea typeface="Calibri"/>
                <a:cs typeface="Calibri"/>
                <a:sym typeface="Calibri"/>
              </a:rPr>
              <a:t>How agentic AI analysis compresses MTTD and MTTR for database performance incidents</a:t>
            </a:r>
            <a:endParaRPr/>
          </a:p>
        </p:txBody>
      </p:sp>
      <p:sp>
        <p:nvSpPr>
          <p:cNvPr id="30" name="Google Shape;30;p7"/>
          <p:cNvSpPr txBox="1"/>
          <p:nvPr/>
        </p:nvSpPr>
        <p:spPr>
          <a:xfrm>
            <a:off x="1152000" y="4752000"/>
            <a:ext cx="9360000" cy="36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00">
                <a:solidFill>
                  <a:srgbClr val="A8A8A8"/>
                </a:solidFill>
                <a:latin typeface="Calibri"/>
                <a:ea typeface="Calibri"/>
                <a:cs typeface="Calibri"/>
                <a:sym typeface="Calibri"/>
              </a:rPr>
              <a:t>Amitoj Singh  ·  Sapna Jadhav  ·  Vanshika Verma</a:t>
            </a:r>
            <a:endParaRPr/>
          </a:p>
        </p:txBody>
      </p:sp>
      <p:sp>
        <p:nvSpPr>
          <p:cNvPr id="31" name="Google Shape;31;p7"/>
          <p:cNvSpPr txBox="1"/>
          <p:nvPr/>
        </p:nvSpPr>
        <p:spPr>
          <a:xfrm>
            <a:off x="1152000" y="5184000"/>
            <a:ext cx="93600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400">
                <a:solidFill>
                  <a:srgbClr val="A8A8A8"/>
                </a:solidFill>
                <a:latin typeface="Calibri"/>
                <a:ea typeface="Calibri"/>
                <a:cs typeface="Calibri"/>
                <a:sym typeface="Calibri"/>
              </a:rPr>
              <a:t>Hybrid Cloud Performance Engineering Team @ ISDL (IBM India Systems Development Lab)</a:t>
            </a:r>
            <a:endParaRPr/>
          </a:p>
        </p:txBody>
      </p:sp>
      <p:sp>
        <p:nvSpPr>
          <p:cNvPr id="32" name="Google Shape;32;p7"/>
          <p:cNvSpPr txBox="1"/>
          <p:nvPr/>
        </p:nvSpPr>
        <p:spPr>
          <a:xfrm>
            <a:off x="1152000" y="5580000"/>
            <a:ext cx="936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00">
                <a:solidFill>
                  <a:srgbClr val="6F6F6F"/>
                </a:solidFill>
                <a:latin typeface="Calibri"/>
                <a:ea typeface="Calibri"/>
                <a:cs typeface="Calibri"/>
                <a:sym typeface="Calibri"/>
              </a:rPr>
              <a:t>Bangalore Performance and Scale Meetup's Conference - 2026</a:t>
            </a:r>
            <a:endParaRPr/>
          </a:p>
        </p:txBody>
      </p:sp>
      <p:sp>
        <p:nvSpPr>
          <p:cNvPr id="33" name="Google Shape;33;p7"/>
          <p:cNvSpPr txBox="1"/>
          <p:nvPr/>
        </p:nvSpPr>
        <p:spPr>
          <a:xfrm>
            <a:off x="1152000" y="4500000"/>
            <a:ext cx="9360000" cy="432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37" name="Shape 37"/>
        <p:cNvGrpSpPr/>
        <p:nvPr/>
      </p:nvGrpSpPr>
      <p:grpSpPr>
        <a:xfrm>
          <a:off x="0" y="0"/>
          <a:ext cx="0" cy="0"/>
          <a:chOff x="0" y="0"/>
          <a:chExt cx="0" cy="0"/>
        </a:xfrm>
      </p:grpSpPr>
      <p:sp>
        <p:nvSpPr>
          <p:cNvPr id="38" name="Google Shape;38;p8"/>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39" name="Google Shape;39;p8"/>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02</a:t>
            </a:r>
            <a:endParaRPr/>
          </a:p>
        </p:txBody>
      </p:sp>
      <p:sp>
        <p:nvSpPr>
          <p:cNvPr id="40" name="Google Shape;40;p8"/>
          <p:cNvSpPr txBox="1"/>
          <p:nvPr/>
        </p:nvSpPr>
        <p:spPr>
          <a:xfrm>
            <a:off x="540000" y="252000"/>
            <a:ext cx="100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FFFFFF"/>
                </a:solidFill>
                <a:latin typeface="Calibri"/>
                <a:ea typeface="Calibri"/>
                <a:cs typeface="Calibri"/>
                <a:sym typeface="Calibri"/>
              </a:rPr>
              <a:t>The Problem: Database Triage Without AI</a:t>
            </a:r>
            <a:endParaRPr/>
          </a:p>
        </p:txBody>
      </p:sp>
      <p:sp>
        <p:nvSpPr>
          <p:cNvPr id="41" name="Google Shape;41;p8"/>
          <p:cNvSpPr txBox="1"/>
          <p:nvPr/>
        </p:nvSpPr>
        <p:spPr>
          <a:xfrm>
            <a:off x="540000" y="864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42" name="Google Shape;42;p8"/>
          <p:cNvSpPr txBox="1"/>
          <p:nvPr/>
        </p:nvSpPr>
        <p:spPr>
          <a:xfrm>
            <a:off x="540000" y="1008000"/>
            <a:ext cx="43200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EE0000"/>
                </a:solidFill>
                <a:latin typeface="Calibri"/>
                <a:ea typeface="Calibri"/>
                <a:cs typeface="Calibri"/>
                <a:sym typeface="Calibri"/>
              </a:rPr>
              <a:t>What a DBA Faces Today</a:t>
            </a:r>
            <a:endParaRPr/>
          </a:p>
        </p:txBody>
      </p:sp>
      <p:sp>
        <p:nvSpPr>
          <p:cNvPr id="43" name="Google Shape;43;p8"/>
          <p:cNvSpPr txBox="1"/>
          <p:nvPr/>
        </p:nvSpPr>
        <p:spPr>
          <a:xfrm>
            <a:off x="540000" y="1404000"/>
            <a:ext cx="4500000" cy="288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700">
                <a:solidFill>
                  <a:srgbClr val="C6C6C6"/>
                </a:solidFill>
                <a:latin typeface="Calibri"/>
                <a:ea typeface="Calibri"/>
                <a:cs typeface="Calibri"/>
                <a:sym typeface="Calibri"/>
              </a:rPr>
              <a:t>• Raw pg_stat_statements output: 200 query rows</a:t>
            </a:r>
            <a:endParaRPr/>
          </a:p>
          <a:p>
            <a:pPr indent="0" lvl="0" marL="0" marR="0" rtl="0" algn="l">
              <a:spcBef>
                <a:spcPts val="0"/>
              </a:spcBef>
              <a:spcAft>
                <a:spcPts val="0"/>
              </a:spcAft>
              <a:buNone/>
            </a:pPr>
            <a:r>
              <a:rPr b="0" lang="en-US" sz="1700">
                <a:solidFill>
                  <a:srgbClr val="C6C6C6"/>
                </a:solidFill>
                <a:latin typeface="Calibri"/>
                <a:ea typeface="Calibri"/>
                <a:cs typeface="Calibri"/>
                <a:sym typeface="Calibri"/>
              </a:rPr>
              <a:t>• Dozens of JSON files across multiple databases</a:t>
            </a:r>
            <a:endParaRPr/>
          </a:p>
          <a:p>
            <a:pPr indent="0" lvl="0" marL="0" marR="0" rtl="0" algn="l">
              <a:spcBef>
                <a:spcPts val="0"/>
              </a:spcBef>
              <a:spcAft>
                <a:spcPts val="0"/>
              </a:spcAft>
              <a:buNone/>
            </a:pPr>
            <a:r>
              <a:rPr b="0" lang="en-US" sz="1700">
                <a:solidFill>
                  <a:srgbClr val="C6C6C6"/>
                </a:solidFill>
                <a:latin typeface="Calibri"/>
                <a:ea typeface="Calibri"/>
                <a:cs typeface="Calibri"/>
                <a:sym typeface="Calibri"/>
              </a:rPr>
              <a:t>• No unified view of which signal matters</a:t>
            </a:r>
            <a:endParaRPr/>
          </a:p>
          <a:p>
            <a:pPr indent="0" lvl="0" marL="0" marR="0" rtl="0" algn="l">
              <a:spcBef>
                <a:spcPts val="0"/>
              </a:spcBef>
              <a:spcAft>
                <a:spcPts val="0"/>
              </a:spcAft>
              <a:buNone/>
            </a:pPr>
            <a:r>
              <a:rPr b="0" lang="en-US" sz="1700">
                <a:solidFill>
                  <a:srgbClr val="C6C6C6"/>
                </a:solidFill>
                <a:latin typeface="Calibri"/>
                <a:ea typeface="Calibri"/>
                <a:cs typeface="Calibri"/>
                <a:sym typeface="Calibri"/>
              </a:rPr>
              <a:t>• Requires deep PostgreSQL internals knowledge</a:t>
            </a:r>
            <a:endParaRPr/>
          </a:p>
          <a:p>
            <a:pPr indent="0" lvl="0" marL="0" marR="0" rtl="0" algn="l">
              <a:spcBef>
                <a:spcPts val="0"/>
              </a:spcBef>
              <a:spcAft>
                <a:spcPts val="0"/>
              </a:spcAft>
              <a:buNone/>
            </a:pPr>
            <a:r>
              <a:rPr b="0" lang="en-US" sz="1700">
                <a:solidFill>
                  <a:srgbClr val="C6C6C6"/>
                </a:solidFill>
                <a:latin typeface="Calibri"/>
                <a:ea typeface="Calibri"/>
                <a:cs typeface="Calibri"/>
                <a:sym typeface="Calibri"/>
              </a:rPr>
              <a:t>• Hours to correlate buffer hits → lock waits → rollback rate</a:t>
            </a:r>
            <a:endParaRPr/>
          </a:p>
          <a:p>
            <a:pPr indent="0" lvl="0" marL="0" marR="0" rtl="0" algn="l">
              <a:spcBef>
                <a:spcPts val="0"/>
              </a:spcBef>
              <a:spcAft>
                <a:spcPts val="0"/>
              </a:spcAft>
              <a:buNone/>
            </a:pPr>
            <a:r>
              <a:rPr b="0" lang="en-US" sz="1700">
                <a:solidFill>
                  <a:srgbClr val="C6C6C6"/>
                </a:solidFill>
                <a:latin typeface="Calibri"/>
                <a:ea typeface="Calibri"/>
                <a:cs typeface="Calibri"/>
                <a:sym typeface="Calibri"/>
              </a:rPr>
              <a:t>• Reactive: problems found after user complaints</a:t>
            </a:r>
            <a:endParaRPr/>
          </a:p>
        </p:txBody>
      </p:sp>
      <p:sp>
        <p:nvSpPr>
          <p:cNvPr id="44" name="Google Shape;44;p8"/>
          <p:cNvSpPr txBox="1"/>
          <p:nvPr/>
        </p:nvSpPr>
        <p:spPr>
          <a:xfrm>
            <a:off x="5580000" y="1008000"/>
            <a:ext cx="48600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F62FE"/>
                </a:solidFill>
                <a:latin typeface="Calibri"/>
                <a:ea typeface="Calibri"/>
                <a:cs typeface="Calibri"/>
                <a:sym typeface="Calibri"/>
              </a:rPr>
              <a:t>The Cost of Slow Detection</a:t>
            </a:r>
            <a:endParaRPr/>
          </a:p>
        </p:txBody>
      </p:sp>
      <p:sp>
        <p:nvSpPr>
          <p:cNvPr id="45" name="Google Shape;45;p8"/>
          <p:cNvSpPr txBox="1"/>
          <p:nvPr/>
        </p:nvSpPr>
        <p:spPr>
          <a:xfrm>
            <a:off x="5580000" y="1404000"/>
            <a:ext cx="46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EE0000"/>
                </a:solidFill>
                <a:latin typeface="Calibri"/>
                <a:ea typeface="Calibri"/>
                <a:cs typeface="Calibri"/>
                <a:sym typeface="Calibri"/>
              </a:rPr>
              <a:t>30–90 min</a:t>
            </a:r>
            <a:endParaRPr/>
          </a:p>
        </p:txBody>
      </p:sp>
      <p:sp>
        <p:nvSpPr>
          <p:cNvPr id="46" name="Google Shape;46;p8"/>
          <p:cNvSpPr txBox="1"/>
          <p:nvPr/>
        </p:nvSpPr>
        <p:spPr>
          <a:xfrm>
            <a:off x="5580000" y="1980000"/>
            <a:ext cx="468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A8A8A8"/>
                </a:solidFill>
                <a:latin typeface="Calibri"/>
                <a:ea typeface="Calibri"/>
                <a:cs typeface="Calibri"/>
                <a:sym typeface="Calibri"/>
              </a:rPr>
              <a:t>avg MTTD for a non-trivial DB incident</a:t>
            </a:r>
            <a:endParaRPr/>
          </a:p>
        </p:txBody>
      </p:sp>
      <p:sp>
        <p:nvSpPr>
          <p:cNvPr id="47" name="Google Shape;47;p8"/>
          <p:cNvSpPr txBox="1"/>
          <p:nvPr/>
        </p:nvSpPr>
        <p:spPr>
          <a:xfrm>
            <a:off x="5580000" y="2520000"/>
            <a:ext cx="46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EE0000"/>
                </a:solidFill>
                <a:latin typeface="Calibri"/>
                <a:ea typeface="Calibri"/>
                <a:cs typeface="Calibri"/>
                <a:sym typeface="Calibri"/>
              </a:rPr>
              <a:t>11.75 hours</a:t>
            </a:r>
            <a:endParaRPr/>
          </a:p>
        </p:txBody>
      </p:sp>
      <p:sp>
        <p:nvSpPr>
          <p:cNvPr id="48" name="Google Shape;48;p8"/>
          <p:cNvSpPr txBox="1"/>
          <p:nvPr/>
        </p:nvSpPr>
        <p:spPr>
          <a:xfrm>
            <a:off x="5580000" y="3096000"/>
            <a:ext cx="468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A8A8A8"/>
                </a:solidFill>
                <a:latin typeface="Calibri"/>
                <a:ea typeface="Calibri"/>
                <a:cs typeface="Calibri"/>
                <a:sym typeface="Calibri"/>
              </a:rPr>
              <a:t>of DB CPU consumed by one undetected query pattern</a:t>
            </a:r>
            <a:endParaRPr/>
          </a:p>
        </p:txBody>
      </p:sp>
      <p:sp>
        <p:nvSpPr>
          <p:cNvPr id="49" name="Google Shape;49;p8"/>
          <p:cNvSpPr txBox="1"/>
          <p:nvPr/>
        </p:nvSpPr>
        <p:spPr>
          <a:xfrm>
            <a:off x="5580000" y="3636000"/>
            <a:ext cx="46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EE0000"/>
                </a:solidFill>
                <a:latin typeface="Calibri"/>
                <a:ea typeface="Calibri"/>
                <a:cs typeface="Calibri"/>
                <a:sym typeface="Calibri"/>
              </a:rPr>
              <a:t>78%</a:t>
            </a:r>
            <a:endParaRPr/>
          </a:p>
        </p:txBody>
      </p:sp>
      <p:sp>
        <p:nvSpPr>
          <p:cNvPr id="50" name="Google Shape;50;p8"/>
          <p:cNvSpPr txBox="1"/>
          <p:nvPr/>
        </p:nvSpPr>
        <p:spPr>
          <a:xfrm>
            <a:off x="5580000" y="4212000"/>
            <a:ext cx="468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A8A8A8"/>
                </a:solidFill>
                <a:latin typeface="Calibri"/>
                <a:ea typeface="Calibri"/>
                <a:cs typeface="Calibri"/>
                <a:sym typeface="Calibri"/>
              </a:rPr>
              <a:t>transaction rollback rate hidden in plain sight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54" name="Shape 54"/>
        <p:cNvGrpSpPr/>
        <p:nvPr/>
      </p:nvGrpSpPr>
      <p:grpSpPr>
        <a:xfrm>
          <a:off x="0" y="0"/>
          <a:ext cx="0" cy="0"/>
          <a:chOff x="0" y="0"/>
          <a:chExt cx="0" cy="0"/>
        </a:xfrm>
      </p:grpSpPr>
      <p:sp>
        <p:nvSpPr>
          <p:cNvPr id="55" name="Google Shape;55;p9"/>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56" name="Google Shape;56;p9"/>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03</a:t>
            </a:r>
            <a:endParaRPr/>
          </a:p>
        </p:txBody>
      </p:sp>
      <p:sp>
        <p:nvSpPr>
          <p:cNvPr id="57" name="Google Shape;57;p9"/>
          <p:cNvSpPr txBox="1"/>
          <p:nvPr/>
        </p:nvSpPr>
        <p:spPr>
          <a:xfrm>
            <a:off x="540000" y="252000"/>
            <a:ext cx="100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FFFFFF"/>
                </a:solidFill>
                <a:latin typeface="Calibri"/>
                <a:ea typeface="Calibri"/>
                <a:cs typeface="Calibri"/>
                <a:sym typeface="Calibri"/>
              </a:rPr>
              <a:t>The Workload We Analyzed</a:t>
            </a:r>
            <a:endParaRPr/>
          </a:p>
        </p:txBody>
      </p:sp>
      <p:sp>
        <p:nvSpPr>
          <p:cNvPr id="58" name="Google Shape;58;p9"/>
          <p:cNvSpPr txBox="1"/>
          <p:nvPr/>
        </p:nvSpPr>
        <p:spPr>
          <a:xfrm>
            <a:off x="540000" y="864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59" name="Google Shape;59;p9"/>
          <p:cNvSpPr txBox="1"/>
          <p:nvPr/>
        </p:nvSpPr>
        <p:spPr>
          <a:xfrm>
            <a:off x="540000" y="972000"/>
            <a:ext cx="1008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00">
                <a:solidFill>
                  <a:srgbClr val="A8A8A8"/>
                </a:solidFill>
                <a:latin typeface="Calibri"/>
                <a:ea typeface="Calibri"/>
                <a:cs typeface="Calibri"/>
                <a:sym typeface="Calibri"/>
              </a:rPr>
              <a:t>Two PostgreSQL databases — production-class workload, high-throughput distributed system</a:t>
            </a:r>
            <a:endParaRPr/>
          </a:p>
        </p:txBody>
      </p:sp>
      <p:sp>
        <p:nvSpPr>
          <p:cNvPr id="60" name="Google Shape;60;p9"/>
          <p:cNvSpPr txBox="1"/>
          <p:nvPr/>
        </p:nvSpPr>
        <p:spPr>
          <a:xfrm>
            <a:off x="540000" y="1332000"/>
            <a:ext cx="4680000" cy="2520000"/>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Workflow &amp; Orchestration DB</a:t>
            </a:r>
            <a:endParaRPr/>
          </a:p>
          <a:p>
            <a:pPr indent="0" lvl="0" marL="0" marR="0" rtl="0" algn="l">
              <a:spcBef>
                <a:spcPts val="0"/>
              </a:spcBef>
              <a:spcAft>
                <a:spcPts val="0"/>
              </a:spcAft>
              <a:buNone/>
            </a:pPr>
            <a:r>
              <a:t/>
            </a:r>
            <a:endParaRPr b="0" sz="16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Task dispatch &amp; timer scheduling</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Execution state management</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High-frequency polling patterns</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~9M transactions — near-zero rollback rate</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Lock-intensive shard ownership protocol</a:t>
            </a:r>
            <a:endParaRPr/>
          </a:p>
        </p:txBody>
      </p:sp>
      <p:sp>
        <p:nvSpPr>
          <p:cNvPr id="61" name="Google Shape;61;p9"/>
          <p:cNvSpPr txBox="1"/>
          <p:nvPr/>
        </p:nvSpPr>
        <p:spPr>
          <a:xfrm>
            <a:off x="540000" y="1332000"/>
            <a:ext cx="468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0F62FE"/>
                </a:solidFill>
                <a:latin typeface="Calibri"/>
                <a:ea typeface="Calibri"/>
                <a:cs typeface="Calibri"/>
                <a:sym typeface="Calibri"/>
              </a:rPr>
              <a:t>DB-A  ·  WORKFLOW ENGINE</a:t>
            </a:r>
            <a:endParaRPr/>
          </a:p>
        </p:txBody>
      </p:sp>
      <p:sp>
        <p:nvSpPr>
          <p:cNvPr id="62" name="Google Shape;62;p9"/>
          <p:cNvSpPr txBox="1"/>
          <p:nvPr/>
        </p:nvSpPr>
        <p:spPr>
          <a:xfrm>
            <a:off x="5580000" y="1332000"/>
            <a:ext cx="5040000" cy="2520000"/>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Resource &amp; Metadata Store</a:t>
            </a:r>
            <a:endParaRPr/>
          </a:p>
          <a:p>
            <a:pPr indent="0" lvl="0" marL="0" marR="0" rtl="0" algn="l">
              <a:spcBef>
                <a:spcPts val="0"/>
              </a:spcBef>
              <a:spcAft>
                <a:spcPts val="0"/>
              </a:spcAft>
              <a:buNone/>
            </a:pPr>
            <a:r>
              <a:t/>
            </a:r>
            <a:endParaRPr b="0" sz="16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Entity lifecycle management</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Multi-join relational queries</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Sync write paths with RETURNING *</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21.1M BEGIN — 78% rollback rate </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3.8M full-entity SELECT calls/period</a:t>
            </a:r>
            <a:endParaRPr/>
          </a:p>
        </p:txBody>
      </p:sp>
      <p:sp>
        <p:nvSpPr>
          <p:cNvPr id="63" name="Google Shape;63;p9"/>
          <p:cNvSpPr txBox="1"/>
          <p:nvPr/>
        </p:nvSpPr>
        <p:spPr>
          <a:xfrm>
            <a:off x="5580000" y="1332000"/>
            <a:ext cx="504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EE0000"/>
                </a:solidFill>
                <a:latin typeface="Calibri"/>
                <a:ea typeface="Calibri"/>
                <a:cs typeface="Calibri"/>
                <a:sym typeface="Calibri"/>
              </a:rPr>
              <a:t>DB-B  ·  METADATA STORE  ← Primary focus</a:t>
            </a:r>
            <a:endParaRPr/>
          </a:p>
        </p:txBody>
      </p:sp>
      <p:sp>
        <p:nvSpPr>
          <p:cNvPr id="64" name="Google Shape;64;p9"/>
          <p:cNvSpPr txBox="1"/>
          <p:nvPr/>
        </p:nvSpPr>
        <p:spPr>
          <a:xfrm>
            <a:off x="540000" y="4104000"/>
            <a:ext cx="10080000" cy="432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FFFFFF"/>
                </a:solidFill>
                <a:latin typeface="Calibri"/>
                <a:ea typeface="Calibri"/>
                <a:cs typeface="Calibri"/>
                <a:sym typeface="Calibri"/>
              </a:rPr>
              <a:t>182M+ total query executions  ·  2 databases  ·  48 distinct query shapes  ·  Real production-class workload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68" name="Shape 68"/>
        <p:cNvGrpSpPr/>
        <p:nvPr/>
      </p:nvGrpSpPr>
      <p:grpSpPr>
        <a:xfrm>
          <a:off x="0" y="0"/>
          <a:ext cx="0" cy="0"/>
          <a:chOff x="0" y="0"/>
          <a:chExt cx="0" cy="0"/>
        </a:xfrm>
      </p:grpSpPr>
      <p:sp>
        <p:nvSpPr>
          <p:cNvPr id="69" name="Google Shape;69;p10"/>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70" name="Google Shape;70;p10"/>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04</a:t>
            </a:r>
            <a:endParaRPr/>
          </a:p>
        </p:txBody>
      </p:sp>
      <p:sp>
        <p:nvSpPr>
          <p:cNvPr id="71" name="Google Shape;71;p10"/>
          <p:cNvSpPr txBox="1"/>
          <p:nvPr/>
        </p:nvSpPr>
        <p:spPr>
          <a:xfrm>
            <a:off x="540000" y="252000"/>
            <a:ext cx="100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FFFFFF"/>
                </a:solidFill>
                <a:latin typeface="Calibri"/>
                <a:ea typeface="Calibri"/>
                <a:cs typeface="Calibri"/>
                <a:sym typeface="Calibri"/>
              </a:rPr>
              <a:t>The Agentic Observability Pipeline</a:t>
            </a:r>
            <a:endParaRPr/>
          </a:p>
        </p:txBody>
      </p:sp>
      <p:sp>
        <p:nvSpPr>
          <p:cNvPr id="72" name="Google Shape;72;p10"/>
          <p:cNvSpPr txBox="1"/>
          <p:nvPr/>
        </p:nvSpPr>
        <p:spPr>
          <a:xfrm>
            <a:off x="540000" y="864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73" name="Google Shape;73;p10"/>
          <p:cNvSpPr txBox="1"/>
          <p:nvPr/>
        </p:nvSpPr>
        <p:spPr>
          <a:xfrm>
            <a:off x="540000" y="1080000"/>
            <a:ext cx="2700000" cy="2880000"/>
          </a:xfrm>
          <a:prstGeom prst="rect">
            <a:avLst/>
          </a:prstGeom>
          <a:solidFill>
            <a:srgbClr val="1E3A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STEP 1</a:t>
            </a:r>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Collect</a:t>
            </a:r>
            <a:endParaRPr/>
          </a:p>
          <a:p>
            <a:pPr indent="0" lvl="0" marL="0" marR="0" rtl="0" algn="l">
              <a:spcBef>
                <a:spcPts val="0"/>
              </a:spcBef>
              <a:spcAft>
                <a:spcPts val="0"/>
              </a:spcAft>
              <a:buNone/>
            </a:pPr>
            <a:r>
              <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pg_stat_statements</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pg_stat_activity</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pg_stat_bgwriter</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pg_statio_user_tables</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pg_stat_replication</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+13 more metric sections</a:t>
            </a:r>
            <a:endParaRPr/>
          </a:p>
        </p:txBody>
      </p:sp>
      <p:sp>
        <p:nvSpPr>
          <p:cNvPr id="74" name="Google Shape;74;p10"/>
          <p:cNvSpPr txBox="1"/>
          <p:nvPr/>
        </p:nvSpPr>
        <p:spPr>
          <a:xfrm>
            <a:off x="540000" y="1080000"/>
            <a:ext cx="270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0F62FE"/>
                </a:solidFill>
                <a:latin typeface="Calibri"/>
                <a:ea typeface="Calibri"/>
                <a:cs typeface="Calibri"/>
                <a:sym typeface="Calibri"/>
              </a:rPr>
              <a:t>STEP 1  ·  COLLECT</a:t>
            </a:r>
            <a:endParaRPr/>
          </a:p>
        </p:txBody>
      </p:sp>
      <p:sp>
        <p:nvSpPr>
          <p:cNvPr id="75" name="Google Shape;75;p10"/>
          <p:cNvSpPr txBox="1"/>
          <p:nvPr/>
        </p:nvSpPr>
        <p:spPr>
          <a:xfrm>
            <a:off x="3348000" y="2304000"/>
            <a:ext cx="540000" cy="54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EE0000"/>
                </a:solidFill>
                <a:latin typeface="Calibri"/>
                <a:ea typeface="Calibri"/>
                <a:cs typeface="Calibri"/>
                <a:sym typeface="Calibri"/>
              </a:rPr>
              <a:t>→</a:t>
            </a:r>
            <a:endParaRPr/>
          </a:p>
        </p:txBody>
      </p:sp>
      <p:sp>
        <p:nvSpPr>
          <p:cNvPr id="76" name="Google Shape;76;p10"/>
          <p:cNvSpPr txBox="1"/>
          <p:nvPr/>
        </p:nvSpPr>
        <p:spPr>
          <a:xfrm>
            <a:off x="3960000" y="1080000"/>
            <a:ext cx="2880000" cy="2880000"/>
          </a:xfrm>
          <a:prstGeom prst="rect">
            <a:avLst/>
          </a:prstGeom>
          <a:solidFill>
            <a:srgbClr val="3D1F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STEP 2</a:t>
            </a:r>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Analyze</a:t>
            </a:r>
            <a:endParaRPr/>
          </a:p>
          <a:p>
            <a:pPr indent="0" lvl="0" marL="0" marR="0" rtl="0" algn="l">
              <a:spcBef>
                <a:spcPts val="0"/>
              </a:spcBef>
              <a:spcAft>
                <a:spcPts val="0"/>
              </a:spcAft>
              <a:buNone/>
            </a:pPr>
            <a:r>
              <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IBM Bob</a:t>
            </a:r>
            <a:endParaRPr/>
          </a:p>
          <a:p>
            <a:pPr indent="0" lvl="0" marL="0" marR="0" rtl="0" algn="l">
              <a:spcBef>
                <a:spcPts val="0"/>
              </a:spcBef>
              <a:spcAft>
                <a:spcPts val="0"/>
              </a:spcAft>
              <a:buNone/>
            </a:pPr>
            <a:r>
              <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Feed raw JSON telemetry</a:t>
            </a:r>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 Structured incident report</a:t>
            </a:r>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 Root cause + fix ranked</a:t>
            </a:r>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   by severity</a:t>
            </a:r>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 Time: ~90 seconds</a:t>
            </a:r>
            <a:endParaRPr/>
          </a:p>
        </p:txBody>
      </p:sp>
      <p:sp>
        <p:nvSpPr>
          <p:cNvPr id="77" name="Google Shape;77;p10"/>
          <p:cNvSpPr txBox="1"/>
          <p:nvPr/>
        </p:nvSpPr>
        <p:spPr>
          <a:xfrm>
            <a:off x="3960000" y="1080000"/>
            <a:ext cx="288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EE0000"/>
                </a:solidFill>
                <a:latin typeface="Calibri"/>
                <a:ea typeface="Calibri"/>
                <a:cs typeface="Calibri"/>
                <a:sym typeface="Calibri"/>
              </a:rPr>
              <a:t>STEP 2  ·  ANALYZE  (IBM Bob)</a:t>
            </a:r>
            <a:endParaRPr/>
          </a:p>
        </p:txBody>
      </p:sp>
      <p:sp>
        <p:nvSpPr>
          <p:cNvPr id="78" name="Google Shape;78;p10"/>
          <p:cNvSpPr txBox="1"/>
          <p:nvPr/>
        </p:nvSpPr>
        <p:spPr>
          <a:xfrm>
            <a:off x="6948000" y="2304000"/>
            <a:ext cx="540000" cy="54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EE0000"/>
                </a:solidFill>
                <a:latin typeface="Calibri"/>
                <a:ea typeface="Calibri"/>
                <a:cs typeface="Calibri"/>
                <a:sym typeface="Calibri"/>
              </a:rPr>
              <a:t>→</a:t>
            </a:r>
            <a:endParaRPr/>
          </a:p>
        </p:txBody>
      </p:sp>
      <p:sp>
        <p:nvSpPr>
          <p:cNvPr id="79" name="Google Shape;79;p10"/>
          <p:cNvSpPr txBox="1"/>
          <p:nvPr/>
        </p:nvSpPr>
        <p:spPr>
          <a:xfrm>
            <a:off x="7560000" y="1080000"/>
            <a:ext cx="3060000" cy="2880000"/>
          </a:xfrm>
          <a:prstGeom prst="rect">
            <a:avLst/>
          </a:prstGeom>
          <a:solidFill>
            <a:srgbClr val="0D33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STEP 3</a:t>
            </a:r>
            <a:endParaRPr/>
          </a:p>
          <a:p>
            <a:pPr indent="0" lvl="0" marL="0" marR="0" rtl="0" algn="l">
              <a:spcBef>
                <a:spcPts val="0"/>
              </a:spcBef>
              <a:spcAft>
                <a:spcPts val="0"/>
              </a:spcAft>
              <a:buNone/>
            </a:pPr>
            <a:r>
              <a:rPr lang="en-US" sz="1400">
                <a:solidFill>
                  <a:srgbClr val="C6C6C6"/>
                </a:solidFill>
                <a:latin typeface="Calibri"/>
                <a:ea typeface="Calibri"/>
                <a:cs typeface="Calibri"/>
                <a:sym typeface="Calibri"/>
              </a:rPr>
              <a:t>Optimize</a:t>
            </a:r>
            <a:r>
              <a:rPr b="0" lang="en-US" sz="1400">
                <a:solidFill>
                  <a:srgbClr val="C6C6C6"/>
                </a:solidFill>
                <a:latin typeface="Calibri"/>
                <a:ea typeface="Calibri"/>
                <a:cs typeface="Calibri"/>
                <a:sym typeface="Calibri"/>
              </a:rPr>
              <a:t> + Validate</a:t>
            </a:r>
            <a:endParaRPr/>
          </a:p>
          <a:p>
            <a:pPr indent="0" lvl="0" marL="0" marR="0" rtl="0" algn="l">
              <a:spcBef>
                <a:spcPts val="0"/>
              </a:spcBef>
              <a:spcAft>
                <a:spcPts val="0"/>
              </a:spcAft>
              <a:buNone/>
            </a:pPr>
            <a:r>
              <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Apply index DDL</a:t>
            </a:r>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Fix query projections</a:t>
            </a:r>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Tune autovacuum</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Fix transaction patterns</a:t>
            </a:r>
            <a:endParaRPr/>
          </a:p>
          <a:p>
            <a:pPr indent="0" lvl="0" marL="0" marR="0" rtl="0" algn="l">
              <a:spcBef>
                <a:spcPts val="0"/>
              </a:spcBef>
              <a:spcAft>
                <a:spcPts val="0"/>
              </a:spcAft>
              <a:buNone/>
            </a:pPr>
            <a:r>
              <a:t/>
            </a:r>
            <a:endParaRPr b="0" sz="14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Re-run collector → compare</a:t>
            </a:r>
            <a:endParaRPr/>
          </a:p>
          <a:p>
            <a:pPr indent="0" lvl="0" marL="0" marR="0" rtl="0" algn="l">
              <a:spcBef>
                <a:spcPts val="0"/>
              </a:spcBef>
              <a:spcAft>
                <a:spcPts val="0"/>
              </a:spcAft>
              <a:buNone/>
            </a:pPr>
            <a:r>
              <a:rPr b="0" lang="en-US" sz="1400">
                <a:solidFill>
                  <a:srgbClr val="C6C6C6"/>
                </a:solidFill>
                <a:latin typeface="Calibri"/>
                <a:ea typeface="Calibri"/>
                <a:cs typeface="Calibri"/>
                <a:sym typeface="Calibri"/>
              </a:rPr>
              <a:t>before/after snapshots</a:t>
            </a:r>
            <a:endParaRPr/>
          </a:p>
        </p:txBody>
      </p:sp>
      <p:sp>
        <p:nvSpPr>
          <p:cNvPr id="80" name="Google Shape;80;p10"/>
          <p:cNvSpPr txBox="1"/>
          <p:nvPr/>
        </p:nvSpPr>
        <p:spPr>
          <a:xfrm>
            <a:off x="7560000" y="1080000"/>
            <a:ext cx="306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42BE65"/>
                </a:solidFill>
                <a:latin typeface="Calibri"/>
                <a:ea typeface="Calibri"/>
                <a:cs typeface="Calibri"/>
                <a:sym typeface="Calibri"/>
              </a:rPr>
              <a:t>STEP 3  ·  OPTIMIZE &amp; VALIDATE</a:t>
            </a:r>
            <a:endParaRPr/>
          </a:p>
        </p:txBody>
      </p:sp>
      <p:sp>
        <p:nvSpPr>
          <p:cNvPr id="81" name="Google Shape;81;p10"/>
          <p:cNvSpPr txBox="1"/>
          <p:nvPr/>
        </p:nvSpPr>
        <p:spPr>
          <a:xfrm>
            <a:off x="540000" y="4320000"/>
            <a:ext cx="10080000" cy="648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FFFF"/>
                </a:solidFill>
                <a:latin typeface="Calibri"/>
                <a:ea typeface="Calibri"/>
                <a:cs typeface="Calibri"/>
                <a:sym typeface="Calibri"/>
              </a:rPr>
              <a:t>No deep DBA expertise required for Step 2. Bob reads what a DBA would read — and surfaces the critical findings in under 2 minutes.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85" name="Shape 85"/>
        <p:cNvGrpSpPr/>
        <p:nvPr/>
      </p:nvGrpSpPr>
      <p:grpSpPr>
        <a:xfrm>
          <a:off x="0" y="0"/>
          <a:ext cx="0" cy="0"/>
          <a:chOff x="0" y="0"/>
          <a:chExt cx="0" cy="0"/>
        </a:xfrm>
      </p:grpSpPr>
      <p:sp>
        <p:nvSpPr>
          <p:cNvPr id="86" name="Google Shape;86;p11"/>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87" name="Google Shape;87;p11"/>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05</a:t>
            </a:r>
            <a:endParaRPr/>
          </a:p>
        </p:txBody>
      </p:sp>
      <p:sp>
        <p:nvSpPr>
          <p:cNvPr id="88" name="Google Shape;88;p11"/>
          <p:cNvSpPr txBox="1"/>
          <p:nvPr/>
        </p:nvSpPr>
        <p:spPr>
          <a:xfrm>
            <a:off x="540000" y="180000"/>
            <a:ext cx="720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EE0000"/>
                </a:solidFill>
                <a:latin typeface="Calibri"/>
                <a:ea typeface="Calibri"/>
                <a:cs typeface="Calibri"/>
                <a:sym typeface="Calibri"/>
              </a:rPr>
              <a:t>INCIDENT 1  ·  STORAGE / BUFFER PRESSURE</a:t>
            </a:r>
            <a:endParaRPr/>
          </a:p>
        </p:txBody>
      </p:sp>
      <p:sp>
        <p:nvSpPr>
          <p:cNvPr id="89" name="Google Shape;89;p11"/>
          <p:cNvSpPr txBox="1"/>
          <p:nvPr/>
        </p:nvSpPr>
        <p:spPr>
          <a:xfrm>
            <a:off x="540000" y="468000"/>
            <a:ext cx="10080000" cy="50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FFFFFF"/>
                </a:solidFill>
                <a:latin typeface="Calibri"/>
                <a:ea typeface="Calibri"/>
                <a:cs typeface="Calibri"/>
                <a:sym typeface="Calibri"/>
              </a:rPr>
              <a:t>Incident 1: The SELECT * Flood on a High-Traffic Table</a:t>
            </a:r>
            <a:endParaRPr/>
          </a:p>
        </p:txBody>
      </p:sp>
      <p:sp>
        <p:nvSpPr>
          <p:cNvPr id="90" name="Google Shape;90;p11"/>
          <p:cNvSpPr txBox="1"/>
          <p:nvPr/>
        </p:nvSpPr>
        <p:spPr>
          <a:xfrm>
            <a:off x="540000" y="1008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91" name="Google Shape;91;p11"/>
          <p:cNvSpPr txBox="1"/>
          <p:nvPr/>
        </p:nvSpPr>
        <p:spPr>
          <a:xfrm>
            <a:off x="540000" y="1116000"/>
            <a:ext cx="468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EE0000"/>
                </a:solidFill>
                <a:latin typeface="Calibri"/>
                <a:ea typeface="Calibri"/>
                <a:cs typeface="Calibri"/>
                <a:sym typeface="Calibri"/>
              </a:rPr>
              <a:t>BEFORE  (Observed)</a:t>
            </a:r>
            <a:endParaRPr/>
          </a:p>
        </p:txBody>
      </p:sp>
      <p:sp>
        <p:nvSpPr>
          <p:cNvPr id="92" name="Google Shape;92;p11"/>
          <p:cNvSpPr txBox="1"/>
          <p:nvPr/>
        </p:nvSpPr>
        <p:spPr>
          <a:xfrm>
            <a:off x="540000" y="1476000"/>
            <a:ext cx="4680000" cy="2891514"/>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C6C6C6"/>
                </a:solidFill>
                <a:latin typeface="Calibri"/>
                <a:ea typeface="Calibri"/>
                <a:cs typeface="Calibri"/>
                <a:sym typeface="Calibri"/>
              </a:rPr>
              <a:t>Query selects 70+ columns across joined tables</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3,798,805 calls   ·   11.13 ms mean latency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6,617,315,946 buffer hits  (~53 TB logical reads)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42,272,222 ms total exec time  (~11.75 hrs)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3 query variants: combined 6.6M calls, 7.3B buffer hits</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Root cause (IBM Bob diagnosis):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'Application layer generating full-entity SELECT at</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every call — including paths that need only 2–3 fields'</a:t>
            </a:r>
            <a:endParaRPr/>
          </a:p>
        </p:txBody>
      </p:sp>
      <p:sp>
        <p:nvSpPr>
          <p:cNvPr id="93" name="Google Shape;93;p11"/>
          <p:cNvSpPr txBox="1"/>
          <p:nvPr/>
        </p:nvSpPr>
        <p:spPr>
          <a:xfrm>
            <a:off x="5760000" y="1116000"/>
            <a:ext cx="486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42BE65"/>
                </a:solidFill>
                <a:latin typeface="Calibri"/>
                <a:ea typeface="Calibri"/>
                <a:cs typeface="Calibri"/>
                <a:sym typeface="Calibri"/>
              </a:rPr>
              <a:t>PROJECTED  (After Fix)</a:t>
            </a:r>
            <a:endParaRPr/>
          </a:p>
        </p:txBody>
      </p:sp>
      <p:sp>
        <p:nvSpPr>
          <p:cNvPr id="94" name="Google Shape;94;p11"/>
          <p:cNvSpPr txBox="1"/>
          <p:nvPr/>
        </p:nvSpPr>
        <p:spPr>
          <a:xfrm>
            <a:off x="5760000" y="1475999"/>
            <a:ext cx="4860000" cy="2858436"/>
          </a:xfrm>
          <a:prstGeom prst="rect">
            <a:avLst/>
          </a:prstGeom>
          <a:solidFill>
            <a:srgbClr val="0D33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C6C6C6"/>
                </a:solidFill>
                <a:latin typeface="Calibri"/>
                <a:ea typeface="Calibri"/>
                <a:cs typeface="Calibri"/>
                <a:sym typeface="Calibri"/>
              </a:rPr>
              <a:t>Fix: Replace full-entity SELECT with projected queries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Select only the columns required per use case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(e.g. id, status, size, updated_at)</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Projected impact:</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Buffer hits:  7.3B  →  sub-100M  (&gt;98% reduction)</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Mean latency:  11.13 ms  →  &lt;1 ms</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Total exec time:  ~11.75 hrs  →  &lt;45 min</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Estimated CPU saving:  60–70%</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Basis: IBM Bob analysis — proportional to</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column count reduction (70+ → 6 columns)</a:t>
            </a:r>
            <a:endParaRPr/>
          </a:p>
        </p:txBody>
      </p:sp>
      <p:sp>
        <p:nvSpPr>
          <p:cNvPr id="95" name="Google Shape;95;p11"/>
          <p:cNvSpPr txBox="1"/>
          <p:nvPr/>
        </p:nvSpPr>
        <p:spPr>
          <a:xfrm>
            <a:off x="540000" y="4647635"/>
            <a:ext cx="10080000" cy="324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FFFFFF"/>
                </a:solidFill>
                <a:latin typeface="Calibri"/>
                <a:ea typeface="Calibri"/>
                <a:cs typeface="Calibri"/>
                <a:sym typeface="Calibri"/>
              </a:rPr>
              <a:t>MTTD without AI: ~45 min      MTTD with IBM Bob: ~90 sec      Detection speedup: 30×</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99" name="Shape 99"/>
        <p:cNvGrpSpPr/>
        <p:nvPr/>
      </p:nvGrpSpPr>
      <p:grpSpPr>
        <a:xfrm>
          <a:off x="0" y="0"/>
          <a:ext cx="0" cy="0"/>
          <a:chOff x="0" y="0"/>
          <a:chExt cx="0" cy="0"/>
        </a:xfrm>
      </p:grpSpPr>
      <p:sp>
        <p:nvSpPr>
          <p:cNvPr id="100" name="Google Shape;100;p12"/>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101" name="Google Shape;101;p12"/>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06</a:t>
            </a:r>
            <a:endParaRPr/>
          </a:p>
        </p:txBody>
      </p:sp>
      <p:sp>
        <p:nvSpPr>
          <p:cNvPr id="102" name="Google Shape;102;p12"/>
          <p:cNvSpPr txBox="1"/>
          <p:nvPr/>
        </p:nvSpPr>
        <p:spPr>
          <a:xfrm>
            <a:off x="540000" y="180000"/>
            <a:ext cx="720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EE0000"/>
                </a:solidFill>
                <a:latin typeface="Calibri"/>
                <a:ea typeface="Calibri"/>
                <a:cs typeface="Calibri"/>
                <a:sym typeface="Calibri"/>
              </a:rPr>
              <a:t>INCIDENT 2  ·  APPLICATION-LAYER OVERHEAD</a:t>
            </a:r>
            <a:endParaRPr/>
          </a:p>
        </p:txBody>
      </p:sp>
      <p:sp>
        <p:nvSpPr>
          <p:cNvPr id="103" name="Google Shape;103;p12"/>
          <p:cNvSpPr txBox="1"/>
          <p:nvPr/>
        </p:nvSpPr>
        <p:spPr>
          <a:xfrm>
            <a:off x="540000" y="468000"/>
            <a:ext cx="10080000" cy="50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FFFFFF"/>
                </a:solidFill>
                <a:latin typeface="Calibri"/>
                <a:ea typeface="Calibri"/>
                <a:cs typeface="Calibri"/>
                <a:sym typeface="Calibri"/>
              </a:rPr>
              <a:t>The 78% Transaction Rollback Anomaly</a:t>
            </a:r>
            <a:endParaRPr/>
          </a:p>
        </p:txBody>
      </p:sp>
      <p:sp>
        <p:nvSpPr>
          <p:cNvPr id="104" name="Google Shape;104;p12"/>
          <p:cNvSpPr txBox="1"/>
          <p:nvPr/>
        </p:nvSpPr>
        <p:spPr>
          <a:xfrm>
            <a:off x="540000" y="1008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105" name="Google Shape;105;p12"/>
          <p:cNvSpPr txBox="1"/>
          <p:nvPr/>
        </p:nvSpPr>
        <p:spPr>
          <a:xfrm>
            <a:off x="540000" y="1152000"/>
            <a:ext cx="4680000" cy="2700000"/>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400">
                <a:solidFill>
                  <a:srgbClr val="C6C6C6"/>
                </a:solidFill>
                <a:latin typeface="Courier New"/>
                <a:ea typeface="Courier New"/>
                <a:cs typeface="Courier New"/>
                <a:sym typeface="Courier New"/>
              </a:rPr>
              <a:t>Transaction Event             Count</a:t>
            </a:r>
            <a:endParaRPr/>
          </a:p>
          <a:p>
            <a:pPr indent="0" lvl="0" marL="0" marR="0" rtl="0" algn="l">
              <a:spcBef>
                <a:spcPts val="0"/>
              </a:spcBef>
              <a:spcAft>
                <a:spcPts val="0"/>
              </a:spcAft>
              <a:buNone/>
            </a:pPr>
            <a:r>
              <a:rPr b="0" lang="en-US" sz="1400">
                <a:solidFill>
                  <a:srgbClr val="C6C6C6"/>
                </a:solidFill>
                <a:latin typeface="Courier New"/>
                <a:ea typeface="Courier New"/>
                <a:cs typeface="Courier New"/>
                <a:sym typeface="Courier New"/>
              </a:rPr>
              <a:t>─────────────────────────────────</a:t>
            </a:r>
            <a:endParaRPr/>
          </a:p>
          <a:p>
            <a:pPr indent="0" lvl="0" marL="0" marR="0" rtl="0" algn="l">
              <a:spcBef>
                <a:spcPts val="0"/>
              </a:spcBef>
              <a:spcAft>
                <a:spcPts val="0"/>
              </a:spcAft>
              <a:buNone/>
            </a:pPr>
            <a:r>
              <a:rPr b="0" lang="en-US" sz="1400">
                <a:solidFill>
                  <a:srgbClr val="C6C6C6"/>
                </a:solidFill>
                <a:latin typeface="Courier New"/>
                <a:ea typeface="Courier New"/>
                <a:cs typeface="Courier New"/>
                <a:sym typeface="Courier New"/>
              </a:rPr>
              <a:t>BEGIN                     21,131,675</a:t>
            </a:r>
            <a:endParaRPr/>
          </a:p>
          <a:p>
            <a:pPr indent="0" lvl="0" marL="0" marR="0" rtl="0" algn="l">
              <a:spcBef>
                <a:spcPts val="0"/>
              </a:spcBef>
              <a:spcAft>
                <a:spcPts val="0"/>
              </a:spcAft>
              <a:buNone/>
            </a:pPr>
            <a:r>
              <a:rPr b="0" lang="en-US" sz="1400">
                <a:solidFill>
                  <a:srgbClr val="C6C6C6"/>
                </a:solidFill>
                <a:latin typeface="Courier New"/>
                <a:ea typeface="Courier New"/>
                <a:cs typeface="Courier New"/>
                <a:sym typeface="Courier New"/>
              </a:rPr>
              <a:t>COMMIT                     4,596,948</a:t>
            </a:r>
            <a:endParaRPr/>
          </a:p>
          <a:p>
            <a:pPr indent="0" lvl="0" marL="0" marR="0" rtl="0" algn="l">
              <a:spcBef>
                <a:spcPts val="0"/>
              </a:spcBef>
              <a:spcAft>
                <a:spcPts val="0"/>
              </a:spcAft>
              <a:buNone/>
            </a:pPr>
            <a:r>
              <a:rPr b="0" lang="en-US" sz="1400">
                <a:solidFill>
                  <a:srgbClr val="C6C6C6"/>
                </a:solidFill>
                <a:latin typeface="Courier New"/>
                <a:ea typeface="Courier New"/>
                <a:cs typeface="Courier New"/>
                <a:sym typeface="Courier New"/>
              </a:rPr>
              <a:t>ROLLBACK                  16,539,965</a:t>
            </a:r>
            <a:endParaRPr/>
          </a:p>
          <a:p>
            <a:pPr indent="0" lvl="0" marL="0" marR="0" rtl="0" algn="l">
              <a:spcBef>
                <a:spcPts val="0"/>
              </a:spcBef>
              <a:spcAft>
                <a:spcPts val="0"/>
              </a:spcAft>
              <a:buNone/>
            </a:pPr>
            <a:r>
              <a:rPr b="0" lang="en-US" sz="1400">
                <a:solidFill>
                  <a:srgbClr val="C6C6C6"/>
                </a:solidFill>
                <a:latin typeface="Courier New"/>
                <a:ea typeface="Courier New"/>
                <a:cs typeface="Courier New"/>
                <a:sym typeface="Courier New"/>
              </a:rPr>
              <a:t>─────────────────────────────────</a:t>
            </a:r>
            <a:endParaRPr/>
          </a:p>
          <a:p>
            <a:pPr indent="0" lvl="0" marL="0" marR="0" rtl="0" algn="l">
              <a:spcBef>
                <a:spcPts val="0"/>
              </a:spcBef>
              <a:spcAft>
                <a:spcPts val="0"/>
              </a:spcAft>
              <a:buNone/>
            </a:pPr>
            <a:r>
              <a:rPr b="0" lang="en-US" sz="1400">
                <a:solidFill>
                  <a:srgbClr val="C6C6C6"/>
                </a:solidFill>
                <a:latin typeface="Courier New"/>
                <a:ea typeface="Courier New"/>
                <a:cs typeface="Courier New"/>
                <a:sym typeface="Courier New"/>
              </a:rPr>
              <a:t>Rollback rate:                  78%  </a:t>
            </a:r>
            <a:endParaRPr/>
          </a:p>
          <a:p>
            <a:pPr indent="0" lvl="0" marL="0" marR="0" rtl="0" algn="l">
              <a:spcBef>
                <a:spcPts val="0"/>
              </a:spcBef>
              <a:spcAft>
                <a:spcPts val="0"/>
              </a:spcAft>
              <a:buNone/>
            </a:pPr>
            <a:r>
              <a:t/>
            </a:r>
            <a:endParaRPr b="0" sz="1400">
              <a:solidFill>
                <a:srgbClr val="C6C6C6"/>
              </a:solidFill>
              <a:latin typeface="Courier New"/>
              <a:ea typeface="Courier New"/>
              <a:cs typeface="Courier New"/>
              <a:sym typeface="Courier New"/>
            </a:endParaRPr>
          </a:p>
          <a:p>
            <a:pPr indent="0" lvl="0" marL="0" marR="0" rtl="0" algn="l">
              <a:spcBef>
                <a:spcPts val="0"/>
              </a:spcBef>
              <a:spcAft>
                <a:spcPts val="0"/>
              </a:spcAft>
              <a:buNone/>
            </a:pPr>
            <a:r>
              <a:rPr b="0" lang="en-US" sz="1400">
                <a:solidFill>
                  <a:srgbClr val="C6C6C6"/>
                </a:solidFill>
                <a:latin typeface="Courier New"/>
                <a:ea typeface="Courier New"/>
                <a:cs typeface="Courier New"/>
                <a:sym typeface="Courier New"/>
              </a:rPr>
              <a:t>Healthy system target:          &lt; 5%</a:t>
            </a:r>
            <a:endParaRPr/>
          </a:p>
          <a:p>
            <a:pPr indent="0" lvl="0" marL="0" marR="0" rtl="0" algn="l">
              <a:spcBef>
                <a:spcPts val="0"/>
              </a:spcBef>
              <a:spcAft>
                <a:spcPts val="0"/>
              </a:spcAft>
              <a:buNone/>
            </a:pPr>
            <a:r>
              <a:rPr b="0" lang="en-US" sz="1400">
                <a:solidFill>
                  <a:srgbClr val="C6C6C6"/>
                </a:solidFill>
                <a:latin typeface="Courier New"/>
                <a:ea typeface="Courier New"/>
                <a:cs typeface="Courier New"/>
                <a:sym typeface="Courier New"/>
              </a:rPr>
              <a:t>DB-A (same cluster):            ~0%</a:t>
            </a:r>
            <a:endParaRPr/>
          </a:p>
        </p:txBody>
      </p:sp>
      <p:sp>
        <p:nvSpPr>
          <p:cNvPr id="106" name="Google Shape;106;p12"/>
          <p:cNvSpPr txBox="1"/>
          <p:nvPr/>
        </p:nvSpPr>
        <p:spPr>
          <a:xfrm>
            <a:off x="5580000" y="1152000"/>
            <a:ext cx="504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42BE65"/>
                </a:solidFill>
                <a:latin typeface="Calibri"/>
                <a:ea typeface="Calibri"/>
                <a:cs typeface="Calibri"/>
                <a:sym typeface="Calibri"/>
              </a:rPr>
              <a:t>IBM Bob Diagnosis + Projected Fix</a:t>
            </a:r>
            <a:endParaRPr/>
          </a:p>
        </p:txBody>
      </p:sp>
      <p:sp>
        <p:nvSpPr>
          <p:cNvPr id="107" name="Google Shape;107;p12"/>
          <p:cNvSpPr txBox="1"/>
          <p:nvPr/>
        </p:nvSpPr>
        <p:spPr>
          <a:xfrm>
            <a:off x="5580000" y="1511999"/>
            <a:ext cx="5040000" cy="4124871"/>
          </a:xfrm>
          <a:prstGeom prst="rect">
            <a:avLst/>
          </a:prstGeom>
          <a:solidFill>
            <a:srgbClr val="0D33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C6C6C6"/>
                </a:solidFill>
                <a:latin typeface="Calibri"/>
                <a:ea typeface="Calibri"/>
                <a:cs typeface="Calibri"/>
                <a:sym typeface="Calibri"/>
              </a:rPr>
              <a:t>Root cause candidates identified:</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1. BEGIN/ROLLBACK used as read-isolation pattern</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instead of BEGIN READ ONLY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2. Optimistic concurrency retries on sync</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write conflicts</a:t>
            </a:r>
            <a:endParaRPr/>
          </a:p>
          <a:p>
            <a:pPr indent="0" lvl="0" marL="0" marR="0" rtl="0" algn="l">
              <a:spcBef>
                <a:spcPts val="0"/>
              </a:spcBef>
              <a:spcAft>
                <a:spcPts val="0"/>
              </a:spcAft>
              <a:buNone/>
            </a:pPr>
            <a:r>
              <a:t/>
            </a:r>
            <a:endParaRPr sz="1500">
              <a:solidFill>
                <a:srgbClr val="C6C6C6"/>
              </a:solidFill>
              <a:latin typeface="Calibri"/>
              <a:ea typeface="Calibri"/>
              <a:cs typeface="Calibri"/>
              <a:sym typeface="Calibri"/>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Fix:</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Switch read-only paths to BEGIN READ ONLY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Profile conflict driver in sync write service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Add exponential backoff on retry loops</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Projected outcome: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Rollback rate:  78%  →  &lt;10%</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Transaction overhead:  -40% CPU on DB-B</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~15% reduction in DB-B total load</a:t>
            </a:r>
            <a:endParaRPr/>
          </a:p>
        </p:txBody>
      </p:sp>
      <p:sp>
        <p:nvSpPr>
          <p:cNvPr id="108" name="Google Shape;108;p12"/>
          <p:cNvSpPr txBox="1"/>
          <p:nvPr/>
        </p:nvSpPr>
        <p:spPr>
          <a:xfrm>
            <a:off x="540000" y="5832000"/>
            <a:ext cx="10080000" cy="324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FFFFFF"/>
                </a:solidFill>
                <a:latin typeface="Calibri"/>
                <a:ea typeface="Calibri"/>
                <a:cs typeface="Calibri"/>
                <a:sym typeface="Calibri"/>
              </a:rPr>
              <a:t>MTTD without AI: ~60 min  (requires cross-referencing 3 separate stat views)      MTTD with IBM Bob: ~90 sec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112" name="Shape 112"/>
        <p:cNvGrpSpPr/>
        <p:nvPr/>
      </p:nvGrpSpPr>
      <p:grpSpPr>
        <a:xfrm>
          <a:off x="0" y="0"/>
          <a:ext cx="0" cy="0"/>
          <a:chOff x="0" y="0"/>
          <a:chExt cx="0" cy="0"/>
        </a:xfrm>
      </p:grpSpPr>
      <p:sp>
        <p:nvSpPr>
          <p:cNvPr id="113" name="Google Shape;113;p13"/>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114" name="Google Shape;114;p13"/>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07</a:t>
            </a:r>
            <a:endParaRPr/>
          </a:p>
        </p:txBody>
      </p:sp>
      <p:sp>
        <p:nvSpPr>
          <p:cNvPr id="115" name="Google Shape;115;p13"/>
          <p:cNvSpPr txBox="1"/>
          <p:nvPr/>
        </p:nvSpPr>
        <p:spPr>
          <a:xfrm>
            <a:off x="540000" y="180000"/>
            <a:ext cx="720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EE0000"/>
                </a:solidFill>
                <a:latin typeface="Calibri"/>
                <a:ea typeface="Calibri"/>
                <a:cs typeface="Calibri"/>
                <a:sym typeface="Calibri"/>
              </a:rPr>
              <a:t>INCIDENT 3  ·  LOCK CONTENTION / TAIL LATENCY</a:t>
            </a:r>
            <a:endParaRPr/>
          </a:p>
        </p:txBody>
      </p:sp>
      <p:sp>
        <p:nvSpPr>
          <p:cNvPr id="116" name="Google Shape;116;p13"/>
          <p:cNvSpPr txBox="1"/>
          <p:nvPr/>
        </p:nvSpPr>
        <p:spPr>
          <a:xfrm>
            <a:off x="540000" y="468000"/>
            <a:ext cx="10080000" cy="50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FFFFFF"/>
                </a:solidFill>
                <a:latin typeface="Calibri"/>
                <a:ea typeface="Calibri"/>
                <a:cs typeface="Calibri"/>
                <a:sym typeface="Calibri"/>
              </a:rPr>
              <a:t>Incident 3: Lock Contention — The Invisible Latency Cliff</a:t>
            </a:r>
            <a:endParaRPr/>
          </a:p>
        </p:txBody>
      </p:sp>
      <p:sp>
        <p:nvSpPr>
          <p:cNvPr id="117" name="Google Shape;117;p13"/>
          <p:cNvSpPr txBox="1"/>
          <p:nvPr/>
        </p:nvSpPr>
        <p:spPr>
          <a:xfrm>
            <a:off x="540000" y="1008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118" name="Google Shape;118;p13"/>
          <p:cNvSpPr txBox="1"/>
          <p:nvPr/>
        </p:nvSpPr>
        <p:spPr>
          <a:xfrm>
            <a:off x="540000" y="1152000"/>
            <a:ext cx="4680000" cy="4230228"/>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SELECT key_col FROM hot_table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WHERE shard_id = $1 FOR UPDATE</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Mean latency:     0.098 ms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Max latency:   2,938.2 ms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Spike ratio:      29,980×</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Calls:         6,195,880</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Shared-lock variant max:   2,776 ms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Heartbeat UPSERT max:      2,194 ms</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Impact: Any operation waiting on row-lock</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acquisition can stall for up to 3 seconds.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This is a hard latency cliff — completely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hidden by mean-latency dashboards.</a:t>
            </a:r>
            <a:endParaRPr/>
          </a:p>
        </p:txBody>
      </p:sp>
      <p:sp>
        <p:nvSpPr>
          <p:cNvPr id="119" name="Google Shape;119;p13"/>
          <p:cNvSpPr txBox="1"/>
          <p:nvPr/>
        </p:nvSpPr>
        <p:spPr>
          <a:xfrm>
            <a:off x="540000" y="1152000"/>
            <a:ext cx="468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EE0000"/>
                </a:solidFill>
                <a:latin typeface="Calibri"/>
                <a:ea typeface="Calibri"/>
                <a:cs typeface="Calibri"/>
                <a:sym typeface="Calibri"/>
              </a:rPr>
              <a:t>BEFORE  (Observed)</a:t>
            </a:r>
            <a:endParaRPr/>
          </a:p>
        </p:txBody>
      </p:sp>
      <p:sp>
        <p:nvSpPr>
          <p:cNvPr id="120" name="Google Shape;120;p13"/>
          <p:cNvSpPr txBox="1"/>
          <p:nvPr/>
        </p:nvSpPr>
        <p:spPr>
          <a:xfrm>
            <a:off x="5760000" y="1152000"/>
            <a:ext cx="4942724" cy="4230228"/>
          </a:xfrm>
          <a:prstGeom prst="rect">
            <a:avLst/>
          </a:prstGeom>
          <a:solidFill>
            <a:srgbClr val="0D33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t/>
            </a:r>
            <a:endParaRPr sz="1500">
              <a:solidFill>
                <a:srgbClr val="C6C6C6"/>
              </a:solidFill>
              <a:latin typeface="Calibri"/>
              <a:ea typeface="Calibri"/>
              <a:cs typeface="Calibri"/>
              <a:sym typeface="Calibri"/>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t/>
            </a:r>
            <a:endParaRPr sz="1500">
              <a:solidFill>
                <a:srgbClr val="C6C6C6"/>
              </a:solidFill>
              <a:latin typeface="Calibri"/>
              <a:ea typeface="Calibri"/>
              <a:cs typeface="Calibri"/>
              <a:sym typeface="Calibri"/>
            </a:endParaRPr>
          </a:p>
          <a:p>
            <a:pPr indent="0" lvl="0" marL="0" marR="0" rtl="0" algn="l">
              <a:spcBef>
                <a:spcPts val="0"/>
              </a:spcBef>
              <a:spcAft>
                <a:spcPts val="0"/>
              </a:spcAft>
              <a:buNone/>
            </a:pPr>
            <a:r>
              <a:t/>
            </a:r>
            <a:endParaRPr sz="1500">
              <a:solidFill>
                <a:srgbClr val="C6C6C6"/>
              </a:solidFill>
              <a:latin typeface="Calibri"/>
              <a:ea typeface="Calibri"/>
              <a:cs typeface="Calibri"/>
              <a:sym typeface="Calibri"/>
            </a:endParaRPr>
          </a:p>
          <a:p>
            <a:pPr indent="0" lvl="0" marL="0" marR="0" rtl="0" algn="l">
              <a:spcBef>
                <a:spcPts val="0"/>
              </a:spcBef>
              <a:spcAft>
                <a:spcPts val="0"/>
              </a:spcAft>
              <a:buNone/>
            </a:pPr>
            <a:r>
              <a:rPr lang="en-US" sz="1500">
                <a:solidFill>
                  <a:srgbClr val="C6C6C6"/>
                </a:solidFill>
                <a:latin typeface="Calibri"/>
                <a:ea typeface="Calibri"/>
                <a:cs typeface="Calibri"/>
                <a:sym typeface="Calibri"/>
              </a:rPr>
              <a:t>I</a:t>
            </a:r>
            <a:r>
              <a:rPr b="0" lang="en-US" sz="1500">
                <a:solidFill>
                  <a:srgbClr val="C6C6C6"/>
                </a:solidFill>
                <a:latin typeface="Calibri"/>
                <a:ea typeface="Calibri"/>
                <a:cs typeface="Calibri"/>
                <a:sym typeface="Calibri"/>
              </a:rPr>
              <a:t>BM Bob diagnosis: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'Extreme mean-to-max ratio (29,980×) on a</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FOR UPDATE query = lock queue buildup on</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hot rows during high-concurrency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ownership acquisition.'</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Recommended fixes: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1. Enable log_lock_waits = on</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with deadlock_timeout = 100ms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2. Profile lock queue depth at peak load</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3. Review partition/shard count vs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active worker concurrency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4. Partial heartbeat update: SET only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last_heartbeat, not all columns</a:t>
            </a:r>
            <a:endParaRPr/>
          </a:p>
        </p:txBody>
      </p:sp>
      <p:sp>
        <p:nvSpPr>
          <p:cNvPr id="121" name="Google Shape;121;p13"/>
          <p:cNvSpPr txBox="1"/>
          <p:nvPr/>
        </p:nvSpPr>
        <p:spPr>
          <a:xfrm>
            <a:off x="5760000" y="1098000"/>
            <a:ext cx="486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42BE65"/>
                </a:solidFill>
                <a:latin typeface="Calibri"/>
                <a:ea typeface="Calibri"/>
                <a:cs typeface="Calibri"/>
                <a:sym typeface="Calibri"/>
              </a:rPr>
              <a:t>Projected outcome:</a:t>
            </a:r>
            <a:endParaRPr/>
          </a:p>
          <a:p>
            <a:pPr indent="0" lvl="0" marL="0" marR="0" rtl="0" algn="l">
              <a:spcBef>
                <a:spcPts val="0"/>
              </a:spcBef>
              <a:spcAft>
                <a:spcPts val="0"/>
              </a:spcAft>
              <a:buNone/>
            </a:pPr>
            <a:r>
              <a:rPr b="1" lang="en-US" sz="1300">
                <a:solidFill>
                  <a:srgbClr val="42BE65"/>
                </a:solidFill>
                <a:latin typeface="Calibri"/>
                <a:ea typeface="Calibri"/>
                <a:cs typeface="Calibri"/>
                <a:sym typeface="Calibri"/>
              </a:rPr>
              <a:t>• Max spike:  2,938 ms  →  &lt;300 ms</a:t>
            </a:r>
            <a:endParaRPr b="1" sz="1300">
              <a:solidFill>
                <a:srgbClr val="42BE65"/>
              </a:solidFill>
              <a:latin typeface="Calibri"/>
              <a:ea typeface="Calibri"/>
              <a:cs typeface="Calibri"/>
              <a:sym typeface="Calibri"/>
            </a:endParaRPr>
          </a:p>
          <a:p>
            <a:pPr indent="0" lvl="0" marL="0" marR="0" rtl="0" algn="l">
              <a:spcBef>
                <a:spcPts val="0"/>
              </a:spcBef>
              <a:spcAft>
                <a:spcPts val="0"/>
              </a:spcAft>
              <a:buNone/>
            </a:pPr>
            <a:r>
              <a:rPr b="1" lang="en-US" sz="1300">
                <a:solidFill>
                  <a:srgbClr val="42BE65"/>
                </a:solidFill>
                <a:latin typeface="Calibri"/>
                <a:ea typeface="Calibri"/>
                <a:cs typeface="Calibri"/>
                <a:sym typeface="Calibri"/>
              </a:rPr>
              <a:t>• P99 latency reduction:  ~80%</a:t>
            </a:r>
            <a:endParaRPr/>
          </a:p>
          <a:p>
            <a:pPr indent="0" lvl="0" marL="0" marR="0" rtl="0" algn="l">
              <a:spcBef>
                <a:spcPts val="0"/>
              </a:spcBef>
              <a:spcAft>
                <a:spcPts val="0"/>
              </a:spcAft>
              <a:buNone/>
            </a:pPr>
            <a:r>
              <a:rPr b="1" lang="en-US" sz="1300">
                <a:solidFill>
                  <a:srgbClr val="42BE65"/>
                </a:solidFill>
                <a:latin typeface="Calibri"/>
                <a:ea typeface="Calibri"/>
                <a:cs typeface="Calibri"/>
                <a:sym typeface="Calibri"/>
              </a:rPr>
              <a:t>• Operation delivery jitter: eliminated</a:t>
            </a:r>
            <a:endParaRPr/>
          </a:p>
          <a:p>
            <a:pPr indent="0" lvl="0" marL="0" marR="0" rtl="0" algn="l">
              <a:spcBef>
                <a:spcPts val="0"/>
              </a:spcBef>
              <a:spcAft>
                <a:spcPts val="0"/>
              </a:spcAft>
              <a:buNone/>
            </a:pPr>
            <a:r>
              <a:rPr b="1" lang="en-US" sz="1300">
                <a:solidFill>
                  <a:srgbClr val="42BE65"/>
                </a:solidFill>
                <a:latin typeface="Calibri"/>
                <a:ea typeface="Calibri"/>
                <a:cs typeface="Calibri"/>
                <a:sym typeface="Calibri"/>
              </a:rPr>
              <a:t>• Heartbeat write amplification: -75%</a:t>
            </a:r>
            <a:endParaRPr/>
          </a:p>
        </p:txBody>
      </p:sp>
      <p:sp>
        <p:nvSpPr>
          <p:cNvPr id="122" name="Google Shape;122;p13"/>
          <p:cNvSpPr txBox="1"/>
          <p:nvPr/>
        </p:nvSpPr>
        <p:spPr>
          <a:xfrm>
            <a:off x="435828" y="5647200"/>
            <a:ext cx="10080000" cy="324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FFFFFF"/>
                </a:solidFill>
                <a:latin typeface="Calibri"/>
                <a:ea typeface="Calibri"/>
                <a:cs typeface="Calibri"/>
                <a:sym typeface="Calibri"/>
              </a:rPr>
              <a:t>Mean metrics hide this entirely. IBM Bob detected it by comparing mean vs max vs stddev across all 48 query shapes.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126" name="Shape 126"/>
        <p:cNvGrpSpPr/>
        <p:nvPr/>
      </p:nvGrpSpPr>
      <p:grpSpPr>
        <a:xfrm>
          <a:off x="0" y="0"/>
          <a:ext cx="0" cy="0"/>
          <a:chOff x="0" y="0"/>
          <a:chExt cx="0" cy="0"/>
        </a:xfrm>
      </p:grpSpPr>
      <p:sp>
        <p:nvSpPr>
          <p:cNvPr id="127" name="Google Shape;127;p14"/>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128" name="Google Shape;128;p14"/>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08</a:t>
            </a:r>
            <a:endParaRPr/>
          </a:p>
        </p:txBody>
      </p:sp>
      <p:sp>
        <p:nvSpPr>
          <p:cNvPr id="129" name="Google Shape;129;p14"/>
          <p:cNvSpPr txBox="1"/>
          <p:nvPr/>
        </p:nvSpPr>
        <p:spPr>
          <a:xfrm>
            <a:off x="540000" y="252000"/>
            <a:ext cx="100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FFFFFF"/>
                </a:solidFill>
                <a:latin typeface="Calibri"/>
                <a:ea typeface="Calibri"/>
                <a:cs typeface="Calibri"/>
                <a:sym typeface="Calibri"/>
              </a:rPr>
              <a:t>Index Gap Analysis: Missing Indexes Found in 90 Seconds</a:t>
            </a:r>
            <a:endParaRPr/>
          </a:p>
        </p:txBody>
      </p:sp>
      <p:sp>
        <p:nvSpPr>
          <p:cNvPr id="130" name="Google Shape;130;p14"/>
          <p:cNvSpPr txBox="1"/>
          <p:nvPr/>
        </p:nvSpPr>
        <p:spPr>
          <a:xfrm>
            <a:off x="540000" y="9495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     Target                                  			Current Mean    	Calls        	Projected After Index</a:t>
            </a:r>
            <a:endParaRPr/>
          </a:p>
        </p:txBody>
      </p:sp>
      <p:sp>
        <p:nvSpPr>
          <p:cNvPr id="131" name="Google Shape;131;p14"/>
          <p:cNvSpPr txBox="1"/>
          <p:nvPr/>
        </p:nvSpPr>
        <p:spPr>
          <a:xfrm>
            <a:off x="540000" y="1629000"/>
            <a:ext cx="1008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00">
                <a:solidFill>
                  <a:schemeClr val="lt1"/>
                </a:solidFill>
                <a:latin typeface="Courier New"/>
                <a:ea typeface="Courier New"/>
                <a:cs typeface="Courier New"/>
                <a:sym typeface="Courier New"/>
              </a:rPr>
              <a:t>2    Sync table  LEFT JOIN on FK column          9,271 ms          1	&lt; 20 ms  (464× faster)</a:t>
            </a:r>
            <a:endParaRPr/>
          </a:p>
        </p:txBody>
      </p:sp>
      <p:sp>
        <p:nvSpPr>
          <p:cNvPr id="132" name="Google Shape;132;p14"/>
          <p:cNvSpPr txBox="1"/>
          <p:nvPr/>
        </p:nvSpPr>
        <p:spPr>
          <a:xfrm>
            <a:off x="540000" y="1899000"/>
            <a:ext cx="1008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00">
                <a:solidFill>
                  <a:schemeClr val="lt1"/>
                </a:solidFill>
                <a:latin typeface="Courier New"/>
                <a:ea typeface="Courier New"/>
                <a:cs typeface="Courier New"/>
                <a:sym typeface="Courier New"/>
              </a:rPr>
              <a:t>3    Sync table  ORDER BY workspace key          7,668 ms          3	&lt; 15 ms  (511× faster)</a:t>
            </a:r>
            <a:endParaRPr/>
          </a:p>
        </p:txBody>
      </p:sp>
      <p:sp>
        <p:nvSpPr>
          <p:cNvPr id="133" name="Google Shape;133;p14"/>
          <p:cNvSpPr txBox="1"/>
          <p:nvPr/>
        </p:nvSpPr>
        <p:spPr>
          <a:xfrm>
            <a:off x="540000" y="2178000"/>
            <a:ext cx="1008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00">
                <a:solidFill>
                  <a:schemeClr val="lt1"/>
                </a:solidFill>
                <a:latin typeface="Courier New"/>
                <a:ea typeface="Courier New"/>
                <a:cs typeface="Courier New"/>
                <a:sym typeface="Courier New"/>
              </a:rPr>
              <a:t>4    Visibility table  status aggregation           55 ms         46	&lt; 2 ms   (28× faster)</a:t>
            </a:r>
            <a:endParaRPr/>
          </a:p>
        </p:txBody>
      </p:sp>
      <p:sp>
        <p:nvSpPr>
          <p:cNvPr id="134" name="Google Shape;134;p14"/>
          <p:cNvSpPr txBox="1"/>
          <p:nvPr/>
        </p:nvSpPr>
        <p:spPr>
          <a:xfrm>
            <a:off x="540000" y="2466000"/>
            <a:ext cx="1008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00">
                <a:solidFill>
                  <a:schemeClr val="lt1"/>
                </a:solidFill>
                <a:latin typeface="Courier New"/>
                <a:ea typeface="Courier New"/>
                <a:cs typeface="Courier New"/>
                <a:sym typeface="Courier New"/>
              </a:rPr>
              <a:t>5    Reference table  by name  (4.1M calls)       0.31 ms   4,160,816	&lt; 0.05 ms    (6× faster)</a:t>
            </a:r>
            <a:endParaRPr/>
          </a:p>
        </p:txBody>
      </p:sp>
      <p:sp>
        <p:nvSpPr>
          <p:cNvPr id="135" name="Google Shape;135;p14"/>
          <p:cNvSpPr txBox="1"/>
          <p:nvPr/>
        </p:nvSpPr>
        <p:spPr>
          <a:xfrm>
            <a:off x="540000" y="2763000"/>
            <a:ext cx="1008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00">
                <a:solidFill>
                  <a:schemeClr val="lt1"/>
                </a:solidFill>
                <a:latin typeface="Courier New"/>
                <a:ea typeface="Courier New"/>
                <a:cs typeface="Courier New"/>
                <a:sym typeface="Courier New"/>
              </a:rPr>
              <a:t>6    Reference table  pagination  (10.9M calls)   0.08 ms  10,945,930	&lt; 0.02 ms    (4× faster)</a:t>
            </a:r>
            <a:endParaRPr/>
          </a:p>
        </p:txBody>
      </p:sp>
      <p:sp>
        <p:nvSpPr>
          <p:cNvPr id="136" name="Google Shape;136;p14"/>
          <p:cNvSpPr txBox="1"/>
          <p:nvPr/>
        </p:nvSpPr>
        <p:spPr>
          <a:xfrm>
            <a:off x="540000" y="1319400"/>
            <a:ext cx="1008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lt1"/>
                </a:solidFill>
                <a:latin typeface="Courier New"/>
                <a:ea typeface="Courier New"/>
                <a:cs typeface="Courier New"/>
                <a:sym typeface="Courier New"/>
              </a:rPr>
              <a:t>1</a:t>
            </a:r>
            <a:r>
              <a:rPr b="0" lang="en-US" sz="1300">
                <a:solidFill>
                  <a:schemeClr val="lt1"/>
                </a:solidFill>
                <a:latin typeface="Courier New"/>
                <a:ea typeface="Courier New"/>
                <a:cs typeface="Courier New"/>
                <a:sym typeface="Courier New"/>
              </a:rPr>
              <a:t>    Entity table  FK lookup  (18K calls)         62.24 ms      18,227	&lt; 5 ms (12× faster)</a:t>
            </a:r>
            <a:endParaRPr/>
          </a:p>
        </p:txBody>
      </p:sp>
      <p:sp>
        <p:nvSpPr>
          <p:cNvPr id="137" name="Google Shape;137;p14"/>
          <p:cNvSpPr txBox="1"/>
          <p:nvPr/>
        </p:nvSpPr>
        <p:spPr>
          <a:xfrm>
            <a:off x="540000" y="3400200"/>
            <a:ext cx="10080000" cy="28800"/>
          </a:xfrm>
          <a:prstGeom prst="rect">
            <a:avLst/>
          </a:pr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132 billion rows scanned on the sync table across its lifetime — all because of one missing FK index.</a:t>
            </a:r>
            <a:endParaRPr/>
          </a:p>
        </p:txBody>
      </p:sp>
      <p:sp>
        <p:nvSpPr>
          <p:cNvPr id="138" name="Google Shape;138;p14"/>
          <p:cNvSpPr txBox="1"/>
          <p:nvPr/>
        </p:nvSpPr>
        <p:spPr>
          <a:xfrm>
            <a:off x="540000" y="3796200"/>
            <a:ext cx="100800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EE0000"/>
                </a:solidFill>
                <a:latin typeface="Calibri"/>
                <a:ea typeface="Calibri"/>
                <a:cs typeface="Calibri"/>
                <a:sym typeface="Calibri"/>
              </a:rPr>
              <a:t>Combined projected saving:  21+ minutes of cumulative DB time per observation period eliminated on rows 5–6 alone.</a:t>
            </a:r>
            <a:endParaRPr/>
          </a:p>
        </p:txBody>
      </p:sp>
      <p:sp>
        <p:nvSpPr>
          <p:cNvPr id="139" name="Google Shape;139;p14"/>
          <p:cNvSpPr txBox="1"/>
          <p:nvPr/>
        </p:nvSpPr>
        <p:spPr>
          <a:xfrm>
            <a:off x="540000" y="4617000"/>
            <a:ext cx="1008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42BE65"/>
                </a:solidFill>
                <a:latin typeface="Calibri"/>
                <a:ea typeface="Calibri"/>
                <a:cs typeface="Calibri"/>
                <a:sym typeface="Calibri"/>
              </a:rPr>
              <a:t>All 8 indexes generated as ready-to-run CONCURRENTLY DDL — no table locks, safe to apply on live database.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143" name="Shape 143"/>
        <p:cNvGrpSpPr/>
        <p:nvPr/>
      </p:nvGrpSpPr>
      <p:grpSpPr>
        <a:xfrm>
          <a:off x="0" y="0"/>
          <a:ext cx="0" cy="0"/>
          <a:chOff x="0" y="0"/>
          <a:chExt cx="0" cy="0"/>
        </a:xfrm>
      </p:grpSpPr>
      <p:sp>
        <p:nvSpPr>
          <p:cNvPr id="144" name="Google Shape;144;p15"/>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145" name="Google Shape;145;p15"/>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09</a:t>
            </a:r>
            <a:endParaRPr/>
          </a:p>
        </p:txBody>
      </p:sp>
      <p:sp>
        <p:nvSpPr>
          <p:cNvPr id="146" name="Google Shape;146;p15"/>
          <p:cNvSpPr txBox="1"/>
          <p:nvPr/>
        </p:nvSpPr>
        <p:spPr>
          <a:xfrm>
            <a:off x="540000" y="252000"/>
            <a:ext cx="100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FFFFFF"/>
                </a:solidFill>
                <a:latin typeface="Calibri"/>
                <a:ea typeface="Calibri"/>
                <a:cs typeface="Calibri"/>
                <a:sym typeface="Calibri"/>
              </a:rPr>
              <a:t>MTTD Compression: Human vs IBM Bob</a:t>
            </a:r>
            <a:endParaRPr/>
          </a:p>
        </p:txBody>
      </p:sp>
      <p:sp>
        <p:nvSpPr>
          <p:cNvPr id="147" name="Google Shape;147;p15"/>
          <p:cNvSpPr txBox="1"/>
          <p:nvPr/>
        </p:nvSpPr>
        <p:spPr>
          <a:xfrm>
            <a:off x="540000" y="864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148" name="Google Shape;148;p15"/>
          <p:cNvSpPr txBox="1"/>
          <p:nvPr/>
        </p:nvSpPr>
        <p:spPr>
          <a:xfrm>
            <a:off x="540000" y="1008000"/>
            <a:ext cx="10080000" cy="2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0F62FE"/>
                </a:solidFill>
                <a:latin typeface="Calibri"/>
                <a:ea typeface="Calibri"/>
                <a:cs typeface="Calibri"/>
                <a:sym typeface="Calibri"/>
              </a:rPr>
              <a:t>Incident                                                            	  	Human MTTD	IBM Bob MTTD	Speedup</a:t>
            </a:r>
            <a:endParaRPr/>
          </a:p>
        </p:txBody>
      </p:sp>
      <p:sp>
        <p:nvSpPr>
          <p:cNvPr id="149" name="Google Shape;149;p15"/>
          <p:cNvSpPr txBox="1"/>
          <p:nvPr/>
        </p:nvSpPr>
        <p:spPr>
          <a:xfrm>
            <a:off x="540000" y="1332000"/>
            <a:ext cx="10080000" cy="288000"/>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00">
                <a:solidFill>
                  <a:srgbClr val="C6C6C6"/>
                </a:solidFill>
                <a:latin typeface="Calibri"/>
                <a:ea typeface="Calibri"/>
                <a:cs typeface="Calibri"/>
                <a:sym typeface="Calibri"/>
              </a:rPr>
              <a:t>SELECT * flood on a high-traffic table  (buffer pressure)	~45 min 		90 sec		30×</a:t>
            </a:r>
            <a:endParaRPr/>
          </a:p>
        </p:txBody>
      </p:sp>
      <p:sp>
        <p:nvSpPr>
          <p:cNvPr id="150" name="Google Shape;150;p15"/>
          <p:cNvSpPr txBox="1"/>
          <p:nvPr/>
        </p:nvSpPr>
        <p:spPr>
          <a:xfrm>
            <a:off x="540000" y="1692000"/>
            <a:ext cx="10080000" cy="288000"/>
          </a:xfrm>
          <a:prstGeom prst="rect">
            <a:avLst/>
          </a:prstGeom>
          <a:solidFill>
            <a:srgbClr val="1111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00">
                <a:solidFill>
                  <a:srgbClr val="C6C6C6"/>
                </a:solidFill>
                <a:latin typeface="Calibri"/>
                <a:ea typeface="Calibri"/>
                <a:cs typeface="Calibri"/>
                <a:sym typeface="Calibri"/>
              </a:rPr>
              <a:t>78% rollback rate  (application overhead)                   	~60 min		90 sec		40×</a:t>
            </a:r>
            <a:endParaRPr/>
          </a:p>
        </p:txBody>
      </p:sp>
      <p:sp>
        <p:nvSpPr>
          <p:cNvPr id="151" name="Google Shape;151;p15"/>
          <p:cNvSpPr txBox="1"/>
          <p:nvPr/>
        </p:nvSpPr>
        <p:spPr>
          <a:xfrm>
            <a:off x="540000" y="2052000"/>
            <a:ext cx="10080000" cy="288000"/>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00">
                <a:solidFill>
                  <a:srgbClr val="C6C6C6"/>
                </a:solidFill>
                <a:latin typeface="Calibri"/>
                <a:ea typeface="Calibri"/>
                <a:cs typeface="Calibri"/>
                <a:sym typeface="Calibri"/>
              </a:rPr>
              <a:t>Lock contention spikes — max 2,938 ms  (tail latency)	~90 min		90 sec		60×</a:t>
            </a:r>
            <a:endParaRPr/>
          </a:p>
        </p:txBody>
      </p:sp>
      <p:sp>
        <p:nvSpPr>
          <p:cNvPr id="152" name="Google Shape;152;p15"/>
          <p:cNvSpPr txBox="1"/>
          <p:nvPr/>
        </p:nvSpPr>
        <p:spPr>
          <a:xfrm>
            <a:off x="540000" y="2412000"/>
            <a:ext cx="10080000" cy="288000"/>
          </a:xfrm>
          <a:prstGeom prst="rect">
            <a:avLst/>
          </a:prstGeom>
          <a:solidFill>
            <a:srgbClr val="1111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00">
                <a:solidFill>
                  <a:srgbClr val="C6C6C6"/>
                </a:solidFill>
                <a:latin typeface="Calibri"/>
                <a:ea typeface="Calibri"/>
                <a:cs typeface="Calibri"/>
                <a:sym typeface="Calibri"/>
              </a:rPr>
              <a:t>7 missing indexes  (sequential scans)		~120 min		90 sec		80×</a:t>
            </a:r>
            <a:endParaRPr/>
          </a:p>
        </p:txBody>
      </p:sp>
      <p:sp>
        <p:nvSpPr>
          <p:cNvPr id="153" name="Google Shape;153;p15"/>
          <p:cNvSpPr txBox="1"/>
          <p:nvPr/>
        </p:nvSpPr>
        <p:spPr>
          <a:xfrm>
            <a:off x="540000" y="2772000"/>
            <a:ext cx="10080000" cy="288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FFFFFF"/>
                </a:solidFill>
                <a:latin typeface="Calibri"/>
                <a:ea typeface="Calibri"/>
                <a:cs typeface="Calibri"/>
                <a:sym typeface="Calibri"/>
              </a:rPr>
              <a:t>All 4 incidents combined                         		~5–6 hrs          	90 sec        		120–240×</a:t>
            </a:r>
            <a:endParaRPr/>
          </a:p>
        </p:txBody>
      </p:sp>
      <p:sp>
        <p:nvSpPr>
          <p:cNvPr id="154" name="Google Shape;154;p15"/>
          <p:cNvSpPr txBox="1"/>
          <p:nvPr/>
        </p:nvSpPr>
        <p:spPr>
          <a:xfrm>
            <a:off x="540000" y="3312000"/>
            <a:ext cx="10080000" cy="1080000"/>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700">
                <a:solidFill>
                  <a:srgbClr val="C6C6C6"/>
                </a:solidFill>
                <a:latin typeface="Calibri"/>
                <a:ea typeface="Calibri"/>
                <a:cs typeface="Calibri"/>
                <a:sym typeface="Calibri"/>
              </a:rPr>
              <a:t>Why does IBM Bob win?  It reads ALL signals simultaneously:</a:t>
            </a:r>
            <a:endParaRPr/>
          </a:p>
          <a:p>
            <a:pPr indent="0" lvl="0" marL="0" marR="0" rtl="0" algn="l">
              <a:spcBef>
                <a:spcPts val="0"/>
              </a:spcBef>
              <a:spcAft>
                <a:spcPts val="0"/>
              </a:spcAft>
              <a:buNone/>
            </a:pPr>
            <a:r>
              <a:rPr b="0" lang="en-US" sz="1700">
                <a:solidFill>
                  <a:srgbClr val="C6C6C6"/>
                </a:solidFill>
                <a:latin typeface="Calibri"/>
                <a:ea typeface="Calibri"/>
                <a:cs typeface="Calibri"/>
                <a:sym typeface="Calibri"/>
              </a:rPr>
              <a:t>buffer hits  ·  mean vs max latency  ·  dirty blocks  ·  transaction ratios  ·  index scan counts  ·  write amplification</a:t>
            </a:r>
            <a:endParaRPr/>
          </a:p>
          <a:p>
            <a:pPr indent="0" lvl="0" marL="0" marR="0" rtl="0" algn="l">
              <a:spcBef>
                <a:spcPts val="0"/>
              </a:spcBef>
              <a:spcAft>
                <a:spcPts val="0"/>
              </a:spcAft>
              <a:buNone/>
            </a:pPr>
            <a:r>
              <a:t/>
            </a:r>
            <a:endParaRPr b="0" sz="17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700">
                <a:solidFill>
                  <a:srgbClr val="C6C6C6"/>
                </a:solidFill>
                <a:latin typeface="Calibri"/>
                <a:ea typeface="Calibri"/>
                <a:cs typeface="Calibri"/>
                <a:sym typeface="Calibri"/>
              </a:rPr>
              <a:t>A human checks these sequentially across different tools and views. Bob sees the whole picture in one pass.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158" name="Shape 158"/>
        <p:cNvGrpSpPr/>
        <p:nvPr/>
      </p:nvGrpSpPr>
      <p:grpSpPr>
        <a:xfrm>
          <a:off x="0" y="0"/>
          <a:ext cx="0" cy="0"/>
          <a:chOff x="0" y="0"/>
          <a:chExt cx="0" cy="0"/>
        </a:xfrm>
      </p:grpSpPr>
      <p:sp>
        <p:nvSpPr>
          <p:cNvPr id="159" name="Google Shape;159;p16"/>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160" name="Google Shape;160;p16"/>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10</a:t>
            </a:r>
            <a:endParaRPr/>
          </a:p>
        </p:txBody>
      </p:sp>
      <p:sp>
        <p:nvSpPr>
          <p:cNvPr id="161" name="Google Shape;161;p16"/>
          <p:cNvSpPr txBox="1"/>
          <p:nvPr/>
        </p:nvSpPr>
        <p:spPr>
          <a:xfrm>
            <a:off x="540000" y="252000"/>
            <a:ext cx="100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FFFFFF"/>
                </a:solidFill>
                <a:latin typeface="Calibri"/>
                <a:ea typeface="Calibri"/>
                <a:cs typeface="Calibri"/>
                <a:sym typeface="Calibri"/>
              </a:rPr>
              <a:t>Projected Impact: What These Fixes Deliver</a:t>
            </a:r>
            <a:endParaRPr/>
          </a:p>
        </p:txBody>
      </p:sp>
      <p:sp>
        <p:nvSpPr>
          <p:cNvPr id="162" name="Google Shape;162;p16"/>
          <p:cNvSpPr txBox="1"/>
          <p:nvPr/>
        </p:nvSpPr>
        <p:spPr>
          <a:xfrm>
            <a:off x="540000" y="864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163" name="Google Shape;163;p16"/>
          <p:cNvSpPr txBox="1"/>
          <p:nvPr/>
        </p:nvSpPr>
        <p:spPr>
          <a:xfrm>
            <a:off x="540000" y="1080000"/>
            <a:ext cx="3060000" cy="9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200">
                <a:solidFill>
                  <a:srgbClr val="42BE65"/>
                </a:solidFill>
                <a:latin typeface="Calibri"/>
                <a:ea typeface="Calibri"/>
                <a:cs typeface="Calibri"/>
                <a:sym typeface="Calibri"/>
              </a:rPr>
              <a:t>&gt;98%</a:t>
            </a:r>
            <a:endParaRPr/>
          </a:p>
        </p:txBody>
      </p:sp>
      <p:sp>
        <p:nvSpPr>
          <p:cNvPr id="164" name="Google Shape;164;p16"/>
          <p:cNvSpPr txBox="1"/>
          <p:nvPr/>
        </p:nvSpPr>
        <p:spPr>
          <a:xfrm>
            <a:off x="540000" y="1980000"/>
            <a:ext cx="3060000" cy="46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A8A8A8"/>
                </a:solidFill>
                <a:latin typeface="Calibri"/>
                <a:ea typeface="Calibri"/>
                <a:cs typeface="Calibri"/>
                <a:sym typeface="Calibri"/>
              </a:rPr>
              <a:t>reduction in buffer cache pressure</a:t>
            </a:r>
            <a:endParaRPr/>
          </a:p>
          <a:p>
            <a:pPr indent="0" lvl="0" marL="0" marR="0" rtl="0" algn="l">
              <a:spcBef>
                <a:spcPts val="0"/>
              </a:spcBef>
              <a:spcAft>
                <a:spcPts val="0"/>
              </a:spcAft>
              <a:buNone/>
            </a:pPr>
            <a:r>
              <a:rPr b="0" lang="en-US" sz="1500">
                <a:solidFill>
                  <a:srgbClr val="A8A8A8"/>
                </a:solidFill>
                <a:latin typeface="Calibri"/>
                <a:ea typeface="Calibri"/>
                <a:cs typeface="Calibri"/>
                <a:sym typeface="Calibri"/>
              </a:rPr>
              <a:t>(7.3B hits → sub-100M)</a:t>
            </a:r>
            <a:endParaRPr/>
          </a:p>
        </p:txBody>
      </p:sp>
      <p:sp>
        <p:nvSpPr>
          <p:cNvPr id="165" name="Google Shape;165;p16"/>
          <p:cNvSpPr txBox="1"/>
          <p:nvPr/>
        </p:nvSpPr>
        <p:spPr>
          <a:xfrm>
            <a:off x="4140000" y="1080000"/>
            <a:ext cx="3240000" cy="9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200">
                <a:solidFill>
                  <a:srgbClr val="42BE65"/>
                </a:solidFill>
                <a:latin typeface="Calibri"/>
                <a:ea typeface="Calibri"/>
                <a:cs typeface="Calibri"/>
                <a:sym typeface="Calibri"/>
              </a:rPr>
              <a:t>60–70%</a:t>
            </a:r>
            <a:endParaRPr/>
          </a:p>
        </p:txBody>
      </p:sp>
      <p:sp>
        <p:nvSpPr>
          <p:cNvPr id="166" name="Google Shape;166;p16"/>
          <p:cNvSpPr txBox="1"/>
          <p:nvPr/>
        </p:nvSpPr>
        <p:spPr>
          <a:xfrm>
            <a:off x="4140000" y="1980000"/>
            <a:ext cx="3240000" cy="46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A8A8A8"/>
                </a:solidFill>
                <a:latin typeface="Calibri"/>
                <a:ea typeface="Calibri"/>
                <a:cs typeface="Calibri"/>
                <a:sym typeface="Calibri"/>
              </a:rPr>
              <a:t>reduction in total DB execution time</a:t>
            </a:r>
            <a:endParaRPr/>
          </a:p>
          <a:p>
            <a:pPr indent="0" lvl="0" marL="0" marR="0" rtl="0" algn="l">
              <a:spcBef>
                <a:spcPts val="0"/>
              </a:spcBef>
              <a:spcAft>
                <a:spcPts val="0"/>
              </a:spcAft>
              <a:buNone/>
            </a:pPr>
            <a:r>
              <a:rPr b="0" lang="en-US" sz="1500">
                <a:solidFill>
                  <a:srgbClr val="A8A8A8"/>
                </a:solidFill>
                <a:latin typeface="Calibri"/>
                <a:ea typeface="Calibri"/>
                <a:cs typeface="Calibri"/>
                <a:sym typeface="Calibri"/>
              </a:rPr>
              <a:t>(11.75 hrs → &lt;45 min / period)</a:t>
            </a:r>
            <a:endParaRPr/>
          </a:p>
        </p:txBody>
      </p:sp>
      <p:sp>
        <p:nvSpPr>
          <p:cNvPr id="167" name="Google Shape;167;p16"/>
          <p:cNvSpPr txBox="1"/>
          <p:nvPr/>
        </p:nvSpPr>
        <p:spPr>
          <a:xfrm>
            <a:off x="7920000" y="1080000"/>
            <a:ext cx="2700000" cy="9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200">
                <a:solidFill>
                  <a:srgbClr val="42BE65"/>
                </a:solidFill>
                <a:latin typeface="Calibri"/>
                <a:ea typeface="Calibri"/>
                <a:cs typeface="Calibri"/>
                <a:sym typeface="Calibri"/>
              </a:rPr>
              <a:t>~40%</a:t>
            </a:r>
            <a:endParaRPr/>
          </a:p>
        </p:txBody>
      </p:sp>
      <p:sp>
        <p:nvSpPr>
          <p:cNvPr id="168" name="Google Shape;168;p16"/>
          <p:cNvSpPr txBox="1"/>
          <p:nvPr/>
        </p:nvSpPr>
        <p:spPr>
          <a:xfrm>
            <a:off x="7920000" y="1980000"/>
            <a:ext cx="2770412" cy="46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A8A8A8"/>
                </a:solidFill>
                <a:latin typeface="Calibri"/>
                <a:ea typeface="Calibri"/>
                <a:cs typeface="Calibri"/>
                <a:sym typeface="Calibri"/>
              </a:rPr>
              <a:t>CPU overhead reduction on DB-B</a:t>
            </a:r>
            <a:endParaRPr/>
          </a:p>
          <a:p>
            <a:pPr indent="0" lvl="0" marL="0" marR="0" rtl="0" algn="l">
              <a:spcBef>
                <a:spcPts val="0"/>
              </a:spcBef>
              <a:spcAft>
                <a:spcPts val="0"/>
              </a:spcAft>
              <a:buNone/>
            </a:pPr>
            <a:r>
              <a:rPr b="0" lang="en-US" sz="1500">
                <a:solidFill>
                  <a:srgbClr val="A8A8A8"/>
                </a:solidFill>
                <a:latin typeface="Calibri"/>
                <a:ea typeface="Calibri"/>
                <a:cs typeface="Calibri"/>
                <a:sym typeface="Calibri"/>
              </a:rPr>
              <a:t>(from fixing 78% rollback rate)</a:t>
            </a:r>
            <a:endParaRPr/>
          </a:p>
        </p:txBody>
      </p:sp>
      <p:sp>
        <p:nvSpPr>
          <p:cNvPr id="169" name="Google Shape;169;p16"/>
          <p:cNvSpPr txBox="1"/>
          <p:nvPr/>
        </p:nvSpPr>
        <p:spPr>
          <a:xfrm>
            <a:off x="570866" y="2782800"/>
            <a:ext cx="10080000" cy="28800"/>
          </a:xfrm>
          <a:prstGeom prst="rect">
            <a:avLst/>
          </a:pr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33333"/>
              </a:solidFill>
              <a:latin typeface="Calibri"/>
              <a:ea typeface="Calibri"/>
              <a:cs typeface="Calibri"/>
              <a:sym typeface="Calibri"/>
            </a:endParaRPr>
          </a:p>
        </p:txBody>
      </p:sp>
      <p:sp>
        <p:nvSpPr>
          <p:cNvPr id="170" name="Google Shape;170;p16"/>
          <p:cNvSpPr txBox="1"/>
          <p:nvPr/>
        </p:nvSpPr>
        <p:spPr>
          <a:xfrm>
            <a:off x="540000" y="2736000"/>
            <a:ext cx="3060000" cy="9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200">
                <a:solidFill>
                  <a:srgbClr val="0F62FE"/>
                </a:solidFill>
                <a:latin typeface="Calibri"/>
                <a:ea typeface="Calibri"/>
                <a:cs typeface="Calibri"/>
                <a:sym typeface="Calibri"/>
              </a:rPr>
              <a:t>~80%</a:t>
            </a:r>
            <a:endParaRPr/>
          </a:p>
        </p:txBody>
      </p:sp>
      <p:sp>
        <p:nvSpPr>
          <p:cNvPr id="171" name="Google Shape;171;p16"/>
          <p:cNvSpPr txBox="1"/>
          <p:nvPr/>
        </p:nvSpPr>
        <p:spPr>
          <a:xfrm>
            <a:off x="540000" y="3636000"/>
            <a:ext cx="3060000" cy="46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A8A8A8"/>
                </a:solidFill>
                <a:latin typeface="Calibri"/>
                <a:ea typeface="Calibri"/>
                <a:cs typeface="Calibri"/>
                <a:sym typeface="Calibri"/>
              </a:rPr>
              <a:t>P99 latency reduction (DB-A)</a:t>
            </a:r>
            <a:endParaRPr/>
          </a:p>
          <a:p>
            <a:pPr indent="0" lvl="0" marL="0" marR="0" rtl="0" algn="l">
              <a:spcBef>
                <a:spcPts val="0"/>
              </a:spcBef>
              <a:spcAft>
                <a:spcPts val="0"/>
              </a:spcAft>
              <a:buNone/>
            </a:pPr>
            <a:r>
              <a:rPr b="0" lang="en-US" sz="1500">
                <a:solidFill>
                  <a:srgbClr val="A8A8A8"/>
                </a:solidFill>
                <a:latin typeface="Calibri"/>
                <a:ea typeface="Calibri"/>
                <a:cs typeface="Calibri"/>
                <a:sym typeface="Calibri"/>
              </a:rPr>
              <a:t>(lock max: 2,938ms → &lt;300ms)</a:t>
            </a:r>
            <a:endParaRPr/>
          </a:p>
        </p:txBody>
      </p:sp>
      <p:sp>
        <p:nvSpPr>
          <p:cNvPr id="172" name="Google Shape;172;p16"/>
          <p:cNvSpPr txBox="1"/>
          <p:nvPr/>
        </p:nvSpPr>
        <p:spPr>
          <a:xfrm>
            <a:off x="4140000" y="2736000"/>
            <a:ext cx="3240000" cy="9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200">
                <a:solidFill>
                  <a:srgbClr val="0F62FE"/>
                </a:solidFill>
                <a:latin typeface="Calibri"/>
                <a:ea typeface="Calibri"/>
                <a:cs typeface="Calibri"/>
                <a:sym typeface="Calibri"/>
              </a:rPr>
              <a:t>~15%</a:t>
            </a:r>
            <a:endParaRPr/>
          </a:p>
        </p:txBody>
      </p:sp>
      <p:sp>
        <p:nvSpPr>
          <p:cNvPr id="173" name="Google Shape;173;p16"/>
          <p:cNvSpPr txBox="1"/>
          <p:nvPr/>
        </p:nvSpPr>
        <p:spPr>
          <a:xfrm>
            <a:off x="4139999" y="3636000"/>
            <a:ext cx="3390353" cy="46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A8A8A8"/>
                </a:solidFill>
                <a:latin typeface="Calibri"/>
                <a:ea typeface="Calibri"/>
                <a:cs typeface="Calibri"/>
                <a:sym typeface="Calibri"/>
              </a:rPr>
              <a:t>total DB-B transaction volume reduction</a:t>
            </a:r>
            <a:endParaRPr/>
          </a:p>
          <a:p>
            <a:pPr indent="0" lvl="0" marL="0" marR="0" rtl="0" algn="l">
              <a:spcBef>
                <a:spcPts val="0"/>
              </a:spcBef>
              <a:spcAft>
                <a:spcPts val="0"/>
              </a:spcAft>
              <a:buNone/>
            </a:pPr>
            <a:r>
              <a:rPr b="0" lang="en-US" sz="1500">
                <a:solidFill>
                  <a:srgbClr val="A8A8A8"/>
                </a:solidFill>
                <a:latin typeface="Calibri"/>
                <a:ea typeface="Calibri"/>
                <a:cs typeface="Calibri"/>
                <a:sym typeface="Calibri"/>
              </a:rPr>
              <a:t>(eliminating zero-row polling at 4M+ calls)</a:t>
            </a:r>
            <a:endParaRPr/>
          </a:p>
        </p:txBody>
      </p:sp>
      <p:sp>
        <p:nvSpPr>
          <p:cNvPr id="174" name="Google Shape;174;p16"/>
          <p:cNvSpPr txBox="1"/>
          <p:nvPr/>
        </p:nvSpPr>
        <p:spPr>
          <a:xfrm>
            <a:off x="7920000" y="2736000"/>
            <a:ext cx="2700000" cy="9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200">
                <a:solidFill>
                  <a:srgbClr val="0F62FE"/>
                </a:solidFill>
                <a:latin typeface="Calibri"/>
                <a:ea typeface="Calibri"/>
                <a:cs typeface="Calibri"/>
                <a:sym typeface="Calibri"/>
              </a:rPr>
              <a:t>~0</a:t>
            </a:r>
            <a:endParaRPr/>
          </a:p>
        </p:txBody>
      </p:sp>
      <p:sp>
        <p:nvSpPr>
          <p:cNvPr id="175" name="Google Shape;175;p16"/>
          <p:cNvSpPr txBox="1"/>
          <p:nvPr/>
        </p:nvSpPr>
        <p:spPr>
          <a:xfrm>
            <a:off x="7919999" y="3636000"/>
            <a:ext cx="3003495" cy="46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A8A8A8"/>
                </a:solidFill>
                <a:latin typeface="Calibri"/>
                <a:ea typeface="Calibri"/>
                <a:cs typeface="Calibri"/>
                <a:sym typeface="Calibri"/>
              </a:rPr>
              <a:t>DB round-trips for reference tables</a:t>
            </a:r>
            <a:endParaRPr/>
          </a:p>
          <a:p>
            <a:pPr indent="0" lvl="0" marL="0" marR="0" rtl="0" algn="l">
              <a:spcBef>
                <a:spcPts val="0"/>
              </a:spcBef>
              <a:spcAft>
                <a:spcPts val="0"/>
              </a:spcAft>
              <a:buNone/>
            </a:pPr>
            <a:r>
              <a:rPr b="0" lang="en-US" sz="1500">
                <a:solidFill>
                  <a:srgbClr val="A8A8A8"/>
                </a:solidFill>
                <a:latin typeface="Calibri"/>
                <a:ea typeface="Calibri"/>
                <a:cs typeface="Calibri"/>
                <a:sym typeface="Calibri"/>
              </a:rPr>
              <a:t>(15.1M calls eliminated with app-level cache)</a:t>
            </a:r>
            <a:endParaRPr/>
          </a:p>
        </p:txBody>
      </p:sp>
      <p:sp>
        <p:nvSpPr>
          <p:cNvPr id="176" name="Google Shape;176;p16"/>
          <p:cNvSpPr txBox="1"/>
          <p:nvPr/>
        </p:nvSpPr>
        <p:spPr>
          <a:xfrm>
            <a:off x="540000" y="4662000"/>
            <a:ext cx="10080000" cy="36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00">
                <a:solidFill>
                  <a:srgbClr val="6F6F6F"/>
                </a:solidFill>
                <a:latin typeface="Calibri"/>
                <a:ea typeface="Calibri"/>
                <a:cs typeface="Calibri"/>
                <a:sym typeface="Calibri"/>
              </a:rPr>
              <a:t>All projections derived from IBM Bob analysis of pg_stat_statements, pg_statio, and pg_stat_database telemetry. Based on column reduction ratios, rollback-to-commit analysis, and index selectivity estimates.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180" name="Shape 180"/>
        <p:cNvGrpSpPr/>
        <p:nvPr/>
      </p:nvGrpSpPr>
      <p:grpSpPr>
        <a:xfrm>
          <a:off x="0" y="0"/>
          <a:ext cx="0" cy="0"/>
          <a:chOff x="0" y="0"/>
          <a:chExt cx="0" cy="0"/>
        </a:xfrm>
      </p:grpSpPr>
      <p:sp>
        <p:nvSpPr>
          <p:cNvPr id="181" name="Google Shape;181;p17"/>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182" name="Google Shape;182;p17"/>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11</a:t>
            </a:r>
            <a:endParaRPr/>
          </a:p>
        </p:txBody>
      </p:sp>
      <p:sp>
        <p:nvSpPr>
          <p:cNvPr id="183" name="Google Shape;183;p17"/>
          <p:cNvSpPr txBox="1"/>
          <p:nvPr/>
        </p:nvSpPr>
        <p:spPr>
          <a:xfrm>
            <a:off x="540000" y="252000"/>
            <a:ext cx="100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FFFFFF"/>
                </a:solidFill>
                <a:latin typeface="Calibri"/>
                <a:ea typeface="Calibri"/>
                <a:cs typeface="Calibri"/>
                <a:sym typeface="Calibri"/>
              </a:rPr>
              <a:t>What IBM Bob Sees That Dashboards Miss</a:t>
            </a:r>
            <a:endParaRPr/>
          </a:p>
        </p:txBody>
      </p:sp>
      <p:sp>
        <p:nvSpPr>
          <p:cNvPr id="184" name="Google Shape;184;p17"/>
          <p:cNvSpPr txBox="1"/>
          <p:nvPr/>
        </p:nvSpPr>
        <p:spPr>
          <a:xfrm>
            <a:off x="540000" y="864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185" name="Google Shape;185;p17"/>
          <p:cNvSpPr txBox="1"/>
          <p:nvPr/>
        </p:nvSpPr>
        <p:spPr>
          <a:xfrm>
            <a:off x="540000" y="1008000"/>
            <a:ext cx="486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EE0000"/>
                </a:solidFill>
                <a:latin typeface="Calibri"/>
                <a:ea typeface="Calibri"/>
                <a:cs typeface="Calibri"/>
                <a:sym typeface="Calibri"/>
              </a:rPr>
              <a:t>Traditional Dashboard View</a:t>
            </a:r>
            <a:endParaRPr/>
          </a:p>
        </p:txBody>
      </p:sp>
      <p:sp>
        <p:nvSpPr>
          <p:cNvPr id="186" name="Google Shape;186;p17"/>
          <p:cNvSpPr txBox="1"/>
          <p:nvPr/>
        </p:nvSpPr>
        <p:spPr>
          <a:xfrm>
            <a:off x="540000" y="1368000"/>
            <a:ext cx="4807504" cy="4032000"/>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00">
                <a:solidFill>
                  <a:srgbClr val="C6C6C6"/>
                </a:solidFill>
                <a:latin typeface="Calibri"/>
                <a:ea typeface="Calibri"/>
                <a:cs typeface="Calibri"/>
                <a:sym typeface="Calibri"/>
              </a:rPr>
              <a:t>• Average latency: 11 ms   ← looks 'high'</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Buffer hit rate: 99.99%   ← looks 'fine'</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CPU utilization: moderate ← looks 'normal'</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Rollback rate: not shown</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Max latency: not plotted</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Dirty blocks: not visible</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Write amplification: not visible</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Cross-DB correlation: impossible</a:t>
            </a:r>
            <a:endParaRPr/>
          </a:p>
          <a:p>
            <a:pPr indent="0" lvl="0" marL="0" marR="0" rtl="0" algn="l">
              <a:spcBef>
                <a:spcPts val="0"/>
              </a:spcBef>
              <a:spcAft>
                <a:spcPts val="0"/>
              </a:spcAft>
              <a:buNone/>
            </a:pPr>
            <a:r>
              <a:t/>
            </a:r>
            <a:endParaRPr b="0" sz="16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Conclusion from dashboard:</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'Something is slow. Investigate.'</a:t>
            </a:r>
            <a:endParaRPr/>
          </a:p>
        </p:txBody>
      </p:sp>
      <p:sp>
        <p:nvSpPr>
          <p:cNvPr id="187" name="Google Shape;187;p17"/>
          <p:cNvSpPr txBox="1"/>
          <p:nvPr/>
        </p:nvSpPr>
        <p:spPr>
          <a:xfrm>
            <a:off x="5940000" y="1008000"/>
            <a:ext cx="468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42BE65"/>
                </a:solidFill>
                <a:latin typeface="Calibri"/>
                <a:ea typeface="Calibri"/>
                <a:cs typeface="Calibri"/>
                <a:sym typeface="Calibri"/>
              </a:rPr>
              <a:t>IBM Bob Cross-Signal Analysis</a:t>
            </a:r>
            <a:endParaRPr/>
          </a:p>
        </p:txBody>
      </p:sp>
      <p:sp>
        <p:nvSpPr>
          <p:cNvPr id="188" name="Google Shape;188;p17"/>
          <p:cNvSpPr txBox="1"/>
          <p:nvPr/>
        </p:nvSpPr>
        <p:spPr>
          <a:xfrm>
            <a:off x="5939999" y="1368000"/>
            <a:ext cx="4722441" cy="4032000"/>
          </a:xfrm>
          <a:prstGeom prst="rect">
            <a:avLst/>
          </a:prstGeom>
          <a:solidFill>
            <a:srgbClr val="0D33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00">
                <a:solidFill>
                  <a:srgbClr val="C6C6C6"/>
                </a:solidFill>
                <a:latin typeface="Calibri"/>
                <a:ea typeface="Calibri"/>
                <a:cs typeface="Calibri"/>
                <a:sym typeface="Calibri"/>
              </a:rPr>
              <a:t>• 11 ms mean + 6.6B buffer hits + 70 columns</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 SELECT * anti-pattern, not a slow query</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99.99% cache hit + 78% rollback</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 speculative transaction pattern, not failures</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0.098 ms mean + 2,938 ms max + 29,980× ratio</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 lock contention cliff, not slow query</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DB-A ~0% rollback vs DB-B 78%</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 application code bug, not DB sizing issue</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4M calls returning 0 rows</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  = polling anti-pattern, replace with events</a:t>
            </a:r>
            <a:endParaRPr/>
          </a:p>
          <a:p>
            <a:pPr indent="0" lvl="0" marL="0" marR="0" rtl="0" algn="l">
              <a:spcBef>
                <a:spcPts val="0"/>
              </a:spcBef>
              <a:spcAft>
                <a:spcPts val="0"/>
              </a:spcAft>
              <a:buNone/>
            </a:pPr>
            <a:r>
              <a:t/>
            </a:r>
            <a:endParaRPr b="0" sz="16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Conclusion: 5 root causes, prioritized, with</a:t>
            </a:r>
            <a:endParaRPr/>
          </a:p>
          <a:p>
            <a:pPr indent="0" lvl="0" marL="0" marR="0" rtl="0" algn="l">
              <a:spcBef>
                <a:spcPts val="0"/>
              </a:spcBef>
              <a:spcAft>
                <a:spcPts val="0"/>
              </a:spcAft>
              <a:buNone/>
            </a:pPr>
            <a:r>
              <a:rPr b="0" lang="en-US" sz="1600">
                <a:solidFill>
                  <a:srgbClr val="C6C6C6"/>
                </a:solidFill>
                <a:latin typeface="Calibri"/>
                <a:ea typeface="Calibri"/>
                <a:cs typeface="Calibri"/>
                <a:sym typeface="Calibri"/>
              </a:rPr>
              <a:t>fix DDL, in 90 seconds.</a:t>
            </a:r>
            <a:endParaRPr/>
          </a:p>
        </p:txBody>
      </p:sp>
      <p:sp>
        <p:nvSpPr>
          <p:cNvPr id="189" name="Google Shape;189;p17"/>
          <p:cNvSpPr txBox="1"/>
          <p:nvPr/>
        </p:nvSpPr>
        <p:spPr>
          <a:xfrm>
            <a:off x="582441" y="5560010"/>
            <a:ext cx="10080000" cy="57998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FFFFFF"/>
                </a:solidFill>
                <a:latin typeface="Calibri"/>
                <a:ea typeface="Calibri"/>
                <a:cs typeface="Calibri"/>
                <a:sym typeface="Calibri"/>
              </a:rPr>
              <a:t>Bob doesn't just read metrics — it reads the relationship between metrics. That cross-signal reasoning is where the MTTD gain comes from.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193" name="Shape 193"/>
        <p:cNvGrpSpPr/>
        <p:nvPr/>
      </p:nvGrpSpPr>
      <p:grpSpPr>
        <a:xfrm>
          <a:off x="0" y="0"/>
          <a:ext cx="0" cy="0"/>
          <a:chOff x="0" y="0"/>
          <a:chExt cx="0" cy="0"/>
        </a:xfrm>
      </p:grpSpPr>
      <p:sp>
        <p:nvSpPr>
          <p:cNvPr id="194" name="Google Shape;194;p18"/>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195" name="Google Shape;195;p18"/>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12</a:t>
            </a:r>
            <a:endParaRPr/>
          </a:p>
        </p:txBody>
      </p:sp>
      <p:sp>
        <p:nvSpPr>
          <p:cNvPr id="196" name="Google Shape;196;p18"/>
          <p:cNvSpPr txBox="1"/>
          <p:nvPr/>
        </p:nvSpPr>
        <p:spPr>
          <a:xfrm>
            <a:off x="540000" y="252000"/>
            <a:ext cx="100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FFFFFF"/>
                </a:solidFill>
                <a:latin typeface="Calibri"/>
                <a:ea typeface="Calibri"/>
                <a:cs typeface="Calibri"/>
                <a:sym typeface="Calibri"/>
              </a:rPr>
              <a:t>How to Replicate This in Your Environment</a:t>
            </a:r>
            <a:endParaRPr/>
          </a:p>
        </p:txBody>
      </p:sp>
      <p:sp>
        <p:nvSpPr>
          <p:cNvPr id="197" name="Google Shape;197;p18"/>
          <p:cNvSpPr txBox="1"/>
          <p:nvPr/>
        </p:nvSpPr>
        <p:spPr>
          <a:xfrm>
            <a:off x="540000" y="864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198" name="Google Shape;198;p18"/>
          <p:cNvSpPr txBox="1"/>
          <p:nvPr/>
        </p:nvSpPr>
        <p:spPr>
          <a:xfrm>
            <a:off x="540000" y="1080000"/>
            <a:ext cx="288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F62FE"/>
                </a:solidFill>
                <a:latin typeface="Calibri"/>
                <a:ea typeface="Calibri"/>
                <a:cs typeface="Calibri"/>
                <a:sym typeface="Calibri"/>
              </a:rPr>
              <a:t>1  INSTRUMENT</a:t>
            </a:r>
            <a:endParaRPr/>
          </a:p>
        </p:txBody>
      </p:sp>
      <p:sp>
        <p:nvSpPr>
          <p:cNvPr id="199" name="Google Shape;199;p18"/>
          <p:cNvSpPr txBox="1"/>
          <p:nvPr/>
        </p:nvSpPr>
        <p:spPr>
          <a:xfrm>
            <a:off x="540000" y="1440000"/>
            <a:ext cx="2988000" cy="3498530"/>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C6C6C6"/>
                </a:solidFill>
                <a:latin typeface="Calibri"/>
                <a:ea typeface="Calibri"/>
                <a:cs typeface="Calibri"/>
                <a:sym typeface="Calibri"/>
              </a:rPr>
              <a:t>Enable pg_stat_statements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(shared_preload_libraries)</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Run health monitor script:</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pg_monitor role required</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No OS access needed</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Captures 21 metric sections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Outputs structured JSON</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Requires: PostgreSQL 12+</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Time to set up: ~30 minutes</a:t>
            </a:r>
            <a:endParaRPr/>
          </a:p>
        </p:txBody>
      </p:sp>
      <p:sp>
        <p:nvSpPr>
          <p:cNvPr id="200" name="Google Shape;200;p18"/>
          <p:cNvSpPr txBox="1"/>
          <p:nvPr/>
        </p:nvSpPr>
        <p:spPr>
          <a:xfrm>
            <a:off x="3528000" y="2520000"/>
            <a:ext cx="360000" cy="54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EE0000"/>
                </a:solidFill>
                <a:latin typeface="Calibri"/>
                <a:ea typeface="Calibri"/>
                <a:cs typeface="Calibri"/>
                <a:sym typeface="Calibri"/>
              </a:rPr>
              <a:t>→</a:t>
            </a:r>
            <a:endParaRPr/>
          </a:p>
        </p:txBody>
      </p:sp>
      <p:sp>
        <p:nvSpPr>
          <p:cNvPr id="201" name="Google Shape;201;p18"/>
          <p:cNvSpPr txBox="1"/>
          <p:nvPr/>
        </p:nvSpPr>
        <p:spPr>
          <a:xfrm>
            <a:off x="4032000" y="1080000"/>
            <a:ext cx="288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EE0000"/>
                </a:solidFill>
                <a:latin typeface="Calibri"/>
                <a:ea typeface="Calibri"/>
                <a:cs typeface="Calibri"/>
                <a:sym typeface="Calibri"/>
              </a:rPr>
              <a:t>2  ANALYZE</a:t>
            </a:r>
            <a:endParaRPr/>
          </a:p>
        </p:txBody>
      </p:sp>
      <p:sp>
        <p:nvSpPr>
          <p:cNvPr id="202" name="Google Shape;202;p18"/>
          <p:cNvSpPr txBox="1"/>
          <p:nvPr/>
        </p:nvSpPr>
        <p:spPr>
          <a:xfrm>
            <a:off x="4032000" y="1439999"/>
            <a:ext cx="2808000" cy="3498531"/>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C6C6C6"/>
                </a:solidFill>
                <a:latin typeface="Calibri"/>
                <a:ea typeface="Calibri"/>
                <a:cs typeface="Calibri"/>
                <a:sym typeface="Calibri"/>
              </a:rPr>
              <a:t>Feed raw JSON to IBM Bob</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Prompt structure: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'Analyze this PostgreSQL telemetry.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Identify top incidents by severity.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Provide root cause and fix for each.</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Flag any anomalies in transaction</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patterns, lock contention, or</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write amplification.'</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Output: ranked incident report</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with actionable DDL/code fixes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Time: ~90 seconds</a:t>
            </a:r>
            <a:endParaRPr/>
          </a:p>
        </p:txBody>
      </p:sp>
      <p:sp>
        <p:nvSpPr>
          <p:cNvPr id="203" name="Google Shape;203;p18"/>
          <p:cNvSpPr txBox="1"/>
          <p:nvPr/>
        </p:nvSpPr>
        <p:spPr>
          <a:xfrm>
            <a:off x="7020000" y="2520000"/>
            <a:ext cx="360000" cy="54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EE0000"/>
                </a:solidFill>
                <a:latin typeface="Calibri"/>
                <a:ea typeface="Calibri"/>
                <a:cs typeface="Calibri"/>
                <a:sym typeface="Calibri"/>
              </a:rPr>
              <a:t>→</a:t>
            </a:r>
            <a:endParaRPr/>
          </a:p>
        </p:txBody>
      </p:sp>
      <p:sp>
        <p:nvSpPr>
          <p:cNvPr id="204" name="Google Shape;204;p18"/>
          <p:cNvSpPr txBox="1"/>
          <p:nvPr/>
        </p:nvSpPr>
        <p:spPr>
          <a:xfrm>
            <a:off x="7560000" y="1080000"/>
            <a:ext cx="306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42BE65"/>
                </a:solidFill>
                <a:latin typeface="Calibri"/>
                <a:ea typeface="Calibri"/>
                <a:cs typeface="Calibri"/>
                <a:sym typeface="Calibri"/>
              </a:rPr>
              <a:t>3  OPTIMIZE &amp; MEASURE</a:t>
            </a:r>
            <a:endParaRPr/>
          </a:p>
        </p:txBody>
      </p:sp>
      <p:sp>
        <p:nvSpPr>
          <p:cNvPr id="205" name="Google Shape;205;p18"/>
          <p:cNvSpPr txBox="1"/>
          <p:nvPr/>
        </p:nvSpPr>
        <p:spPr>
          <a:xfrm>
            <a:off x="7560000" y="1440000"/>
            <a:ext cx="3030835" cy="3498532"/>
          </a:xfrm>
          <a:prstGeom prst="rect">
            <a:avLst/>
          </a:prstGeom>
          <a:solidFill>
            <a:srgbClr val="0D33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C6C6C6"/>
                </a:solidFill>
                <a:latin typeface="Calibri"/>
                <a:ea typeface="Calibri"/>
                <a:cs typeface="Calibri"/>
                <a:sym typeface="Calibri"/>
              </a:rPr>
              <a:t>Apply recommendations: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Index DDL (CONCURRENTLY)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Query projection changes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Autovacuum tuning</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 Transaction pattern fixes</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Re-run monitor script after</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applying each fix.</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Compare before/after JSON</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snapshots on the same KPIs.</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Total cycle time: &lt;3 hours</a:t>
            </a:r>
            <a:endParaRPr/>
          </a:p>
        </p:txBody>
      </p:sp>
      <p:sp>
        <p:nvSpPr>
          <p:cNvPr id="206" name="Google Shape;206;p18"/>
          <p:cNvSpPr txBox="1"/>
          <p:nvPr/>
        </p:nvSpPr>
        <p:spPr>
          <a:xfrm>
            <a:off x="605590" y="5346258"/>
            <a:ext cx="10080000" cy="324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FFFFFF"/>
                </a:solidFill>
                <a:latin typeface="Calibri"/>
                <a:ea typeface="Calibri"/>
                <a:cs typeface="Calibri"/>
                <a:sym typeface="Calibri"/>
              </a:rPr>
              <a:t>Requirements: pg_monitor role  ·  pg_stat_statements ·  IBM Bob access  ·  No DBA expertise required for Analysis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210" name="Shape 210"/>
        <p:cNvGrpSpPr/>
        <p:nvPr/>
      </p:nvGrpSpPr>
      <p:grpSpPr>
        <a:xfrm>
          <a:off x="0" y="0"/>
          <a:ext cx="0" cy="0"/>
          <a:chOff x="0" y="0"/>
          <a:chExt cx="0" cy="0"/>
        </a:xfrm>
      </p:grpSpPr>
      <p:sp>
        <p:nvSpPr>
          <p:cNvPr id="211" name="Google Shape;211;p19"/>
          <p:cNvSpPr txBox="1"/>
          <p:nvPr/>
        </p:nvSpPr>
        <p:spPr>
          <a:xfrm>
            <a:off x="0" y="0"/>
            <a:ext cx="18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212" name="Google Shape;212;p19"/>
          <p:cNvSpPr txBox="1"/>
          <p:nvPr/>
        </p:nvSpPr>
        <p:spPr>
          <a:xfrm>
            <a:off x="10440000" y="6300000"/>
            <a:ext cx="720000" cy="2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00">
                <a:solidFill>
                  <a:srgbClr val="6F6F6F"/>
                </a:solidFill>
                <a:latin typeface="Calibri"/>
                <a:ea typeface="Calibri"/>
                <a:cs typeface="Calibri"/>
                <a:sym typeface="Calibri"/>
              </a:rPr>
              <a:t>13</a:t>
            </a:r>
            <a:endParaRPr/>
          </a:p>
        </p:txBody>
      </p:sp>
      <p:sp>
        <p:nvSpPr>
          <p:cNvPr id="213" name="Google Shape;213;p19"/>
          <p:cNvSpPr txBox="1"/>
          <p:nvPr/>
        </p:nvSpPr>
        <p:spPr>
          <a:xfrm>
            <a:off x="540000" y="252000"/>
            <a:ext cx="10080000" cy="57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FFFFFF"/>
                </a:solidFill>
                <a:latin typeface="Calibri"/>
                <a:ea typeface="Calibri"/>
                <a:cs typeface="Calibri"/>
                <a:sym typeface="Calibri"/>
              </a:rPr>
              <a:t>Limitations — What This Doesn't Replace</a:t>
            </a:r>
            <a:endParaRPr/>
          </a:p>
        </p:txBody>
      </p:sp>
      <p:sp>
        <p:nvSpPr>
          <p:cNvPr id="214" name="Google Shape;214;p19"/>
          <p:cNvSpPr txBox="1"/>
          <p:nvPr/>
        </p:nvSpPr>
        <p:spPr>
          <a:xfrm>
            <a:off x="540000" y="864000"/>
            <a:ext cx="1008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215" name="Google Shape;215;p19"/>
          <p:cNvSpPr txBox="1"/>
          <p:nvPr/>
        </p:nvSpPr>
        <p:spPr>
          <a:xfrm>
            <a:off x="540000" y="1080000"/>
            <a:ext cx="4502704" cy="5112000"/>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C6C6C6"/>
                </a:solidFill>
                <a:latin typeface="Calibri"/>
                <a:ea typeface="Calibri"/>
                <a:cs typeface="Calibri"/>
                <a:sym typeface="Calibri"/>
              </a:rPr>
              <a:t>Telemetry quality is the ceiling</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Bob can only reason over what the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collector captures. OS-level CPU, disk IOPS,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and memory RSS require external tooling</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(cloud monitoring platform or OS-level agents).</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Garbage in → garbage out — structured,</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rich telemetry is the prerequisite.</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Does not replace EXPLAIN ANALYZE</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Query plan analysis, join order decisions,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and planner hint tuning still require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inspecting actual execution plans.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pg_stat_statements gives cumulative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aggregates — not per-execution plans.</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Use EXPLAIN ANALYZE for root cause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verification after Bob triage.</a:t>
            </a:r>
            <a:endParaRPr/>
          </a:p>
        </p:txBody>
      </p:sp>
      <p:sp>
        <p:nvSpPr>
          <p:cNvPr id="216" name="Google Shape;216;p19"/>
          <p:cNvSpPr txBox="1"/>
          <p:nvPr/>
        </p:nvSpPr>
        <p:spPr>
          <a:xfrm>
            <a:off x="5940000" y="1080000"/>
            <a:ext cx="4500000" cy="5081590"/>
          </a:xfrm>
          <a:prstGeom prst="rect">
            <a:avLst/>
          </a:prstGeom>
          <a:solidFill>
            <a:srgbClr val="1A1A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C6C6C6"/>
                </a:solidFill>
                <a:latin typeface="Calibri"/>
                <a:ea typeface="Calibri"/>
                <a:cs typeface="Calibri"/>
                <a:sym typeface="Calibri"/>
              </a:rPr>
              <a:t>Novel schema bugs require human judgment</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If a query is slow because of a schema design</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flaw unique to the application domain, Bob</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may misdiagnose the root cause without context</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about the intended data model.</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Providing schema DDL alongside telemetry</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significantly improves accuracy.</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Projections are not measurements</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All 'projected' numbers in this deck are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derived from statistical analysis of the</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telemetry. Actual post-fix improvements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require empirical re-measurement. (WIP)</a:t>
            </a:r>
            <a:endParaRPr/>
          </a:p>
          <a:p>
            <a:pPr indent="0" lvl="0" marL="0" marR="0" rtl="0" algn="l">
              <a:spcBef>
                <a:spcPts val="0"/>
              </a:spcBef>
              <a:spcAft>
                <a:spcPts val="0"/>
              </a:spcAft>
              <a:buNone/>
            </a:pPr>
            <a:r>
              <a:t/>
            </a:r>
            <a:endParaRPr b="0" sz="1500">
              <a:solidFill>
                <a:srgbClr val="C6C6C6"/>
              </a:solidFill>
              <a:latin typeface="Calibri"/>
              <a:ea typeface="Calibri"/>
              <a:cs typeface="Calibri"/>
              <a:sym typeface="Calibri"/>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Treat projections as prioritization signals,</a:t>
            </a:r>
            <a:endParaRPr/>
          </a:p>
          <a:p>
            <a:pPr indent="0" lvl="0" marL="0" marR="0" rtl="0" algn="l">
              <a:spcBef>
                <a:spcPts val="0"/>
              </a:spcBef>
              <a:spcAft>
                <a:spcPts val="0"/>
              </a:spcAft>
              <a:buNone/>
            </a:pPr>
            <a:r>
              <a:rPr b="0" lang="en-US" sz="1500">
                <a:solidFill>
                  <a:srgbClr val="C6C6C6"/>
                </a:solidFill>
                <a:latin typeface="Calibri"/>
                <a:ea typeface="Calibri"/>
                <a:cs typeface="Calibri"/>
                <a:sym typeface="Calibri"/>
              </a:rPr>
              <a:t>not guaranteed SLA commitments.</a:t>
            </a:r>
            <a:endParaRPr/>
          </a:p>
        </p:txBody>
      </p:sp>
      <p:sp>
        <p:nvSpPr>
          <p:cNvPr id="217" name="Google Shape;217;p19"/>
          <p:cNvSpPr txBox="1"/>
          <p:nvPr/>
        </p:nvSpPr>
        <p:spPr>
          <a:xfrm>
            <a:off x="540000" y="6264000"/>
            <a:ext cx="10080000" cy="324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FFFFFF"/>
                </a:solidFill>
                <a:latin typeface="Calibri"/>
                <a:ea typeface="Calibri"/>
                <a:cs typeface="Calibri"/>
                <a:sym typeface="Calibri"/>
              </a:rPr>
              <a:t>This is a triage acceleration tool, not an autonomous DBA replacement. Human judgment closes the loop.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221" name="Shape 221"/>
        <p:cNvGrpSpPr/>
        <p:nvPr/>
      </p:nvGrpSpPr>
      <p:grpSpPr>
        <a:xfrm>
          <a:off x="0" y="0"/>
          <a:ext cx="0" cy="0"/>
          <a:chOff x="0" y="0"/>
          <a:chExt cx="0" cy="0"/>
        </a:xfrm>
      </p:grpSpPr>
      <p:sp>
        <p:nvSpPr>
          <p:cNvPr id="222" name="Google Shape;222;p20"/>
          <p:cNvSpPr txBox="1"/>
          <p:nvPr/>
        </p:nvSpPr>
        <p:spPr>
          <a:xfrm>
            <a:off x="0" y="0"/>
            <a:ext cx="900000" cy="6858000"/>
          </a:xfrm>
          <a:prstGeom prst="rect">
            <a:avLst/>
          </a:prstGeom>
          <a:solidFill>
            <a:srgbClr val="EE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EE0000"/>
              </a:solidFill>
              <a:latin typeface="Calibri"/>
              <a:ea typeface="Calibri"/>
              <a:cs typeface="Calibri"/>
              <a:sym typeface="Calibri"/>
            </a:endParaRPr>
          </a:p>
        </p:txBody>
      </p:sp>
      <p:sp>
        <p:nvSpPr>
          <p:cNvPr id="223" name="Google Shape;223;p20"/>
          <p:cNvSpPr txBox="1"/>
          <p:nvPr/>
        </p:nvSpPr>
        <p:spPr>
          <a:xfrm>
            <a:off x="1152000" y="540000"/>
            <a:ext cx="9360000" cy="64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FFFFFF"/>
                </a:solidFill>
                <a:latin typeface="Calibri"/>
                <a:ea typeface="Calibri"/>
                <a:cs typeface="Calibri"/>
                <a:sym typeface="Calibri"/>
              </a:rPr>
              <a:t>Key Takeaways</a:t>
            </a:r>
            <a:endParaRPr/>
          </a:p>
        </p:txBody>
      </p:sp>
      <p:sp>
        <p:nvSpPr>
          <p:cNvPr id="224" name="Google Shape;224;p20"/>
          <p:cNvSpPr txBox="1"/>
          <p:nvPr/>
        </p:nvSpPr>
        <p:spPr>
          <a:xfrm>
            <a:off x="1468375" y="1440000"/>
            <a:ext cx="540000" cy="43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EE0000"/>
                </a:solidFill>
                <a:latin typeface="Calibri"/>
                <a:ea typeface="Calibri"/>
                <a:cs typeface="Calibri"/>
                <a:sym typeface="Calibri"/>
              </a:rPr>
              <a:t>1</a:t>
            </a:r>
            <a:endParaRPr/>
          </a:p>
          <a:p>
            <a:pPr indent="0" lvl="0" marL="0" marR="0" rtl="0" algn="l">
              <a:spcBef>
                <a:spcPts val="0"/>
              </a:spcBef>
              <a:spcAft>
                <a:spcPts val="0"/>
              </a:spcAft>
              <a:buNone/>
            </a:pPr>
            <a:r>
              <a:t/>
            </a:r>
            <a:endParaRPr b="1" sz="3000">
              <a:solidFill>
                <a:srgbClr val="EE0000"/>
              </a:solidFill>
              <a:latin typeface="Calibri"/>
              <a:ea typeface="Calibri"/>
              <a:cs typeface="Calibri"/>
              <a:sym typeface="Calibri"/>
            </a:endParaRPr>
          </a:p>
          <a:p>
            <a:pPr indent="0" lvl="0" marL="0" marR="0" rtl="0" algn="l">
              <a:spcBef>
                <a:spcPts val="0"/>
              </a:spcBef>
              <a:spcAft>
                <a:spcPts val="0"/>
              </a:spcAft>
              <a:buNone/>
            </a:pPr>
            <a:r>
              <a:t/>
            </a:r>
            <a:endParaRPr b="1" sz="3000">
              <a:solidFill>
                <a:srgbClr val="EE0000"/>
              </a:solidFill>
              <a:latin typeface="Calibri"/>
              <a:ea typeface="Calibri"/>
              <a:cs typeface="Calibri"/>
              <a:sym typeface="Calibri"/>
            </a:endParaRPr>
          </a:p>
        </p:txBody>
      </p:sp>
      <p:sp>
        <p:nvSpPr>
          <p:cNvPr id="225" name="Google Shape;225;p20"/>
          <p:cNvSpPr txBox="1"/>
          <p:nvPr/>
        </p:nvSpPr>
        <p:spPr>
          <a:xfrm>
            <a:off x="1872000" y="1404000"/>
            <a:ext cx="8640000" cy="39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00">
                <a:solidFill>
                  <a:srgbClr val="C6C6C6"/>
                </a:solidFill>
                <a:latin typeface="Calibri"/>
                <a:ea typeface="Calibri"/>
                <a:cs typeface="Calibri"/>
                <a:sym typeface="Calibri"/>
              </a:rPr>
              <a:t>Agentic AI compresses MTTD by 30–240× by reading cross-signal relationships that dashboards and humans miss in isolation.</a:t>
            </a:r>
            <a:endParaRPr/>
          </a:p>
        </p:txBody>
      </p:sp>
      <p:sp>
        <p:nvSpPr>
          <p:cNvPr id="226" name="Google Shape;226;p20"/>
          <p:cNvSpPr txBox="1"/>
          <p:nvPr/>
        </p:nvSpPr>
        <p:spPr>
          <a:xfrm>
            <a:off x="1872000" y="2016000"/>
            <a:ext cx="8640000" cy="39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00">
                <a:solidFill>
                  <a:srgbClr val="C6C6C6"/>
                </a:solidFill>
                <a:latin typeface="Calibri"/>
                <a:ea typeface="Calibri"/>
                <a:cs typeface="Calibri"/>
                <a:sym typeface="Calibri"/>
              </a:rPr>
              <a:t>One SELECT * query was consuming the equivalent of 11.75 hours of DB CPU per observation window. It was invisible in average-latency dashboards.</a:t>
            </a:r>
            <a:endParaRPr/>
          </a:p>
        </p:txBody>
      </p:sp>
      <p:sp>
        <p:nvSpPr>
          <p:cNvPr id="227" name="Google Shape;227;p20"/>
          <p:cNvSpPr txBox="1"/>
          <p:nvPr/>
        </p:nvSpPr>
        <p:spPr>
          <a:xfrm>
            <a:off x="1872000" y="2628000"/>
            <a:ext cx="8640000" cy="39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00">
                <a:solidFill>
                  <a:srgbClr val="C6C6C6"/>
                </a:solidFill>
                <a:latin typeface="Calibri"/>
                <a:ea typeface="Calibri"/>
                <a:cs typeface="Calibri"/>
                <a:sym typeface="Calibri"/>
              </a:rPr>
              <a:t>Projected fixes: &gt;98% buffer pressure reduction, 60–70% CPU saving, 78% → &lt;10% rollback rate, P99 latency cliff eliminated.</a:t>
            </a:r>
            <a:endParaRPr/>
          </a:p>
        </p:txBody>
      </p:sp>
      <p:sp>
        <p:nvSpPr>
          <p:cNvPr id="228" name="Google Shape;228;p20"/>
          <p:cNvSpPr txBox="1"/>
          <p:nvPr/>
        </p:nvSpPr>
        <p:spPr>
          <a:xfrm>
            <a:off x="1872000" y="3240000"/>
            <a:ext cx="8640000" cy="39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00">
                <a:solidFill>
                  <a:srgbClr val="C6C6C6"/>
                </a:solidFill>
                <a:latin typeface="Calibri"/>
                <a:ea typeface="Calibri"/>
                <a:cs typeface="Calibri"/>
                <a:sym typeface="Calibri"/>
              </a:rPr>
              <a:t>The full triage cycle — collect, analyze, fix, validate — runs in under 3 hours. Requires pg_monitor role + IBM Bob. No DBA expertise needed for the analysis step.</a:t>
            </a:r>
            <a:endParaRPr/>
          </a:p>
        </p:txBody>
      </p:sp>
      <p:sp>
        <p:nvSpPr>
          <p:cNvPr id="229" name="Google Shape;229;p20"/>
          <p:cNvSpPr txBox="1"/>
          <p:nvPr/>
        </p:nvSpPr>
        <p:spPr>
          <a:xfrm>
            <a:off x="1152000" y="4068000"/>
            <a:ext cx="9360000" cy="36000"/>
          </a:xfrm>
          <a:prstGeom prst="rect">
            <a:avLst/>
          </a:prstGeom>
          <a:solidFill>
            <a:srgbClr val="0F62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F62FE"/>
              </a:solidFill>
              <a:latin typeface="Calibri"/>
              <a:ea typeface="Calibri"/>
              <a:cs typeface="Calibri"/>
              <a:sym typeface="Calibri"/>
            </a:endParaRPr>
          </a:p>
        </p:txBody>
      </p:sp>
      <p:sp>
        <p:nvSpPr>
          <p:cNvPr id="230" name="Google Shape;230;p20"/>
          <p:cNvSpPr txBox="1"/>
          <p:nvPr/>
        </p:nvSpPr>
        <p:spPr>
          <a:xfrm>
            <a:off x="1152000" y="5253509"/>
            <a:ext cx="9360000" cy="54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00">
                <a:solidFill>
                  <a:srgbClr val="6F6F6F"/>
                </a:solidFill>
                <a:latin typeface="Calibri"/>
                <a:ea typeface="Calibri"/>
                <a:cs typeface="Calibri"/>
                <a:sym typeface="Calibri"/>
              </a:rPr>
              <a:t>Amitoj Singh  ·  Sapna Jadhav  ·  Vanshika Verma</a:t>
            </a:r>
            <a:endParaRPr/>
          </a:p>
          <a:p>
            <a:pPr indent="0" lvl="0" marL="0" marR="0" rtl="0" algn="l">
              <a:spcBef>
                <a:spcPts val="0"/>
              </a:spcBef>
              <a:spcAft>
                <a:spcPts val="0"/>
              </a:spcAft>
              <a:buNone/>
            </a:pPr>
            <a:r>
              <a:rPr b="0" lang="en-US" sz="1600">
                <a:solidFill>
                  <a:srgbClr val="6F6F6F"/>
                </a:solidFill>
                <a:latin typeface="Calibri"/>
                <a:ea typeface="Calibri"/>
                <a:cs typeface="Calibri"/>
                <a:sym typeface="Calibri"/>
              </a:rPr>
              <a:t>Hybrid Cloud Performance Engineering Team @ ISDL (IBM India Systems Development Lab)</a:t>
            </a:r>
            <a:endParaRPr/>
          </a:p>
        </p:txBody>
      </p:sp>
      <p:sp>
        <p:nvSpPr>
          <p:cNvPr id="231" name="Google Shape;231;p20"/>
          <p:cNvSpPr txBox="1"/>
          <p:nvPr/>
        </p:nvSpPr>
        <p:spPr>
          <a:xfrm>
            <a:off x="1468375" y="3216247"/>
            <a:ext cx="60960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EE0000"/>
                </a:solidFill>
                <a:latin typeface="Calibri"/>
                <a:ea typeface="Calibri"/>
                <a:cs typeface="Calibri"/>
                <a:sym typeface="Calibri"/>
              </a:rPr>
              <a:t>4</a:t>
            </a:r>
            <a:endParaRPr/>
          </a:p>
        </p:txBody>
      </p:sp>
      <p:sp>
        <p:nvSpPr>
          <p:cNvPr id="232" name="Google Shape;232;p20"/>
          <p:cNvSpPr txBox="1"/>
          <p:nvPr/>
        </p:nvSpPr>
        <p:spPr>
          <a:xfrm>
            <a:off x="1468375" y="1997839"/>
            <a:ext cx="60960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EE0000"/>
                </a:solidFill>
                <a:latin typeface="Calibri"/>
                <a:ea typeface="Calibri"/>
                <a:cs typeface="Calibri"/>
                <a:sym typeface="Calibri"/>
              </a:rPr>
              <a:t>2</a:t>
            </a:r>
            <a:endParaRPr b="1" sz="2400">
              <a:solidFill>
                <a:srgbClr val="EE0000"/>
              </a:solidFill>
              <a:latin typeface="Calibri"/>
              <a:ea typeface="Calibri"/>
              <a:cs typeface="Calibri"/>
              <a:sym typeface="Calibri"/>
            </a:endParaRPr>
          </a:p>
        </p:txBody>
      </p:sp>
      <p:sp>
        <p:nvSpPr>
          <p:cNvPr id="233" name="Google Shape;233;p20"/>
          <p:cNvSpPr txBox="1"/>
          <p:nvPr/>
        </p:nvSpPr>
        <p:spPr>
          <a:xfrm>
            <a:off x="1468375" y="2618165"/>
            <a:ext cx="60960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EE0000"/>
                </a:solidFill>
                <a:latin typeface="Calibri"/>
                <a:ea typeface="Calibri"/>
                <a:cs typeface="Calibri"/>
                <a:sym typeface="Calibri"/>
              </a:rPr>
              <a:t>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